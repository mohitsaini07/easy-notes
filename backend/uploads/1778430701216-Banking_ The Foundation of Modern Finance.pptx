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embeddedFontLst>
    <p:embeddedFont>
      <p:font typeface="Liter" charset="-122" pitchFamily="34"/>
      <p:regular r:id="rId22"/>
    </p:embeddedFont>
    <p:embeddedFont>
      <p:font typeface="Oranienbaum" charset="-122" pitchFamily="34"/>
      <p:regular r:id="rId23"/>
    </p:embeddedFont>
    <p:embeddedFont>
      <p:font typeface="Quattrocento Sans" charset="-122" pitchFamily="34"/>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pic>
        <p:nvPicPr>
          <p:cNvPr id="2" name="Image 0" descr="https://kimi-web-img.moonshot.cn/img/www.shutterstock.com/87aba0abca72c6bb88d8230757fbd55a18d4373c.jpg">    </p:cNvPr>
          <p:cNvPicPr>
            <a:picLocks noChangeAspect="1"/>
          </p:cNvPicPr>
          <p:nvPr/>
        </p:nvPicPr>
        <p:blipFill>
          <a:blip r:embed="rId1">
            <a:alphaModFix amt="30000"/>
          </a:blip>
          <a:srcRect l="0" r="0" t="10826" b="10826"/>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A3A5C">
                  <a:alpha val="95000"/>
                </a:srgbClr>
              </a:gs>
              <a:gs pos="50000">
                <a:srgbClr val="1A3A5C">
                  <a:alpha val="85000"/>
                </a:srgbClr>
              </a:gs>
              <a:gs pos="100000">
                <a:srgbClr val="2A9D8F">
                  <a:alpha val="70000"/>
                </a:srgbClr>
              </a:gs>
            </a:gsLst>
            <a:lin ang="2700000" scaled="1"/>
          </a:gradFill>
          <a:ln/>
        </p:spPr>
      </p:sp>
      <p:sp>
        <p:nvSpPr>
          <p:cNvPr id="4" name="Shape 1"/>
          <p:cNvSpPr/>
          <p:nvPr/>
        </p:nvSpPr>
        <p:spPr>
          <a:xfrm>
            <a:off x="385763" y="885825"/>
            <a:ext cx="3171825" cy="504825"/>
          </a:xfrm>
          <a:custGeom>
            <a:avLst/>
            <a:gdLst/>
            <a:ahLst/>
            <a:cxnLst/>
            <a:rect l="l" t="t" r="r" b="b"/>
            <a:pathLst>
              <a:path w="3171825" h="504825">
                <a:moveTo>
                  <a:pt x="252413" y="0"/>
                </a:moveTo>
                <a:lnTo>
                  <a:pt x="2919413" y="0"/>
                </a:lnTo>
                <a:cubicBezTo>
                  <a:pt x="3058723" y="0"/>
                  <a:pt x="3171825" y="113102"/>
                  <a:pt x="3171825" y="252413"/>
                </a:cubicBezTo>
                <a:lnTo>
                  <a:pt x="3171825" y="252413"/>
                </a:lnTo>
                <a:cubicBezTo>
                  <a:pt x="3171825" y="391723"/>
                  <a:pt x="3058723" y="504825"/>
                  <a:pt x="2919413" y="504825"/>
                </a:cubicBezTo>
                <a:lnTo>
                  <a:pt x="252413" y="504825"/>
                </a:lnTo>
                <a:cubicBezTo>
                  <a:pt x="113102" y="504825"/>
                  <a:pt x="0" y="391723"/>
                  <a:pt x="0" y="252413"/>
                </a:cubicBezTo>
                <a:lnTo>
                  <a:pt x="0" y="252413"/>
                </a:lnTo>
                <a:cubicBezTo>
                  <a:pt x="0" y="113102"/>
                  <a:pt x="113102" y="0"/>
                  <a:pt x="252412" y="0"/>
                </a:cubicBezTo>
                <a:close/>
              </a:path>
            </a:pathLst>
          </a:custGeom>
          <a:solidFill>
            <a:srgbClr val="2A9D8F">
              <a:alpha val="20000"/>
            </a:srgbClr>
          </a:solidFill>
          <a:ln w="12700">
            <a:solidFill>
              <a:srgbClr val="2A9D8F">
                <a:alpha val="40000"/>
              </a:srgbClr>
            </a:solidFill>
            <a:prstDash val="solid"/>
          </a:ln>
        </p:spPr>
      </p:sp>
      <p:sp>
        <p:nvSpPr>
          <p:cNvPr id="5" name="Text 2"/>
          <p:cNvSpPr/>
          <p:nvPr/>
        </p:nvSpPr>
        <p:spPr>
          <a:xfrm>
            <a:off x="619125" y="1014413"/>
            <a:ext cx="2794843" cy="242888"/>
          </a:xfrm>
          <a:prstGeom prst="rect">
            <a:avLst/>
          </a:prstGeom>
          <a:noFill/>
          <a:ln/>
        </p:spPr>
        <p:txBody>
          <a:bodyPr wrap="square" lIns="0" tIns="0" rIns="0" bIns="0" rtlCol="0" anchor="ctr"/>
          <a:lstStyle/>
          <a:p>
            <a:pPr>
              <a:lnSpc>
                <a:spcPct val="130000"/>
              </a:lnSpc>
            </a:pPr>
            <a:r>
              <a:rPr lang="en-US" sz="1350" b="1" spc="68" kern="0" dirty="0">
                <a:solidFill>
                  <a:srgbClr val="2A9D8F"/>
                </a:solidFill>
                <a:latin typeface="Liter" pitchFamily="34" charset="0"/>
                <a:ea typeface="Liter" pitchFamily="34" charset="-122"/>
                <a:cs typeface="Liter" pitchFamily="34" charset="-120"/>
              </a:rPr>
              <a:t>FINANCIAL EDUCATION SERIES</a:t>
            </a:r>
            <a:endParaRPr lang="en-US" sz="1600" dirty="0"/>
          </a:p>
        </p:txBody>
      </p:sp>
      <p:sp>
        <p:nvSpPr>
          <p:cNvPr id="6" name="Text 3"/>
          <p:cNvSpPr/>
          <p:nvPr/>
        </p:nvSpPr>
        <p:spPr>
          <a:xfrm>
            <a:off x="381000" y="1928813"/>
            <a:ext cx="3390900" cy="914400"/>
          </a:xfrm>
          <a:prstGeom prst="rect">
            <a:avLst/>
          </a:prstGeom>
          <a:noFill/>
          <a:ln/>
        </p:spPr>
        <p:txBody>
          <a:bodyPr wrap="square" lIns="0" tIns="0" rIns="0" bIns="0" rtlCol="0" anchor="ctr"/>
          <a:lstStyle/>
          <a:p>
            <a:pPr>
              <a:lnSpc>
                <a:spcPct val="80000"/>
              </a:lnSpc>
            </a:pPr>
            <a:r>
              <a:rPr lang="en-US" sz="7200" b="1" dirty="0">
                <a:solidFill>
                  <a:srgbClr val="EDF2F4"/>
                </a:solidFill>
                <a:latin typeface="Oranienbaum" pitchFamily="34" charset="0"/>
                <a:ea typeface="Oranienbaum" pitchFamily="34" charset="-122"/>
                <a:cs typeface="Oranienbaum" pitchFamily="34" charset="-120"/>
              </a:rPr>
              <a:t>Banking</a:t>
            </a:r>
            <a:endParaRPr lang="en-US" sz="1600" dirty="0"/>
          </a:p>
        </p:txBody>
      </p:sp>
      <p:sp>
        <p:nvSpPr>
          <p:cNvPr id="7" name="Shape 4"/>
          <p:cNvSpPr/>
          <p:nvPr/>
        </p:nvSpPr>
        <p:spPr>
          <a:xfrm>
            <a:off x="381000" y="3071813"/>
            <a:ext cx="1219200" cy="57150"/>
          </a:xfrm>
          <a:custGeom>
            <a:avLst/>
            <a:gdLst/>
            <a:ahLst/>
            <a:cxnLst/>
            <a:rect l="l" t="t" r="r" b="b"/>
            <a:pathLst>
              <a:path w="1219200" h="57150">
                <a:moveTo>
                  <a:pt x="0" y="0"/>
                </a:moveTo>
                <a:lnTo>
                  <a:pt x="1219200" y="0"/>
                </a:lnTo>
                <a:lnTo>
                  <a:pt x="1219200" y="57150"/>
                </a:lnTo>
                <a:lnTo>
                  <a:pt x="0" y="57150"/>
                </a:lnTo>
                <a:lnTo>
                  <a:pt x="0" y="0"/>
                </a:lnTo>
                <a:close/>
              </a:path>
            </a:pathLst>
          </a:custGeom>
          <a:solidFill>
            <a:srgbClr val="2A9D8F"/>
          </a:solidFill>
          <a:ln/>
        </p:spPr>
      </p:sp>
      <p:sp>
        <p:nvSpPr>
          <p:cNvPr id="8" name="Text 5"/>
          <p:cNvSpPr/>
          <p:nvPr/>
        </p:nvSpPr>
        <p:spPr>
          <a:xfrm>
            <a:off x="381000" y="3433763"/>
            <a:ext cx="5419725" cy="428625"/>
          </a:xfrm>
          <a:prstGeom prst="rect">
            <a:avLst/>
          </a:prstGeom>
          <a:noFill/>
          <a:ln/>
        </p:spPr>
        <p:txBody>
          <a:bodyPr wrap="square" lIns="0" tIns="0" rIns="0" bIns="0" rtlCol="0" anchor="ctr"/>
          <a:lstStyle/>
          <a:p>
            <a:pPr>
              <a:lnSpc>
                <a:spcPct val="100000"/>
              </a:lnSpc>
            </a:pPr>
            <a:r>
              <a:rPr lang="en-US" sz="2700" dirty="0">
                <a:solidFill>
                  <a:srgbClr val="8D99AE"/>
                </a:solidFill>
                <a:latin typeface="Liter" pitchFamily="34" charset="0"/>
                <a:ea typeface="Liter" pitchFamily="34" charset="-122"/>
                <a:cs typeface="Liter" pitchFamily="34" charset="-120"/>
              </a:rPr>
              <a:t>The Foundation of Modern Finance</a:t>
            </a:r>
            <a:endParaRPr lang="en-US" sz="1600" dirty="0"/>
          </a:p>
        </p:txBody>
      </p:sp>
      <p:sp>
        <p:nvSpPr>
          <p:cNvPr id="9" name="Text 6"/>
          <p:cNvSpPr/>
          <p:nvPr/>
        </p:nvSpPr>
        <p:spPr>
          <a:xfrm>
            <a:off x="381000" y="4319588"/>
            <a:ext cx="6515100" cy="742950"/>
          </a:xfrm>
          <a:prstGeom prst="rect">
            <a:avLst/>
          </a:prstGeom>
          <a:noFill/>
          <a:ln/>
        </p:spPr>
        <p:txBody>
          <a:bodyPr wrap="square" lIns="0" tIns="0" rIns="0" bIns="0" rtlCol="0" anchor="ctr"/>
          <a:lstStyle/>
          <a:p>
            <a:pPr>
              <a:lnSpc>
                <a:spcPct val="140000"/>
              </a:lnSpc>
            </a:pPr>
            <a:r>
              <a:rPr lang="en-US" sz="1800" dirty="0">
                <a:solidFill>
                  <a:srgbClr val="EDF2F4">
                    <a:alpha val="90000"/>
                  </a:srgbClr>
                </a:solidFill>
                <a:latin typeface="Quattrocento Sans" pitchFamily="34" charset="0"/>
                <a:ea typeface="Quattrocento Sans" pitchFamily="34" charset="-122"/>
                <a:cs typeface="Quattrocento Sans" pitchFamily="34" charset="-120"/>
              </a:rPr>
              <a:t>A Comprehensive Guide to Understanding Banking Systems, Functions, and Future Trends</a:t>
            </a:r>
            <a:endParaRPr lang="en-US" sz="1600" dirty="0"/>
          </a:p>
        </p:txBody>
      </p:sp>
      <p:sp>
        <p:nvSpPr>
          <p:cNvPr id="10" name="Shape 7"/>
          <p:cNvSpPr/>
          <p:nvPr/>
        </p:nvSpPr>
        <p:spPr>
          <a:xfrm>
            <a:off x="423863" y="5710238"/>
            <a:ext cx="200025" cy="228600"/>
          </a:xfrm>
          <a:custGeom>
            <a:avLst/>
            <a:gdLst/>
            <a:ahLst/>
            <a:cxnLst/>
            <a:rect l="l" t="t" r="r" b="b"/>
            <a:pathLst>
              <a:path w="200025" h="228600">
                <a:moveTo>
                  <a:pt x="100013" y="110728"/>
                </a:moveTo>
                <a:cubicBezTo>
                  <a:pt x="70442" y="110728"/>
                  <a:pt x="46434" y="86721"/>
                  <a:pt x="46434" y="57150"/>
                </a:cubicBezTo>
                <a:cubicBezTo>
                  <a:pt x="46434" y="27579"/>
                  <a:pt x="70442" y="3572"/>
                  <a:pt x="100012" y="3572"/>
                </a:cubicBezTo>
                <a:cubicBezTo>
                  <a:pt x="129583" y="3572"/>
                  <a:pt x="153591" y="27579"/>
                  <a:pt x="153591" y="57150"/>
                </a:cubicBezTo>
                <a:cubicBezTo>
                  <a:pt x="153591" y="86721"/>
                  <a:pt x="129583" y="110728"/>
                  <a:pt x="100013" y="110728"/>
                </a:cubicBezTo>
                <a:close/>
                <a:moveTo>
                  <a:pt x="86395" y="135731"/>
                </a:moveTo>
                <a:lnTo>
                  <a:pt x="113630" y="135731"/>
                </a:lnTo>
                <a:cubicBezTo>
                  <a:pt x="117961" y="135731"/>
                  <a:pt x="121444" y="139214"/>
                  <a:pt x="121444" y="143545"/>
                </a:cubicBezTo>
                <a:cubicBezTo>
                  <a:pt x="121444" y="145420"/>
                  <a:pt x="120774" y="147206"/>
                  <a:pt x="119569" y="148635"/>
                </a:cubicBezTo>
                <a:lnTo>
                  <a:pt x="107335" y="162922"/>
                </a:lnTo>
                <a:lnTo>
                  <a:pt x="121176" y="214313"/>
                </a:lnTo>
                <a:lnTo>
                  <a:pt x="121444" y="214313"/>
                </a:lnTo>
                <a:lnTo>
                  <a:pt x="136892" y="152474"/>
                </a:lnTo>
                <a:cubicBezTo>
                  <a:pt x="137874" y="148590"/>
                  <a:pt x="141848" y="146224"/>
                  <a:pt x="145599" y="147652"/>
                </a:cubicBezTo>
                <a:cubicBezTo>
                  <a:pt x="173236" y="158189"/>
                  <a:pt x="192881" y="184978"/>
                  <a:pt x="192881" y="216322"/>
                </a:cubicBezTo>
                <a:cubicBezTo>
                  <a:pt x="192881" y="223064"/>
                  <a:pt x="187389" y="228555"/>
                  <a:pt x="180648" y="228555"/>
                </a:cubicBezTo>
                <a:lnTo>
                  <a:pt x="19377" y="228600"/>
                </a:lnTo>
                <a:cubicBezTo>
                  <a:pt x="12636" y="228600"/>
                  <a:pt x="7144" y="223108"/>
                  <a:pt x="7144" y="216366"/>
                </a:cubicBezTo>
                <a:cubicBezTo>
                  <a:pt x="7144" y="185023"/>
                  <a:pt x="26789" y="158234"/>
                  <a:pt x="54426" y="147697"/>
                </a:cubicBezTo>
                <a:cubicBezTo>
                  <a:pt x="58177" y="146268"/>
                  <a:pt x="62151" y="148635"/>
                  <a:pt x="63133" y="152519"/>
                </a:cubicBezTo>
                <a:lnTo>
                  <a:pt x="78581" y="214357"/>
                </a:lnTo>
                <a:lnTo>
                  <a:pt x="78849" y="214357"/>
                </a:lnTo>
                <a:lnTo>
                  <a:pt x="92690" y="162967"/>
                </a:lnTo>
                <a:lnTo>
                  <a:pt x="80456" y="148679"/>
                </a:lnTo>
                <a:cubicBezTo>
                  <a:pt x="79251" y="147251"/>
                  <a:pt x="78581" y="145465"/>
                  <a:pt x="78581" y="143589"/>
                </a:cubicBezTo>
                <a:cubicBezTo>
                  <a:pt x="78581" y="139258"/>
                  <a:pt x="82064" y="135776"/>
                  <a:pt x="86395" y="135776"/>
                </a:cubicBezTo>
                <a:close/>
              </a:path>
            </a:pathLst>
          </a:custGeom>
          <a:solidFill>
            <a:srgbClr val="2A9D8F"/>
          </a:solidFill>
          <a:ln/>
        </p:spPr>
      </p:sp>
      <p:sp>
        <p:nvSpPr>
          <p:cNvPr id="11" name="Text 8"/>
          <p:cNvSpPr/>
          <p:nvPr/>
        </p:nvSpPr>
        <p:spPr>
          <a:xfrm>
            <a:off x="781050" y="5691188"/>
            <a:ext cx="2352675" cy="266700"/>
          </a:xfrm>
          <a:prstGeom prst="rect">
            <a:avLst/>
          </a:prstGeom>
          <a:noFill/>
          <a:ln/>
        </p:spPr>
        <p:txBody>
          <a:bodyPr wrap="square" lIns="0" tIns="0" rIns="0" bIns="0" rtlCol="0" anchor="ctr"/>
          <a:lstStyle/>
          <a:p>
            <a:pPr>
              <a:lnSpc>
                <a:spcPct val="120000"/>
              </a:lnSpc>
            </a:pPr>
            <a:r>
              <a:rPr lang="en-US" sz="1500" dirty="0">
                <a:solidFill>
                  <a:srgbClr val="EDF2F4">
                    <a:alpha val="70000"/>
                  </a:srgbClr>
                </a:solidFill>
                <a:latin typeface="Liter" pitchFamily="34" charset="0"/>
                <a:ea typeface="Liter" pitchFamily="34" charset="-122"/>
                <a:cs typeface="Liter" pitchFamily="34" charset="-120"/>
              </a:rPr>
              <a:t>Presented by: [Your Name]</a:t>
            </a:r>
            <a:endParaRPr lang="en-US" sz="1600" dirty="0"/>
          </a:p>
        </p:txBody>
      </p:sp>
      <p:sp>
        <p:nvSpPr>
          <p:cNvPr id="12" name="Shape 9"/>
          <p:cNvSpPr/>
          <p:nvPr/>
        </p:nvSpPr>
        <p:spPr>
          <a:xfrm>
            <a:off x="3271689" y="5672138"/>
            <a:ext cx="9525" cy="304800"/>
          </a:xfrm>
          <a:custGeom>
            <a:avLst/>
            <a:gdLst/>
            <a:ahLst/>
            <a:cxnLst/>
            <a:rect l="l" t="t" r="r" b="b"/>
            <a:pathLst>
              <a:path w="9525" h="304800">
                <a:moveTo>
                  <a:pt x="0" y="0"/>
                </a:moveTo>
                <a:lnTo>
                  <a:pt x="9525" y="0"/>
                </a:lnTo>
                <a:lnTo>
                  <a:pt x="9525" y="304800"/>
                </a:lnTo>
                <a:lnTo>
                  <a:pt x="0" y="304800"/>
                </a:lnTo>
                <a:lnTo>
                  <a:pt x="0" y="0"/>
                </a:lnTo>
                <a:close/>
              </a:path>
            </a:pathLst>
          </a:custGeom>
          <a:solidFill>
            <a:srgbClr val="EDF2F4">
              <a:alpha val="30196"/>
            </a:srgbClr>
          </a:solidFill>
          <a:ln/>
        </p:spPr>
      </p:sp>
      <p:sp>
        <p:nvSpPr>
          <p:cNvPr id="13" name="Shape 10"/>
          <p:cNvSpPr/>
          <p:nvPr/>
        </p:nvSpPr>
        <p:spPr>
          <a:xfrm>
            <a:off x="3552676" y="5710238"/>
            <a:ext cx="200025" cy="228600"/>
          </a:xfrm>
          <a:custGeom>
            <a:avLst/>
            <a:gdLst/>
            <a:ahLst/>
            <a:cxnLst/>
            <a:rect l="l" t="t" r="r" b="b"/>
            <a:pathLst>
              <a:path w="200025" h="228600">
                <a:moveTo>
                  <a:pt x="57150" y="0"/>
                </a:moveTo>
                <a:cubicBezTo>
                  <a:pt x="65053" y="0"/>
                  <a:pt x="71438" y="6385"/>
                  <a:pt x="71438" y="14288"/>
                </a:cubicBezTo>
                <a:lnTo>
                  <a:pt x="71438" y="28575"/>
                </a:lnTo>
                <a:lnTo>
                  <a:pt x="128588" y="28575"/>
                </a:lnTo>
                <a:lnTo>
                  <a:pt x="128588" y="14288"/>
                </a:lnTo>
                <a:cubicBezTo>
                  <a:pt x="128588" y="6385"/>
                  <a:pt x="134972" y="0"/>
                  <a:pt x="142875" y="0"/>
                </a:cubicBezTo>
                <a:cubicBezTo>
                  <a:pt x="150778" y="0"/>
                  <a:pt x="157163" y="6385"/>
                  <a:pt x="157163" y="14288"/>
                </a:cubicBezTo>
                <a:lnTo>
                  <a:pt x="157163" y="28575"/>
                </a:lnTo>
                <a:lnTo>
                  <a:pt x="171450" y="28575"/>
                </a:lnTo>
                <a:cubicBezTo>
                  <a:pt x="187211" y="28575"/>
                  <a:pt x="200025" y="41389"/>
                  <a:pt x="200025" y="57150"/>
                </a:cubicBezTo>
                <a:lnTo>
                  <a:pt x="200025" y="185738"/>
                </a:lnTo>
                <a:cubicBezTo>
                  <a:pt x="200025" y="201498"/>
                  <a:pt x="187211" y="214313"/>
                  <a:pt x="171450" y="214313"/>
                </a:cubicBezTo>
                <a:lnTo>
                  <a:pt x="28575" y="214313"/>
                </a:lnTo>
                <a:cubicBezTo>
                  <a:pt x="12814" y="214313"/>
                  <a:pt x="0" y="201498"/>
                  <a:pt x="0" y="185738"/>
                </a:cubicBezTo>
                <a:lnTo>
                  <a:pt x="0" y="57150"/>
                </a:lnTo>
                <a:cubicBezTo>
                  <a:pt x="0" y="41389"/>
                  <a:pt x="12814" y="28575"/>
                  <a:pt x="28575" y="28575"/>
                </a:cubicBezTo>
                <a:lnTo>
                  <a:pt x="42863" y="28575"/>
                </a:lnTo>
                <a:lnTo>
                  <a:pt x="42863" y="14288"/>
                </a:lnTo>
                <a:cubicBezTo>
                  <a:pt x="42863" y="6385"/>
                  <a:pt x="49247" y="0"/>
                  <a:pt x="57150" y="0"/>
                </a:cubicBezTo>
                <a:close/>
                <a:moveTo>
                  <a:pt x="28575" y="107156"/>
                </a:moveTo>
                <a:lnTo>
                  <a:pt x="28575" y="121444"/>
                </a:lnTo>
                <a:cubicBezTo>
                  <a:pt x="28575" y="125373"/>
                  <a:pt x="31790" y="128588"/>
                  <a:pt x="35719" y="128588"/>
                </a:cubicBezTo>
                <a:lnTo>
                  <a:pt x="50006" y="128588"/>
                </a:lnTo>
                <a:cubicBezTo>
                  <a:pt x="53935" y="128588"/>
                  <a:pt x="57150" y="125373"/>
                  <a:pt x="57150" y="121444"/>
                </a:cubicBezTo>
                <a:lnTo>
                  <a:pt x="57150" y="107156"/>
                </a:lnTo>
                <a:cubicBezTo>
                  <a:pt x="57150" y="103227"/>
                  <a:pt x="53935" y="100013"/>
                  <a:pt x="50006" y="100013"/>
                </a:cubicBezTo>
                <a:lnTo>
                  <a:pt x="35719" y="100013"/>
                </a:lnTo>
                <a:cubicBezTo>
                  <a:pt x="31790" y="100013"/>
                  <a:pt x="28575" y="103227"/>
                  <a:pt x="28575" y="107156"/>
                </a:cubicBezTo>
                <a:close/>
                <a:moveTo>
                  <a:pt x="85725" y="107156"/>
                </a:moveTo>
                <a:lnTo>
                  <a:pt x="85725" y="121444"/>
                </a:lnTo>
                <a:cubicBezTo>
                  <a:pt x="85725" y="125373"/>
                  <a:pt x="88940" y="128588"/>
                  <a:pt x="92869" y="128588"/>
                </a:cubicBezTo>
                <a:lnTo>
                  <a:pt x="107156" y="128588"/>
                </a:lnTo>
                <a:cubicBezTo>
                  <a:pt x="111085" y="128588"/>
                  <a:pt x="114300" y="125373"/>
                  <a:pt x="114300" y="121444"/>
                </a:cubicBezTo>
                <a:lnTo>
                  <a:pt x="114300" y="107156"/>
                </a:lnTo>
                <a:cubicBezTo>
                  <a:pt x="114300" y="103227"/>
                  <a:pt x="111085" y="100013"/>
                  <a:pt x="107156" y="100013"/>
                </a:cubicBezTo>
                <a:lnTo>
                  <a:pt x="92869" y="100013"/>
                </a:lnTo>
                <a:cubicBezTo>
                  <a:pt x="88940" y="100013"/>
                  <a:pt x="85725" y="103227"/>
                  <a:pt x="85725" y="107156"/>
                </a:cubicBezTo>
                <a:close/>
                <a:moveTo>
                  <a:pt x="150019" y="100013"/>
                </a:moveTo>
                <a:cubicBezTo>
                  <a:pt x="146090" y="100013"/>
                  <a:pt x="142875" y="103227"/>
                  <a:pt x="142875" y="107156"/>
                </a:cubicBezTo>
                <a:lnTo>
                  <a:pt x="142875" y="121444"/>
                </a:lnTo>
                <a:cubicBezTo>
                  <a:pt x="142875" y="125373"/>
                  <a:pt x="146090" y="128588"/>
                  <a:pt x="150019" y="128588"/>
                </a:cubicBezTo>
                <a:lnTo>
                  <a:pt x="164306" y="128588"/>
                </a:lnTo>
                <a:cubicBezTo>
                  <a:pt x="168235" y="128588"/>
                  <a:pt x="171450" y="125373"/>
                  <a:pt x="171450" y="121444"/>
                </a:cubicBezTo>
                <a:lnTo>
                  <a:pt x="171450" y="107156"/>
                </a:lnTo>
                <a:cubicBezTo>
                  <a:pt x="171450" y="103227"/>
                  <a:pt x="168235" y="100013"/>
                  <a:pt x="164306" y="100013"/>
                </a:cubicBezTo>
                <a:lnTo>
                  <a:pt x="150019" y="100013"/>
                </a:lnTo>
                <a:close/>
                <a:moveTo>
                  <a:pt x="28575" y="164306"/>
                </a:moveTo>
                <a:lnTo>
                  <a:pt x="28575" y="178594"/>
                </a:lnTo>
                <a:cubicBezTo>
                  <a:pt x="28575" y="182523"/>
                  <a:pt x="31790" y="185738"/>
                  <a:pt x="35719" y="185738"/>
                </a:cubicBezTo>
                <a:lnTo>
                  <a:pt x="50006" y="185738"/>
                </a:lnTo>
                <a:cubicBezTo>
                  <a:pt x="53935" y="185738"/>
                  <a:pt x="57150" y="182523"/>
                  <a:pt x="57150" y="178594"/>
                </a:cubicBezTo>
                <a:lnTo>
                  <a:pt x="57150" y="164306"/>
                </a:lnTo>
                <a:cubicBezTo>
                  <a:pt x="57150" y="160377"/>
                  <a:pt x="53935" y="157163"/>
                  <a:pt x="50006" y="157163"/>
                </a:cubicBezTo>
                <a:lnTo>
                  <a:pt x="35719" y="157163"/>
                </a:lnTo>
                <a:cubicBezTo>
                  <a:pt x="31790" y="157163"/>
                  <a:pt x="28575" y="160377"/>
                  <a:pt x="28575" y="164306"/>
                </a:cubicBezTo>
                <a:close/>
                <a:moveTo>
                  <a:pt x="92869" y="157163"/>
                </a:moveTo>
                <a:cubicBezTo>
                  <a:pt x="88940" y="157163"/>
                  <a:pt x="85725" y="160377"/>
                  <a:pt x="85725" y="164306"/>
                </a:cubicBezTo>
                <a:lnTo>
                  <a:pt x="85725" y="178594"/>
                </a:lnTo>
                <a:cubicBezTo>
                  <a:pt x="85725" y="182523"/>
                  <a:pt x="88940" y="185738"/>
                  <a:pt x="92869" y="185738"/>
                </a:cubicBezTo>
                <a:lnTo>
                  <a:pt x="107156" y="185738"/>
                </a:lnTo>
                <a:cubicBezTo>
                  <a:pt x="111085" y="185738"/>
                  <a:pt x="114300" y="182523"/>
                  <a:pt x="114300" y="178594"/>
                </a:cubicBezTo>
                <a:lnTo>
                  <a:pt x="114300" y="164306"/>
                </a:lnTo>
                <a:cubicBezTo>
                  <a:pt x="114300" y="160377"/>
                  <a:pt x="111085" y="157163"/>
                  <a:pt x="107156" y="157163"/>
                </a:cubicBezTo>
                <a:lnTo>
                  <a:pt x="92869" y="157163"/>
                </a:lnTo>
                <a:close/>
                <a:moveTo>
                  <a:pt x="142875" y="164306"/>
                </a:moveTo>
                <a:lnTo>
                  <a:pt x="142875" y="178594"/>
                </a:lnTo>
                <a:cubicBezTo>
                  <a:pt x="142875" y="182523"/>
                  <a:pt x="146090" y="185738"/>
                  <a:pt x="150019" y="185738"/>
                </a:cubicBezTo>
                <a:lnTo>
                  <a:pt x="164306" y="185738"/>
                </a:lnTo>
                <a:cubicBezTo>
                  <a:pt x="168235" y="185738"/>
                  <a:pt x="171450" y="182523"/>
                  <a:pt x="171450" y="178594"/>
                </a:cubicBezTo>
                <a:lnTo>
                  <a:pt x="171450" y="164306"/>
                </a:lnTo>
                <a:cubicBezTo>
                  <a:pt x="171450" y="160377"/>
                  <a:pt x="168235" y="157163"/>
                  <a:pt x="164306" y="157163"/>
                </a:cubicBezTo>
                <a:lnTo>
                  <a:pt x="150019" y="157163"/>
                </a:lnTo>
                <a:cubicBezTo>
                  <a:pt x="146090" y="157163"/>
                  <a:pt x="142875" y="160377"/>
                  <a:pt x="142875" y="164306"/>
                </a:cubicBezTo>
                <a:close/>
              </a:path>
            </a:pathLst>
          </a:custGeom>
          <a:solidFill>
            <a:srgbClr val="2A9D8F"/>
          </a:solidFill>
          <a:ln/>
        </p:spPr>
      </p:sp>
      <p:sp>
        <p:nvSpPr>
          <p:cNvPr id="14" name="Text 11"/>
          <p:cNvSpPr/>
          <p:nvPr/>
        </p:nvSpPr>
        <p:spPr>
          <a:xfrm>
            <a:off x="3909864" y="5691188"/>
            <a:ext cx="981075" cy="266700"/>
          </a:xfrm>
          <a:prstGeom prst="rect">
            <a:avLst/>
          </a:prstGeom>
          <a:noFill/>
          <a:ln/>
        </p:spPr>
        <p:txBody>
          <a:bodyPr wrap="square" lIns="0" tIns="0" rIns="0" bIns="0" rtlCol="0" anchor="ctr"/>
          <a:lstStyle/>
          <a:p>
            <a:pPr>
              <a:lnSpc>
                <a:spcPct val="120000"/>
              </a:lnSpc>
            </a:pPr>
            <a:r>
              <a:rPr lang="en-US" sz="1500" dirty="0">
                <a:solidFill>
                  <a:srgbClr val="EDF2F4">
                    <a:alpha val="70000"/>
                  </a:srgbClr>
                </a:solidFill>
                <a:latin typeface="Liter" pitchFamily="34" charset="0"/>
                <a:ea typeface="Liter" pitchFamily="34" charset="-122"/>
                <a:cs typeface="Liter" pitchFamily="34" charset="-120"/>
              </a:rPr>
              <a:t>April 2026</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45138" y="345138"/>
            <a:ext cx="11562123" cy="172569"/>
          </a:xfrm>
          <a:prstGeom prst="rect">
            <a:avLst/>
          </a:prstGeom>
          <a:noFill/>
          <a:ln/>
        </p:spPr>
        <p:txBody>
          <a:bodyPr wrap="square" lIns="0" tIns="0" rIns="0" bIns="0" rtlCol="0" anchor="ctr"/>
          <a:lstStyle/>
          <a:p>
            <a:pPr>
              <a:lnSpc>
                <a:spcPct val="120000"/>
              </a:lnSpc>
            </a:pPr>
            <a:r>
              <a:rPr lang="en-US" sz="951" b="1" spc="95" kern="0" dirty="0">
                <a:solidFill>
                  <a:srgbClr val="2A9D8F"/>
                </a:solidFill>
                <a:latin typeface="Liter" pitchFamily="34" charset="0"/>
                <a:ea typeface="Liter" pitchFamily="34" charset="-122"/>
                <a:cs typeface="Liter" pitchFamily="34" charset="-120"/>
              </a:rPr>
              <a:t>PRESENTATION OVERVIEW</a:t>
            </a:r>
            <a:endParaRPr lang="en-US" sz="1600" dirty="0"/>
          </a:p>
        </p:txBody>
      </p:sp>
      <p:sp>
        <p:nvSpPr>
          <p:cNvPr id="3" name="Text 1"/>
          <p:cNvSpPr/>
          <p:nvPr/>
        </p:nvSpPr>
        <p:spPr>
          <a:xfrm>
            <a:off x="345138" y="621248"/>
            <a:ext cx="11760577" cy="647134"/>
          </a:xfrm>
          <a:prstGeom prst="rect">
            <a:avLst/>
          </a:prstGeom>
          <a:noFill/>
          <a:ln/>
        </p:spPr>
        <p:txBody>
          <a:bodyPr wrap="square" lIns="0" tIns="0" rIns="0" bIns="0" rtlCol="0" anchor="ctr"/>
          <a:lstStyle/>
          <a:p>
            <a:pPr>
              <a:lnSpc>
                <a:spcPct val="100000"/>
              </a:lnSpc>
            </a:pPr>
            <a:r>
              <a:rPr lang="en-US" sz="4076" b="1" dirty="0">
                <a:solidFill>
                  <a:srgbClr val="1A3A5C"/>
                </a:solidFill>
                <a:latin typeface="Oranienbaum" pitchFamily="34" charset="0"/>
                <a:ea typeface="Oranienbaum" pitchFamily="34" charset="-122"/>
                <a:cs typeface="Oranienbaum" pitchFamily="34" charset="-120"/>
              </a:rPr>
              <a:t>What We'll Cover Today</a:t>
            </a:r>
            <a:endParaRPr lang="en-US" sz="1600" dirty="0"/>
          </a:p>
        </p:txBody>
      </p:sp>
      <p:sp>
        <p:nvSpPr>
          <p:cNvPr id="4" name="Shape 2"/>
          <p:cNvSpPr/>
          <p:nvPr/>
        </p:nvSpPr>
        <p:spPr>
          <a:xfrm>
            <a:off x="345138" y="1406437"/>
            <a:ext cx="828331" cy="51771"/>
          </a:xfrm>
          <a:custGeom>
            <a:avLst/>
            <a:gdLst/>
            <a:ahLst/>
            <a:cxnLst/>
            <a:rect l="l" t="t" r="r" b="b"/>
            <a:pathLst>
              <a:path w="828331" h="51771">
                <a:moveTo>
                  <a:pt x="0" y="0"/>
                </a:moveTo>
                <a:lnTo>
                  <a:pt x="828331" y="0"/>
                </a:lnTo>
                <a:lnTo>
                  <a:pt x="828331" y="51771"/>
                </a:lnTo>
                <a:lnTo>
                  <a:pt x="0" y="51771"/>
                </a:lnTo>
                <a:lnTo>
                  <a:pt x="0" y="0"/>
                </a:lnTo>
                <a:close/>
              </a:path>
            </a:pathLst>
          </a:custGeom>
          <a:solidFill>
            <a:srgbClr val="2A9D8F"/>
          </a:solidFill>
          <a:ln/>
        </p:spPr>
      </p:sp>
      <p:sp>
        <p:nvSpPr>
          <p:cNvPr id="5" name="Shape 3"/>
          <p:cNvSpPr/>
          <p:nvPr/>
        </p:nvSpPr>
        <p:spPr>
          <a:xfrm>
            <a:off x="362395" y="1734318"/>
            <a:ext cx="5530837" cy="914616"/>
          </a:xfrm>
          <a:custGeom>
            <a:avLst/>
            <a:gdLst/>
            <a:ahLst/>
            <a:cxnLst/>
            <a:rect l="l" t="t" r="r" b="b"/>
            <a:pathLst>
              <a:path w="5530837" h="914616">
                <a:moveTo>
                  <a:pt x="34514" y="0"/>
                </a:moveTo>
                <a:lnTo>
                  <a:pt x="5427293" y="0"/>
                </a:lnTo>
                <a:cubicBezTo>
                  <a:pt x="5484478" y="0"/>
                  <a:pt x="5530837" y="46358"/>
                  <a:pt x="5530837" y="103544"/>
                </a:cubicBezTo>
                <a:lnTo>
                  <a:pt x="5530837" y="811072"/>
                </a:lnTo>
                <a:cubicBezTo>
                  <a:pt x="5530837" y="868258"/>
                  <a:pt x="5484478" y="914616"/>
                  <a:pt x="5427293" y="914616"/>
                </a:cubicBezTo>
                <a:lnTo>
                  <a:pt x="34514" y="914616"/>
                </a:lnTo>
                <a:cubicBezTo>
                  <a:pt x="15452" y="914616"/>
                  <a:pt x="0" y="899163"/>
                  <a:pt x="0" y="880102"/>
                </a:cubicBezTo>
                <a:lnTo>
                  <a:pt x="0" y="34514"/>
                </a:lnTo>
                <a:cubicBezTo>
                  <a:pt x="0" y="15452"/>
                  <a:pt x="15452" y="0"/>
                  <a:pt x="34514" y="0"/>
                </a:cubicBezTo>
                <a:close/>
              </a:path>
            </a:pathLst>
          </a:custGeom>
          <a:solidFill>
            <a:srgbClr val="FFFFFF"/>
          </a:solidFill>
          <a:ln/>
          <a:effectLst>
            <a:outerShdw sx="100000" sy="100000" kx="0" ky="0" algn="bl" rotWithShape="0" blurRad="51771" dist="34514" dir="5400000">
              <a:srgbClr val="000000">
                <a:alpha val="10196"/>
              </a:srgbClr>
            </a:outerShdw>
          </a:effectLst>
        </p:spPr>
      </p:sp>
      <p:sp>
        <p:nvSpPr>
          <p:cNvPr id="6" name="Shape 4"/>
          <p:cNvSpPr/>
          <p:nvPr/>
        </p:nvSpPr>
        <p:spPr>
          <a:xfrm>
            <a:off x="362395" y="1734318"/>
            <a:ext cx="34514" cy="914616"/>
          </a:xfrm>
          <a:custGeom>
            <a:avLst/>
            <a:gdLst/>
            <a:ahLst/>
            <a:cxnLst/>
            <a:rect l="l" t="t" r="r" b="b"/>
            <a:pathLst>
              <a:path w="34514" h="914616">
                <a:moveTo>
                  <a:pt x="34514" y="0"/>
                </a:moveTo>
                <a:lnTo>
                  <a:pt x="34514" y="0"/>
                </a:lnTo>
                <a:lnTo>
                  <a:pt x="34514" y="914616"/>
                </a:lnTo>
                <a:lnTo>
                  <a:pt x="34514" y="914616"/>
                </a:lnTo>
                <a:cubicBezTo>
                  <a:pt x="15465" y="914616"/>
                  <a:pt x="0" y="899151"/>
                  <a:pt x="0" y="880102"/>
                </a:cubicBezTo>
                <a:lnTo>
                  <a:pt x="0" y="34514"/>
                </a:lnTo>
                <a:cubicBezTo>
                  <a:pt x="0" y="15465"/>
                  <a:pt x="15465" y="0"/>
                  <a:pt x="34514" y="0"/>
                </a:cubicBezTo>
                <a:close/>
              </a:path>
            </a:pathLst>
          </a:custGeom>
          <a:solidFill>
            <a:srgbClr val="1A3A5C"/>
          </a:solidFill>
          <a:ln/>
        </p:spPr>
      </p:sp>
      <p:sp>
        <p:nvSpPr>
          <p:cNvPr id="7" name="Shape 5"/>
          <p:cNvSpPr/>
          <p:nvPr/>
        </p:nvSpPr>
        <p:spPr>
          <a:xfrm>
            <a:off x="552221" y="1906887"/>
            <a:ext cx="483193" cy="483193"/>
          </a:xfrm>
          <a:custGeom>
            <a:avLst/>
            <a:gdLst/>
            <a:ahLst/>
            <a:cxnLst/>
            <a:rect l="l" t="t" r="r" b="b"/>
            <a:pathLst>
              <a:path w="483193" h="483193">
                <a:moveTo>
                  <a:pt x="241597" y="0"/>
                </a:moveTo>
                <a:lnTo>
                  <a:pt x="241597" y="0"/>
                </a:lnTo>
                <a:cubicBezTo>
                  <a:pt x="374937" y="0"/>
                  <a:pt x="483193" y="108256"/>
                  <a:pt x="483193" y="241597"/>
                </a:cubicBezTo>
                <a:lnTo>
                  <a:pt x="483193" y="241597"/>
                </a:lnTo>
                <a:cubicBezTo>
                  <a:pt x="483193" y="374937"/>
                  <a:pt x="374937" y="483193"/>
                  <a:pt x="241597" y="483193"/>
                </a:cubicBezTo>
                <a:lnTo>
                  <a:pt x="241597" y="483193"/>
                </a:lnTo>
                <a:cubicBezTo>
                  <a:pt x="108256" y="483193"/>
                  <a:pt x="0" y="374937"/>
                  <a:pt x="0" y="241597"/>
                </a:cubicBezTo>
                <a:lnTo>
                  <a:pt x="0" y="241597"/>
                </a:lnTo>
                <a:cubicBezTo>
                  <a:pt x="0" y="108256"/>
                  <a:pt x="108256" y="0"/>
                  <a:pt x="241597" y="0"/>
                </a:cubicBezTo>
                <a:close/>
              </a:path>
            </a:pathLst>
          </a:custGeom>
          <a:solidFill>
            <a:srgbClr val="1A3A5C"/>
          </a:solidFill>
          <a:ln/>
        </p:spPr>
      </p:sp>
      <p:sp>
        <p:nvSpPr>
          <p:cNvPr id="8" name="Text 6"/>
          <p:cNvSpPr/>
          <p:nvPr/>
        </p:nvSpPr>
        <p:spPr>
          <a:xfrm>
            <a:off x="500450" y="1906887"/>
            <a:ext cx="586735" cy="483193"/>
          </a:xfrm>
          <a:prstGeom prst="rect">
            <a:avLst/>
          </a:prstGeom>
          <a:noFill/>
          <a:ln/>
        </p:spPr>
        <p:txBody>
          <a:bodyPr wrap="square" lIns="0" tIns="0" rIns="0" bIns="0" rtlCol="0" anchor="ctr"/>
          <a:lstStyle/>
          <a:p>
            <a:pPr algn="ctr">
              <a:lnSpc>
                <a:spcPct val="110000"/>
              </a:lnSpc>
            </a:pPr>
            <a:r>
              <a:rPr lang="en-US" sz="1631" b="1" dirty="0">
                <a:solidFill>
                  <a:srgbClr val="FFFFFF"/>
                </a:solidFill>
                <a:latin typeface="Liter" pitchFamily="34" charset="0"/>
                <a:ea typeface="Liter" pitchFamily="34" charset="-122"/>
                <a:cs typeface="Liter" pitchFamily="34" charset="-120"/>
              </a:rPr>
              <a:t>01</a:t>
            </a:r>
            <a:endParaRPr lang="en-US" sz="1600" dirty="0"/>
          </a:p>
        </p:txBody>
      </p:sp>
      <p:sp>
        <p:nvSpPr>
          <p:cNvPr id="9" name="Text 7"/>
          <p:cNvSpPr/>
          <p:nvPr/>
        </p:nvSpPr>
        <p:spPr>
          <a:xfrm>
            <a:off x="1207983" y="1906887"/>
            <a:ext cx="3183898" cy="276110"/>
          </a:xfrm>
          <a:prstGeom prst="rect">
            <a:avLst/>
          </a:prstGeom>
          <a:noFill/>
          <a:ln/>
        </p:spPr>
        <p:txBody>
          <a:bodyPr wrap="square" lIns="0" tIns="0" rIns="0" bIns="0" rtlCol="0" anchor="ctr"/>
          <a:lstStyle/>
          <a:p>
            <a:pPr>
              <a:lnSpc>
                <a:spcPct val="110000"/>
              </a:lnSpc>
            </a:pPr>
            <a:r>
              <a:rPr lang="en-US" sz="1631" b="1" dirty="0">
                <a:solidFill>
                  <a:srgbClr val="1A3A5C"/>
                </a:solidFill>
                <a:latin typeface="Liter" pitchFamily="34" charset="0"/>
                <a:ea typeface="Liter" pitchFamily="34" charset="-122"/>
                <a:cs typeface="Liter" pitchFamily="34" charset="-120"/>
              </a:rPr>
              <a:t>Introduction to Banking</a:t>
            </a:r>
            <a:endParaRPr lang="en-US" sz="1600" dirty="0"/>
          </a:p>
        </p:txBody>
      </p:sp>
      <p:sp>
        <p:nvSpPr>
          <p:cNvPr id="10" name="Text 8"/>
          <p:cNvSpPr/>
          <p:nvPr/>
        </p:nvSpPr>
        <p:spPr>
          <a:xfrm>
            <a:off x="1207983" y="2252025"/>
            <a:ext cx="3149384" cy="224340"/>
          </a:xfrm>
          <a:prstGeom prst="rect">
            <a:avLst/>
          </a:prstGeom>
          <a:noFill/>
          <a:ln/>
        </p:spPr>
        <p:txBody>
          <a:bodyPr wrap="square" lIns="0" tIns="0" rIns="0" bIns="0" rtlCol="0" anchor="ctr"/>
          <a:lstStyle/>
          <a:p>
            <a:pPr>
              <a:lnSpc>
                <a:spcPct val="140000"/>
              </a:lnSpc>
            </a:pPr>
            <a:r>
              <a:rPr lang="en-US" sz="1087" dirty="0">
                <a:solidFill>
                  <a:srgbClr val="8D99AE"/>
                </a:solidFill>
                <a:latin typeface="Quattrocento Sans" pitchFamily="34" charset="0"/>
                <a:ea typeface="Quattrocento Sans" pitchFamily="34" charset="-122"/>
                <a:cs typeface="Quattrocento Sans" pitchFamily="34" charset="-120"/>
              </a:rPr>
              <a:t>Understanding the fundamentals and core concepts</a:t>
            </a:r>
            <a:endParaRPr lang="en-US" sz="1600" dirty="0"/>
          </a:p>
        </p:txBody>
      </p:sp>
      <p:sp>
        <p:nvSpPr>
          <p:cNvPr id="11" name="Shape 9"/>
          <p:cNvSpPr/>
          <p:nvPr/>
        </p:nvSpPr>
        <p:spPr>
          <a:xfrm>
            <a:off x="362395" y="2786989"/>
            <a:ext cx="5530837" cy="914616"/>
          </a:xfrm>
          <a:custGeom>
            <a:avLst/>
            <a:gdLst/>
            <a:ahLst/>
            <a:cxnLst/>
            <a:rect l="l" t="t" r="r" b="b"/>
            <a:pathLst>
              <a:path w="5530837" h="914616">
                <a:moveTo>
                  <a:pt x="34514" y="0"/>
                </a:moveTo>
                <a:lnTo>
                  <a:pt x="5427293" y="0"/>
                </a:lnTo>
                <a:cubicBezTo>
                  <a:pt x="5484478" y="0"/>
                  <a:pt x="5530837" y="46358"/>
                  <a:pt x="5530837" y="103544"/>
                </a:cubicBezTo>
                <a:lnTo>
                  <a:pt x="5530837" y="811072"/>
                </a:lnTo>
                <a:cubicBezTo>
                  <a:pt x="5530837" y="868258"/>
                  <a:pt x="5484478" y="914616"/>
                  <a:pt x="5427293" y="914616"/>
                </a:cubicBezTo>
                <a:lnTo>
                  <a:pt x="34514" y="914616"/>
                </a:lnTo>
                <a:cubicBezTo>
                  <a:pt x="15452" y="914616"/>
                  <a:pt x="0" y="899163"/>
                  <a:pt x="0" y="880102"/>
                </a:cubicBezTo>
                <a:lnTo>
                  <a:pt x="0" y="34514"/>
                </a:lnTo>
                <a:cubicBezTo>
                  <a:pt x="0" y="15452"/>
                  <a:pt x="15452" y="0"/>
                  <a:pt x="34514" y="0"/>
                </a:cubicBezTo>
                <a:close/>
              </a:path>
            </a:pathLst>
          </a:custGeom>
          <a:solidFill>
            <a:srgbClr val="FFFFFF"/>
          </a:solidFill>
          <a:ln/>
          <a:effectLst>
            <a:outerShdw sx="100000" sy="100000" kx="0" ky="0" algn="bl" rotWithShape="0" blurRad="51771" dist="34514" dir="5400000">
              <a:srgbClr val="000000">
                <a:alpha val="10196"/>
              </a:srgbClr>
            </a:outerShdw>
          </a:effectLst>
        </p:spPr>
      </p:sp>
      <p:sp>
        <p:nvSpPr>
          <p:cNvPr id="12" name="Shape 10"/>
          <p:cNvSpPr/>
          <p:nvPr/>
        </p:nvSpPr>
        <p:spPr>
          <a:xfrm>
            <a:off x="362395" y="2786989"/>
            <a:ext cx="34514" cy="914616"/>
          </a:xfrm>
          <a:custGeom>
            <a:avLst/>
            <a:gdLst/>
            <a:ahLst/>
            <a:cxnLst/>
            <a:rect l="l" t="t" r="r" b="b"/>
            <a:pathLst>
              <a:path w="34514" h="914616">
                <a:moveTo>
                  <a:pt x="34514" y="0"/>
                </a:moveTo>
                <a:lnTo>
                  <a:pt x="34514" y="0"/>
                </a:lnTo>
                <a:lnTo>
                  <a:pt x="34514" y="914616"/>
                </a:lnTo>
                <a:lnTo>
                  <a:pt x="34514" y="914616"/>
                </a:lnTo>
                <a:cubicBezTo>
                  <a:pt x="15465" y="914616"/>
                  <a:pt x="0" y="899151"/>
                  <a:pt x="0" y="880102"/>
                </a:cubicBezTo>
                <a:lnTo>
                  <a:pt x="0" y="34514"/>
                </a:lnTo>
                <a:cubicBezTo>
                  <a:pt x="0" y="15465"/>
                  <a:pt x="15465" y="0"/>
                  <a:pt x="34514" y="0"/>
                </a:cubicBezTo>
                <a:close/>
              </a:path>
            </a:pathLst>
          </a:custGeom>
          <a:solidFill>
            <a:srgbClr val="2A9D8F"/>
          </a:solidFill>
          <a:ln/>
        </p:spPr>
      </p:sp>
      <p:sp>
        <p:nvSpPr>
          <p:cNvPr id="13" name="Shape 11"/>
          <p:cNvSpPr/>
          <p:nvPr/>
        </p:nvSpPr>
        <p:spPr>
          <a:xfrm>
            <a:off x="552221" y="2959558"/>
            <a:ext cx="483193" cy="483193"/>
          </a:xfrm>
          <a:custGeom>
            <a:avLst/>
            <a:gdLst/>
            <a:ahLst/>
            <a:cxnLst/>
            <a:rect l="l" t="t" r="r" b="b"/>
            <a:pathLst>
              <a:path w="483193" h="483193">
                <a:moveTo>
                  <a:pt x="241597" y="0"/>
                </a:moveTo>
                <a:lnTo>
                  <a:pt x="241597" y="0"/>
                </a:lnTo>
                <a:cubicBezTo>
                  <a:pt x="374937" y="0"/>
                  <a:pt x="483193" y="108256"/>
                  <a:pt x="483193" y="241597"/>
                </a:cubicBezTo>
                <a:lnTo>
                  <a:pt x="483193" y="241597"/>
                </a:lnTo>
                <a:cubicBezTo>
                  <a:pt x="483193" y="374937"/>
                  <a:pt x="374937" y="483193"/>
                  <a:pt x="241597" y="483193"/>
                </a:cubicBezTo>
                <a:lnTo>
                  <a:pt x="241597" y="483193"/>
                </a:lnTo>
                <a:cubicBezTo>
                  <a:pt x="108256" y="483193"/>
                  <a:pt x="0" y="374937"/>
                  <a:pt x="0" y="241597"/>
                </a:cubicBezTo>
                <a:lnTo>
                  <a:pt x="0" y="241597"/>
                </a:lnTo>
                <a:cubicBezTo>
                  <a:pt x="0" y="108256"/>
                  <a:pt x="108256" y="0"/>
                  <a:pt x="241597" y="0"/>
                </a:cubicBezTo>
                <a:close/>
              </a:path>
            </a:pathLst>
          </a:custGeom>
          <a:solidFill>
            <a:srgbClr val="2A9D8F"/>
          </a:solidFill>
          <a:ln/>
        </p:spPr>
      </p:sp>
      <p:sp>
        <p:nvSpPr>
          <p:cNvPr id="14" name="Text 12"/>
          <p:cNvSpPr/>
          <p:nvPr/>
        </p:nvSpPr>
        <p:spPr>
          <a:xfrm>
            <a:off x="500450" y="2959558"/>
            <a:ext cx="586735" cy="483193"/>
          </a:xfrm>
          <a:prstGeom prst="rect">
            <a:avLst/>
          </a:prstGeom>
          <a:noFill/>
          <a:ln/>
        </p:spPr>
        <p:txBody>
          <a:bodyPr wrap="square" lIns="0" tIns="0" rIns="0" bIns="0" rtlCol="0" anchor="ctr"/>
          <a:lstStyle/>
          <a:p>
            <a:pPr algn="ctr">
              <a:lnSpc>
                <a:spcPct val="110000"/>
              </a:lnSpc>
            </a:pPr>
            <a:r>
              <a:rPr lang="en-US" sz="1631" b="1" dirty="0">
                <a:solidFill>
                  <a:srgbClr val="FFFFFF"/>
                </a:solidFill>
                <a:latin typeface="Liter" pitchFamily="34" charset="0"/>
                <a:ea typeface="Liter" pitchFamily="34" charset="-122"/>
                <a:cs typeface="Liter" pitchFamily="34" charset="-120"/>
              </a:rPr>
              <a:t>02</a:t>
            </a:r>
            <a:endParaRPr lang="en-US" sz="1600" dirty="0"/>
          </a:p>
        </p:txBody>
      </p:sp>
      <p:sp>
        <p:nvSpPr>
          <p:cNvPr id="15" name="Text 13"/>
          <p:cNvSpPr/>
          <p:nvPr/>
        </p:nvSpPr>
        <p:spPr>
          <a:xfrm>
            <a:off x="1207983" y="2959558"/>
            <a:ext cx="2614420" cy="276110"/>
          </a:xfrm>
          <a:prstGeom prst="rect">
            <a:avLst/>
          </a:prstGeom>
          <a:noFill/>
          <a:ln/>
        </p:spPr>
        <p:txBody>
          <a:bodyPr wrap="square" lIns="0" tIns="0" rIns="0" bIns="0" rtlCol="0" anchor="ctr"/>
          <a:lstStyle/>
          <a:p>
            <a:pPr>
              <a:lnSpc>
                <a:spcPct val="110000"/>
              </a:lnSpc>
            </a:pPr>
            <a:r>
              <a:rPr lang="en-US" sz="1631" b="1" dirty="0">
                <a:solidFill>
                  <a:srgbClr val="1A3A5C"/>
                </a:solidFill>
                <a:latin typeface="Liter" pitchFamily="34" charset="0"/>
                <a:ea typeface="Liter" pitchFamily="34" charset="-122"/>
                <a:cs typeface="Liter" pitchFamily="34" charset="-120"/>
              </a:rPr>
              <a:t>History &amp; Evolution</a:t>
            </a:r>
            <a:endParaRPr lang="en-US" sz="1600" dirty="0"/>
          </a:p>
        </p:txBody>
      </p:sp>
      <p:sp>
        <p:nvSpPr>
          <p:cNvPr id="16" name="Text 14"/>
          <p:cNvSpPr/>
          <p:nvPr/>
        </p:nvSpPr>
        <p:spPr>
          <a:xfrm>
            <a:off x="1207983" y="3304696"/>
            <a:ext cx="2579907" cy="224340"/>
          </a:xfrm>
          <a:prstGeom prst="rect">
            <a:avLst/>
          </a:prstGeom>
          <a:noFill/>
          <a:ln/>
        </p:spPr>
        <p:txBody>
          <a:bodyPr wrap="square" lIns="0" tIns="0" rIns="0" bIns="0" rtlCol="0" anchor="ctr"/>
          <a:lstStyle/>
          <a:p>
            <a:pPr>
              <a:lnSpc>
                <a:spcPct val="140000"/>
              </a:lnSpc>
            </a:pPr>
            <a:r>
              <a:rPr lang="en-US" sz="1087" dirty="0">
                <a:solidFill>
                  <a:srgbClr val="8D99AE"/>
                </a:solidFill>
                <a:latin typeface="Quattrocento Sans" pitchFamily="34" charset="0"/>
                <a:ea typeface="Quattrocento Sans" pitchFamily="34" charset="-122"/>
                <a:cs typeface="Quattrocento Sans" pitchFamily="34" charset="-120"/>
              </a:rPr>
              <a:t>From ancient goldsmiths to digital banking</a:t>
            </a:r>
            <a:endParaRPr lang="en-US" sz="1600" dirty="0"/>
          </a:p>
        </p:txBody>
      </p:sp>
      <p:sp>
        <p:nvSpPr>
          <p:cNvPr id="17" name="Shape 15"/>
          <p:cNvSpPr/>
          <p:nvPr/>
        </p:nvSpPr>
        <p:spPr>
          <a:xfrm>
            <a:off x="362395" y="3839660"/>
            <a:ext cx="5530837" cy="914616"/>
          </a:xfrm>
          <a:custGeom>
            <a:avLst/>
            <a:gdLst/>
            <a:ahLst/>
            <a:cxnLst/>
            <a:rect l="l" t="t" r="r" b="b"/>
            <a:pathLst>
              <a:path w="5530837" h="914616">
                <a:moveTo>
                  <a:pt x="34514" y="0"/>
                </a:moveTo>
                <a:lnTo>
                  <a:pt x="5427293" y="0"/>
                </a:lnTo>
                <a:cubicBezTo>
                  <a:pt x="5484478" y="0"/>
                  <a:pt x="5530837" y="46358"/>
                  <a:pt x="5530837" y="103544"/>
                </a:cubicBezTo>
                <a:lnTo>
                  <a:pt x="5530837" y="811072"/>
                </a:lnTo>
                <a:cubicBezTo>
                  <a:pt x="5530837" y="868258"/>
                  <a:pt x="5484478" y="914616"/>
                  <a:pt x="5427293" y="914616"/>
                </a:cubicBezTo>
                <a:lnTo>
                  <a:pt x="34514" y="914616"/>
                </a:lnTo>
                <a:cubicBezTo>
                  <a:pt x="15452" y="914616"/>
                  <a:pt x="0" y="899163"/>
                  <a:pt x="0" y="880102"/>
                </a:cubicBezTo>
                <a:lnTo>
                  <a:pt x="0" y="34514"/>
                </a:lnTo>
                <a:cubicBezTo>
                  <a:pt x="0" y="15452"/>
                  <a:pt x="15452" y="0"/>
                  <a:pt x="34514" y="0"/>
                </a:cubicBezTo>
                <a:close/>
              </a:path>
            </a:pathLst>
          </a:custGeom>
          <a:solidFill>
            <a:srgbClr val="FFFFFF"/>
          </a:solidFill>
          <a:ln/>
          <a:effectLst>
            <a:outerShdw sx="100000" sy="100000" kx="0" ky="0" algn="bl" rotWithShape="0" blurRad="51771" dist="34514" dir="5400000">
              <a:srgbClr val="000000">
                <a:alpha val="10196"/>
              </a:srgbClr>
            </a:outerShdw>
          </a:effectLst>
        </p:spPr>
      </p:sp>
      <p:sp>
        <p:nvSpPr>
          <p:cNvPr id="18" name="Shape 16"/>
          <p:cNvSpPr/>
          <p:nvPr/>
        </p:nvSpPr>
        <p:spPr>
          <a:xfrm>
            <a:off x="362395" y="3839660"/>
            <a:ext cx="34514" cy="914616"/>
          </a:xfrm>
          <a:custGeom>
            <a:avLst/>
            <a:gdLst/>
            <a:ahLst/>
            <a:cxnLst/>
            <a:rect l="l" t="t" r="r" b="b"/>
            <a:pathLst>
              <a:path w="34514" h="914616">
                <a:moveTo>
                  <a:pt x="34514" y="0"/>
                </a:moveTo>
                <a:lnTo>
                  <a:pt x="34514" y="0"/>
                </a:lnTo>
                <a:lnTo>
                  <a:pt x="34514" y="914616"/>
                </a:lnTo>
                <a:lnTo>
                  <a:pt x="34514" y="914616"/>
                </a:lnTo>
                <a:cubicBezTo>
                  <a:pt x="15465" y="914616"/>
                  <a:pt x="0" y="899151"/>
                  <a:pt x="0" y="880102"/>
                </a:cubicBezTo>
                <a:lnTo>
                  <a:pt x="0" y="34514"/>
                </a:lnTo>
                <a:cubicBezTo>
                  <a:pt x="0" y="15465"/>
                  <a:pt x="15465" y="0"/>
                  <a:pt x="34514" y="0"/>
                </a:cubicBezTo>
                <a:close/>
              </a:path>
            </a:pathLst>
          </a:custGeom>
          <a:solidFill>
            <a:srgbClr val="1A3A5C"/>
          </a:solidFill>
          <a:ln/>
        </p:spPr>
      </p:sp>
      <p:sp>
        <p:nvSpPr>
          <p:cNvPr id="19" name="Shape 17"/>
          <p:cNvSpPr/>
          <p:nvPr/>
        </p:nvSpPr>
        <p:spPr>
          <a:xfrm>
            <a:off x="552221" y="4012229"/>
            <a:ext cx="483193" cy="483193"/>
          </a:xfrm>
          <a:custGeom>
            <a:avLst/>
            <a:gdLst/>
            <a:ahLst/>
            <a:cxnLst/>
            <a:rect l="l" t="t" r="r" b="b"/>
            <a:pathLst>
              <a:path w="483193" h="483193">
                <a:moveTo>
                  <a:pt x="241597" y="0"/>
                </a:moveTo>
                <a:lnTo>
                  <a:pt x="241597" y="0"/>
                </a:lnTo>
                <a:cubicBezTo>
                  <a:pt x="374937" y="0"/>
                  <a:pt x="483193" y="108256"/>
                  <a:pt x="483193" y="241597"/>
                </a:cubicBezTo>
                <a:lnTo>
                  <a:pt x="483193" y="241597"/>
                </a:lnTo>
                <a:cubicBezTo>
                  <a:pt x="483193" y="374937"/>
                  <a:pt x="374937" y="483193"/>
                  <a:pt x="241597" y="483193"/>
                </a:cubicBezTo>
                <a:lnTo>
                  <a:pt x="241597" y="483193"/>
                </a:lnTo>
                <a:cubicBezTo>
                  <a:pt x="108256" y="483193"/>
                  <a:pt x="0" y="374937"/>
                  <a:pt x="0" y="241597"/>
                </a:cubicBezTo>
                <a:lnTo>
                  <a:pt x="0" y="241597"/>
                </a:lnTo>
                <a:cubicBezTo>
                  <a:pt x="0" y="108256"/>
                  <a:pt x="108256" y="0"/>
                  <a:pt x="241597" y="0"/>
                </a:cubicBezTo>
                <a:close/>
              </a:path>
            </a:pathLst>
          </a:custGeom>
          <a:solidFill>
            <a:srgbClr val="1A3A5C"/>
          </a:solidFill>
          <a:ln/>
        </p:spPr>
      </p:sp>
      <p:sp>
        <p:nvSpPr>
          <p:cNvPr id="20" name="Text 18"/>
          <p:cNvSpPr/>
          <p:nvPr/>
        </p:nvSpPr>
        <p:spPr>
          <a:xfrm>
            <a:off x="500450" y="4012229"/>
            <a:ext cx="586735" cy="483193"/>
          </a:xfrm>
          <a:prstGeom prst="rect">
            <a:avLst/>
          </a:prstGeom>
          <a:noFill/>
          <a:ln/>
        </p:spPr>
        <p:txBody>
          <a:bodyPr wrap="square" lIns="0" tIns="0" rIns="0" bIns="0" rtlCol="0" anchor="ctr"/>
          <a:lstStyle/>
          <a:p>
            <a:pPr algn="ctr">
              <a:lnSpc>
                <a:spcPct val="110000"/>
              </a:lnSpc>
            </a:pPr>
            <a:r>
              <a:rPr lang="en-US" sz="1631" b="1" dirty="0">
                <a:solidFill>
                  <a:srgbClr val="FFFFFF"/>
                </a:solidFill>
                <a:latin typeface="Liter" pitchFamily="34" charset="0"/>
                <a:ea typeface="Liter" pitchFamily="34" charset="-122"/>
                <a:cs typeface="Liter" pitchFamily="34" charset="-120"/>
              </a:rPr>
              <a:t>03</a:t>
            </a:r>
            <a:endParaRPr lang="en-US" sz="1600" dirty="0"/>
          </a:p>
        </p:txBody>
      </p:sp>
      <p:sp>
        <p:nvSpPr>
          <p:cNvPr id="21" name="Text 19"/>
          <p:cNvSpPr/>
          <p:nvPr/>
        </p:nvSpPr>
        <p:spPr>
          <a:xfrm>
            <a:off x="1207983" y="4012229"/>
            <a:ext cx="2856017" cy="276110"/>
          </a:xfrm>
          <a:prstGeom prst="rect">
            <a:avLst/>
          </a:prstGeom>
          <a:noFill/>
          <a:ln/>
        </p:spPr>
        <p:txBody>
          <a:bodyPr wrap="square" lIns="0" tIns="0" rIns="0" bIns="0" rtlCol="0" anchor="ctr"/>
          <a:lstStyle/>
          <a:p>
            <a:pPr>
              <a:lnSpc>
                <a:spcPct val="110000"/>
              </a:lnSpc>
            </a:pPr>
            <a:r>
              <a:rPr lang="en-US" sz="1631" b="1" dirty="0">
                <a:solidFill>
                  <a:srgbClr val="1A3A5C"/>
                </a:solidFill>
                <a:latin typeface="Liter" pitchFamily="34" charset="0"/>
                <a:ea typeface="Liter" pitchFamily="34" charset="-122"/>
                <a:cs typeface="Liter" pitchFamily="34" charset="-120"/>
              </a:rPr>
              <a:t>Types of Banks</a:t>
            </a:r>
            <a:endParaRPr lang="en-US" sz="1600" dirty="0"/>
          </a:p>
        </p:txBody>
      </p:sp>
      <p:sp>
        <p:nvSpPr>
          <p:cNvPr id="22" name="Text 20"/>
          <p:cNvSpPr/>
          <p:nvPr/>
        </p:nvSpPr>
        <p:spPr>
          <a:xfrm>
            <a:off x="1207983" y="4357367"/>
            <a:ext cx="2821503" cy="224340"/>
          </a:xfrm>
          <a:prstGeom prst="rect">
            <a:avLst/>
          </a:prstGeom>
          <a:noFill/>
          <a:ln/>
        </p:spPr>
        <p:txBody>
          <a:bodyPr wrap="square" lIns="0" tIns="0" rIns="0" bIns="0" rtlCol="0" anchor="ctr"/>
          <a:lstStyle/>
          <a:p>
            <a:pPr>
              <a:lnSpc>
                <a:spcPct val="140000"/>
              </a:lnSpc>
            </a:pPr>
            <a:r>
              <a:rPr lang="en-US" sz="1087" dirty="0">
                <a:solidFill>
                  <a:srgbClr val="8D99AE"/>
                </a:solidFill>
                <a:latin typeface="Quattrocento Sans" pitchFamily="34" charset="0"/>
                <a:ea typeface="Quattrocento Sans" pitchFamily="34" charset="-122"/>
                <a:cs typeface="Quattrocento Sans" pitchFamily="34" charset="-120"/>
              </a:rPr>
              <a:t>Commercial, Central, Investment, Cooperative</a:t>
            </a:r>
            <a:endParaRPr lang="en-US" sz="1600" dirty="0"/>
          </a:p>
        </p:txBody>
      </p:sp>
      <p:sp>
        <p:nvSpPr>
          <p:cNvPr id="23" name="Shape 21"/>
          <p:cNvSpPr/>
          <p:nvPr/>
        </p:nvSpPr>
        <p:spPr>
          <a:xfrm>
            <a:off x="362395" y="4892331"/>
            <a:ext cx="5530837" cy="914616"/>
          </a:xfrm>
          <a:custGeom>
            <a:avLst/>
            <a:gdLst/>
            <a:ahLst/>
            <a:cxnLst/>
            <a:rect l="l" t="t" r="r" b="b"/>
            <a:pathLst>
              <a:path w="5530837" h="914616">
                <a:moveTo>
                  <a:pt x="34514" y="0"/>
                </a:moveTo>
                <a:lnTo>
                  <a:pt x="5427293" y="0"/>
                </a:lnTo>
                <a:cubicBezTo>
                  <a:pt x="5484478" y="0"/>
                  <a:pt x="5530837" y="46358"/>
                  <a:pt x="5530837" y="103544"/>
                </a:cubicBezTo>
                <a:lnTo>
                  <a:pt x="5530837" y="811072"/>
                </a:lnTo>
                <a:cubicBezTo>
                  <a:pt x="5530837" y="868258"/>
                  <a:pt x="5484478" y="914616"/>
                  <a:pt x="5427293" y="914616"/>
                </a:cubicBezTo>
                <a:lnTo>
                  <a:pt x="34514" y="914616"/>
                </a:lnTo>
                <a:cubicBezTo>
                  <a:pt x="15452" y="914616"/>
                  <a:pt x="0" y="899163"/>
                  <a:pt x="0" y="880102"/>
                </a:cubicBezTo>
                <a:lnTo>
                  <a:pt x="0" y="34514"/>
                </a:lnTo>
                <a:cubicBezTo>
                  <a:pt x="0" y="15452"/>
                  <a:pt x="15452" y="0"/>
                  <a:pt x="34514" y="0"/>
                </a:cubicBezTo>
                <a:close/>
              </a:path>
            </a:pathLst>
          </a:custGeom>
          <a:solidFill>
            <a:srgbClr val="FFFFFF"/>
          </a:solidFill>
          <a:ln/>
          <a:effectLst>
            <a:outerShdw sx="100000" sy="100000" kx="0" ky="0" algn="bl" rotWithShape="0" blurRad="51771" dist="34514" dir="5400000">
              <a:srgbClr val="000000">
                <a:alpha val="10196"/>
              </a:srgbClr>
            </a:outerShdw>
          </a:effectLst>
        </p:spPr>
      </p:sp>
      <p:sp>
        <p:nvSpPr>
          <p:cNvPr id="24" name="Shape 22"/>
          <p:cNvSpPr/>
          <p:nvPr/>
        </p:nvSpPr>
        <p:spPr>
          <a:xfrm>
            <a:off x="362395" y="4892331"/>
            <a:ext cx="34514" cy="914616"/>
          </a:xfrm>
          <a:custGeom>
            <a:avLst/>
            <a:gdLst/>
            <a:ahLst/>
            <a:cxnLst/>
            <a:rect l="l" t="t" r="r" b="b"/>
            <a:pathLst>
              <a:path w="34514" h="914616">
                <a:moveTo>
                  <a:pt x="34514" y="0"/>
                </a:moveTo>
                <a:lnTo>
                  <a:pt x="34514" y="0"/>
                </a:lnTo>
                <a:lnTo>
                  <a:pt x="34514" y="914616"/>
                </a:lnTo>
                <a:lnTo>
                  <a:pt x="34514" y="914616"/>
                </a:lnTo>
                <a:cubicBezTo>
                  <a:pt x="15465" y="914616"/>
                  <a:pt x="0" y="899151"/>
                  <a:pt x="0" y="880102"/>
                </a:cubicBezTo>
                <a:lnTo>
                  <a:pt x="0" y="34514"/>
                </a:lnTo>
                <a:cubicBezTo>
                  <a:pt x="0" y="15465"/>
                  <a:pt x="15465" y="0"/>
                  <a:pt x="34514" y="0"/>
                </a:cubicBezTo>
                <a:close/>
              </a:path>
            </a:pathLst>
          </a:custGeom>
          <a:solidFill>
            <a:srgbClr val="2A9D8F"/>
          </a:solidFill>
          <a:ln/>
        </p:spPr>
      </p:sp>
      <p:sp>
        <p:nvSpPr>
          <p:cNvPr id="25" name="Shape 23"/>
          <p:cNvSpPr/>
          <p:nvPr/>
        </p:nvSpPr>
        <p:spPr>
          <a:xfrm>
            <a:off x="552221" y="5064900"/>
            <a:ext cx="483193" cy="483193"/>
          </a:xfrm>
          <a:custGeom>
            <a:avLst/>
            <a:gdLst/>
            <a:ahLst/>
            <a:cxnLst/>
            <a:rect l="l" t="t" r="r" b="b"/>
            <a:pathLst>
              <a:path w="483193" h="483193">
                <a:moveTo>
                  <a:pt x="241597" y="0"/>
                </a:moveTo>
                <a:lnTo>
                  <a:pt x="241597" y="0"/>
                </a:lnTo>
                <a:cubicBezTo>
                  <a:pt x="374937" y="0"/>
                  <a:pt x="483193" y="108256"/>
                  <a:pt x="483193" y="241597"/>
                </a:cubicBezTo>
                <a:lnTo>
                  <a:pt x="483193" y="241597"/>
                </a:lnTo>
                <a:cubicBezTo>
                  <a:pt x="483193" y="374937"/>
                  <a:pt x="374937" y="483193"/>
                  <a:pt x="241597" y="483193"/>
                </a:cubicBezTo>
                <a:lnTo>
                  <a:pt x="241597" y="483193"/>
                </a:lnTo>
                <a:cubicBezTo>
                  <a:pt x="108256" y="483193"/>
                  <a:pt x="0" y="374937"/>
                  <a:pt x="0" y="241597"/>
                </a:cubicBezTo>
                <a:lnTo>
                  <a:pt x="0" y="241597"/>
                </a:lnTo>
                <a:cubicBezTo>
                  <a:pt x="0" y="108256"/>
                  <a:pt x="108256" y="0"/>
                  <a:pt x="241597" y="0"/>
                </a:cubicBezTo>
                <a:close/>
              </a:path>
            </a:pathLst>
          </a:custGeom>
          <a:solidFill>
            <a:srgbClr val="2A9D8F"/>
          </a:solidFill>
          <a:ln/>
        </p:spPr>
      </p:sp>
      <p:sp>
        <p:nvSpPr>
          <p:cNvPr id="26" name="Text 24"/>
          <p:cNvSpPr/>
          <p:nvPr/>
        </p:nvSpPr>
        <p:spPr>
          <a:xfrm>
            <a:off x="500450" y="5064900"/>
            <a:ext cx="586735" cy="483193"/>
          </a:xfrm>
          <a:prstGeom prst="rect">
            <a:avLst/>
          </a:prstGeom>
          <a:noFill/>
          <a:ln/>
        </p:spPr>
        <p:txBody>
          <a:bodyPr wrap="square" lIns="0" tIns="0" rIns="0" bIns="0" rtlCol="0" anchor="ctr"/>
          <a:lstStyle/>
          <a:p>
            <a:pPr algn="ctr">
              <a:lnSpc>
                <a:spcPct val="110000"/>
              </a:lnSpc>
            </a:pPr>
            <a:r>
              <a:rPr lang="en-US" sz="1631" b="1" dirty="0">
                <a:solidFill>
                  <a:srgbClr val="FFFFFF"/>
                </a:solidFill>
                <a:latin typeface="Liter" pitchFamily="34" charset="0"/>
                <a:ea typeface="Liter" pitchFamily="34" charset="-122"/>
                <a:cs typeface="Liter" pitchFamily="34" charset="-120"/>
              </a:rPr>
              <a:t>04</a:t>
            </a:r>
            <a:endParaRPr lang="en-US" sz="1600" dirty="0"/>
          </a:p>
        </p:txBody>
      </p:sp>
      <p:sp>
        <p:nvSpPr>
          <p:cNvPr id="27" name="Text 25"/>
          <p:cNvSpPr/>
          <p:nvPr/>
        </p:nvSpPr>
        <p:spPr>
          <a:xfrm>
            <a:off x="1207983" y="5064900"/>
            <a:ext cx="2674820" cy="276110"/>
          </a:xfrm>
          <a:prstGeom prst="rect">
            <a:avLst/>
          </a:prstGeom>
          <a:noFill/>
          <a:ln/>
        </p:spPr>
        <p:txBody>
          <a:bodyPr wrap="square" lIns="0" tIns="0" rIns="0" bIns="0" rtlCol="0" anchor="ctr"/>
          <a:lstStyle/>
          <a:p>
            <a:pPr>
              <a:lnSpc>
                <a:spcPct val="110000"/>
              </a:lnSpc>
            </a:pPr>
            <a:r>
              <a:rPr lang="en-US" sz="1631" b="1" dirty="0">
                <a:solidFill>
                  <a:srgbClr val="1A3A5C"/>
                </a:solidFill>
                <a:latin typeface="Liter" pitchFamily="34" charset="0"/>
                <a:ea typeface="Liter" pitchFamily="34" charset="-122"/>
                <a:cs typeface="Liter" pitchFamily="34" charset="-120"/>
              </a:rPr>
              <a:t>Functions of Banks</a:t>
            </a:r>
            <a:endParaRPr lang="en-US" sz="1600" dirty="0"/>
          </a:p>
        </p:txBody>
      </p:sp>
      <p:sp>
        <p:nvSpPr>
          <p:cNvPr id="28" name="Text 26"/>
          <p:cNvSpPr/>
          <p:nvPr/>
        </p:nvSpPr>
        <p:spPr>
          <a:xfrm>
            <a:off x="1207983" y="5410038"/>
            <a:ext cx="2640306" cy="224340"/>
          </a:xfrm>
          <a:prstGeom prst="rect">
            <a:avLst/>
          </a:prstGeom>
          <a:noFill/>
          <a:ln/>
        </p:spPr>
        <p:txBody>
          <a:bodyPr wrap="square" lIns="0" tIns="0" rIns="0" bIns="0" rtlCol="0" anchor="ctr"/>
          <a:lstStyle/>
          <a:p>
            <a:pPr>
              <a:lnSpc>
                <a:spcPct val="140000"/>
              </a:lnSpc>
            </a:pPr>
            <a:r>
              <a:rPr lang="en-US" sz="1087" dirty="0">
                <a:solidFill>
                  <a:srgbClr val="8D99AE"/>
                </a:solidFill>
                <a:latin typeface="Quattrocento Sans" pitchFamily="34" charset="0"/>
                <a:ea typeface="Quattrocento Sans" pitchFamily="34" charset="-122"/>
                <a:cs typeface="Quattrocento Sans" pitchFamily="34" charset="-120"/>
              </a:rPr>
              <a:t>Primary and secondary functions explained</a:t>
            </a:r>
            <a:endParaRPr lang="en-US" sz="1600" dirty="0"/>
          </a:p>
        </p:txBody>
      </p:sp>
      <p:sp>
        <p:nvSpPr>
          <p:cNvPr id="29" name="Shape 27"/>
          <p:cNvSpPr/>
          <p:nvPr/>
        </p:nvSpPr>
        <p:spPr>
          <a:xfrm>
            <a:off x="362395" y="5945002"/>
            <a:ext cx="5530837" cy="914616"/>
          </a:xfrm>
          <a:custGeom>
            <a:avLst/>
            <a:gdLst/>
            <a:ahLst/>
            <a:cxnLst/>
            <a:rect l="l" t="t" r="r" b="b"/>
            <a:pathLst>
              <a:path w="5530837" h="914616">
                <a:moveTo>
                  <a:pt x="34514" y="0"/>
                </a:moveTo>
                <a:lnTo>
                  <a:pt x="5427293" y="0"/>
                </a:lnTo>
                <a:cubicBezTo>
                  <a:pt x="5484478" y="0"/>
                  <a:pt x="5530837" y="46358"/>
                  <a:pt x="5530837" y="103544"/>
                </a:cubicBezTo>
                <a:lnTo>
                  <a:pt x="5530837" y="811072"/>
                </a:lnTo>
                <a:cubicBezTo>
                  <a:pt x="5530837" y="868258"/>
                  <a:pt x="5484478" y="914616"/>
                  <a:pt x="5427293" y="914616"/>
                </a:cubicBezTo>
                <a:lnTo>
                  <a:pt x="34514" y="914616"/>
                </a:lnTo>
                <a:cubicBezTo>
                  <a:pt x="15452" y="914616"/>
                  <a:pt x="0" y="899163"/>
                  <a:pt x="0" y="880102"/>
                </a:cubicBezTo>
                <a:lnTo>
                  <a:pt x="0" y="34514"/>
                </a:lnTo>
                <a:cubicBezTo>
                  <a:pt x="0" y="15452"/>
                  <a:pt x="15452" y="0"/>
                  <a:pt x="34514" y="0"/>
                </a:cubicBezTo>
                <a:close/>
              </a:path>
            </a:pathLst>
          </a:custGeom>
          <a:solidFill>
            <a:srgbClr val="FFFFFF"/>
          </a:solidFill>
          <a:ln/>
          <a:effectLst>
            <a:outerShdw sx="100000" sy="100000" kx="0" ky="0" algn="bl" rotWithShape="0" blurRad="51771" dist="34514" dir="5400000">
              <a:srgbClr val="000000">
                <a:alpha val="10196"/>
              </a:srgbClr>
            </a:outerShdw>
          </a:effectLst>
        </p:spPr>
      </p:sp>
      <p:sp>
        <p:nvSpPr>
          <p:cNvPr id="30" name="Shape 28"/>
          <p:cNvSpPr/>
          <p:nvPr/>
        </p:nvSpPr>
        <p:spPr>
          <a:xfrm>
            <a:off x="362395" y="5945002"/>
            <a:ext cx="34514" cy="914616"/>
          </a:xfrm>
          <a:custGeom>
            <a:avLst/>
            <a:gdLst/>
            <a:ahLst/>
            <a:cxnLst/>
            <a:rect l="l" t="t" r="r" b="b"/>
            <a:pathLst>
              <a:path w="34514" h="914616">
                <a:moveTo>
                  <a:pt x="34514" y="0"/>
                </a:moveTo>
                <a:lnTo>
                  <a:pt x="34514" y="0"/>
                </a:lnTo>
                <a:lnTo>
                  <a:pt x="34514" y="914616"/>
                </a:lnTo>
                <a:lnTo>
                  <a:pt x="34514" y="914616"/>
                </a:lnTo>
                <a:cubicBezTo>
                  <a:pt x="15465" y="914616"/>
                  <a:pt x="0" y="899151"/>
                  <a:pt x="0" y="880102"/>
                </a:cubicBezTo>
                <a:lnTo>
                  <a:pt x="0" y="34514"/>
                </a:lnTo>
                <a:cubicBezTo>
                  <a:pt x="0" y="15465"/>
                  <a:pt x="15465" y="0"/>
                  <a:pt x="34514" y="0"/>
                </a:cubicBezTo>
                <a:close/>
              </a:path>
            </a:pathLst>
          </a:custGeom>
          <a:solidFill>
            <a:srgbClr val="1A3A5C"/>
          </a:solidFill>
          <a:ln/>
        </p:spPr>
      </p:sp>
      <p:sp>
        <p:nvSpPr>
          <p:cNvPr id="31" name="Shape 29"/>
          <p:cNvSpPr/>
          <p:nvPr/>
        </p:nvSpPr>
        <p:spPr>
          <a:xfrm>
            <a:off x="552221" y="6117571"/>
            <a:ext cx="483193" cy="483193"/>
          </a:xfrm>
          <a:custGeom>
            <a:avLst/>
            <a:gdLst/>
            <a:ahLst/>
            <a:cxnLst/>
            <a:rect l="l" t="t" r="r" b="b"/>
            <a:pathLst>
              <a:path w="483193" h="483193">
                <a:moveTo>
                  <a:pt x="241597" y="0"/>
                </a:moveTo>
                <a:lnTo>
                  <a:pt x="241597" y="0"/>
                </a:lnTo>
                <a:cubicBezTo>
                  <a:pt x="374937" y="0"/>
                  <a:pt x="483193" y="108256"/>
                  <a:pt x="483193" y="241597"/>
                </a:cubicBezTo>
                <a:lnTo>
                  <a:pt x="483193" y="241597"/>
                </a:lnTo>
                <a:cubicBezTo>
                  <a:pt x="483193" y="374937"/>
                  <a:pt x="374937" y="483193"/>
                  <a:pt x="241597" y="483193"/>
                </a:cubicBezTo>
                <a:lnTo>
                  <a:pt x="241597" y="483193"/>
                </a:lnTo>
                <a:cubicBezTo>
                  <a:pt x="108256" y="483193"/>
                  <a:pt x="0" y="374937"/>
                  <a:pt x="0" y="241597"/>
                </a:cubicBezTo>
                <a:lnTo>
                  <a:pt x="0" y="241597"/>
                </a:lnTo>
                <a:cubicBezTo>
                  <a:pt x="0" y="108256"/>
                  <a:pt x="108256" y="0"/>
                  <a:pt x="241597" y="0"/>
                </a:cubicBezTo>
                <a:close/>
              </a:path>
            </a:pathLst>
          </a:custGeom>
          <a:solidFill>
            <a:srgbClr val="1A3A5C"/>
          </a:solidFill>
          <a:ln/>
        </p:spPr>
      </p:sp>
      <p:sp>
        <p:nvSpPr>
          <p:cNvPr id="32" name="Text 30"/>
          <p:cNvSpPr/>
          <p:nvPr/>
        </p:nvSpPr>
        <p:spPr>
          <a:xfrm>
            <a:off x="500450" y="6117571"/>
            <a:ext cx="586735" cy="483193"/>
          </a:xfrm>
          <a:prstGeom prst="rect">
            <a:avLst/>
          </a:prstGeom>
          <a:noFill/>
          <a:ln/>
        </p:spPr>
        <p:txBody>
          <a:bodyPr wrap="square" lIns="0" tIns="0" rIns="0" bIns="0" rtlCol="0" anchor="ctr"/>
          <a:lstStyle/>
          <a:p>
            <a:pPr algn="ctr">
              <a:lnSpc>
                <a:spcPct val="110000"/>
              </a:lnSpc>
            </a:pPr>
            <a:r>
              <a:rPr lang="en-US" sz="1631" b="1" dirty="0">
                <a:solidFill>
                  <a:srgbClr val="FFFFFF"/>
                </a:solidFill>
                <a:latin typeface="Liter" pitchFamily="34" charset="0"/>
                <a:ea typeface="Liter" pitchFamily="34" charset="-122"/>
                <a:cs typeface="Liter" pitchFamily="34" charset="-120"/>
              </a:rPr>
              <a:t>05</a:t>
            </a:r>
            <a:endParaRPr lang="en-US" sz="1600" dirty="0"/>
          </a:p>
        </p:txBody>
      </p:sp>
      <p:sp>
        <p:nvSpPr>
          <p:cNvPr id="33" name="Text 31"/>
          <p:cNvSpPr/>
          <p:nvPr/>
        </p:nvSpPr>
        <p:spPr>
          <a:xfrm>
            <a:off x="1207983" y="6117571"/>
            <a:ext cx="2890531" cy="276110"/>
          </a:xfrm>
          <a:prstGeom prst="rect">
            <a:avLst/>
          </a:prstGeom>
          <a:noFill/>
          <a:ln/>
        </p:spPr>
        <p:txBody>
          <a:bodyPr wrap="square" lIns="0" tIns="0" rIns="0" bIns="0" rtlCol="0" anchor="ctr"/>
          <a:lstStyle/>
          <a:p>
            <a:pPr>
              <a:lnSpc>
                <a:spcPct val="110000"/>
              </a:lnSpc>
            </a:pPr>
            <a:r>
              <a:rPr lang="en-US" sz="1631" b="1" dirty="0">
                <a:solidFill>
                  <a:srgbClr val="1A3A5C"/>
                </a:solidFill>
                <a:latin typeface="Liter" pitchFamily="34" charset="0"/>
                <a:ea typeface="Liter" pitchFamily="34" charset="-122"/>
                <a:cs typeface="Liter" pitchFamily="34" charset="-120"/>
              </a:rPr>
              <a:t>How Banks Work</a:t>
            </a:r>
            <a:endParaRPr lang="en-US" sz="1600" dirty="0"/>
          </a:p>
        </p:txBody>
      </p:sp>
      <p:sp>
        <p:nvSpPr>
          <p:cNvPr id="34" name="Text 32"/>
          <p:cNvSpPr/>
          <p:nvPr/>
        </p:nvSpPr>
        <p:spPr>
          <a:xfrm>
            <a:off x="1207983" y="6462709"/>
            <a:ext cx="2856017" cy="224340"/>
          </a:xfrm>
          <a:prstGeom prst="rect">
            <a:avLst/>
          </a:prstGeom>
          <a:noFill/>
          <a:ln/>
        </p:spPr>
        <p:txBody>
          <a:bodyPr wrap="square" lIns="0" tIns="0" rIns="0" bIns="0" rtlCol="0" anchor="ctr"/>
          <a:lstStyle/>
          <a:p>
            <a:pPr>
              <a:lnSpc>
                <a:spcPct val="140000"/>
              </a:lnSpc>
            </a:pPr>
            <a:r>
              <a:rPr lang="en-US" sz="1087" dirty="0">
                <a:solidFill>
                  <a:srgbClr val="8D99AE"/>
                </a:solidFill>
                <a:latin typeface="Quattrocento Sans" pitchFamily="34" charset="0"/>
                <a:ea typeface="Quattrocento Sans" pitchFamily="34" charset="-122"/>
                <a:cs typeface="Quattrocento Sans" pitchFamily="34" charset="-120"/>
              </a:rPr>
              <a:t>Fractional reserve banking and money creation</a:t>
            </a:r>
            <a:endParaRPr lang="en-US" sz="1600" dirty="0"/>
          </a:p>
        </p:txBody>
      </p:sp>
      <p:sp>
        <p:nvSpPr>
          <p:cNvPr id="35" name="Shape 33"/>
          <p:cNvSpPr/>
          <p:nvPr/>
        </p:nvSpPr>
        <p:spPr>
          <a:xfrm>
            <a:off x="6321755" y="1734318"/>
            <a:ext cx="5530837" cy="914616"/>
          </a:xfrm>
          <a:custGeom>
            <a:avLst/>
            <a:gdLst/>
            <a:ahLst/>
            <a:cxnLst/>
            <a:rect l="l" t="t" r="r" b="b"/>
            <a:pathLst>
              <a:path w="5530837" h="914616">
                <a:moveTo>
                  <a:pt x="34514" y="0"/>
                </a:moveTo>
                <a:lnTo>
                  <a:pt x="5427293" y="0"/>
                </a:lnTo>
                <a:cubicBezTo>
                  <a:pt x="5484478" y="0"/>
                  <a:pt x="5530837" y="46358"/>
                  <a:pt x="5530837" y="103544"/>
                </a:cubicBezTo>
                <a:lnTo>
                  <a:pt x="5530837" y="811072"/>
                </a:lnTo>
                <a:cubicBezTo>
                  <a:pt x="5530837" y="868258"/>
                  <a:pt x="5484478" y="914616"/>
                  <a:pt x="5427293" y="914616"/>
                </a:cubicBezTo>
                <a:lnTo>
                  <a:pt x="34514" y="914616"/>
                </a:lnTo>
                <a:cubicBezTo>
                  <a:pt x="15452" y="914616"/>
                  <a:pt x="0" y="899163"/>
                  <a:pt x="0" y="880102"/>
                </a:cubicBezTo>
                <a:lnTo>
                  <a:pt x="0" y="34514"/>
                </a:lnTo>
                <a:cubicBezTo>
                  <a:pt x="0" y="15452"/>
                  <a:pt x="15452" y="0"/>
                  <a:pt x="34514" y="0"/>
                </a:cubicBezTo>
                <a:close/>
              </a:path>
            </a:pathLst>
          </a:custGeom>
          <a:solidFill>
            <a:srgbClr val="FFFFFF"/>
          </a:solidFill>
          <a:ln/>
          <a:effectLst>
            <a:outerShdw sx="100000" sy="100000" kx="0" ky="0" algn="bl" rotWithShape="0" blurRad="51771" dist="34514" dir="5400000">
              <a:srgbClr val="000000">
                <a:alpha val="10196"/>
              </a:srgbClr>
            </a:outerShdw>
          </a:effectLst>
        </p:spPr>
      </p:sp>
      <p:sp>
        <p:nvSpPr>
          <p:cNvPr id="36" name="Shape 34"/>
          <p:cNvSpPr/>
          <p:nvPr/>
        </p:nvSpPr>
        <p:spPr>
          <a:xfrm>
            <a:off x="6321755" y="1734318"/>
            <a:ext cx="34514" cy="914616"/>
          </a:xfrm>
          <a:custGeom>
            <a:avLst/>
            <a:gdLst/>
            <a:ahLst/>
            <a:cxnLst/>
            <a:rect l="l" t="t" r="r" b="b"/>
            <a:pathLst>
              <a:path w="34514" h="914616">
                <a:moveTo>
                  <a:pt x="34514" y="0"/>
                </a:moveTo>
                <a:lnTo>
                  <a:pt x="34514" y="0"/>
                </a:lnTo>
                <a:lnTo>
                  <a:pt x="34514" y="914616"/>
                </a:lnTo>
                <a:lnTo>
                  <a:pt x="34514" y="914616"/>
                </a:lnTo>
                <a:cubicBezTo>
                  <a:pt x="15465" y="914616"/>
                  <a:pt x="0" y="899151"/>
                  <a:pt x="0" y="880102"/>
                </a:cubicBezTo>
                <a:lnTo>
                  <a:pt x="0" y="34514"/>
                </a:lnTo>
                <a:cubicBezTo>
                  <a:pt x="0" y="15465"/>
                  <a:pt x="15465" y="0"/>
                  <a:pt x="34514" y="0"/>
                </a:cubicBezTo>
                <a:close/>
              </a:path>
            </a:pathLst>
          </a:custGeom>
          <a:solidFill>
            <a:srgbClr val="2A9D8F"/>
          </a:solidFill>
          <a:ln/>
        </p:spPr>
      </p:sp>
      <p:sp>
        <p:nvSpPr>
          <p:cNvPr id="37" name="Shape 35"/>
          <p:cNvSpPr/>
          <p:nvPr/>
        </p:nvSpPr>
        <p:spPr>
          <a:xfrm>
            <a:off x="6511581" y="1906887"/>
            <a:ext cx="483193" cy="483193"/>
          </a:xfrm>
          <a:custGeom>
            <a:avLst/>
            <a:gdLst/>
            <a:ahLst/>
            <a:cxnLst/>
            <a:rect l="l" t="t" r="r" b="b"/>
            <a:pathLst>
              <a:path w="483193" h="483193">
                <a:moveTo>
                  <a:pt x="241597" y="0"/>
                </a:moveTo>
                <a:lnTo>
                  <a:pt x="241597" y="0"/>
                </a:lnTo>
                <a:cubicBezTo>
                  <a:pt x="374937" y="0"/>
                  <a:pt x="483193" y="108256"/>
                  <a:pt x="483193" y="241597"/>
                </a:cubicBezTo>
                <a:lnTo>
                  <a:pt x="483193" y="241597"/>
                </a:lnTo>
                <a:cubicBezTo>
                  <a:pt x="483193" y="374937"/>
                  <a:pt x="374937" y="483193"/>
                  <a:pt x="241597" y="483193"/>
                </a:cubicBezTo>
                <a:lnTo>
                  <a:pt x="241597" y="483193"/>
                </a:lnTo>
                <a:cubicBezTo>
                  <a:pt x="108256" y="483193"/>
                  <a:pt x="0" y="374937"/>
                  <a:pt x="0" y="241597"/>
                </a:cubicBezTo>
                <a:lnTo>
                  <a:pt x="0" y="241597"/>
                </a:lnTo>
                <a:cubicBezTo>
                  <a:pt x="0" y="108256"/>
                  <a:pt x="108256" y="0"/>
                  <a:pt x="241597" y="0"/>
                </a:cubicBezTo>
                <a:close/>
              </a:path>
            </a:pathLst>
          </a:custGeom>
          <a:solidFill>
            <a:srgbClr val="2A9D8F"/>
          </a:solidFill>
          <a:ln/>
        </p:spPr>
      </p:sp>
      <p:sp>
        <p:nvSpPr>
          <p:cNvPr id="38" name="Text 36"/>
          <p:cNvSpPr/>
          <p:nvPr/>
        </p:nvSpPr>
        <p:spPr>
          <a:xfrm>
            <a:off x="6459811" y="1906887"/>
            <a:ext cx="586735" cy="483193"/>
          </a:xfrm>
          <a:prstGeom prst="rect">
            <a:avLst/>
          </a:prstGeom>
          <a:noFill/>
          <a:ln/>
        </p:spPr>
        <p:txBody>
          <a:bodyPr wrap="square" lIns="0" tIns="0" rIns="0" bIns="0" rtlCol="0" anchor="ctr"/>
          <a:lstStyle/>
          <a:p>
            <a:pPr algn="ctr">
              <a:lnSpc>
                <a:spcPct val="110000"/>
              </a:lnSpc>
            </a:pPr>
            <a:r>
              <a:rPr lang="en-US" sz="1631" b="1" dirty="0">
                <a:solidFill>
                  <a:srgbClr val="FFFFFF"/>
                </a:solidFill>
                <a:latin typeface="Liter" pitchFamily="34" charset="0"/>
                <a:ea typeface="Liter" pitchFamily="34" charset="-122"/>
                <a:cs typeface="Liter" pitchFamily="34" charset="-120"/>
              </a:rPr>
              <a:t>06</a:t>
            </a:r>
            <a:endParaRPr lang="en-US" sz="1600" dirty="0"/>
          </a:p>
        </p:txBody>
      </p:sp>
      <p:sp>
        <p:nvSpPr>
          <p:cNvPr id="39" name="Text 37"/>
          <p:cNvSpPr/>
          <p:nvPr/>
        </p:nvSpPr>
        <p:spPr>
          <a:xfrm>
            <a:off x="7167343" y="1906887"/>
            <a:ext cx="2856017" cy="276110"/>
          </a:xfrm>
          <a:prstGeom prst="rect">
            <a:avLst/>
          </a:prstGeom>
          <a:noFill/>
          <a:ln/>
        </p:spPr>
        <p:txBody>
          <a:bodyPr wrap="square" lIns="0" tIns="0" rIns="0" bIns="0" rtlCol="0" anchor="ctr"/>
          <a:lstStyle/>
          <a:p>
            <a:pPr>
              <a:lnSpc>
                <a:spcPct val="110000"/>
              </a:lnSpc>
            </a:pPr>
            <a:r>
              <a:rPr lang="en-US" sz="1631" b="1" dirty="0">
                <a:solidFill>
                  <a:srgbClr val="1A3A5C"/>
                </a:solidFill>
                <a:latin typeface="Liter" pitchFamily="34" charset="0"/>
                <a:ea typeface="Liter" pitchFamily="34" charset="-122"/>
                <a:cs typeface="Liter" pitchFamily="34" charset="-120"/>
              </a:rPr>
              <a:t>Digital Banking</a:t>
            </a:r>
            <a:endParaRPr lang="en-US" sz="1600" dirty="0"/>
          </a:p>
        </p:txBody>
      </p:sp>
      <p:sp>
        <p:nvSpPr>
          <p:cNvPr id="40" name="Text 38"/>
          <p:cNvSpPr/>
          <p:nvPr/>
        </p:nvSpPr>
        <p:spPr>
          <a:xfrm>
            <a:off x="7167343" y="2252025"/>
            <a:ext cx="2821503" cy="224340"/>
          </a:xfrm>
          <a:prstGeom prst="rect">
            <a:avLst/>
          </a:prstGeom>
          <a:noFill/>
          <a:ln/>
        </p:spPr>
        <p:txBody>
          <a:bodyPr wrap="square" lIns="0" tIns="0" rIns="0" bIns="0" rtlCol="0" anchor="ctr"/>
          <a:lstStyle/>
          <a:p>
            <a:pPr>
              <a:lnSpc>
                <a:spcPct val="140000"/>
              </a:lnSpc>
            </a:pPr>
            <a:r>
              <a:rPr lang="en-US" sz="1087" dirty="0">
                <a:solidFill>
                  <a:srgbClr val="8D99AE"/>
                </a:solidFill>
                <a:latin typeface="Quattrocento Sans" pitchFamily="34" charset="0"/>
                <a:ea typeface="Quattrocento Sans" pitchFamily="34" charset="-122"/>
                <a:cs typeface="Quattrocento Sans" pitchFamily="34" charset="-120"/>
              </a:rPr>
              <a:t>Online services and mobile banking revolution</a:t>
            </a:r>
            <a:endParaRPr lang="en-US" sz="1600" dirty="0"/>
          </a:p>
        </p:txBody>
      </p:sp>
      <p:sp>
        <p:nvSpPr>
          <p:cNvPr id="41" name="Shape 39"/>
          <p:cNvSpPr/>
          <p:nvPr/>
        </p:nvSpPr>
        <p:spPr>
          <a:xfrm>
            <a:off x="6321755" y="2786989"/>
            <a:ext cx="5530837" cy="914616"/>
          </a:xfrm>
          <a:custGeom>
            <a:avLst/>
            <a:gdLst/>
            <a:ahLst/>
            <a:cxnLst/>
            <a:rect l="l" t="t" r="r" b="b"/>
            <a:pathLst>
              <a:path w="5530837" h="914616">
                <a:moveTo>
                  <a:pt x="34514" y="0"/>
                </a:moveTo>
                <a:lnTo>
                  <a:pt x="5427293" y="0"/>
                </a:lnTo>
                <a:cubicBezTo>
                  <a:pt x="5484478" y="0"/>
                  <a:pt x="5530837" y="46358"/>
                  <a:pt x="5530837" y="103544"/>
                </a:cubicBezTo>
                <a:lnTo>
                  <a:pt x="5530837" y="811072"/>
                </a:lnTo>
                <a:cubicBezTo>
                  <a:pt x="5530837" y="868258"/>
                  <a:pt x="5484478" y="914616"/>
                  <a:pt x="5427293" y="914616"/>
                </a:cubicBezTo>
                <a:lnTo>
                  <a:pt x="34514" y="914616"/>
                </a:lnTo>
                <a:cubicBezTo>
                  <a:pt x="15452" y="914616"/>
                  <a:pt x="0" y="899163"/>
                  <a:pt x="0" y="880102"/>
                </a:cubicBezTo>
                <a:lnTo>
                  <a:pt x="0" y="34514"/>
                </a:lnTo>
                <a:cubicBezTo>
                  <a:pt x="0" y="15452"/>
                  <a:pt x="15452" y="0"/>
                  <a:pt x="34514" y="0"/>
                </a:cubicBezTo>
                <a:close/>
              </a:path>
            </a:pathLst>
          </a:custGeom>
          <a:solidFill>
            <a:srgbClr val="FFFFFF"/>
          </a:solidFill>
          <a:ln/>
          <a:effectLst>
            <a:outerShdw sx="100000" sy="100000" kx="0" ky="0" algn="bl" rotWithShape="0" blurRad="51771" dist="34514" dir="5400000">
              <a:srgbClr val="000000">
                <a:alpha val="10196"/>
              </a:srgbClr>
            </a:outerShdw>
          </a:effectLst>
        </p:spPr>
      </p:sp>
      <p:sp>
        <p:nvSpPr>
          <p:cNvPr id="42" name="Shape 40"/>
          <p:cNvSpPr/>
          <p:nvPr/>
        </p:nvSpPr>
        <p:spPr>
          <a:xfrm>
            <a:off x="6321755" y="2786989"/>
            <a:ext cx="34514" cy="914616"/>
          </a:xfrm>
          <a:custGeom>
            <a:avLst/>
            <a:gdLst/>
            <a:ahLst/>
            <a:cxnLst/>
            <a:rect l="l" t="t" r="r" b="b"/>
            <a:pathLst>
              <a:path w="34514" h="914616">
                <a:moveTo>
                  <a:pt x="34514" y="0"/>
                </a:moveTo>
                <a:lnTo>
                  <a:pt x="34514" y="0"/>
                </a:lnTo>
                <a:lnTo>
                  <a:pt x="34514" y="914616"/>
                </a:lnTo>
                <a:lnTo>
                  <a:pt x="34514" y="914616"/>
                </a:lnTo>
                <a:cubicBezTo>
                  <a:pt x="15465" y="914616"/>
                  <a:pt x="0" y="899151"/>
                  <a:pt x="0" y="880102"/>
                </a:cubicBezTo>
                <a:lnTo>
                  <a:pt x="0" y="34514"/>
                </a:lnTo>
                <a:cubicBezTo>
                  <a:pt x="0" y="15465"/>
                  <a:pt x="15465" y="0"/>
                  <a:pt x="34514" y="0"/>
                </a:cubicBezTo>
                <a:close/>
              </a:path>
            </a:pathLst>
          </a:custGeom>
          <a:solidFill>
            <a:srgbClr val="1A3A5C"/>
          </a:solidFill>
          <a:ln/>
        </p:spPr>
      </p:sp>
      <p:sp>
        <p:nvSpPr>
          <p:cNvPr id="43" name="Shape 41"/>
          <p:cNvSpPr/>
          <p:nvPr/>
        </p:nvSpPr>
        <p:spPr>
          <a:xfrm>
            <a:off x="6511581" y="2959558"/>
            <a:ext cx="483193" cy="483193"/>
          </a:xfrm>
          <a:custGeom>
            <a:avLst/>
            <a:gdLst/>
            <a:ahLst/>
            <a:cxnLst/>
            <a:rect l="l" t="t" r="r" b="b"/>
            <a:pathLst>
              <a:path w="483193" h="483193">
                <a:moveTo>
                  <a:pt x="241597" y="0"/>
                </a:moveTo>
                <a:lnTo>
                  <a:pt x="241597" y="0"/>
                </a:lnTo>
                <a:cubicBezTo>
                  <a:pt x="374937" y="0"/>
                  <a:pt x="483193" y="108256"/>
                  <a:pt x="483193" y="241597"/>
                </a:cubicBezTo>
                <a:lnTo>
                  <a:pt x="483193" y="241597"/>
                </a:lnTo>
                <a:cubicBezTo>
                  <a:pt x="483193" y="374937"/>
                  <a:pt x="374937" y="483193"/>
                  <a:pt x="241597" y="483193"/>
                </a:cubicBezTo>
                <a:lnTo>
                  <a:pt x="241597" y="483193"/>
                </a:lnTo>
                <a:cubicBezTo>
                  <a:pt x="108256" y="483193"/>
                  <a:pt x="0" y="374937"/>
                  <a:pt x="0" y="241597"/>
                </a:cubicBezTo>
                <a:lnTo>
                  <a:pt x="0" y="241597"/>
                </a:lnTo>
                <a:cubicBezTo>
                  <a:pt x="0" y="108256"/>
                  <a:pt x="108256" y="0"/>
                  <a:pt x="241597" y="0"/>
                </a:cubicBezTo>
                <a:close/>
              </a:path>
            </a:pathLst>
          </a:custGeom>
          <a:solidFill>
            <a:srgbClr val="1A3A5C"/>
          </a:solidFill>
          <a:ln/>
        </p:spPr>
      </p:sp>
      <p:sp>
        <p:nvSpPr>
          <p:cNvPr id="44" name="Text 42"/>
          <p:cNvSpPr/>
          <p:nvPr/>
        </p:nvSpPr>
        <p:spPr>
          <a:xfrm>
            <a:off x="6459811" y="2959558"/>
            <a:ext cx="586735" cy="483193"/>
          </a:xfrm>
          <a:prstGeom prst="rect">
            <a:avLst/>
          </a:prstGeom>
          <a:noFill/>
          <a:ln/>
        </p:spPr>
        <p:txBody>
          <a:bodyPr wrap="square" lIns="0" tIns="0" rIns="0" bIns="0" rtlCol="0" anchor="ctr"/>
          <a:lstStyle/>
          <a:p>
            <a:pPr algn="ctr">
              <a:lnSpc>
                <a:spcPct val="110000"/>
              </a:lnSpc>
            </a:pPr>
            <a:r>
              <a:rPr lang="en-US" sz="1631" b="1" dirty="0">
                <a:solidFill>
                  <a:srgbClr val="FFFFFF"/>
                </a:solidFill>
                <a:latin typeface="Liter" pitchFamily="34" charset="0"/>
                <a:ea typeface="Liter" pitchFamily="34" charset="-122"/>
                <a:cs typeface="Liter" pitchFamily="34" charset="-120"/>
              </a:rPr>
              <a:t>07</a:t>
            </a:r>
            <a:endParaRPr lang="en-US" sz="1600" dirty="0"/>
          </a:p>
        </p:txBody>
      </p:sp>
      <p:sp>
        <p:nvSpPr>
          <p:cNvPr id="45" name="Text 43"/>
          <p:cNvSpPr/>
          <p:nvPr/>
        </p:nvSpPr>
        <p:spPr>
          <a:xfrm>
            <a:off x="7167343" y="2959558"/>
            <a:ext cx="2277911" cy="276110"/>
          </a:xfrm>
          <a:prstGeom prst="rect">
            <a:avLst/>
          </a:prstGeom>
          <a:noFill/>
          <a:ln/>
        </p:spPr>
        <p:txBody>
          <a:bodyPr wrap="square" lIns="0" tIns="0" rIns="0" bIns="0" rtlCol="0" anchor="ctr"/>
          <a:lstStyle/>
          <a:p>
            <a:pPr>
              <a:lnSpc>
                <a:spcPct val="110000"/>
              </a:lnSpc>
            </a:pPr>
            <a:r>
              <a:rPr lang="en-US" sz="1631" b="1" dirty="0">
                <a:solidFill>
                  <a:srgbClr val="1A3A5C"/>
                </a:solidFill>
                <a:latin typeface="Liter" pitchFamily="34" charset="0"/>
                <a:ea typeface="Liter" pitchFamily="34" charset="-122"/>
                <a:cs typeface="Liter" pitchFamily="34" charset="-120"/>
              </a:rPr>
              <a:t>Central Banks</a:t>
            </a:r>
            <a:endParaRPr lang="en-US" sz="1600" dirty="0"/>
          </a:p>
        </p:txBody>
      </p:sp>
      <p:sp>
        <p:nvSpPr>
          <p:cNvPr id="46" name="Text 44"/>
          <p:cNvSpPr/>
          <p:nvPr/>
        </p:nvSpPr>
        <p:spPr>
          <a:xfrm>
            <a:off x="7167343" y="3304696"/>
            <a:ext cx="2243397" cy="224340"/>
          </a:xfrm>
          <a:prstGeom prst="rect">
            <a:avLst/>
          </a:prstGeom>
          <a:noFill/>
          <a:ln/>
        </p:spPr>
        <p:txBody>
          <a:bodyPr wrap="square" lIns="0" tIns="0" rIns="0" bIns="0" rtlCol="0" anchor="ctr"/>
          <a:lstStyle/>
          <a:p>
            <a:pPr>
              <a:lnSpc>
                <a:spcPct val="140000"/>
              </a:lnSpc>
            </a:pPr>
            <a:r>
              <a:rPr lang="en-US" sz="1087" dirty="0">
                <a:solidFill>
                  <a:srgbClr val="8D99AE"/>
                </a:solidFill>
                <a:latin typeface="Quattrocento Sans" pitchFamily="34" charset="0"/>
                <a:ea typeface="Quattrocento Sans" pitchFamily="34" charset="-122"/>
                <a:cs typeface="Quattrocento Sans" pitchFamily="34" charset="-120"/>
              </a:rPr>
              <a:t>Role, functions, and monetary policy</a:t>
            </a:r>
            <a:endParaRPr lang="en-US" sz="1600" dirty="0"/>
          </a:p>
        </p:txBody>
      </p:sp>
      <p:sp>
        <p:nvSpPr>
          <p:cNvPr id="47" name="Shape 45"/>
          <p:cNvSpPr/>
          <p:nvPr/>
        </p:nvSpPr>
        <p:spPr>
          <a:xfrm>
            <a:off x="6321755" y="3839660"/>
            <a:ext cx="5530837" cy="914616"/>
          </a:xfrm>
          <a:custGeom>
            <a:avLst/>
            <a:gdLst/>
            <a:ahLst/>
            <a:cxnLst/>
            <a:rect l="l" t="t" r="r" b="b"/>
            <a:pathLst>
              <a:path w="5530837" h="914616">
                <a:moveTo>
                  <a:pt x="34514" y="0"/>
                </a:moveTo>
                <a:lnTo>
                  <a:pt x="5427293" y="0"/>
                </a:lnTo>
                <a:cubicBezTo>
                  <a:pt x="5484478" y="0"/>
                  <a:pt x="5530837" y="46358"/>
                  <a:pt x="5530837" y="103544"/>
                </a:cubicBezTo>
                <a:lnTo>
                  <a:pt x="5530837" y="811072"/>
                </a:lnTo>
                <a:cubicBezTo>
                  <a:pt x="5530837" y="868258"/>
                  <a:pt x="5484478" y="914616"/>
                  <a:pt x="5427293" y="914616"/>
                </a:cubicBezTo>
                <a:lnTo>
                  <a:pt x="34514" y="914616"/>
                </a:lnTo>
                <a:cubicBezTo>
                  <a:pt x="15452" y="914616"/>
                  <a:pt x="0" y="899163"/>
                  <a:pt x="0" y="880102"/>
                </a:cubicBezTo>
                <a:lnTo>
                  <a:pt x="0" y="34514"/>
                </a:lnTo>
                <a:cubicBezTo>
                  <a:pt x="0" y="15452"/>
                  <a:pt x="15452" y="0"/>
                  <a:pt x="34514" y="0"/>
                </a:cubicBezTo>
                <a:close/>
              </a:path>
            </a:pathLst>
          </a:custGeom>
          <a:solidFill>
            <a:srgbClr val="FFFFFF"/>
          </a:solidFill>
          <a:ln/>
          <a:effectLst>
            <a:outerShdw sx="100000" sy="100000" kx="0" ky="0" algn="bl" rotWithShape="0" blurRad="51771" dist="34514" dir="5400000">
              <a:srgbClr val="000000">
                <a:alpha val="10196"/>
              </a:srgbClr>
            </a:outerShdw>
          </a:effectLst>
        </p:spPr>
      </p:sp>
      <p:sp>
        <p:nvSpPr>
          <p:cNvPr id="48" name="Shape 46"/>
          <p:cNvSpPr/>
          <p:nvPr/>
        </p:nvSpPr>
        <p:spPr>
          <a:xfrm>
            <a:off x="6321755" y="3839660"/>
            <a:ext cx="34514" cy="914616"/>
          </a:xfrm>
          <a:custGeom>
            <a:avLst/>
            <a:gdLst/>
            <a:ahLst/>
            <a:cxnLst/>
            <a:rect l="l" t="t" r="r" b="b"/>
            <a:pathLst>
              <a:path w="34514" h="914616">
                <a:moveTo>
                  <a:pt x="34514" y="0"/>
                </a:moveTo>
                <a:lnTo>
                  <a:pt x="34514" y="0"/>
                </a:lnTo>
                <a:lnTo>
                  <a:pt x="34514" y="914616"/>
                </a:lnTo>
                <a:lnTo>
                  <a:pt x="34514" y="914616"/>
                </a:lnTo>
                <a:cubicBezTo>
                  <a:pt x="15465" y="914616"/>
                  <a:pt x="0" y="899151"/>
                  <a:pt x="0" y="880102"/>
                </a:cubicBezTo>
                <a:lnTo>
                  <a:pt x="0" y="34514"/>
                </a:lnTo>
                <a:cubicBezTo>
                  <a:pt x="0" y="15465"/>
                  <a:pt x="15465" y="0"/>
                  <a:pt x="34514" y="0"/>
                </a:cubicBezTo>
                <a:close/>
              </a:path>
            </a:pathLst>
          </a:custGeom>
          <a:solidFill>
            <a:srgbClr val="2A9D8F"/>
          </a:solidFill>
          <a:ln/>
        </p:spPr>
      </p:sp>
      <p:sp>
        <p:nvSpPr>
          <p:cNvPr id="49" name="Shape 47"/>
          <p:cNvSpPr/>
          <p:nvPr/>
        </p:nvSpPr>
        <p:spPr>
          <a:xfrm>
            <a:off x="6511581" y="4012229"/>
            <a:ext cx="483193" cy="483193"/>
          </a:xfrm>
          <a:custGeom>
            <a:avLst/>
            <a:gdLst/>
            <a:ahLst/>
            <a:cxnLst/>
            <a:rect l="l" t="t" r="r" b="b"/>
            <a:pathLst>
              <a:path w="483193" h="483193">
                <a:moveTo>
                  <a:pt x="241597" y="0"/>
                </a:moveTo>
                <a:lnTo>
                  <a:pt x="241597" y="0"/>
                </a:lnTo>
                <a:cubicBezTo>
                  <a:pt x="374937" y="0"/>
                  <a:pt x="483193" y="108256"/>
                  <a:pt x="483193" y="241597"/>
                </a:cubicBezTo>
                <a:lnTo>
                  <a:pt x="483193" y="241597"/>
                </a:lnTo>
                <a:cubicBezTo>
                  <a:pt x="483193" y="374937"/>
                  <a:pt x="374937" y="483193"/>
                  <a:pt x="241597" y="483193"/>
                </a:cubicBezTo>
                <a:lnTo>
                  <a:pt x="241597" y="483193"/>
                </a:lnTo>
                <a:cubicBezTo>
                  <a:pt x="108256" y="483193"/>
                  <a:pt x="0" y="374937"/>
                  <a:pt x="0" y="241597"/>
                </a:cubicBezTo>
                <a:lnTo>
                  <a:pt x="0" y="241597"/>
                </a:lnTo>
                <a:cubicBezTo>
                  <a:pt x="0" y="108256"/>
                  <a:pt x="108256" y="0"/>
                  <a:pt x="241597" y="0"/>
                </a:cubicBezTo>
                <a:close/>
              </a:path>
            </a:pathLst>
          </a:custGeom>
          <a:solidFill>
            <a:srgbClr val="2A9D8F"/>
          </a:solidFill>
          <a:ln/>
        </p:spPr>
      </p:sp>
      <p:sp>
        <p:nvSpPr>
          <p:cNvPr id="50" name="Text 48"/>
          <p:cNvSpPr/>
          <p:nvPr/>
        </p:nvSpPr>
        <p:spPr>
          <a:xfrm>
            <a:off x="6459811" y="4012229"/>
            <a:ext cx="586735" cy="483193"/>
          </a:xfrm>
          <a:prstGeom prst="rect">
            <a:avLst/>
          </a:prstGeom>
          <a:noFill/>
          <a:ln/>
        </p:spPr>
        <p:txBody>
          <a:bodyPr wrap="square" lIns="0" tIns="0" rIns="0" bIns="0" rtlCol="0" anchor="ctr"/>
          <a:lstStyle/>
          <a:p>
            <a:pPr algn="ctr">
              <a:lnSpc>
                <a:spcPct val="110000"/>
              </a:lnSpc>
            </a:pPr>
            <a:r>
              <a:rPr lang="en-US" sz="1631" b="1" dirty="0">
                <a:solidFill>
                  <a:srgbClr val="FFFFFF"/>
                </a:solidFill>
                <a:latin typeface="Liter" pitchFamily="34" charset="0"/>
                <a:ea typeface="Liter" pitchFamily="34" charset="-122"/>
                <a:cs typeface="Liter" pitchFamily="34" charset="-120"/>
              </a:rPr>
              <a:t>08</a:t>
            </a:r>
            <a:endParaRPr lang="en-US" sz="1600" dirty="0"/>
          </a:p>
        </p:txBody>
      </p:sp>
      <p:sp>
        <p:nvSpPr>
          <p:cNvPr id="51" name="Text 49"/>
          <p:cNvSpPr/>
          <p:nvPr/>
        </p:nvSpPr>
        <p:spPr>
          <a:xfrm>
            <a:off x="7167343" y="4012229"/>
            <a:ext cx="2510879" cy="276110"/>
          </a:xfrm>
          <a:prstGeom prst="rect">
            <a:avLst/>
          </a:prstGeom>
          <a:noFill/>
          <a:ln/>
        </p:spPr>
        <p:txBody>
          <a:bodyPr wrap="square" lIns="0" tIns="0" rIns="0" bIns="0" rtlCol="0" anchor="ctr"/>
          <a:lstStyle/>
          <a:p>
            <a:pPr>
              <a:lnSpc>
                <a:spcPct val="110000"/>
              </a:lnSpc>
            </a:pPr>
            <a:r>
              <a:rPr lang="en-US" sz="1631" b="1" dirty="0">
                <a:solidFill>
                  <a:srgbClr val="1A3A5C"/>
                </a:solidFill>
                <a:latin typeface="Liter" pitchFamily="34" charset="0"/>
                <a:ea typeface="Liter" pitchFamily="34" charset="-122"/>
                <a:cs typeface="Liter" pitchFamily="34" charset="-120"/>
              </a:rPr>
              <a:t>Economic Importance</a:t>
            </a:r>
            <a:endParaRPr lang="en-US" sz="1600" dirty="0"/>
          </a:p>
        </p:txBody>
      </p:sp>
      <p:sp>
        <p:nvSpPr>
          <p:cNvPr id="52" name="Text 50"/>
          <p:cNvSpPr/>
          <p:nvPr/>
        </p:nvSpPr>
        <p:spPr>
          <a:xfrm>
            <a:off x="7167343" y="4357367"/>
            <a:ext cx="2476365" cy="224340"/>
          </a:xfrm>
          <a:prstGeom prst="rect">
            <a:avLst/>
          </a:prstGeom>
          <a:noFill/>
          <a:ln/>
        </p:spPr>
        <p:txBody>
          <a:bodyPr wrap="square" lIns="0" tIns="0" rIns="0" bIns="0" rtlCol="0" anchor="ctr"/>
          <a:lstStyle/>
          <a:p>
            <a:pPr>
              <a:lnSpc>
                <a:spcPct val="140000"/>
              </a:lnSpc>
            </a:pPr>
            <a:r>
              <a:rPr lang="en-US" sz="1087" dirty="0">
                <a:solidFill>
                  <a:srgbClr val="8D99AE"/>
                </a:solidFill>
                <a:latin typeface="Quattrocento Sans" pitchFamily="34" charset="0"/>
                <a:ea typeface="Quattrocento Sans" pitchFamily="34" charset="-122"/>
                <a:cs typeface="Quattrocento Sans" pitchFamily="34" charset="-120"/>
              </a:rPr>
              <a:t>Banking's role in economic development</a:t>
            </a:r>
            <a:endParaRPr lang="en-US" sz="1600" dirty="0"/>
          </a:p>
        </p:txBody>
      </p:sp>
      <p:sp>
        <p:nvSpPr>
          <p:cNvPr id="53" name="Shape 51"/>
          <p:cNvSpPr/>
          <p:nvPr/>
        </p:nvSpPr>
        <p:spPr>
          <a:xfrm>
            <a:off x="6321755" y="4892331"/>
            <a:ext cx="5530837" cy="914616"/>
          </a:xfrm>
          <a:custGeom>
            <a:avLst/>
            <a:gdLst/>
            <a:ahLst/>
            <a:cxnLst/>
            <a:rect l="l" t="t" r="r" b="b"/>
            <a:pathLst>
              <a:path w="5530837" h="914616">
                <a:moveTo>
                  <a:pt x="34514" y="0"/>
                </a:moveTo>
                <a:lnTo>
                  <a:pt x="5427293" y="0"/>
                </a:lnTo>
                <a:cubicBezTo>
                  <a:pt x="5484478" y="0"/>
                  <a:pt x="5530837" y="46358"/>
                  <a:pt x="5530837" y="103544"/>
                </a:cubicBezTo>
                <a:lnTo>
                  <a:pt x="5530837" y="811072"/>
                </a:lnTo>
                <a:cubicBezTo>
                  <a:pt x="5530837" y="868258"/>
                  <a:pt x="5484478" y="914616"/>
                  <a:pt x="5427293" y="914616"/>
                </a:cubicBezTo>
                <a:lnTo>
                  <a:pt x="34514" y="914616"/>
                </a:lnTo>
                <a:cubicBezTo>
                  <a:pt x="15452" y="914616"/>
                  <a:pt x="0" y="899163"/>
                  <a:pt x="0" y="880102"/>
                </a:cubicBezTo>
                <a:lnTo>
                  <a:pt x="0" y="34514"/>
                </a:lnTo>
                <a:cubicBezTo>
                  <a:pt x="0" y="15452"/>
                  <a:pt x="15452" y="0"/>
                  <a:pt x="34514" y="0"/>
                </a:cubicBezTo>
                <a:close/>
              </a:path>
            </a:pathLst>
          </a:custGeom>
          <a:solidFill>
            <a:srgbClr val="FFFFFF"/>
          </a:solidFill>
          <a:ln/>
          <a:effectLst>
            <a:outerShdw sx="100000" sy="100000" kx="0" ky="0" algn="bl" rotWithShape="0" blurRad="51771" dist="34514" dir="5400000">
              <a:srgbClr val="000000">
                <a:alpha val="10196"/>
              </a:srgbClr>
            </a:outerShdw>
          </a:effectLst>
        </p:spPr>
      </p:sp>
      <p:sp>
        <p:nvSpPr>
          <p:cNvPr id="54" name="Shape 52"/>
          <p:cNvSpPr/>
          <p:nvPr/>
        </p:nvSpPr>
        <p:spPr>
          <a:xfrm>
            <a:off x="6321755" y="4892331"/>
            <a:ext cx="34514" cy="914616"/>
          </a:xfrm>
          <a:custGeom>
            <a:avLst/>
            <a:gdLst/>
            <a:ahLst/>
            <a:cxnLst/>
            <a:rect l="l" t="t" r="r" b="b"/>
            <a:pathLst>
              <a:path w="34514" h="914616">
                <a:moveTo>
                  <a:pt x="34514" y="0"/>
                </a:moveTo>
                <a:lnTo>
                  <a:pt x="34514" y="0"/>
                </a:lnTo>
                <a:lnTo>
                  <a:pt x="34514" y="914616"/>
                </a:lnTo>
                <a:lnTo>
                  <a:pt x="34514" y="914616"/>
                </a:lnTo>
                <a:cubicBezTo>
                  <a:pt x="15465" y="914616"/>
                  <a:pt x="0" y="899151"/>
                  <a:pt x="0" y="880102"/>
                </a:cubicBezTo>
                <a:lnTo>
                  <a:pt x="0" y="34514"/>
                </a:lnTo>
                <a:cubicBezTo>
                  <a:pt x="0" y="15465"/>
                  <a:pt x="15465" y="0"/>
                  <a:pt x="34514" y="0"/>
                </a:cubicBezTo>
                <a:close/>
              </a:path>
            </a:pathLst>
          </a:custGeom>
          <a:solidFill>
            <a:srgbClr val="1A3A5C"/>
          </a:solidFill>
          <a:ln/>
        </p:spPr>
      </p:sp>
      <p:sp>
        <p:nvSpPr>
          <p:cNvPr id="55" name="Shape 53"/>
          <p:cNvSpPr/>
          <p:nvPr/>
        </p:nvSpPr>
        <p:spPr>
          <a:xfrm>
            <a:off x="6511581" y="5064900"/>
            <a:ext cx="483193" cy="483193"/>
          </a:xfrm>
          <a:custGeom>
            <a:avLst/>
            <a:gdLst/>
            <a:ahLst/>
            <a:cxnLst/>
            <a:rect l="l" t="t" r="r" b="b"/>
            <a:pathLst>
              <a:path w="483193" h="483193">
                <a:moveTo>
                  <a:pt x="241597" y="0"/>
                </a:moveTo>
                <a:lnTo>
                  <a:pt x="241597" y="0"/>
                </a:lnTo>
                <a:cubicBezTo>
                  <a:pt x="374937" y="0"/>
                  <a:pt x="483193" y="108256"/>
                  <a:pt x="483193" y="241597"/>
                </a:cubicBezTo>
                <a:lnTo>
                  <a:pt x="483193" y="241597"/>
                </a:lnTo>
                <a:cubicBezTo>
                  <a:pt x="483193" y="374937"/>
                  <a:pt x="374937" y="483193"/>
                  <a:pt x="241597" y="483193"/>
                </a:cubicBezTo>
                <a:lnTo>
                  <a:pt x="241597" y="483193"/>
                </a:lnTo>
                <a:cubicBezTo>
                  <a:pt x="108256" y="483193"/>
                  <a:pt x="0" y="374937"/>
                  <a:pt x="0" y="241597"/>
                </a:cubicBezTo>
                <a:lnTo>
                  <a:pt x="0" y="241597"/>
                </a:lnTo>
                <a:cubicBezTo>
                  <a:pt x="0" y="108256"/>
                  <a:pt x="108256" y="0"/>
                  <a:pt x="241597" y="0"/>
                </a:cubicBezTo>
                <a:close/>
              </a:path>
            </a:pathLst>
          </a:custGeom>
          <a:solidFill>
            <a:srgbClr val="1A3A5C"/>
          </a:solidFill>
          <a:ln/>
        </p:spPr>
      </p:sp>
      <p:sp>
        <p:nvSpPr>
          <p:cNvPr id="56" name="Text 54"/>
          <p:cNvSpPr/>
          <p:nvPr/>
        </p:nvSpPr>
        <p:spPr>
          <a:xfrm>
            <a:off x="6459811" y="5064900"/>
            <a:ext cx="586735" cy="483193"/>
          </a:xfrm>
          <a:prstGeom prst="rect">
            <a:avLst/>
          </a:prstGeom>
          <a:noFill/>
          <a:ln/>
        </p:spPr>
        <p:txBody>
          <a:bodyPr wrap="square" lIns="0" tIns="0" rIns="0" bIns="0" rtlCol="0" anchor="ctr"/>
          <a:lstStyle/>
          <a:p>
            <a:pPr algn="ctr">
              <a:lnSpc>
                <a:spcPct val="110000"/>
              </a:lnSpc>
            </a:pPr>
            <a:r>
              <a:rPr lang="en-US" sz="1631" b="1" dirty="0">
                <a:solidFill>
                  <a:srgbClr val="FFFFFF"/>
                </a:solidFill>
                <a:latin typeface="Liter" pitchFamily="34" charset="0"/>
                <a:ea typeface="Liter" pitchFamily="34" charset="-122"/>
                <a:cs typeface="Liter" pitchFamily="34" charset="-120"/>
              </a:rPr>
              <a:t>09</a:t>
            </a:r>
            <a:endParaRPr lang="en-US" sz="1600" dirty="0"/>
          </a:p>
        </p:txBody>
      </p:sp>
      <p:sp>
        <p:nvSpPr>
          <p:cNvPr id="57" name="Text 55"/>
          <p:cNvSpPr/>
          <p:nvPr/>
        </p:nvSpPr>
        <p:spPr>
          <a:xfrm>
            <a:off x="7167343" y="5064900"/>
            <a:ext cx="2700705" cy="276110"/>
          </a:xfrm>
          <a:prstGeom prst="rect">
            <a:avLst/>
          </a:prstGeom>
          <a:noFill/>
          <a:ln/>
        </p:spPr>
        <p:txBody>
          <a:bodyPr wrap="square" lIns="0" tIns="0" rIns="0" bIns="0" rtlCol="0" anchor="ctr"/>
          <a:lstStyle/>
          <a:p>
            <a:pPr>
              <a:lnSpc>
                <a:spcPct val="110000"/>
              </a:lnSpc>
            </a:pPr>
            <a:r>
              <a:rPr lang="en-US" sz="1631" b="1" dirty="0">
                <a:solidFill>
                  <a:srgbClr val="1A3A5C"/>
                </a:solidFill>
                <a:latin typeface="Liter" pitchFamily="34" charset="0"/>
                <a:ea typeface="Liter" pitchFamily="34" charset="-122"/>
                <a:cs typeface="Liter" pitchFamily="34" charset="-120"/>
              </a:rPr>
              <a:t>Modern Trends</a:t>
            </a:r>
            <a:endParaRPr lang="en-US" sz="1600" dirty="0"/>
          </a:p>
        </p:txBody>
      </p:sp>
      <p:sp>
        <p:nvSpPr>
          <p:cNvPr id="58" name="Text 56"/>
          <p:cNvSpPr/>
          <p:nvPr/>
        </p:nvSpPr>
        <p:spPr>
          <a:xfrm>
            <a:off x="7167343" y="5410038"/>
            <a:ext cx="2666191" cy="224340"/>
          </a:xfrm>
          <a:prstGeom prst="rect">
            <a:avLst/>
          </a:prstGeom>
          <a:noFill/>
          <a:ln/>
        </p:spPr>
        <p:txBody>
          <a:bodyPr wrap="square" lIns="0" tIns="0" rIns="0" bIns="0" rtlCol="0" anchor="ctr"/>
          <a:lstStyle/>
          <a:p>
            <a:pPr>
              <a:lnSpc>
                <a:spcPct val="140000"/>
              </a:lnSpc>
            </a:pPr>
            <a:r>
              <a:rPr lang="en-US" sz="1087" dirty="0">
                <a:solidFill>
                  <a:srgbClr val="8D99AE"/>
                </a:solidFill>
                <a:latin typeface="Quattrocento Sans" pitchFamily="34" charset="0"/>
                <a:ea typeface="Quattrocento Sans" pitchFamily="34" charset="-122"/>
                <a:cs typeface="Quattrocento Sans" pitchFamily="34" charset="-120"/>
              </a:rPr>
              <a:t>UPI, FinTech, AI, and emerging technologies</a:t>
            </a:r>
            <a:endParaRPr lang="en-US" sz="1600" dirty="0"/>
          </a:p>
        </p:txBody>
      </p:sp>
      <p:sp>
        <p:nvSpPr>
          <p:cNvPr id="59" name="Shape 57"/>
          <p:cNvSpPr/>
          <p:nvPr/>
        </p:nvSpPr>
        <p:spPr>
          <a:xfrm>
            <a:off x="6321755" y="5945002"/>
            <a:ext cx="5530837" cy="914616"/>
          </a:xfrm>
          <a:custGeom>
            <a:avLst/>
            <a:gdLst/>
            <a:ahLst/>
            <a:cxnLst/>
            <a:rect l="l" t="t" r="r" b="b"/>
            <a:pathLst>
              <a:path w="5530837" h="914616">
                <a:moveTo>
                  <a:pt x="34514" y="0"/>
                </a:moveTo>
                <a:lnTo>
                  <a:pt x="5427293" y="0"/>
                </a:lnTo>
                <a:cubicBezTo>
                  <a:pt x="5484478" y="0"/>
                  <a:pt x="5530837" y="46358"/>
                  <a:pt x="5530837" y="103544"/>
                </a:cubicBezTo>
                <a:lnTo>
                  <a:pt x="5530837" y="811072"/>
                </a:lnTo>
                <a:cubicBezTo>
                  <a:pt x="5530837" y="868258"/>
                  <a:pt x="5484478" y="914616"/>
                  <a:pt x="5427293" y="914616"/>
                </a:cubicBezTo>
                <a:lnTo>
                  <a:pt x="34514" y="914616"/>
                </a:lnTo>
                <a:cubicBezTo>
                  <a:pt x="15452" y="914616"/>
                  <a:pt x="0" y="899163"/>
                  <a:pt x="0" y="880102"/>
                </a:cubicBezTo>
                <a:lnTo>
                  <a:pt x="0" y="34514"/>
                </a:lnTo>
                <a:cubicBezTo>
                  <a:pt x="0" y="15452"/>
                  <a:pt x="15452" y="0"/>
                  <a:pt x="34514" y="0"/>
                </a:cubicBezTo>
                <a:close/>
              </a:path>
            </a:pathLst>
          </a:custGeom>
          <a:solidFill>
            <a:srgbClr val="FFFFFF"/>
          </a:solidFill>
          <a:ln/>
          <a:effectLst>
            <a:outerShdw sx="100000" sy="100000" kx="0" ky="0" algn="bl" rotWithShape="0" blurRad="51771" dist="34514" dir="5400000">
              <a:srgbClr val="000000">
                <a:alpha val="10196"/>
              </a:srgbClr>
            </a:outerShdw>
          </a:effectLst>
        </p:spPr>
      </p:sp>
      <p:sp>
        <p:nvSpPr>
          <p:cNvPr id="60" name="Shape 58"/>
          <p:cNvSpPr/>
          <p:nvPr/>
        </p:nvSpPr>
        <p:spPr>
          <a:xfrm>
            <a:off x="6321755" y="5945002"/>
            <a:ext cx="34514" cy="914616"/>
          </a:xfrm>
          <a:custGeom>
            <a:avLst/>
            <a:gdLst/>
            <a:ahLst/>
            <a:cxnLst/>
            <a:rect l="l" t="t" r="r" b="b"/>
            <a:pathLst>
              <a:path w="34514" h="914616">
                <a:moveTo>
                  <a:pt x="34514" y="0"/>
                </a:moveTo>
                <a:lnTo>
                  <a:pt x="34514" y="0"/>
                </a:lnTo>
                <a:lnTo>
                  <a:pt x="34514" y="914616"/>
                </a:lnTo>
                <a:lnTo>
                  <a:pt x="34514" y="914616"/>
                </a:lnTo>
                <a:cubicBezTo>
                  <a:pt x="15465" y="914616"/>
                  <a:pt x="0" y="899151"/>
                  <a:pt x="0" y="880102"/>
                </a:cubicBezTo>
                <a:lnTo>
                  <a:pt x="0" y="34514"/>
                </a:lnTo>
                <a:cubicBezTo>
                  <a:pt x="0" y="15465"/>
                  <a:pt x="15465" y="0"/>
                  <a:pt x="34514" y="0"/>
                </a:cubicBezTo>
                <a:close/>
              </a:path>
            </a:pathLst>
          </a:custGeom>
          <a:solidFill>
            <a:srgbClr val="2A9D8F"/>
          </a:solidFill>
          <a:ln/>
        </p:spPr>
      </p:sp>
      <p:sp>
        <p:nvSpPr>
          <p:cNvPr id="61" name="Shape 59"/>
          <p:cNvSpPr/>
          <p:nvPr/>
        </p:nvSpPr>
        <p:spPr>
          <a:xfrm>
            <a:off x="6511581" y="6117571"/>
            <a:ext cx="483193" cy="483193"/>
          </a:xfrm>
          <a:custGeom>
            <a:avLst/>
            <a:gdLst/>
            <a:ahLst/>
            <a:cxnLst/>
            <a:rect l="l" t="t" r="r" b="b"/>
            <a:pathLst>
              <a:path w="483193" h="483193">
                <a:moveTo>
                  <a:pt x="241597" y="0"/>
                </a:moveTo>
                <a:lnTo>
                  <a:pt x="241597" y="0"/>
                </a:lnTo>
                <a:cubicBezTo>
                  <a:pt x="374937" y="0"/>
                  <a:pt x="483193" y="108256"/>
                  <a:pt x="483193" y="241597"/>
                </a:cubicBezTo>
                <a:lnTo>
                  <a:pt x="483193" y="241597"/>
                </a:lnTo>
                <a:cubicBezTo>
                  <a:pt x="483193" y="374937"/>
                  <a:pt x="374937" y="483193"/>
                  <a:pt x="241597" y="483193"/>
                </a:cubicBezTo>
                <a:lnTo>
                  <a:pt x="241597" y="483193"/>
                </a:lnTo>
                <a:cubicBezTo>
                  <a:pt x="108256" y="483193"/>
                  <a:pt x="0" y="374937"/>
                  <a:pt x="0" y="241597"/>
                </a:cubicBezTo>
                <a:lnTo>
                  <a:pt x="0" y="241597"/>
                </a:lnTo>
                <a:cubicBezTo>
                  <a:pt x="0" y="108256"/>
                  <a:pt x="108256" y="0"/>
                  <a:pt x="241597" y="0"/>
                </a:cubicBezTo>
                <a:close/>
              </a:path>
            </a:pathLst>
          </a:custGeom>
          <a:solidFill>
            <a:srgbClr val="2A9D8F"/>
          </a:solidFill>
          <a:ln/>
        </p:spPr>
      </p:sp>
      <p:sp>
        <p:nvSpPr>
          <p:cNvPr id="62" name="Text 60"/>
          <p:cNvSpPr/>
          <p:nvPr/>
        </p:nvSpPr>
        <p:spPr>
          <a:xfrm>
            <a:off x="6459811" y="6117571"/>
            <a:ext cx="586735" cy="483193"/>
          </a:xfrm>
          <a:prstGeom prst="rect">
            <a:avLst/>
          </a:prstGeom>
          <a:noFill/>
          <a:ln/>
        </p:spPr>
        <p:txBody>
          <a:bodyPr wrap="square" lIns="0" tIns="0" rIns="0" bIns="0" rtlCol="0" anchor="ctr"/>
          <a:lstStyle/>
          <a:p>
            <a:pPr algn="ctr">
              <a:lnSpc>
                <a:spcPct val="110000"/>
              </a:lnSpc>
            </a:pPr>
            <a:r>
              <a:rPr lang="en-US" sz="1631" b="1" dirty="0">
                <a:solidFill>
                  <a:srgbClr val="FFFFFF"/>
                </a:solidFill>
                <a:latin typeface="Liter" pitchFamily="34" charset="0"/>
                <a:ea typeface="Liter" pitchFamily="34" charset="-122"/>
                <a:cs typeface="Liter" pitchFamily="34" charset="-120"/>
              </a:rPr>
              <a:t>10</a:t>
            </a:r>
            <a:endParaRPr lang="en-US" sz="1600" dirty="0"/>
          </a:p>
        </p:txBody>
      </p:sp>
      <p:sp>
        <p:nvSpPr>
          <p:cNvPr id="63" name="Text 61"/>
          <p:cNvSpPr/>
          <p:nvPr/>
        </p:nvSpPr>
        <p:spPr>
          <a:xfrm>
            <a:off x="7167343" y="6117571"/>
            <a:ext cx="2666191" cy="276110"/>
          </a:xfrm>
          <a:prstGeom prst="rect">
            <a:avLst/>
          </a:prstGeom>
          <a:noFill/>
          <a:ln/>
        </p:spPr>
        <p:txBody>
          <a:bodyPr wrap="square" lIns="0" tIns="0" rIns="0" bIns="0" rtlCol="0" anchor="ctr"/>
          <a:lstStyle/>
          <a:p>
            <a:pPr>
              <a:lnSpc>
                <a:spcPct val="110000"/>
              </a:lnSpc>
            </a:pPr>
            <a:r>
              <a:rPr lang="en-US" sz="1631" b="1" dirty="0">
                <a:solidFill>
                  <a:srgbClr val="1A3A5C"/>
                </a:solidFill>
                <a:latin typeface="Liter" pitchFamily="34" charset="0"/>
                <a:ea typeface="Liter" pitchFamily="34" charset="-122"/>
                <a:cs typeface="Liter" pitchFamily="34" charset="-120"/>
              </a:rPr>
              <a:t>Challenges &amp; Future</a:t>
            </a:r>
            <a:endParaRPr lang="en-US" sz="1600" dirty="0"/>
          </a:p>
        </p:txBody>
      </p:sp>
      <p:sp>
        <p:nvSpPr>
          <p:cNvPr id="64" name="Text 62"/>
          <p:cNvSpPr/>
          <p:nvPr/>
        </p:nvSpPr>
        <p:spPr>
          <a:xfrm>
            <a:off x="7167343" y="6462709"/>
            <a:ext cx="2631677" cy="224340"/>
          </a:xfrm>
          <a:prstGeom prst="rect">
            <a:avLst/>
          </a:prstGeom>
          <a:noFill/>
          <a:ln/>
        </p:spPr>
        <p:txBody>
          <a:bodyPr wrap="square" lIns="0" tIns="0" rIns="0" bIns="0" rtlCol="0" anchor="ctr"/>
          <a:lstStyle/>
          <a:p>
            <a:pPr>
              <a:lnSpc>
                <a:spcPct val="140000"/>
              </a:lnSpc>
            </a:pPr>
            <a:r>
              <a:rPr lang="en-US" sz="1087" dirty="0">
                <a:solidFill>
                  <a:srgbClr val="8D99AE"/>
                </a:solidFill>
                <a:latin typeface="Quattrocento Sans" pitchFamily="34" charset="0"/>
                <a:ea typeface="Quattrocento Sans" pitchFamily="34" charset="-122"/>
                <a:cs typeface="Quattrocento Sans" pitchFamily="34" charset="-120"/>
              </a:rPr>
              <a:t>Cybersecurity, regulations, and what's next</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2A9D8F"/>
                </a:solidFill>
                <a:latin typeface="Liter" pitchFamily="34" charset="0"/>
                <a:ea typeface="Liter" pitchFamily="34" charset="-122"/>
                <a:cs typeface="Liter" pitchFamily="34" charset="-120"/>
              </a:rPr>
              <a:t>CHAPTER 01</a:t>
            </a:r>
            <a:endParaRPr lang="en-US" sz="1600" dirty="0"/>
          </a:p>
        </p:txBody>
      </p:sp>
      <p:sp>
        <p:nvSpPr>
          <p:cNvPr id="3" name="Text 1"/>
          <p:cNvSpPr/>
          <p:nvPr/>
        </p:nvSpPr>
        <p:spPr>
          <a:xfrm>
            <a:off x="317500" y="571500"/>
            <a:ext cx="11795125" cy="595313"/>
          </a:xfrm>
          <a:prstGeom prst="rect">
            <a:avLst/>
          </a:prstGeom>
          <a:noFill/>
          <a:ln/>
        </p:spPr>
        <p:txBody>
          <a:bodyPr wrap="square" lIns="0" tIns="0" rIns="0" bIns="0" rtlCol="0" anchor="ctr"/>
          <a:lstStyle/>
          <a:p>
            <a:pPr>
              <a:lnSpc>
                <a:spcPct val="100000"/>
              </a:lnSpc>
            </a:pPr>
            <a:r>
              <a:rPr lang="en-US" sz="3750" b="1" dirty="0">
                <a:solidFill>
                  <a:srgbClr val="1A3A5C"/>
                </a:solidFill>
                <a:latin typeface="Oranienbaum" pitchFamily="34" charset="0"/>
                <a:ea typeface="Oranienbaum" pitchFamily="34" charset="-122"/>
                <a:cs typeface="Oranienbaum" pitchFamily="34" charset="-120"/>
              </a:rPr>
              <a:t>Introduction to Banking</a:t>
            </a:r>
            <a:endParaRPr lang="en-US" sz="1600" dirty="0"/>
          </a:p>
        </p:txBody>
      </p:sp>
      <p:sp>
        <p:nvSpPr>
          <p:cNvPr id="4" name="Shape 2"/>
          <p:cNvSpPr/>
          <p:nvPr/>
        </p:nvSpPr>
        <p:spPr>
          <a:xfrm>
            <a:off x="317500" y="1293813"/>
            <a:ext cx="762000" cy="47625"/>
          </a:xfrm>
          <a:custGeom>
            <a:avLst/>
            <a:gdLst/>
            <a:ahLst/>
            <a:cxnLst/>
            <a:rect l="l" t="t" r="r" b="b"/>
            <a:pathLst>
              <a:path w="762000" h="47625">
                <a:moveTo>
                  <a:pt x="0" y="0"/>
                </a:moveTo>
                <a:lnTo>
                  <a:pt x="762000" y="0"/>
                </a:lnTo>
                <a:lnTo>
                  <a:pt x="762000" y="47625"/>
                </a:lnTo>
                <a:lnTo>
                  <a:pt x="0" y="47625"/>
                </a:lnTo>
                <a:lnTo>
                  <a:pt x="0" y="0"/>
                </a:lnTo>
                <a:close/>
              </a:path>
            </a:pathLst>
          </a:custGeom>
          <a:solidFill>
            <a:srgbClr val="2A9D8F"/>
          </a:solidFill>
          <a:ln/>
        </p:spPr>
      </p:sp>
      <p:sp>
        <p:nvSpPr>
          <p:cNvPr id="5" name="Shape 3"/>
          <p:cNvSpPr/>
          <p:nvPr/>
        </p:nvSpPr>
        <p:spPr>
          <a:xfrm>
            <a:off x="317500" y="1547813"/>
            <a:ext cx="6778625" cy="1603375"/>
          </a:xfrm>
          <a:custGeom>
            <a:avLst/>
            <a:gdLst/>
            <a:ahLst/>
            <a:cxnLst/>
            <a:rect l="l" t="t" r="r" b="b"/>
            <a:pathLst>
              <a:path w="6778625" h="1603375">
                <a:moveTo>
                  <a:pt x="31750" y="0"/>
                </a:moveTo>
                <a:lnTo>
                  <a:pt x="6746875" y="0"/>
                </a:lnTo>
                <a:cubicBezTo>
                  <a:pt x="6764398" y="0"/>
                  <a:pt x="6778625" y="14227"/>
                  <a:pt x="6778625" y="31750"/>
                </a:cubicBezTo>
                <a:lnTo>
                  <a:pt x="6778625" y="1508118"/>
                </a:lnTo>
                <a:cubicBezTo>
                  <a:pt x="6778625" y="1560727"/>
                  <a:pt x="6735977" y="1603375"/>
                  <a:pt x="6683368" y="1603375"/>
                </a:cubicBezTo>
                <a:lnTo>
                  <a:pt x="95257" y="1603375"/>
                </a:lnTo>
                <a:cubicBezTo>
                  <a:pt x="42683" y="1603375"/>
                  <a:pt x="0" y="1560692"/>
                  <a:pt x="0" y="1508118"/>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6" name="Shape 4"/>
          <p:cNvSpPr/>
          <p:nvPr/>
        </p:nvSpPr>
        <p:spPr>
          <a:xfrm>
            <a:off x="317500" y="1547813"/>
            <a:ext cx="6778625" cy="31750"/>
          </a:xfrm>
          <a:custGeom>
            <a:avLst/>
            <a:gdLst/>
            <a:ahLst/>
            <a:cxnLst/>
            <a:rect l="l" t="t" r="r" b="b"/>
            <a:pathLst>
              <a:path w="6778625" h="31750">
                <a:moveTo>
                  <a:pt x="31750" y="0"/>
                </a:moveTo>
                <a:lnTo>
                  <a:pt x="6746875" y="0"/>
                </a:lnTo>
                <a:cubicBezTo>
                  <a:pt x="6764398" y="0"/>
                  <a:pt x="6778625" y="14227"/>
                  <a:pt x="6778625" y="31750"/>
                </a:cubicBezTo>
                <a:lnTo>
                  <a:pt x="6778625" y="31750"/>
                </a:lnTo>
                <a:lnTo>
                  <a:pt x="0" y="31750"/>
                </a:lnTo>
                <a:lnTo>
                  <a:pt x="0" y="31750"/>
                </a:lnTo>
                <a:cubicBezTo>
                  <a:pt x="0" y="14227"/>
                  <a:pt x="14227" y="0"/>
                  <a:pt x="31750" y="0"/>
                </a:cubicBezTo>
                <a:close/>
              </a:path>
            </a:pathLst>
          </a:custGeom>
          <a:solidFill>
            <a:srgbClr val="1A3A5C"/>
          </a:solidFill>
          <a:ln/>
        </p:spPr>
      </p:sp>
      <p:sp>
        <p:nvSpPr>
          <p:cNvPr id="7" name="Shape 5"/>
          <p:cNvSpPr/>
          <p:nvPr/>
        </p:nvSpPr>
        <p:spPr>
          <a:xfrm>
            <a:off x="508000" y="1754188"/>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1A3A5C">
              <a:alpha val="10196"/>
            </a:srgbClr>
          </a:solidFill>
          <a:ln/>
        </p:spPr>
      </p:sp>
      <p:sp>
        <p:nvSpPr>
          <p:cNvPr id="8" name="Shape 6"/>
          <p:cNvSpPr/>
          <p:nvPr/>
        </p:nvSpPr>
        <p:spPr>
          <a:xfrm>
            <a:off x="644922" y="1889125"/>
            <a:ext cx="238125" cy="238125"/>
          </a:xfrm>
          <a:custGeom>
            <a:avLst/>
            <a:gdLst/>
            <a:ahLst/>
            <a:cxnLst/>
            <a:rect l="l" t="t" r="r" b="b"/>
            <a:pathLst>
              <a:path w="238125" h="238125">
                <a:moveTo>
                  <a:pt x="126457" y="9395"/>
                </a:moveTo>
                <a:cubicBezTo>
                  <a:pt x="121900" y="6790"/>
                  <a:pt x="116272" y="6790"/>
                  <a:pt x="111668" y="9395"/>
                </a:cubicBezTo>
                <a:lnTo>
                  <a:pt x="7488" y="68926"/>
                </a:lnTo>
                <a:cubicBezTo>
                  <a:pt x="1628" y="72275"/>
                  <a:pt x="-1256" y="79158"/>
                  <a:pt x="465" y="85669"/>
                </a:cubicBezTo>
                <a:cubicBezTo>
                  <a:pt x="2186" y="92180"/>
                  <a:pt x="8139" y="96738"/>
                  <a:pt x="14883" y="96738"/>
                </a:cubicBezTo>
                <a:lnTo>
                  <a:pt x="29766" y="96738"/>
                </a:lnTo>
                <a:lnTo>
                  <a:pt x="29766" y="193477"/>
                </a:lnTo>
                <a:lnTo>
                  <a:pt x="29766" y="193477"/>
                </a:lnTo>
                <a:lnTo>
                  <a:pt x="5953" y="211336"/>
                </a:lnTo>
                <a:cubicBezTo>
                  <a:pt x="2186" y="214126"/>
                  <a:pt x="0" y="218545"/>
                  <a:pt x="0" y="223242"/>
                </a:cubicBezTo>
                <a:cubicBezTo>
                  <a:pt x="0" y="231474"/>
                  <a:pt x="6651" y="238125"/>
                  <a:pt x="14883" y="238125"/>
                </a:cubicBezTo>
                <a:lnTo>
                  <a:pt x="223242" y="238125"/>
                </a:lnTo>
                <a:cubicBezTo>
                  <a:pt x="231474" y="238125"/>
                  <a:pt x="238125" y="231474"/>
                  <a:pt x="238125" y="223242"/>
                </a:cubicBezTo>
                <a:cubicBezTo>
                  <a:pt x="238125" y="218545"/>
                  <a:pt x="235939" y="214126"/>
                  <a:pt x="232172" y="211336"/>
                </a:cubicBezTo>
                <a:lnTo>
                  <a:pt x="208359" y="193477"/>
                </a:lnTo>
                <a:lnTo>
                  <a:pt x="208359" y="96738"/>
                </a:lnTo>
                <a:lnTo>
                  <a:pt x="223242" y="96738"/>
                </a:lnTo>
                <a:cubicBezTo>
                  <a:pt x="229986" y="96738"/>
                  <a:pt x="235893" y="92180"/>
                  <a:pt x="237613" y="85669"/>
                </a:cubicBezTo>
                <a:cubicBezTo>
                  <a:pt x="239334" y="79158"/>
                  <a:pt x="236451" y="72275"/>
                  <a:pt x="230591" y="68926"/>
                </a:cubicBezTo>
                <a:lnTo>
                  <a:pt x="126411" y="9395"/>
                </a:lnTo>
                <a:close/>
                <a:moveTo>
                  <a:pt x="186035" y="96738"/>
                </a:moveTo>
                <a:lnTo>
                  <a:pt x="186035" y="193477"/>
                </a:lnTo>
                <a:lnTo>
                  <a:pt x="156270" y="193477"/>
                </a:lnTo>
                <a:lnTo>
                  <a:pt x="156270" y="96738"/>
                </a:lnTo>
                <a:lnTo>
                  <a:pt x="186035" y="96738"/>
                </a:lnTo>
                <a:close/>
                <a:moveTo>
                  <a:pt x="133945" y="96738"/>
                </a:moveTo>
                <a:lnTo>
                  <a:pt x="133945" y="193477"/>
                </a:lnTo>
                <a:lnTo>
                  <a:pt x="104180" y="193477"/>
                </a:lnTo>
                <a:lnTo>
                  <a:pt x="104180" y="96738"/>
                </a:lnTo>
                <a:lnTo>
                  <a:pt x="133945" y="96738"/>
                </a:lnTo>
                <a:close/>
                <a:moveTo>
                  <a:pt x="81855" y="96738"/>
                </a:moveTo>
                <a:lnTo>
                  <a:pt x="81855" y="193477"/>
                </a:lnTo>
                <a:lnTo>
                  <a:pt x="52090" y="193477"/>
                </a:lnTo>
                <a:lnTo>
                  <a:pt x="52090" y="96738"/>
                </a:lnTo>
                <a:lnTo>
                  <a:pt x="81855" y="96738"/>
                </a:lnTo>
                <a:close/>
                <a:moveTo>
                  <a:pt x="119062" y="44648"/>
                </a:moveTo>
                <a:cubicBezTo>
                  <a:pt x="127277" y="44648"/>
                  <a:pt x="133945" y="51317"/>
                  <a:pt x="133945" y="59531"/>
                </a:cubicBezTo>
                <a:cubicBezTo>
                  <a:pt x="133945" y="67745"/>
                  <a:pt x="127277" y="74414"/>
                  <a:pt x="119062" y="74414"/>
                </a:cubicBezTo>
                <a:cubicBezTo>
                  <a:pt x="110848" y="74414"/>
                  <a:pt x="104180" y="67745"/>
                  <a:pt x="104180" y="59531"/>
                </a:cubicBezTo>
                <a:cubicBezTo>
                  <a:pt x="104180" y="51317"/>
                  <a:pt x="110848" y="44648"/>
                  <a:pt x="119062" y="44648"/>
                </a:cubicBezTo>
                <a:close/>
              </a:path>
            </a:pathLst>
          </a:custGeom>
          <a:solidFill>
            <a:srgbClr val="1A3A5C"/>
          </a:solidFill>
          <a:ln/>
        </p:spPr>
      </p:sp>
      <p:sp>
        <p:nvSpPr>
          <p:cNvPr id="9" name="Text 7"/>
          <p:cNvSpPr/>
          <p:nvPr/>
        </p:nvSpPr>
        <p:spPr>
          <a:xfrm>
            <a:off x="1143000" y="1754188"/>
            <a:ext cx="5881688" cy="285750"/>
          </a:xfrm>
          <a:prstGeom prst="rect">
            <a:avLst/>
          </a:prstGeom>
          <a:noFill/>
          <a:ln/>
        </p:spPr>
        <p:txBody>
          <a:bodyPr wrap="square" lIns="0" tIns="0" rIns="0" bIns="0" rtlCol="0" anchor="ctr"/>
          <a:lstStyle/>
          <a:p>
            <a:pPr>
              <a:lnSpc>
                <a:spcPct val="100000"/>
              </a:lnSpc>
            </a:pPr>
            <a:r>
              <a:rPr lang="en-US" sz="1875" b="1" dirty="0">
                <a:solidFill>
                  <a:srgbClr val="1A3A5C"/>
                </a:solidFill>
                <a:latin typeface="Liter" pitchFamily="34" charset="0"/>
                <a:ea typeface="Liter" pitchFamily="34" charset="-122"/>
                <a:cs typeface="Liter" pitchFamily="34" charset="-120"/>
              </a:rPr>
              <a:t>What is Banking?</a:t>
            </a:r>
            <a:endParaRPr lang="en-US" sz="1600" dirty="0"/>
          </a:p>
        </p:txBody>
      </p:sp>
      <p:sp>
        <p:nvSpPr>
          <p:cNvPr id="10" name="Text 8"/>
          <p:cNvSpPr/>
          <p:nvPr/>
        </p:nvSpPr>
        <p:spPr>
          <a:xfrm>
            <a:off x="1143000" y="2135188"/>
            <a:ext cx="5834063" cy="698500"/>
          </a:xfrm>
          <a:prstGeom prst="rect">
            <a:avLst/>
          </a:prstGeom>
          <a:noFill/>
          <a:ln/>
        </p:spPr>
        <p:txBody>
          <a:bodyPr wrap="square" lIns="0" tIns="0" rIns="0" bIns="0" rtlCol="0" anchor="ctr"/>
          <a:lstStyle/>
          <a:p>
            <a:pPr>
              <a:lnSpc>
                <a:spcPct val="140000"/>
              </a:lnSpc>
            </a:pPr>
            <a:r>
              <a:rPr lang="en-US" sz="1125" dirty="0">
                <a:solidFill>
                  <a:srgbClr val="2B2D42"/>
                </a:solidFill>
                <a:latin typeface="Quattrocento Sans" pitchFamily="34" charset="0"/>
                <a:ea typeface="Quattrocento Sans" pitchFamily="34" charset="-122"/>
                <a:cs typeface="Quattrocento Sans" pitchFamily="34" charset="-120"/>
              </a:rPr>
              <a:t>Banking refers to the services provided by financial institutions that </a:t>
            </a:r>
            <a:pPr>
              <a:lnSpc>
                <a:spcPct val="140000"/>
              </a:lnSpc>
            </a:pPr>
            <a:r>
              <a:rPr lang="en-US" sz="1125" b="1" dirty="0">
                <a:solidFill>
                  <a:srgbClr val="2B2D42"/>
                </a:solidFill>
                <a:highlight>
                  <a:srgbClr val="2A9D8F">
                    <a:alpha val="20000"/>
                  </a:srgbClr>
                </a:highlight>
                <a:latin typeface="Quattrocento Sans" pitchFamily="34" charset="0"/>
                <a:ea typeface="Quattrocento Sans" pitchFamily="34" charset="-122"/>
                <a:cs typeface="Quattrocento Sans" pitchFamily="34" charset="-120"/>
              </a:rPr>
              <a:t>accept deposits, provide loans, facilitate transactions, and offer financial management services </a:t>
            </a:r>
            <a:pPr>
              <a:lnSpc>
                <a:spcPct val="140000"/>
              </a:lnSpc>
            </a:pPr>
            <a:r>
              <a:rPr lang="en-US" sz="1125" dirty="0">
                <a:solidFill>
                  <a:srgbClr val="2B2D42"/>
                </a:solidFill>
                <a:latin typeface="Quattrocento Sans" pitchFamily="34" charset="0"/>
                <a:ea typeface="Quattrocento Sans" pitchFamily="34" charset="-122"/>
                <a:cs typeface="Quattrocento Sans" pitchFamily="34" charset="-120"/>
              </a:rPr>
              <a:t>to individuals, businesses, and governments.</a:t>
            </a:r>
            <a:endParaRPr lang="en-US" sz="1600" dirty="0"/>
          </a:p>
        </p:txBody>
      </p:sp>
      <p:sp>
        <p:nvSpPr>
          <p:cNvPr id="11" name="Shape 9"/>
          <p:cNvSpPr/>
          <p:nvPr/>
        </p:nvSpPr>
        <p:spPr>
          <a:xfrm>
            <a:off x="317500" y="3323828"/>
            <a:ext cx="6778625" cy="1603375"/>
          </a:xfrm>
          <a:custGeom>
            <a:avLst/>
            <a:gdLst/>
            <a:ahLst/>
            <a:cxnLst/>
            <a:rect l="l" t="t" r="r" b="b"/>
            <a:pathLst>
              <a:path w="6778625" h="1603375">
                <a:moveTo>
                  <a:pt x="31750" y="0"/>
                </a:moveTo>
                <a:lnTo>
                  <a:pt x="6746875" y="0"/>
                </a:lnTo>
                <a:cubicBezTo>
                  <a:pt x="6764398" y="0"/>
                  <a:pt x="6778625" y="14227"/>
                  <a:pt x="6778625" y="31750"/>
                </a:cubicBezTo>
                <a:lnTo>
                  <a:pt x="6778625" y="1508118"/>
                </a:lnTo>
                <a:cubicBezTo>
                  <a:pt x="6778625" y="1560727"/>
                  <a:pt x="6735977" y="1603375"/>
                  <a:pt x="6683368" y="1603375"/>
                </a:cubicBezTo>
                <a:lnTo>
                  <a:pt x="95257" y="1603375"/>
                </a:lnTo>
                <a:cubicBezTo>
                  <a:pt x="42683" y="1603375"/>
                  <a:pt x="0" y="1560692"/>
                  <a:pt x="0" y="1508118"/>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12" name="Shape 10"/>
          <p:cNvSpPr/>
          <p:nvPr/>
        </p:nvSpPr>
        <p:spPr>
          <a:xfrm>
            <a:off x="317500" y="3323828"/>
            <a:ext cx="6778625" cy="31750"/>
          </a:xfrm>
          <a:custGeom>
            <a:avLst/>
            <a:gdLst/>
            <a:ahLst/>
            <a:cxnLst/>
            <a:rect l="l" t="t" r="r" b="b"/>
            <a:pathLst>
              <a:path w="6778625" h="31750">
                <a:moveTo>
                  <a:pt x="31750" y="0"/>
                </a:moveTo>
                <a:lnTo>
                  <a:pt x="6746875" y="0"/>
                </a:lnTo>
                <a:cubicBezTo>
                  <a:pt x="6764398" y="0"/>
                  <a:pt x="6778625" y="14227"/>
                  <a:pt x="6778625" y="31750"/>
                </a:cubicBezTo>
                <a:lnTo>
                  <a:pt x="6778625" y="31750"/>
                </a:lnTo>
                <a:lnTo>
                  <a:pt x="0" y="31750"/>
                </a:lnTo>
                <a:lnTo>
                  <a:pt x="0" y="31750"/>
                </a:lnTo>
                <a:cubicBezTo>
                  <a:pt x="0" y="14227"/>
                  <a:pt x="14227" y="0"/>
                  <a:pt x="31750" y="0"/>
                </a:cubicBezTo>
                <a:close/>
              </a:path>
            </a:pathLst>
          </a:custGeom>
          <a:solidFill>
            <a:srgbClr val="2A9D8F"/>
          </a:solidFill>
          <a:ln/>
        </p:spPr>
      </p:sp>
      <p:sp>
        <p:nvSpPr>
          <p:cNvPr id="13" name="Shape 11"/>
          <p:cNvSpPr/>
          <p:nvPr/>
        </p:nvSpPr>
        <p:spPr>
          <a:xfrm>
            <a:off x="508000" y="3530203"/>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2A9D8F">
              <a:alpha val="10196"/>
            </a:srgbClr>
          </a:solidFill>
          <a:ln/>
        </p:spPr>
      </p:sp>
      <p:sp>
        <p:nvSpPr>
          <p:cNvPr id="14" name="Shape 12"/>
          <p:cNvSpPr/>
          <p:nvPr/>
        </p:nvSpPr>
        <p:spPr>
          <a:xfrm>
            <a:off x="644922" y="3665141"/>
            <a:ext cx="238125" cy="238125"/>
          </a:xfrm>
          <a:custGeom>
            <a:avLst/>
            <a:gdLst/>
            <a:ahLst/>
            <a:cxnLst/>
            <a:rect l="l" t="t" r="r" b="b"/>
            <a:pathLst>
              <a:path w="238125" h="238125">
                <a:moveTo>
                  <a:pt x="233753" y="70042"/>
                </a:moveTo>
                <a:lnTo>
                  <a:pt x="189105" y="114691"/>
                </a:lnTo>
                <a:cubicBezTo>
                  <a:pt x="184826" y="118969"/>
                  <a:pt x="178454" y="120225"/>
                  <a:pt x="172873" y="117900"/>
                </a:cubicBezTo>
                <a:cubicBezTo>
                  <a:pt x="167292" y="115574"/>
                  <a:pt x="163711" y="110179"/>
                  <a:pt x="163711" y="104180"/>
                </a:cubicBezTo>
                <a:lnTo>
                  <a:pt x="163711" y="74414"/>
                </a:lnTo>
                <a:lnTo>
                  <a:pt x="14883" y="74414"/>
                </a:lnTo>
                <a:cubicBezTo>
                  <a:pt x="6651" y="74414"/>
                  <a:pt x="0" y="67763"/>
                  <a:pt x="0" y="59531"/>
                </a:cubicBezTo>
                <a:cubicBezTo>
                  <a:pt x="0" y="51299"/>
                  <a:pt x="6651" y="44648"/>
                  <a:pt x="14883" y="44648"/>
                </a:cubicBezTo>
                <a:lnTo>
                  <a:pt x="163711" y="44648"/>
                </a:lnTo>
                <a:lnTo>
                  <a:pt x="163711" y="14883"/>
                </a:lnTo>
                <a:cubicBezTo>
                  <a:pt x="163711" y="8883"/>
                  <a:pt x="167339" y="3442"/>
                  <a:pt x="172920" y="1116"/>
                </a:cubicBezTo>
                <a:cubicBezTo>
                  <a:pt x="178501" y="-1209"/>
                  <a:pt x="184872" y="93"/>
                  <a:pt x="189151" y="4325"/>
                </a:cubicBezTo>
                <a:lnTo>
                  <a:pt x="233800" y="48974"/>
                </a:lnTo>
                <a:cubicBezTo>
                  <a:pt x="239613" y="54787"/>
                  <a:pt x="239613" y="64229"/>
                  <a:pt x="233800" y="70042"/>
                </a:cubicBezTo>
                <a:close/>
                <a:moveTo>
                  <a:pt x="48974" y="233753"/>
                </a:moveTo>
                <a:lnTo>
                  <a:pt x="4325" y="189105"/>
                </a:lnTo>
                <a:cubicBezTo>
                  <a:pt x="-1488" y="183291"/>
                  <a:pt x="-1488" y="173850"/>
                  <a:pt x="4325" y="168036"/>
                </a:cubicBezTo>
                <a:lnTo>
                  <a:pt x="48974" y="123388"/>
                </a:lnTo>
                <a:cubicBezTo>
                  <a:pt x="53253" y="119109"/>
                  <a:pt x="59624" y="117853"/>
                  <a:pt x="65205" y="120179"/>
                </a:cubicBezTo>
                <a:cubicBezTo>
                  <a:pt x="70786" y="122504"/>
                  <a:pt x="74414" y="127946"/>
                  <a:pt x="74414" y="133945"/>
                </a:cubicBezTo>
                <a:lnTo>
                  <a:pt x="74414" y="163711"/>
                </a:lnTo>
                <a:lnTo>
                  <a:pt x="223242" y="163711"/>
                </a:lnTo>
                <a:cubicBezTo>
                  <a:pt x="231474" y="163711"/>
                  <a:pt x="238125" y="170362"/>
                  <a:pt x="238125" y="178594"/>
                </a:cubicBezTo>
                <a:cubicBezTo>
                  <a:pt x="238125" y="186826"/>
                  <a:pt x="231474" y="193477"/>
                  <a:pt x="223242" y="193477"/>
                </a:cubicBezTo>
                <a:lnTo>
                  <a:pt x="74414" y="193477"/>
                </a:lnTo>
                <a:lnTo>
                  <a:pt x="74414" y="223242"/>
                </a:lnTo>
                <a:cubicBezTo>
                  <a:pt x="74414" y="229242"/>
                  <a:pt x="70786" y="234683"/>
                  <a:pt x="65205" y="237009"/>
                </a:cubicBezTo>
                <a:cubicBezTo>
                  <a:pt x="59624" y="239334"/>
                  <a:pt x="53253" y="238032"/>
                  <a:pt x="48974" y="233800"/>
                </a:cubicBezTo>
                <a:close/>
              </a:path>
            </a:pathLst>
          </a:custGeom>
          <a:solidFill>
            <a:srgbClr val="2A9D8F"/>
          </a:solidFill>
          <a:ln/>
        </p:spPr>
      </p:sp>
      <p:sp>
        <p:nvSpPr>
          <p:cNvPr id="15" name="Text 13"/>
          <p:cNvSpPr/>
          <p:nvPr/>
        </p:nvSpPr>
        <p:spPr>
          <a:xfrm>
            <a:off x="1143000" y="3530203"/>
            <a:ext cx="5881688" cy="285750"/>
          </a:xfrm>
          <a:prstGeom prst="rect">
            <a:avLst/>
          </a:prstGeom>
          <a:noFill/>
          <a:ln/>
        </p:spPr>
        <p:txBody>
          <a:bodyPr wrap="square" lIns="0" tIns="0" rIns="0" bIns="0" rtlCol="0" anchor="ctr"/>
          <a:lstStyle/>
          <a:p>
            <a:pPr>
              <a:lnSpc>
                <a:spcPct val="100000"/>
              </a:lnSpc>
            </a:pPr>
            <a:r>
              <a:rPr lang="en-US" sz="1875" b="1" dirty="0">
                <a:solidFill>
                  <a:srgbClr val="1A3A5C"/>
                </a:solidFill>
                <a:latin typeface="Liter" pitchFamily="34" charset="0"/>
                <a:ea typeface="Liter" pitchFamily="34" charset="-122"/>
                <a:cs typeface="Liter" pitchFamily="34" charset="-120"/>
              </a:rPr>
              <a:t>Financial Intermediation</a:t>
            </a:r>
            <a:endParaRPr lang="en-US" sz="1600" dirty="0"/>
          </a:p>
        </p:txBody>
      </p:sp>
      <p:sp>
        <p:nvSpPr>
          <p:cNvPr id="16" name="Text 14"/>
          <p:cNvSpPr/>
          <p:nvPr/>
        </p:nvSpPr>
        <p:spPr>
          <a:xfrm>
            <a:off x="1143000" y="3911203"/>
            <a:ext cx="5834063" cy="698500"/>
          </a:xfrm>
          <a:prstGeom prst="rect">
            <a:avLst/>
          </a:prstGeom>
          <a:noFill/>
          <a:ln/>
        </p:spPr>
        <p:txBody>
          <a:bodyPr wrap="square" lIns="0" tIns="0" rIns="0" bIns="0" rtlCol="0" anchor="ctr"/>
          <a:lstStyle/>
          <a:p>
            <a:pPr>
              <a:lnSpc>
                <a:spcPct val="140000"/>
              </a:lnSpc>
            </a:pPr>
            <a:r>
              <a:rPr lang="en-US" sz="1125" dirty="0">
                <a:solidFill>
                  <a:srgbClr val="2B2D42"/>
                </a:solidFill>
                <a:latin typeface="Quattrocento Sans" pitchFamily="34" charset="0"/>
                <a:ea typeface="Quattrocento Sans" pitchFamily="34" charset="-122"/>
                <a:cs typeface="Quattrocento Sans" pitchFamily="34" charset="-120"/>
              </a:rPr>
              <a:t>Banks act as intermediaries between </a:t>
            </a:r>
            <a:pPr>
              <a:lnSpc>
                <a:spcPct val="140000"/>
              </a:lnSpc>
            </a:pPr>
            <a:r>
              <a:rPr lang="en-US" sz="1125" b="1" dirty="0">
                <a:solidFill>
                  <a:srgbClr val="2B2D42"/>
                </a:solidFill>
                <a:latin typeface="Quattrocento Sans" pitchFamily="34" charset="0"/>
                <a:ea typeface="Quattrocento Sans" pitchFamily="34" charset="-122"/>
                <a:cs typeface="Quattrocento Sans" pitchFamily="34" charset="-120"/>
              </a:rPr>
              <a:t>savers</a:t>
            </a:r>
            <a:pPr>
              <a:lnSpc>
                <a:spcPct val="140000"/>
              </a:lnSpc>
            </a:pPr>
            <a:r>
              <a:rPr lang="en-US" sz="1125" dirty="0">
                <a:solidFill>
                  <a:srgbClr val="2B2D42"/>
                </a:solidFill>
                <a:latin typeface="Quattrocento Sans" pitchFamily="34" charset="0"/>
                <a:ea typeface="Quattrocento Sans" pitchFamily="34" charset="-122"/>
                <a:cs typeface="Quattrocento Sans" pitchFamily="34" charset="-120"/>
              </a:rPr>
              <a:t> (those with excess funds) and </a:t>
            </a:r>
            <a:pPr>
              <a:lnSpc>
                <a:spcPct val="140000"/>
              </a:lnSpc>
            </a:pPr>
            <a:r>
              <a:rPr lang="en-US" sz="1125" b="1" dirty="0">
                <a:solidFill>
                  <a:srgbClr val="2B2D42"/>
                </a:solidFill>
                <a:latin typeface="Quattrocento Sans" pitchFamily="34" charset="0"/>
                <a:ea typeface="Quattrocento Sans" pitchFamily="34" charset="-122"/>
                <a:cs typeface="Quattrocento Sans" pitchFamily="34" charset="-120"/>
              </a:rPr>
              <a:t>borrowers</a:t>
            </a:r>
            <a:pPr>
              <a:lnSpc>
                <a:spcPct val="140000"/>
              </a:lnSpc>
            </a:pPr>
            <a:r>
              <a:rPr lang="en-US" sz="1125" dirty="0">
                <a:solidFill>
                  <a:srgbClr val="2B2D42"/>
                </a:solidFill>
                <a:latin typeface="Quattrocento Sans" pitchFamily="34" charset="0"/>
                <a:ea typeface="Quattrocento Sans" pitchFamily="34" charset="-122"/>
                <a:cs typeface="Quattrocento Sans" pitchFamily="34" charset="-120"/>
              </a:rPr>
              <a:t> (those needing funds). This process channels savings into productive investments, driving economic growth.</a:t>
            </a:r>
            <a:endParaRPr lang="en-US" sz="1600" dirty="0"/>
          </a:p>
        </p:txBody>
      </p:sp>
      <p:sp>
        <p:nvSpPr>
          <p:cNvPr id="17" name="Shape 15"/>
          <p:cNvSpPr/>
          <p:nvPr/>
        </p:nvSpPr>
        <p:spPr>
          <a:xfrm>
            <a:off x="317500" y="5083969"/>
            <a:ext cx="6778625" cy="1166813"/>
          </a:xfrm>
          <a:custGeom>
            <a:avLst/>
            <a:gdLst/>
            <a:ahLst/>
            <a:cxnLst/>
            <a:rect l="l" t="t" r="r" b="b"/>
            <a:pathLst>
              <a:path w="6778625" h="1166813">
                <a:moveTo>
                  <a:pt x="95247" y="0"/>
                </a:moveTo>
                <a:lnTo>
                  <a:pt x="6683378" y="0"/>
                </a:lnTo>
                <a:cubicBezTo>
                  <a:pt x="6735982" y="0"/>
                  <a:pt x="6778625" y="42643"/>
                  <a:pt x="6778625" y="95247"/>
                </a:cubicBezTo>
                <a:lnTo>
                  <a:pt x="6778625" y="1071566"/>
                </a:lnTo>
                <a:cubicBezTo>
                  <a:pt x="6778625" y="1124169"/>
                  <a:pt x="6735982" y="1166813"/>
                  <a:pt x="6683378" y="1166813"/>
                </a:cubicBezTo>
                <a:lnTo>
                  <a:pt x="95247" y="1166813"/>
                </a:lnTo>
                <a:cubicBezTo>
                  <a:pt x="42643" y="1166813"/>
                  <a:pt x="0" y="1124169"/>
                  <a:pt x="0" y="1071566"/>
                </a:cubicBezTo>
                <a:lnTo>
                  <a:pt x="0" y="95247"/>
                </a:lnTo>
                <a:cubicBezTo>
                  <a:pt x="0" y="42643"/>
                  <a:pt x="42643" y="0"/>
                  <a:pt x="95247" y="0"/>
                </a:cubicBezTo>
                <a:close/>
              </a:path>
            </a:pathLst>
          </a:custGeom>
          <a:gradFill rotWithShape="1" flip="none">
            <a:gsLst>
              <a:gs pos="0">
                <a:srgbClr val="1A3A5C"/>
              </a:gs>
              <a:gs pos="100000">
                <a:srgbClr val="2A9D8F"/>
              </a:gs>
            </a:gsLst>
            <a:lin ang="0" scaled="1"/>
          </a:gradFill>
          <a:ln/>
          <a:effectLst>
            <a:outerShdw sx="100000" sy="100000" kx="0" ky="0" algn="bl" rotWithShape="0" blurRad="119063" dist="79375" dir="5400000">
              <a:srgbClr val="000000">
                <a:alpha val="10196"/>
              </a:srgbClr>
            </a:outerShdw>
          </a:effectLst>
        </p:spPr>
      </p:sp>
      <p:sp>
        <p:nvSpPr>
          <p:cNvPr id="18" name="Shape 16"/>
          <p:cNvSpPr/>
          <p:nvPr/>
        </p:nvSpPr>
        <p:spPr>
          <a:xfrm>
            <a:off x="555625" y="5474891"/>
            <a:ext cx="285750" cy="381000"/>
          </a:xfrm>
          <a:custGeom>
            <a:avLst/>
            <a:gdLst/>
            <a:ahLst/>
            <a:cxnLst/>
            <a:rect l="l" t="t" r="r" b="b"/>
            <a:pathLst>
              <a:path w="285750" h="381000">
                <a:moveTo>
                  <a:pt x="217959" y="285750"/>
                </a:moveTo>
                <a:cubicBezTo>
                  <a:pt x="223391" y="269156"/>
                  <a:pt x="234255" y="254124"/>
                  <a:pt x="246534" y="241176"/>
                </a:cubicBezTo>
                <a:cubicBezTo>
                  <a:pt x="270867" y="215578"/>
                  <a:pt x="285750" y="180975"/>
                  <a:pt x="285750" y="142875"/>
                </a:cubicBezTo>
                <a:cubicBezTo>
                  <a:pt x="285750" y="63996"/>
                  <a:pt x="221754" y="0"/>
                  <a:pt x="142875" y="0"/>
                </a:cubicBezTo>
                <a:cubicBezTo>
                  <a:pt x="63996" y="0"/>
                  <a:pt x="0" y="63996"/>
                  <a:pt x="0" y="142875"/>
                </a:cubicBezTo>
                <a:cubicBezTo>
                  <a:pt x="0" y="180975"/>
                  <a:pt x="14883" y="215578"/>
                  <a:pt x="39216" y="241176"/>
                </a:cubicBezTo>
                <a:cubicBezTo>
                  <a:pt x="51495" y="254124"/>
                  <a:pt x="62433" y="269156"/>
                  <a:pt x="67791" y="285750"/>
                </a:cubicBezTo>
                <a:lnTo>
                  <a:pt x="217884" y="285750"/>
                </a:lnTo>
                <a:close/>
                <a:moveTo>
                  <a:pt x="214313" y="321469"/>
                </a:moveTo>
                <a:lnTo>
                  <a:pt x="71438" y="321469"/>
                </a:lnTo>
                <a:lnTo>
                  <a:pt x="71438" y="333375"/>
                </a:lnTo>
                <a:cubicBezTo>
                  <a:pt x="71438" y="366266"/>
                  <a:pt x="98078" y="392906"/>
                  <a:pt x="130969" y="392906"/>
                </a:cubicBezTo>
                <a:lnTo>
                  <a:pt x="154781" y="392906"/>
                </a:lnTo>
                <a:cubicBezTo>
                  <a:pt x="187672" y="392906"/>
                  <a:pt x="214313" y="366266"/>
                  <a:pt x="214313" y="333375"/>
                </a:cubicBezTo>
                <a:lnTo>
                  <a:pt x="214313" y="321469"/>
                </a:lnTo>
                <a:close/>
                <a:moveTo>
                  <a:pt x="136922" y="83344"/>
                </a:moveTo>
                <a:cubicBezTo>
                  <a:pt x="107305" y="83344"/>
                  <a:pt x="83344" y="107305"/>
                  <a:pt x="83344" y="136922"/>
                </a:cubicBezTo>
                <a:cubicBezTo>
                  <a:pt x="83344" y="146819"/>
                  <a:pt x="75381" y="154781"/>
                  <a:pt x="65484" y="154781"/>
                </a:cubicBezTo>
                <a:cubicBezTo>
                  <a:pt x="55587" y="154781"/>
                  <a:pt x="47625" y="146819"/>
                  <a:pt x="47625" y="136922"/>
                </a:cubicBezTo>
                <a:cubicBezTo>
                  <a:pt x="47625" y="87585"/>
                  <a:pt x="87585" y="47625"/>
                  <a:pt x="136922" y="47625"/>
                </a:cubicBezTo>
                <a:cubicBezTo>
                  <a:pt x="146819" y="47625"/>
                  <a:pt x="154781" y="55587"/>
                  <a:pt x="154781" y="65484"/>
                </a:cubicBezTo>
                <a:cubicBezTo>
                  <a:pt x="154781" y="75381"/>
                  <a:pt x="146819" y="83344"/>
                  <a:pt x="136922" y="83344"/>
                </a:cubicBezTo>
                <a:close/>
              </a:path>
            </a:pathLst>
          </a:custGeom>
          <a:solidFill>
            <a:srgbClr val="2A9D8F"/>
          </a:solidFill>
          <a:ln/>
        </p:spPr>
      </p:sp>
      <p:sp>
        <p:nvSpPr>
          <p:cNvPr id="19" name="Text 17"/>
          <p:cNvSpPr/>
          <p:nvPr/>
        </p:nvSpPr>
        <p:spPr>
          <a:xfrm>
            <a:off x="1012899" y="5274469"/>
            <a:ext cx="5992813" cy="254000"/>
          </a:xfrm>
          <a:prstGeom prst="rect">
            <a:avLst/>
          </a:prstGeom>
          <a:noFill/>
          <a:ln/>
        </p:spPr>
        <p:txBody>
          <a:bodyPr wrap="square" lIns="0" tIns="0" rIns="0" bIns="0" rtlCol="0" anchor="ctr"/>
          <a:lstStyle/>
          <a:p>
            <a:pPr>
              <a:lnSpc>
                <a:spcPct val="110000"/>
              </a:lnSpc>
            </a:pPr>
            <a:r>
              <a:rPr lang="en-US" sz="1500" b="1" dirty="0">
                <a:solidFill>
                  <a:srgbClr val="FFFFFF"/>
                </a:solidFill>
                <a:latin typeface="Liter" pitchFamily="34" charset="0"/>
                <a:ea typeface="Liter" pitchFamily="34" charset="-122"/>
                <a:cs typeface="Liter" pitchFamily="34" charset="-120"/>
              </a:rPr>
              <a:t>Key Insight</a:t>
            </a:r>
            <a:endParaRPr lang="en-US" sz="1600" dirty="0"/>
          </a:p>
        </p:txBody>
      </p:sp>
      <p:sp>
        <p:nvSpPr>
          <p:cNvPr id="20" name="Text 18"/>
          <p:cNvSpPr/>
          <p:nvPr/>
        </p:nvSpPr>
        <p:spPr>
          <a:xfrm>
            <a:off x="1012899" y="5591969"/>
            <a:ext cx="5969000" cy="468313"/>
          </a:xfrm>
          <a:prstGeom prst="rect">
            <a:avLst/>
          </a:prstGeom>
          <a:noFill/>
          <a:ln/>
        </p:spPr>
        <p:txBody>
          <a:bodyPr wrap="square" lIns="0" tIns="0" rIns="0" bIns="0" rtlCol="0" anchor="ctr"/>
          <a:lstStyle/>
          <a:p>
            <a:pPr>
              <a:lnSpc>
                <a:spcPct val="140000"/>
              </a:lnSpc>
            </a:pPr>
            <a:r>
              <a:rPr lang="en-US" sz="1125" dirty="0">
                <a:solidFill>
                  <a:srgbClr val="FFFFFF"/>
                </a:solidFill>
                <a:latin typeface="Quattrocento Sans" pitchFamily="34" charset="0"/>
                <a:ea typeface="Quattrocento Sans" pitchFamily="34" charset="-122"/>
                <a:cs typeface="Quattrocento Sans" pitchFamily="34" charset="-120"/>
              </a:rPr>
              <a:t>Banks don't just store money—they </a:t>
            </a:r>
            <a:pPr>
              <a:lnSpc>
                <a:spcPct val="140000"/>
              </a:lnSpc>
            </a:pPr>
            <a:r>
              <a:rPr lang="en-US" sz="1125" b="1" dirty="0">
                <a:solidFill>
                  <a:srgbClr val="FFFFFF"/>
                </a:solidFill>
                <a:highlight>
                  <a:srgbClr val="FFFFFF">
                    <a:alpha val="20000"/>
                  </a:srgbClr>
                </a:highlight>
                <a:latin typeface="Quattrocento Sans" pitchFamily="34" charset="0"/>
                <a:ea typeface="Quattrocento Sans" pitchFamily="34" charset="-122"/>
                <a:cs typeface="Quattrocento Sans" pitchFamily="34" charset="-120"/>
              </a:rPr>
              <a:t>create money </a:t>
            </a:r>
            <a:pPr>
              <a:lnSpc>
                <a:spcPct val="140000"/>
              </a:lnSpc>
            </a:pPr>
            <a:r>
              <a:rPr lang="en-US" sz="1125" dirty="0">
                <a:solidFill>
                  <a:srgbClr val="FFFFFF"/>
                </a:solidFill>
                <a:latin typeface="Quattrocento Sans" pitchFamily="34" charset="0"/>
                <a:ea typeface="Quattrocento Sans" pitchFamily="34" charset="-122"/>
                <a:cs typeface="Quattrocento Sans" pitchFamily="34" charset="-120"/>
              </a:rPr>
              <a:t>through lending, making them essential engines of economic activity.</a:t>
            </a:r>
            <a:endParaRPr lang="en-US" sz="1600" dirty="0"/>
          </a:p>
        </p:txBody>
      </p:sp>
      <p:sp>
        <p:nvSpPr>
          <p:cNvPr id="21" name="Shape 19"/>
          <p:cNvSpPr/>
          <p:nvPr/>
        </p:nvSpPr>
        <p:spPr>
          <a:xfrm>
            <a:off x="7353288" y="1531938"/>
            <a:ext cx="4524375" cy="3968750"/>
          </a:xfrm>
          <a:custGeom>
            <a:avLst/>
            <a:gdLst/>
            <a:ahLst/>
            <a:cxnLst/>
            <a:rect l="l" t="t" r="r" b="b"/>
            <a:pathLst>
              <a:path w="4524375" h="3968750">
                <a:moveTo>
                  <a:pt x="95250" y="0"/>
                </a:moveTo>
                <a:lnTo>
                  <a:pt x="4429125" y="0"/>
                </a:lnTo>
                <a:cubicBezTo>
                  <a:pt x="4481695" y="0"/>
                  <a:pt x="4524375" y="42680"/>
                  <a:pt x="4524375" y="95250"/>
                </a:cubicBezTo>
                <a:lnTo>
                  <a:pt x="4524375" y="3873500"/>
                </a:lnTo>
                <a:cubicBezTo>
                  <a:pt x="4524375" y="3926070"/>
                  <a:pt x="4481695" y="3968750"/>
                  <a:pt x="4429125" y="3968750"/>
                </a:cubicBezTo>
                <a:lnTo>
                  <a:pt x="95250" y="3968750"/>
                </a:lnTo>
                <a:cubicBezTo>
                  <a:pt x="42680" y="3968750"/>
                  <a:pt x="0" y="3926070"/>
                  <a:pt x="0" y="3873500"/>
                </a:cubicBezTo>
                <a:lnTo>
                  <a:pt x="0" y="95250"/>
                </a:lnTo>
                <a:cubicBezTo>
                  <a:pt x="0" y="42680"/>
                  <a:pt x="42680" y="0"/>
                  <a:pt x="952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22" name="Shape 20"/>
          <p:cNvSpPr/>
          <p:nvPr/>
        </p:nvSpPr>
        <p:spPr>
          <a:xfrm>
            <a:off x="7591413" y="1754188"/>
            <a:ext cx="142875" cy="190500"/>
          </a:xfrm>
          <a:custGeom>
            <a:avLst/>
            <a:gdLst/>
            <a:ahLst/>
            <a:cxnLst/>
            <a:rect l="l" t="t" r="r" b="b"/>
            <a:pathLst>
              <a:path w="142875" h="190500">
                <a:moveTo>
                  <a:pt x="23812" y="0"/>
                </a:moveTo>
                <a:cubicBezTo>
                  <a:pt x="10678" y="0"/>
                  <a:pt x="0" y="10678"/>
                  <a:pt x="0" y="23812"/>
                </a:cubicBezTo>
                <a:lnTo>
                  <a:pt x="0" y="166688"/>
                </a:lnTo>
                <a:cubicBezTo>
                  <a:pt x="0" y="179822"/>
                  <a:pt x="10678" y="190500"/>
                  <a:pt x="23812" y="190500"/>
                </a:cubicBezTo>
                <a:lnTo>
                  <a:pt x="119063" y="190500"/>
                </a:lnTo>
                <a:cubicBezTo>
                  <a:pt x="132197" y="190500"/>
                  <a:pt x="142875" y="179822"/>
                  <a:pt x="142875" y="166688"/>
                </a:cubicBezTo>
                <a:lnTo>
                  <a:pt x="142875" y="23812"/>
                </a:lnTo>
                <a:cubicBezTo>
                  <a:pt x="142875" y="10678"/>
                  <a:pt x="132197" y="0"/>
                  <a:pt x="119063" y="0"/>
                </a:cubicBezTo>
                <a:lnTo>
                  <a:pt x="23812" y="0"/>
                </a:lnTo>
                <a:close/>
                <a:moveTo>
                  <a:pt x="65484" y="130969"/>
                </a:moveTo>
                <a:lnTo>
                  <a:pt x="77391" y="130969"/>
                </a:lnTo>
                <a:cubicBezTo>
                  <a:pt x="83976" y="130969"/>
                  <a:pt x="89297" y="136289"/>
                  <a:pt x="89297" y="142875"/>
                </a:cubicBezTo>
                <a:lnTo>
                  <a:pt x="89297" y="172641"/>
                </a:lnTo>
                <a:lnTo>
                  <a:pt x="53578" y="172641"/>
                </a:lnTo>
                <a:lnTo>
                  <a:pt x="53578" y="142875"/>
                </a:lnTo>
                <a:cubicBezTo>
                  <a:pt x="53578" y="136289"/>
                  <a:pt x="58899" y="130969"/>
                  <a:pt x="65484" y="130969"/>
                </a:cubicBezTo>
                <a:close/>
                <a:moveTo>
                  <a:pt x="35719" y="41672"/>
                </a:moveTo>
                <a:cubicBezTo>
                  <a:pt x="35719" y="38398"/>
                  <a:pt x="38398" y="35719"/>
                  <a:pt x="41672" y="35719"/>
                </a:cubicBezTo>
                <a:lnTo>
                  <a:pt x="53578" y="35719"/>
                </a:lnTo>
                <a:cubicBezTo>
                  <a:pt x="56852" y="35719"/>
                  <a:pt x="59531" y="38398"/>
                  <a:pt x="59531" y="41672"/>
                </a:cubicBezTo>
                <a:lnTo>
                  <a:pt x="59531" y="53578"/>
                </a:lnTo>
                <a:cubicBezTo>
                  <a:pt x="59531" y="56852"/>
                  <a:pt x="56852" y="59531"/>
                  <a:pt x="53578" y="59531"/>
                </a:cubicBezTo>
                <a:lnTo>
                  <a:pt x="41672" y="59531"/>
                </a:lnTo>
                <a:cubicBezTo>
                  <a:pt x="38398" y="59531"/>
                  <a:pt x="35719" y="56852"/>
                  <a:pt x="35719" y="53578"/>
                </a:cubicBezTo>
                <a:lnTo>
                  <a:pt x="35719" y="41672"/>
                </a:lnTo>
                <a:close/>
                <a:moveTo>
                  <a:pt x="89297" y="35719"/>
                </a:moveTo>
                <a:lnTo>
                  <a:pt x="101203" y="35719"/>
                </a:lnTo>
                <a:cubicBezTo>
                  <a:pt x="104477" y="35719"/>
                  <a:pt x="107156" y="38398"/>
                  <a:pt x="107156" y="41672"/>
                </a:cubicBezTo>
                <a:lnTo>
                  <a:pt x="107156" y="53578"/>
                </a:lnTo>
                <a:cubicBezTo>
                  <a:pt x="107156" y="56852"/>
                  <a:pt x="104477" y="59531"/>
                  <a:pt x="101203" y="59531"/>
                </a:cubicBezTo>
                <a:lnTo>
                  <a:pt x="89297" y="59531"/>
                </a:lnTo>
                <a:cubicBezTo>
                  <a:pt x="86023" y="59531"/>
                  <a:pt x="83344" y="56852"/>
                  <a:pt x="83344" y="53578"/>
                </a:cubicBezTo>
                <a:lnTo>
                  <a:pt x="83344" y="41672"/>
                </a:lnTo>
                <a:cubicBezTo>
                  <a:pt x="83344" y="38398"/>
                  <a:pt x="86023" y="35719"/>
                  <a:pt x="89297" y="35719"/>
                </a:cubicBezTo>
                <a:close/>
                <a:moveTo>
                  <a:pt x="35719" y="89297"/>
                </a:moveTo>
                <a:cubicBezTo>
                  <a:pt x="35719" y="86023"/>
                  <a:pt x="38398" y="83344"/>
                  <a:pt x="41672" y="83344"/>
                </a:cubicBezTo>
                <a:lnTo>
                  <a:pt x="53578" y="83344"/>
                </a:lnTo>
                <a:cubicBezTo>
                  <a:pt x="56852" y="83344"/>
                  <a:pt x="59531" y="86023"/>
                  <a:pt x="59531" y="89297"/>
                </a:cubicBezTo>
                <a:lnTo>
                  <a:pt x="59531" y="101203"/>
                </a:lnTo>
                <a:cubicBezTo>
                  <a:pt x="59531" y="104477"/>
                  <a:pt x="56852" y="107156"/>
                  <a:pt x="53578" y="107156"/>
                </a:cubicBezTo>
                <a:lnTo>
                  <a:pt x="41672" y="107156"/>
                </a:lnTo>
                <a:cubicBezTo>
                  <a:pt x="38398" y="107156"/>
                  <a:pt x="35719" y="104477"/>
                  <a:pt x="35719" y="101203"/>
                </a:cubicBezTo>
                <a:lnTo>
                  <a:pt x="35719" y="89297"/>
                </a:lnTo>
                <a:close/>
                <a:moveTo>
                  <a:pt x="89297" y="83344"/>
                </a:moveTo>
                <a:lnTo>
                  <a:pt x="101203" y="83344"/>
                </a:lnTo>
                <a:cubicBezTo>
                  <a:pt x="104477" y="83344"/>
                  <a:pt x="107156" y="86023"/>
                  <a:pt x="107156" y="89297"/>
                </a:cubicBezTo>
                <a:lnTo>
                  <a:pt x="107156" y="101203"/>
                </a:lnTo>
                <a:cubicBezTo>
                  <a:pt x="107156" y="104477"/>
                  <a:pt x="104477" y="107156"/>
                  <a:pt x="101203" y="107156"/>
                </a:cubicBezTo>
                <a:lnTo>
                  <a:pt x="89297" y="107156"/>
                </a:lnTo>
                <a:cubicBezTo>
                  <a:pt x="86023" y="107156"/>
                  <a:pt x="83344" y="104477"/>
                  <a:pt x="83344" y="101203"/>
                </a:cubicBezTo>
                <a:lnTo>
                  <a:pt x="83344" y="89297"/>
                </a:lnTo>
                <a:cubicBezTo>
                  <a:pt x="83344" y="86023"/>
                  <a:pt x="86023" y="83344"/>
                  <a:pt x="89297" y="83344"/>
                </a:cubicBezTo>
                <a:close/>
              </a:path>
            </a:pathLst>
          </a:custGeom>
          <a:solidFill>
            <a:srgbClr val="2A9D8F"/>
          </a:solidFill>
          <a:ln/>
        </p:spPr>
      </p:sp>
      <p:sp>
        <p:nvSpPr>
          <p:cNvPr id="23" name="Text 21"/>
          <p:cNvSpPr/>
          <p:nvPr/>
        </p:nvSpPr>
        <p:spPr>
          <a:xfrm>
            <a:off x="7781913" y="1722438"/>
            <a:ext cx="400050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Core Banking Services</a:t>
            </a:r>
            <a:endParaRPr lang="en-US" sz="1600" dirty="0"/>
          </a:p>
        </p:txBody>
      </p:sp>
      <p:sp>
        <p:nvSpPr>
          <p:cNvPr id="24" name="Shape 22"/>
          <p:cNvSpPr/>
          <p:nvPr/>
        </p:nvSpPr>
        <p:spPr>
          <a:xfrm>
            <a:off x="7543788" y="2135188"/>
            <a:ext cx="4143375" cy="698500"/>
          </a:xfrm>
          <a:custGeom>
            <a:avLst/>
            <a:gdLst/>
            <a:ahLst/>
            <a:cxnLst/>
            <a:rect l="l" t="t" r="r" b="b"/>
            <a:pathLst>
              <a:path w="4143375" h="698500">
                <a:moveTo>
                  <a:pt x="63501" y="0"/>
                </a:moveTo>
                <a:lnTo>
                  <a:pt x="4079874" y="0"/>
                </a:lnTo>
                <a:cubicBezTo>
                  <a:pt x="4114945" y="0"/>
                  <a:pt x="4143375" y="28430"/>
                  <a:pt x="4143375" y="63501"/>
                </a:cubicBezTo>
                <a:lnTo>
                  <a:pt x="4143375" y="634999"/>
                </a:lnTo>
                <a:cubicBezTo>
                  <a:pt x="4143375" y="670070"/>
                  <a:pt x="4114945" y="698500"/>
                  <a:pt x="4079874" y="698500"/>
                </a:cubicBezTo>
                <a:lnTo>
                  <a:pt x="63501" y="698500"/>
                </a:lnTo>
                <a:cubicBezTo>
                  <a:pt x="28430" y="698500"/>
                  <a:pt x="0" y="670070"/>
                  <a:pt x="0" y="634999"/>
                </a:cubicBezTo>
                <a:lnTo>
                  <a:pt x="0" y="63501"/>
                </a:lnTo>
                <a:cubicBezTo>
                  <a:pt x="0" y="28430"/>
                  <a:pt x="28430" y="0"/>
                  <a:pt x="63501" y="0"/>
                </a:cubicBezTo>
                <a:close/>
              </a:path>
            </a:pathLst>
          </a:custGeom>
          <a:solidFill>
            <a:srgbClr val="F8F9FA"/>
          </a:solidFill>
          <a:ln/>
        </p:spPr>
      </p:sp>
      <p:sp>
        <p:nvSpPr>
          <p:cNvPr id="25" name="Shape 23"/>
          <p:cNvSpPr/>
          <p:nvPr/>
        </p:nvSpPr>
        <p:spPr>
          <a:xfrm>
            <a:off x="7670788" y="2262188"/>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1A3A5C"/>
          </a:solidFill>
          <a:ln/>
        </p:spPr>
      </p:sp>
      <p:sp>
        <p:nvSpPr>
          <p:cNvPr id="26" name="Text 24"/>
          <p:cNvSpPr/>
          <p:nvPr/>
        </p:nvSpPr>
        <p:spPr>
          <a:xfrm>
            <a:off x="7635069" y="2262188"/>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27" name="Text 25"/>
          <p:cNvSpPr/>
          <p:nvPr/>
        </p:nvSpPr>
        <p:spPr>
          <a:xfrm>
            <a:off x="8115288" y="2262188"/>
            <a:ext cx="2103438"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Deposit Services</a:t>
            </a:r>
            <a:endParaRPr lang="en-US" sz="1600" dirty="0"/>
          </a:p>
        </p:txBody>
      </p:sp>
      <p:sp>
        <p:nvSpPr>
          <p:cNvPr id="28" name="Text 26"/>
          <p:cNvSpPr/>
          <p:nvPr/>
        </p:nvSpPr>
        <p:spPr>
          <a:xfrm>
            <a:off x="8115288" y="2516188"/>
            <a:ext cx="209550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Savings, checking, and fixed deposits</a:t>
            </a:r>
            <a:endParaRPr lang="en-US" sz="1600" dirty="0"/>
          </a:p>
        </p:txBody>
      </p:sp>
      <p:sp>
        <p:nvSpPr>
          <p:cNvPr id="29" name="Shape 27"/>
          <p:cNvSpPr/>
          <p:nvPr/>
        </p:nvSpPr>
        <p:spPr>
          <a:xfrm>
            <a:off x="7543788" y="2960688"/>
            <a:ext cx="4143375" cy="698500"/>
          </a:xfrm>
          <a:custGeom>
            <a:avLst/>
            <a:gdLst/>
            <a:ahLst/>
            <a:cxnLst/>
            <a:rect l="l" t="t" r="r" b="b"/>
            <a:pathLst>
              <a:path w="4143375" h="698500">
                <a:moveTo>
                  <a:pt x="63501" y="0"/>
                </a:moveTo>
                <a:lnTo>
                  <a:pt x="4079874" y="0"/>
                </a:lnTo>
                <a:cubicBezTo>
                  <a:pt x="4114945" y="0"/>
                  <a:pt x="4143375" y="28430"/>
                  <a:pt x="4143375" y="63501"/>
                </a:cubicBezTo>
                <a:lnTo>
                  <a:pt x="4143375" y="634999"/>
                </a:lnTo>
                <a:cubicBezTo>
                  <a:pt x="4143375" y="670070"/>
                  <a:pt x="4114945" y="698500"/>
                  <a:pt x="4079874" y="698500"/>
                </a:cubicBezTo>
                <a:lnTo>
                  <a:pt x="63501" y="698500"/>
                </a:lnTo>
                <a:cubicBezTo>
                  <a:pt x="28430" y="698500"/>
                  <a:pt x="0" y="670070"/>
                  <a:pt x="0" y="634999"/>
                </a:cubicBezTo>
                <a:lnTo>
                  <a:pt x="0" y="63501"/>
                </a:lnTo>
                <a:cubicBezTo>
                  <a:pt x="0" y="28430"/>
                  <a:pt x="28430" y="0"/>
                  <a:pt x="63501" y="0"/>
                </a:cubicBezTo>
                <a:close/>
              </a:path>
            </a:pathLst>
          </a:custGeom>
          <a:solidFill>
            <a:srgbClr val="F8F9FA"/>
          </a:solidFill>
          <a:ln/>
        </p:spPr>
      </p:sp>
      <p:sp>
        <p:nvSpPr>
          <p:cNvPr id="30" name="Shape 28"/>
          <p:cNvSpPr/>
          <p:nvPr/>
        </p:nvSpPr>
        <p:spPr>
          <a:xfrm>
            <a:off x="7670788" y="3087688"/>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2A9D8F"/>
          </a:solidFill>
          <a:ln/>
        </p:spPr>
      </p:sp>
      <p:sp>
        <p:nvSpPr>
          <p:cNvPr id="31" name="Text 29"/>
          <p:cNvSpPr/>
          <p:nvPr/>
        </p:nvSpPr>
        <p:spPr>
          <a:xfrm>
            <a:off x="7635069" y="3087688"/>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32" name="Text 30"/>
          <p:cNvSpPr/>
          <p:nvPr/>
        </p:nvSpPr>
        <p:spPr>
          <a:xfrm>
            <a:off x="8115288" y="3087688"/>
            <a:ext cx="2381250"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Lending Services</a:t>
            </a:r>
            <a:endParaRPr lang="en-US" sz="1600" dirty="0"/>
          </a:p>
        </p:txBody>
      </p:sp>
      <p:sp>
        <p:nvSpPr>
          <p:cNvPr id="33" name="Text 31"/>
          <p:cNvSpPr/>
          <p:nvPr/>
        </p:nvSpPr>
        <p:spPr>
          <a:xfrm>
            <a:off x="8115288" y="3341688"/>
            <a:ext cx="2373313"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Personal loans, mortgages, business credit</a:t>
            </a:r>
            <a:endParaRPr lang="en-US" sz="1600" dirty="0"/>
          </a:p>
        </p:txBody>
      </p:sp>
      <p:sp>
        <p:nvSpPr>
          <p:cNvPr id="34" name="Shape 32"/>
          <p:cNvSpPr/>
          <p:nvPr/>
        </p:nvSpPr>
        <p:spPr>
          <a:xfrm>
            <a:off x="7543788" y="3786188"/>
            <a:ext cx="4143375" cy="698500"/>
          </a:xfrm>
          <a:custGeom>
            <a:avLst/>
            <a:gdLst/>
            <a:ahLst/>
            <a:cxnLst/>
            <a:rect l="l" t="t" r="r" b="b"/>
            <a:pathLst>
              <a:path w="4143375" h="698500">
                <a:moveTo>
                  <a:pt x="63501" y="0"/>
                </a:moveTo>
                <a:lnTo>
                  <a:pt x="4079874" y="0"/>
                </a:lnTo>
                <a:cubicBezTo>
                  <a:pt x="4114945" y="0"/>
                  <a:pt x="4143375" y="28430"/>
                  <a:pt x="4143375" y="63501"/>
                </a:cubicBezTo>
                <a:lnTo>
                  <a:pt x="4143375" y="634999"/>
                </a:lnTo>
                <a:cubicBezTo>
                  <a:pt x="4143375" y="670070"/>
                  <a:pt x="4114945" y="698500"/>
                  <a:pt x="4079874" y="698500"/>
                </a:cubicBezTo>
                <a:lnTo>
                  <a:pt x="63501" y="698500"/>
                </a:lnTo>
                <a:cubicBezTo>
                  <a:pt x="28430" y="698500"/>
                  <a:pt x="0" y="670070"/>
                  <a:pt x="0" y="634999"/>
                </a:cubicBezTo>
                <a:lnTo>
                  <a:pt x="0" y="63501"/>
                </a:lnTo>
                <a:cubicBezTo>
                  <a:pt x="0" y="28430"/>
                  <a:pt x="28430" y="0"/>
                  <a:pt x="63501" y="0"/>
                </a:cubicBezTo>
                <a:close/>
              </a:path>
            </a:pathLst>
          </a:custGeom>
          <a:solidFill>
            <a:srgbClr val="F8F9FA"/>
          </a:solidFill>
          <a:ln/>
        </p:spPr>
      </p:sp>
      <p:sp>
        <p:nvSpPr>
          <p:cNvPr id="35" name="Shape 33"/>
          <p:cNvSpPr/>
          <p:nvPr/>
        </p:nvSpPr>
        <p:spPr>
          <a:xfrm>
            <a:off x="7670788" y="3913188"/>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1A3A5C"/>
          </a:solidFill>
          <a:ln/>
        </p:spPr>
      </p:sp>
      <p:sp>
        <p:nvSpPr>
          <p:cNvPr id="36" name="Text 34"/>
          <p:cNvSpPr/>
          <p:nvPr/>
        </p:nvSpPr>
        <p:spPr>
          <a:xfrm>
            <a:off x="7635069" y="3913188"/>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37" name="Text 35"/>
          <p:cNvSpPr/>
          <p:nvPr/>
        </p:nvSpPr>
        <p:spPr>
          <a:xfrm>
            <a:off x="8115288" y="3913188"/>
            <a:ext cx="1905000"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Payment Systems</a:t>
            </a:r>
            <a:endParaRPr lang="en-US" sz="1600" dirty="0"/>
          </a:p>
        </p:txBody>
      </p:sp>
      <p:sp>
        <p:nvSpPr>
          <p:cNvPr id="38" name="Text 36"/>
          <p:cNvSpPr/>
          <p:nvPr/>
        </p:nvSpPr>
        <p:spPr>
          <a:xfrm>
            <a:off x="8115288" y="4167188"/>
            <a:ext cx="1897063"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Transfers, cards, digital payments</a:t>
            </a:r>
            <a:endParaRPr lang="en-US" sz="1600" dirty="0"/>
          </a:p>
        </p:txBody>
      </p:sp>
      <p:sp>
        <p:nvSpPr>
          <p:cNvPr id="39" name="Shape 37"/>
          <p:cNvSpPr/>
          <p:nvPr/>
        </p:nvSpPr>
        <p:spPr>
          <a:xfrm>
            <a:off x="7543788" y="4611688"/>
            <a:ext cx="4143375" cy="698500"/>
          </a:xfrm>
          <a:custGeom>
            <a:avLst/>
            <a:gdLst/>
            <a:ahLst/>
            <a:cxnLst/>
            <a:rect l="l" t="t" r="r" b="b"/>
            <a:pathLst>
              <a:path w="4143375" h="698500">
                <a:moveTo>
                  <a:pt x="63501" y="0"/>
                </a:moveTo>
                <a:lnTo>
                  <a:pt x="4079874" y="0"/>
                </a:lnTo>
                <a:cubicBezTo>
                  <a:pt x="4114945" y="0"/>
                  <a:pt x="4143375" y="28430"/>
                  <a:pt x="4143375" y="63501"/>
                </a:cubicBezTo>
                <a:lnTo>
                  <a:pt x="4143375" y="634999"/>
                </a:lnTo>
                <a:cubicBezTo>
                  <a:pt x="4143375" y="670070"/>
                  <a:pt x="4114945" y="698500"/>
                  <a:pt x="4079874" y="698500"/>
                </a:cubicBezTo>
                <a:lnTo>
                  <a:pt x="63501" y="698500"/>
                </a:lnTo>
                <a:cubicBezTo>
                  <a:pt x="28430" y="698500"/>
                  <a:pt x="0" y="670070"/>
                  <a:pt x="0" y="634999"/>
                </a:cubicBezTo>
                <a:lnTo>
                  <a:pt x="0" y="63501"/>
                </a:lnTo>
                <a:cubicBezTo>
                  <a:pt x="0" y="28430"/>
                  <a:pt x="28430" y="0"/>
                  <a:pt x="63501" y="0"/>
                </a:cubicBezTo>
                <a:close/>
              </a:path>
            </a:pathLst>
          </a:custGeom>
          <a:solidFill>
            <a:srgbClr val="F8F9FA"/>
          </a:solidFill>
          <a:ln/>
        </p:spPr>
      </p:sp>
      <p:sp>
        <p:nvSpPr>
          <p:cNvPr id="40" name="Shape 38"/>
          <p:cNvSpPr/>
          <p:nvPr/>
        </p:nvSpPr>
        <p:spPr>
          <a:xfrm>
            <a:off x="7670788" y="4738688"/>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2A9D8F"/>
          </a:solidFill>
          <a:ln/>
        </p:spPr>
      </p:sp>
      <p:sp>
        <p:nvSpPr>
          <p:cNvPr id="41" name="Text 39"/>
          <p:cNvSpPr/>
          <p:nvPr/>
        </p:nvSpPr>
        <p:spPr>
          <a:xfrm>
            <a:off x="7635069" y="4738688"/>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
        <p:nvSpPr>
          <p:cNvPr id="42" name="Text 40"/>
          <p:cNvSpPr/>
          <p:nvPr/>
        </p:nvSpPr>
        <p:spPr>
          <a:xfrm>
            <a:off x="8115288" y="4738688"/>
            <a:ext cx="2468563"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Wealth Management</a:t>
            </a:r>
            <a:endParaRPr lang="en-US" sz="1600" dirty="0"/>
          </a:p>
        </p:txBody>
      </p:sp>
      <p:sp>
        <p:nvSpPr>
          <p:cNvPr id="43" name="Text 41"/>
          <p:cNvSpPr/>
          <p:nvPr/>
        </p:nvSpPr>
        <p:spPr>
          <a:xfrm>
            <a:off x="8115288" y="4992688"/>
            <a:ext cx="2460625"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Investments, insurance, retirement planning</a:t>
            </a:r>
            <a:endParaRPr lang="en-US" sz="1600" dirty="0"/>
          </a:p>
        </p:txBody>
      </p:sp>
      <p:sp>
        <p:nvSpPr>
          <p:cNvPr id="44" name="Shape 42"/>
          <p:cNvSpPr/>
          <p:nvPr/>
        </p:nvSpPr>
        <p:spPr>
          <a:xfrm>
            <a:off x="7361225" y="5667375"/>
            <a:ext cx="4508500" cy="1063625"/>
          </a:xfrm>
          <a:custGeom>
            <a:avLst/>
            <a:gdLst/>
            <a:ahLst/>
            <a:cxnLst/>
            <a:rect l="l" t="t" r="r" b="b"/>
            <a:pathLst>
              <a:path w="4508500" h="1063625">
                <a:moveTo>
                  <a:pt x="95248" y="0"/>
                </a:moveTo>
                <a:lnTo>
                  <a:pt x="4413252" y="0"/>
                </a:lnTo>
                <a:cubicBezTo>
                  <a:pt x="4465856" y="0"/>
                  <a:pt x="4508500" y="42644"/>
                  <a:pt x="4508500" y="95248"/>
                </a:cubicBezTo>
                <a:lnTo>
                  <a:pt x="4508500" y="968377"/>
                </a:lnTo>
                <a:cubicBezTo>
                  <a:pt x="4508500" y="1020981"/>
                  <a:pt x="4465856" y="1063625"/>
                  <a:pt x="4413252" y="1063625"/>
                </a:cubicBezTo>
                <a:lnTo>
                  <a:pt x="95248" y="1063625"/>
                </a:lnTo>
                <a:cubicBezTo>
                  <a:pt x="42644" y="1063625"/>
                  <a:pt x="0" y="1020981"/>
                  <a:pt x="0" y="968377"/>
                </a:cubicBezTo>
                <a:lnTo>
                  <a:pt x="0" y="95248"/>
                </a:lnTo>
                <a:cubicBezTo>
                  <a:pt x="0" y="42679"/>
                  <a:pt x="42679" y="0"/>
                  <a:pt x="95248" y="0"/>
                </a:cubicBezTo>
                <a:close/>
              </a:path>
            </a:pathLst>
          </a:custGeom>
          <a:solidFill>
            <a:srgbClr val="2A9D8F">
              <a:alpha val="10196"/>
            </a:srgbClr>
          </a:solidFill>
          <a:ln w="25400">
            <a:solidFill>
              <a:srgbClr val="2A9D8F">
                <a:alpha val="30196"/>
              </a:srgbClr>
            </a:solidFill>
            <a:prstDash val="solid"/>
          </a:ln>
        </p:spPr>
      </p:sp>
      <p:sp>
        <p:nvSpPr>
          <p:cNvPr id="45" name="Shape 43"/>
          <p:cNvSpPr/>
          <p:nvPr/>
        </p:nvSpPr>
        <p:spPr>
          <a:xfrm>
            <a:off x="7551725" y="5849938"/>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83344" y="59531"/>
                </a:moveTo>
                <a:cubicBezTo>
                  <a:pt x="83344" y="52960"/>
                  <a:pt x="88679" y="47625"/>
                  <a:pt x="95250" y="47625"/>
                </a:cubicBezTo>
                <a:cubicBezTo>
                  <a:pt x="101821" y="47625"/>
                  <a:pt x="107156" y="52960"/>
                  <a:pt x="107156" y="59531"/>
                </a:cubicBezTo>
                <a:cubicBezTo>
                  <a:pt x="107156" y="66102"/>
                  <a:pt x="101821" y="71438"/>
                  <a:pt x="95250" y="71438"/>
                </a:cubicBezTo>
                <a:cubicBezTo>
                  <a:pt x="88679" y="71438"/>
                  <a:pt x="83344" y="66102"/>
                  <a:pt x="83344" y="59531"/>
                </a:cubicBezTo>
                <a:close/>
                <a:moveTo>
                  <a:pt x="80367" y="83344"/>
                </a:moveTo>
                <a:lnTo>
                  <a:pt x="98227" y="83344"/>
                </a:lnTo>
                <a:cubicBezTo>
                  <a:pt x="103175" y="83344"/>
                  <a:pt x="107156" y="87325"/>
                  <a:pt x="107156" y="92273"/>
                </a:cubicBezTo>
                <a:lnTo>
                  <a:pt x="107156" y="125016"/>
                </a:lnTo>
                <a:lnTo>
                  <a:pt x="110133" y="125016"/>
                </a:lnTo>
                <a:cubicBezTo>
                  <a:pt x="115081" y="125016"/>
                  <a:pt x="119063" y="128997"/>
                  <a:pt x="119063" y="133945"/>
                </a:cubicBezTo>
                <a:cubicBezTo>
                  <a:pt x="119063" y="138894"/>
                  <a:pt x="115081" y="142875"/>
                  <a:pt x="110133" y="142875"/>
                </a:cubicBezTo>
                <a:lnTo>
                  <a:pt x="80367" y="142875"/>
                </a:lnTo>
                <a:cubicBezTo>
                  <a:pt x="75419" y="142875"/>
                  <a:pt x="71438" y="138894"/>
                  <a:pt x="71438" y="133945"/>
                </a:cubicBezTo>
                <a:cubicBezTo>
                  <a:pt x="71438" y="128997"/>
                  <a:pt x="75419" y="125016"/>
                  <a:pt x="80367" y="125016"/>
                </a:cubicBezTo>
                <a:lnTo>
                  <a:pt x="89297" y="125016"/>
                </a:lnTo>
                <a:lnTo>
                  <a:pt x="89297" y="101203"/>
                </a:lnTo>
                <a:lnTo>
                  <a:pt x="80367" y="101203"/>
                </a:lnTo>
                <a:cubicBezTo>
                  <a:pt x="75419" y="101203"/>
                  <a:pt x="71438" y="97222"/>
                  <a:pt x="71438" y="92273"/>
                </a:cubicBezTo>
                <a:cubicBezTo>
                  <a:pt x="71438" y="87325"/>
                  <a:pt x="75419" y="83344"/>
                  <a:pt x="80367" y="83344"/>
                </a:cubicBezTo>
                <a:close/>
              </a:path>
            </a:pathLst>
          </a:custGeom>
          <a:solidFill>
            <a:srgbClr val="2A9D8F"/>
          </a:solidFill>
          <a:ln/>
        </p:spPr>
      </p:sp>
      <p:sp>
        <p:nvSpPr>
          <p:cNvPr id="46" name="Text 44"/>
          <p:cNvSpPr/>
          <p:nvPr/>
        </p:nvSpPr>
        <p:spPr>
          <a:xfrm>
            <a:off x="7861288" y="5834063"/>
            <a:ext cx="1135063" cy="222250"/>
          </a:xfrm>
          <a:prstGeom prst="rect">
            <a:avLst/>
          </a:prstGeom>
          <a:noFill/>
          <a:ln/>
        </p:spPr>
        <p:txBody>
          <a:bodyPr wrap="square" lIns="0" tIns="0" rIns="0" bIns="0" rtlCol="0" anchor="ctr"/>
          <a:lstStyle/>
          <a:p>
            <a:pPr>
              <a:lnSpc>
                <a:spcPct val="120000"/>
              </a:lnSpc>
            </a:pPr>
            <a:r>
              <a:rPr lang="en-US" sz="1250" b="1" dirty="0">
                <a:solidFill>
                  <a:srgbClr val="1A3A5C"/>
                </a:solidFill>
                <a:latin typeface="Liter" pitchFamily="34" charset="0"/>
                <a:ea typeface="Liter" pitchFamily="34" charset="-122"/>
                <a:cs typeface="Liter" pitchFamily="34" charset="-120"/>
              </a:rPr>
              <a:t>Did You Know?</a:t>
            </a:r>
            <a:endParaRPr lang="en-US" sz="1600" dirty="0"/>
          </a:p>
        </p:txBody>
      </p:sp>
      <p:sp>
        <p:nvSpPr>
          <p:cNvPr id="47" name="Text 45"/>
          <p:cNvSpPr/>
          <p:nvPr/>
        </p:nvSpPr>
        <p:spPr>
          <a:xfrm>
            <a:off x="7527913" y="6151563"/>
            <a:ext cx="4238625"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The word "bank" comes from the Italian word banca, meaning "bench," where moneylenders would sit in marketplaces.</a:t>
            </a:r>
            <a:endParaRPr lang="en-US" sz="1600" dirty="0"/>
          </a:p>
        </p:txBody>
      </p:sp>
      <p:sp>
        <p:nvSpPr>
          <p:cNvPr id="48" name="Shape 46"/>
          <p:cNvSpPr/>
          <p:nvPr/>
        </p:nvSpPr>
        <p:spPr>
          <a:xfrm>
            <a:off x="333375" y="6865938"/>
            <a:ext cx="11541125" cy="666750"/>
          </a:xfrm>
          <a:custGeom>
            <a:avLst/>
            <a:gdLst/>
            <a:ahLst/>
            <a:cxnLst/>
            <a:rect l="l" t="t" r="r" b="b"/>
            <a:pathLst>
              <a:path w="11541125" h="666750">
                <a:moveTo>
                  <a:pt x="31750" y="0"/>
                </a:moveTo>
                <a:lnTo>
                  <a:pt x="11477624" y="0"/>
                </a:lnTo>
                <a:cubicBezTo>
                  <a:pt x="11512695" y="0"/>
                  <a:pt x="11541125" y="28430"/>
                  <a:pt x="11541125" y="63501"/>
                </a:cubicBezTo>
                <a:lnTo>
                  <a:pt x="11541125" y="603249"/>
                </a:lnTo>
                <a:cubicBezTo>
                  <a:pt x="11541125" y="638320"/>
                  <a:pt x="11512695" y="666750"/>
                  <a:pt x="11477624" y="666750"/>
                </a:cubicBezTo>
                <a:lnTo>
                  <a:pt x="31750" y="666750"/>
                </a:lnTo>
                <a:cubicBezTo>
                  <a:pt x="14215" y="666750"/>
                  <a:pt x="0" y="652535"/>
                  <a:pt x="0" y="635000"/>
                </a:cubicBezTo>
                <a:lnTo>
                  <a:pt x="0" y="31750"/>
                </a:lnTo>
                <a:cubicBezTo>
                  <a:pt x="0" y="14227"/>
                  <a:pt x="14227" y="0"/>
                  <a:pt x="31750" y="0"/>
                </a:cubicBezTo>
                <a:close/>
              </a:path>
            </a:pathLst>
          </a:custGeom>
          <a:solidFill>
            <a:srgbClr val="1A3A5C">
              <a:alpha val="5098"/>
            </a:srgbClr>
          </a:solidFill>
          <a:ln/>
        </p:spPr>
      </p:sp>
      <p:sp>
        <p:nvSpPr>
          <p:cNvPr id="49" name="Shape 47"/>
          <p:cNvSpPr/>
          <p:nvPr/>
        </p:nvSpPr>
        <p:spPr>
          <a:xfrm>
            <a:off x="333375" y="6865938"/>
            <a:ext cx="31750" cy="666750"/>
          </a:xfrm>
          <a:custGeom>
            <a:avLst/>
            <a:gdLst/>
            <a:ahLst/>
            <a:cxnLst/>
            <a:rect l="l" t="t" r="r" b="b"/>
            <a:pathLst>
              <a:path w="31750" h="666750">
                <a:moveTo>
                  <a:pt x="31750" y="0"/>
                </a:moveTo>
                <a:lnTo>
                  <a:pt x="31750" y="0"/>
                </a:lnTo>
                <a:lnTo>
                  <a:pt x="31750" y="666750"/>
                </a:lnTo>
                <a:lnTo>
                  <a:pt x="31750" y="666750"/>
                </a:lnTo>
                <a:cubicBezTo>
                  <a:pt x="14227" y="666750"/>
                  <a:pt x="0" y="652523"/>
                  <a:pt x="0" y="635000"/>
                </a:cubicBezTo>
                <a:lnTo>
                  <a:pt x="0" y="31750"/>
                </a:lnTo>
                <a:cubicBezTo>
                  <a:pt x="0" y="14227"/>
                  <a:pt x="14227" y="0"/>
                  <a:pt x="31750" y="0"/>
                </a:cubicBezTo>
                <a:close/>
              </a:path>
            </a:pathLst>
          </a:custGeom>
          <a:solidFill>
            <a:srgbClr val="1A3A5C"/>
          </a:solidFill>
          <a:ln/>
        </p:spPr>
      </p:sp>
      <p:sp>
        <p:nvSpPr>
          <p:cNvPr id="50" name="Shape 48"/>
          <p:cNvSpPr/>
          <p:nvPr/>
        </p:nvSpPr>
        <p:spPr>
          <a:xfrm>
            <a:off x="500063" y="7028656"/>
            <a:ext cx="111125" cy="127000"/>
          </a:xfrm>
          <a:custGeom>
            <a:avLst/>
            <a:gdLst/>
            <a:ahLst/>
            <a:cxnLst/>
            <a:rect l="l" t="t" r="r" b="b"/>
            <a:pathLst>
              <a:path w="111125" h="127000">
                <a:moveTo>
                  <a:pt x="0" y="53578"/>
                </a:moveTo>
                <a:cubicBezTo>
                  <a:pt x="0" y="37133"/>
                  <a:pt x="13320" y="23812"/>
                  <a:pt x="29766" y="23812"/>
                </a:cubicBezTo>
                <a:lnTo>
                  <a:pt x="31750" y="23812"/>
                </a:lnTo>
                <a:cubicBezTo>
                  <a:pt x="36140" y="23812"/>
                  <a:pt x="39688" y="27360"/>
                  <a:pt x="39688" y="31750"/>
                </a:cubicBezTo>
                <a:cubicBezTo>
                  <a:pt x="39688" y="36140"/>
                  <a:pt x="36140" y="39688"/>
                  <a:pt x="31750" y="39688"/>
                </a:cubicBezTo>
                <a:lnTo>
                  <a:pt x="29766" y="39688"/>
                </a:lnTo>
                <a:cubicBezTo>
                  <a:pt x="22101" y="39688"/>
                  <a:pt x="15875" y="45913"/>
                  <a:pt x="15875" y="53578"/>
                </a:cubicBezTo>
                <a:lnTo>
                  <a:pt x="15875" y="55563"/>
                </a:lnTo>
                <a:lnTo>
                  <a:pt x="31750" y="55563"/>
                </a:lnTo>
                <a:cubicBezTo>
                  <a:pt x="40506" y="55563"/>
                  <a:pt x="47625" y="62681"/>
                  <a:pt x="47625" y="71438"/>
                </a:cubicBezTo>
                <a:lnTo>
                  <a:pt x="47625" y="87313"/>
                </a:lnTo>
                <a:cubicBezTo>
                  <a:pt x="47625" y="96069"/>
                  <a:pt x="40506" y="103188"/>
                  <a:pt x="31750" y="103188"/>
                </a:cubicBezTo>
                <a:lnTo>
                  <a:pt x="15875" y="103188"/>
                </a:lnTo>
                <a:cubicBezTo>
                  <a:pt x="7119" y="103188"/>
                  <a:pt x="0" y="96069"/>
                  <a:pt x="0" y="87313"/>
                </a:cubicBezTo>
                <a:lnTo>
                  <a:pt x="0" y="53578"/>
                </a:lnTo>
                <a:close/>
                <a:moveTo>
                  <a:pt x="63500" y="53578"/>
                </a:moveTo>
                <a:cubicBezTo>
                  <a:pt x="63500" y="37133"/>
                  <a:pt x="76820" y="23812"/>
                  <a:pt x="93266" y="23812"/>
                </a:cubicBezTo>
                <a:lnTo>
                  <a:pt x="95250" y="23812"/>
                </a:lnTo>
                <a:cubicBezTo>
                  <a:pt x="99640" y="23812"/>
                  <a:pt x="103188" y="27360"/>
                  <a:pt x="103188" y="31750"/>
                </a:cubicBezTo>
                <a:cubicBezTo>
                  <a:pt x="103188" y="36140"/>
                  <a:pt x="99640" y="39688"/>
                  <a:pt x="95250" y="39688"/>
                </a:cubicBezTo>
                <a:lnTo>
                  <a:pt x="93266" y="39688"/>
                </a:lnTo>
                <a:cubicBezTo>
                  <a:pt x="85601" y="39688"/>
                  <a:pt x="79375" y="45913"/>
                  <a:pt x="79375" y="53578"/>
                </a:cubicBezTo>
                <a:lnTo>
                  <a:pt x="79375" y="55563"/>
                </a:lnTo>
                <a:lnTo>
                  <a:pt x="95250" y="55563"/>
                </a:lnTo>
                <a:cubicBezTo>
                  <a:pt x="104006" y="55563"/>
                  <a:pt x="111125" y="62681"/>
                  <a:pt x="111125" y="71438"/>
                </a:cubicBezTo>
                <a:lnTo>
                  <a:pt x="111125" y="87313"/>
                </a:lnTo>
                <a:cubicBezTo>
                  <a:pt x="111125" y="96069"/>
                  <a:pt x="104006" y="103188"/>
                  <a:pt x="95250" y="103188"/>
                </a:cubicBezTo>
                <a:lnTo>
                  <a:pt x="79375" y="103188"/>
                </a:lnTo>
                <a:cubicBezTo>
                  <a:pt x="70619" y="103188"/>
                  <a:pt x="63500" y="96069"/>
                  <a:pt x="63500" y="87313"/>
                </a:cubicBezTo>
                <a:lnTo>
                  <a:pt x="63500" y="53578"/>
                </a:lnTo>
                <a:close/>
              </a:path>
            </a:pathLst>
          </a:custGeom>
          <a:solidFill>
            <a:srgbClr val="2A9D8F"/>
          </a:solidFill>
          <a:ln/>
        </p:spPr>
      </p:sp>
      <p:sp>
        <p:nvSpPr>
          <p:cNvPr id="51" name="Text 49"/>
          <p:cNvSpPr/>
          <p:nvPr/>
        </p:nvSpPr>
        <p:spPr>
          <a:xfrm>
            <a:off x="674688" y="6992938"/>
            <a:ext cx="11136313" cy="412750"/>
          </a:xfrm>
          <a:prstGeom prst="rect">
            <a:avLst/>
          </a:prstGeom>
          <a:noFill/>
          <a:ln/>
        </p:spPr>
        <p:txBody>
          <a:bodyPr wrap="square" lIns="0" tIns="0" rIns="0" bIns="0" rtlCol="0" anchor="ctr"/>
          <a:lstStyle/>
          <a:p>
            <a:pPr>
              <a:lnSpc>
                <a:spcPct val="140000"/>
              </a:lnSpc>
            </a:pPr>
            <a:r>
              <a:rPr lang="en-US" sz="1000" b="1" dirty="0">
                <a:solidFill>
                  <a:srgbClr val="2B2D42"/>
                </a:solidFill>
                <a:latin typeface="Quattrocento Sans" pitchFamily="34" charset="0"/>
                <a:ea typeface="Quattrocento Sans" pitchFamily="34" charset="-122"/>
                <a:cs typeface="Quattrocento Sans" pitchFamily="34" charset="-120"/>
              </a:rPr>
              <a:t>Speaker Note:</a:t>
            </a:r>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 Start by asking the audience what banking means to them. Emphasize that banking is more than just storing money—it's about creating economic value through financial intermediation. Use the example of a local business owner who needs a loan to expand: without banks, they couldn't access the capital needed for growth.</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2A9D8F"/>
                </a:solidFill>
                <a:latin typeface="Liter" pitchFamily="34" charset="0"/>
                <a:ea typeface="Liter" pitchFamily="34" charset="-122"/>
                <a:cs typeface="Liter" pitchFamily="34" charset="-120"/>
              </a:rPr>
              <a:t>CHAPTER 02</a:t>
            </a:r>
            <a:endParaRPr lang="en-US" sz="1600" dirty="0"/>
          </a:p>
        </p:txBody>
      </p:sp>
      <p:sp>
        <p:nvSpPr>
          <p:cNvPr id="3" name="Text 1"/>
          <p:cNvSpPr/>
          <p:nvPr/>
        </p:nvSpPr>
        <p:spPr>
          <a:xfrm>
            <a:off x="317500" y="539750"/>
            <a:ext cx="11747500" cy="476250"/>
          </a:xfrm>
          <a:prstGeom prst="rect">
            <a:avLst/>
          </a:prstGeom>
          <a:noFill/>
          <a:ln/>
        </p:spPr>
        <p:txBody>
          <a:bodyPr wrap="square" lIns="0" tIns="0" rIns="0" bIns="0" rtlCol="0" anchor="ctr"/>
          <a:lstStyle/>
          <a:p>
            <a:pPr>
              <a:lnSpc>
                <a:spcPct val="100000"/>
              </a:lnSpc>
            </a:pPr>
            <a:r>
              <a:rPr lang="en-US" sz="3000" b="1" dirty="0">
                <a:solidFill>
                  <a:srgbClr val="1A3A5C"/>
                </a:solidFill>
                <a:latin typeface="Oranienbaum" pitchFamily="34" charset="0"/>
                <a:ea typeface="Oranienbaum" pitchFamily="34" charset="-122"/>
                <a:cs typeface="Oranienbaum" pitchFamily="34" charset="-120"/>
              </a:rPr>
              <a:t>History and Evolution of Banking</a:t>
            </a:r>
            <a:endParaRPr lang="en-US" sz="1600" dirty="0"/>
          </a:p>
        </p:txBody>
      </p:sp>
      <p:sp>
        <p:nvSpPr>
          <p:cNvPr id="4" name="Shape 2"/>
          <p:cNvSpPr/>
          <p:nvPr/>
        </p:nvSpPr>
        <p:spPr>
          <a:xfrm>
            <a:off x="317500" y="1111250"/>
            <a:ext cx="762000" cy="47625"/>
          </a:xfrm>
          <a:custGeom>
            <a:avLst/>
            <a:gdLst/>
            <a:ahLst/>
            <a:cxnLst/>
            <a:rect l="l" t="t" r="r" b="b"/>
            <a:pathLst>
              <a:path w="762000" h="47625">
                <a:moveTo>
                  <a:pt x="0" y="0"/>
                </a:moveTo>
                <a:lnTo>
                  <a:pt x="762000" y="0"/>
                </a:lnTo>
                <a:lnTo>
                  <a:pt x="762000" y="47625"/>
                </a:lnTo>
                <a:lnTo>
                  <a:pt x="0" y="47625"/>
                </a:lnTo>
                <a:lnTo>
                  <a:pt x="0" y="0"/>
                </a:lnTo>
                <a:close/>
              </a:path>
            </a:pathLst>
          </a:custGeom>
          <a:solidFill>
            <a:srgbClr val="2A9D8F"/>
          </a:solidFill>
          <a:ln/>
        </p:spPr>
      </p:sp>
      <p:sp>
        <p:nvSpPr>
          <p:cNvPr id="5" name="Shape 3"/>
          <p:cNvSpPr/>
          <p:nvPr/>
        </p:nvSpPr>
        <p:spPr>
          <a:xfrm>
            <a:off x="317500" y="1285875"/>
            <a:ext cx="6548438" cy="5048250"/>
          </a:xfrm>
          <a:custGeom>
            <a:avLst/>
            <a:gdLst/>
            <a:ahLst/>
            <a:cxnLst/>
            <a:rect l="l" t="t" r="r" b="b"/>
            <a:pathLst>
              <a:path w="6548438" h="5048250">
                <a:moveTo>
                  <a:pt x="95260" y="0"/>
                </a:moveTo>
                <a:lnTo>
                  <a:pt x="6453177" y="0"/>
                </a:lnTo>
                <a:cubicBezTo>
                  <a:pt x="6505788" y="0"/>
                  <a:pt x="6548438" y="42650"/>
                  <a:pt x="6548438" y="95260"/>
                </a:cubicBezTo>
                <a:lnTo>
                  <a:pt x="6548438" y="4952990"/>
                </a:lnTo>
                <a:cubicBezTo>
                  <a:pt x="6548438" y="5005600"/>
                  <a:pt x="6505788" y="5048250"/>
                  <a:pt x="6453177" y="5048250"/>
                </a:cubicBezTo>
                <a:lnTo>
                  <a:pt x="95260" y="5048250"/>
                </a:lnTo>
                <a:cubicBezTo>
                  <a:pt x="42650" y="5048250"/>
                  <a:pt x="0" y="5005600"/>
                  <a:pt x="0" y="4952990"/>
                </a:cubicBezTo>
                <a:lnTo>
                  <a:pt x="0" y="95260"/>
                </a:lnTo>
                <a:cubicBezTo>
                  <a:pt x="0" y="42650"/>
                  <a:pt x="42650" y="0"/>
                  <a:pt x="9526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6" name="Shape 4"/>
          <p:cNvSpPr/>
          <p:nvPr/>
        </p:nvSpPr>
        <p:spPr>
          <a:xfrm>
            <a:off x="456406" y="1444625"/>
            <a:ext cx="214313" cy="190500"/>
          </a:xfrm>
          <a:custGeom>
            <a:avLst/>
            <a:gdLst/>
            <a:ahLst/>
            <a:cxnLst/>
            <a:rect l="l" t="t" r="r" b="b"/>
            <a:pathLst>
              <a:path w="214313" h="190500">
                <a:moveTo>
                  <a:pt x="107156" y="23812"/>
                </a:moveTo>
                <a:cubicBezTo>
                  <a:pt x="146596" y="23812"/>
                  <a:pt x="178594" y="55811"/>
                  <a:pt x="178594" y="95250"/>
                </a:cubicBezTo>
                <a:cubicBezTo>
                  <a:pt x="178594" y="134689"/>
                  <a:pt x="146596" y="166688"/>
                  <a:pt x="107156" y="166688"/>
                </a:cubicBezTo>
                <a:cubicBezTo>
                  <a:pt x="82897" y="166688"/>
                  <a:pt x="61429" y="154595"/>
                  <a:pt x="48518" y="136066"/>
                </a:cubicBezTo>
                <a:cubicBezTo>
                  <a:pt x="44760" y="130671"/>
                  <a:pt x="37319" y="129369"/>
                  <a:pt x="31924" y="133127"/>
                </a:cubicBezTo>
                <a:cubicBezTo>
                  <a:pt x="26529" y="136885"/>
                  <a:pt x="25226" y="144326"/>
                  <a:pt x="28984" y="149721"/>
                </a:cubicBezTo>
                <a:cubicBezTo>
                  <a:pt x="46174" y="174352"/>
                  <a:pt x="74786" y="190500"/>
                  <a:pt x="107156" y="190500"/>
                </a:cubicBezTo>
                <a:cubicBezTo>
                  <a:pt x="159767" y="190500"/>
                  <a:pt x="202406" y="147861"/>
                  <a:pt x="202406" y="95250"/>
                </a:cubicBezTo>
                <a:cubicBezTo>
                  <a:pt x="202406" y="42639"/>
                  <a:pt x="159767" y="0"/>
                  <a:pt x="107156" y="0"/>
                </a:cubicBezTo>
                <a:cubicBezTo>
                  <a:pt x="75270" y="0"/>
                  <a:pt x="47067" y="15664"/>
                  <a:pt x="29766" y="39700"/>
                </a:cubicBezTo>
                <a:lnTo>
                  <a:pt x="29766" y="29766"/>
                </a:lnTo>
                <a:cubicBezTo>
                  <a:pt x="29766" y="23180"/>
                  <a:pt x="24445" y="17859"/>
                  <a:pt x="17859" y="17859"/>
                </a:cubicBezTo>
                <a:cubicBezTo>
                  <a:pt x="11274" y="17859"/>
                  <a:pt x="5953" y="23180"/>
                  <a:pt x="5953" y="29766"/>
                </a:cubicBezTo>
                <a:lnTo>
                  <a:pt x="5953" y="71438"/>
                </a:lnTo>
                <a:cubicBezTo>
                  <a:pt x="5953" y="78023"/>
                  <a:pt x="11274" y="83344"/>
                  <a:pt x="17859" y="83344"/>
                </a:cubicBezTo>
                <a:lnTo>
                  <a:pt x="27012" y="83344"/>
                </a:lnTo>
                <a:cubicBezTo>
                  <a:pt x="27198" y="83344"/>
                  <a:pt x="27384" y="83344"/>
                  <a:pt x="27570" y="83344"/>
                </a:cubicBezTo>
                <a:lnTo>
                  <a:pt x="59568" y="83344"/>
                </a:lnTo>
                <a:cubicBezTo>
                  <a:pt x="66154" y="83344"/>
                  <a:pt x="71475" y="78023"/>
                  <a:pt x="71475" y="71438"/>
                </a:cubicBezTo>
                <a:cubicBezTo>
                  <a:pt x="71475" y="64852"/>
                  <a:pt x="66154" y="59531"/>
                  <a:pt x="59568" y="59531"/>
                </a:cubicBezTo>
                <a:lnTo>
                  <a:pt x="45318" y="59531"/>
                </a:lnTo>
                <a:cubicBezTo>
                  <a:pt x="57634" y="38174"/>
                  <a:pt x="80739" y="23812"/>
                  <a:pt x="107156" y="23812"/>
                </a:cubicBezTo>
                <a:close/>
                <a:moveTo>
                  <a:pt x="116086" y="56555"/>
                </a:moveTo>
                <a:cubicBezTo>
                  <a:pt x="116086" y="51606"/>
                  <a:pt x="112105" y="47625"/>
                  <a:pt x="107156" y="47625"/>
                </a:cubicBezTo>
                <a:cubicBezTo>
                  <a:pt x="102208" y="47625"/>
                  <a:pt x="98227" y="51606"/>
                  <a:pt x="98227" y="56555"/>
                </a:cubicBezTo>
                <a:lnTo>
                  <a:pt x="98227" y="95250"/>
                </a:lnTo>
                <a:cubicBezTo>
                  <a:pt x="98227" y="97631"/>
                  <a:pt x="99157" y="99901"/>
                  <a:pt x="100831" y="101575"/>
                </a:cubicBezTo>
                <a:lnTo>
                  <a:pt x="127620" y="128364"/>
                </a:lnTo>
                <a:cubicBezTo>
                  <a:pt x="131118" y="131862"/>
                  <a:pt x="136773" y="131862"/>
                  <a:pt x="140233" y="128364"/>
                </a:cubicBezTo>
                <a:cubicBezTo>
                  <a:pt x="143694" y="124867"/>
                  <a:pt x="143731" y="119211"/>
                  <a:pt x="140233" y="115751"/>
                </a:cubicBezTo>
                <a:lnTo>
                  <a:pt x="116049" y="91567"/>
                </a:lnTo>
                <a:lnTo>
                  <a:pt x="116049" y="56555"/>
                </a:lnTo>
                <a:close/>
              </a:path>
            </a:pathLst>
          </a:custGeom>
          <a:solidFill>
            <a:srgbClr val="2A9D8F"/>
          </a:solidFill>
          <a:ln/>
        </p:spPr>
      </p:sp>
      <p:sp>
        <p:nvSpPr>
          <p:cNvPr id="7" name="Text 5"/>
          <p:cNvSpPr/>
          <p:nvPr/>
        </p:nvSpPr>
        <p:spPr>
          <a:xfrm>
            <a:off x="682625" y="1412875"/>
            <a:ext cx="6151563"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Historical Timeline</a:t>
            </a:r>
            <a:endParaRPr lang="en-US" sz="1600" dirty="0"/>
          </a:p>
        </p:txBody>
      </p:sp>
      <p:sp>
        <p:nvSpPr>
          <p:cNvPr id="8" name="Shape 6"/>
          <p:cNvSpPr/>
          <p:nvPr/>
        </p:nvSpPr>
        <p:spPr>
          <a:xfrm>
            <a:off x="444500" y="1762125"/>
            <a:ext cx="31750" cy="4445000"/>
          </a:xfrm>
          <a:custGeom>
            <a:avLst/>
            <a:gdLst/>
            <a:ahLst/>
            <a:cxnLst/>
            <a:rect l="l" t="t" r="r" b="b"/>
            <a:pathLst>
              <a:path w="31750" h="4445000">
                <a:moveTo>
                  <a:pt x="0" y="0"/>
                </a:moveTo>
                <a:lnTo>
                  <a:pt x="31750" y="0"/>
                </a:lnTo>
                <a:lnTo>
                  <a:pt x="31750" y="4445000"/>
                </a:lnTo>
                <a:lnTo>
                  <a:pt x="0" y="4445000"/>
                </a:lnTo>
                <a:lnTo>
                  <a:pt x="0" y="0"/>
                </a:lnTo>
                <a:close/>
              </a:path>
            </a:pathLst>
          </a:custGeom>
          <a:gradFill rotWithShape="1" flip="none">
            <a:gsLst>
              <a:gs pos="0">
                <a:srgbClr val="1A3A5C"/>
              </a:gs>
              <a:gs pos="0">
                <a:srgbClr val="FFFFFF"/>
              </a:gs>
              <a:gs pos="50000">
                <a:srgbClr val="2A9D8F"/>
              </a:gs>
              <a:gs pos="100000">
                <a:srgbClr val="1A3A5C"/>
              </a:gs>
            </a:gsLst>
            <a:lin ang="5400000" scaled="1"/>
          </a:gradFill>
          <a:ln/>
        </p:spPr>
      </p:sp>
      <p:sp>
        <p:nvSpPr>
          <p:cNvPr id="9" name="Shape 7"/>
          <p:cNvSpPr/>
          <p:nvPr/>
        </p:nvSpPr>
        <p:spPr>
          <a:xfrm>
            <a:off x="460375" y="1809750"/>
            <a:ext cx="95250" cy="95250"/>
          </a:xfrm>
          <a:custGeom>
            <a:avLst/>
            <a:gdLst/>
            <a:ahLst/>
            <a:cxnLst/>
            <a:rect l="l" t="t" r="r" b="b"/>
            <a:pathLst>
              <a:path w="95250" h="95250">
                <a:moveTo>
                  <a:pt x="47625" y="0"/>
                </a:moveTo>
                <a:lnTo>
                  <a:pt x="47625" y="0"/>
                </a:lnTo>
                <a:cubicBezTo>
                  <a:pt x="73910" y="0"/>
                  <a:pt x="95250" y="21340"/>
                  <a:pt x="95250" y="47625"/>
                </a:cubicBezTo>
                <a:lnTo>
                  <a:pt x="95250" y="47625"/>
                </a:lnTo>
                <a:cubicBezTo>
                  <a:pt x="95250" y="73910"/>
                  <a:pt x="73910" y="95250"/>
                  <a:pt x="47625" y="95250"/>
                </a:cubicBezTo>
                <a:lnTo>
                  <a:pt x="47625" y="95250"/>
                </a:lnTo>
                <a:cubicBezTo>
                  <a:pt x="21340" y="95250"/>
                  <a:pt x="0" y="73910"/>
                  <a:pt x="0" y="47625"/>
                </a:cubicBezTo>
                <a:lnTo>
                  <a:pt x="0" y="47625"/>
                </a:lnTo>
                <a:cubicBezTo>
                  <a:pt x="0" y="21340"/>
                  <a:pt x="21340" y="0"/>
                  <a:pt x="47625" y="0"/>
                </a:cubicBezTo>
                <a:close/>
              </a:path>
            </a:pathLst>
          </a:custGeom>
          <a:solidFill>
            <a:srgbClr val="1A3A5C"/>
          </a:solidFill>
          <a:ln w="50800">
            <a:solidFill>
              <a:srgbClr val="F8F9FA"/>
            </a:solidFill>
            <a:prstDash val="solid"/>
          </a:ln>
        </p:spPr>
      </p:sp>
      <p:sp>
        <p:nvSpPr>
          <p:cNvPr id="10" name="Shape 8"/>
          <p:cNvSpPr/>
          <p:nvPr/>
        </p:nvSpPr>
        <p:spPr>
          <a:xfrm>
            <a:off x="635000" y="1762125"/>
            <a:ext cx="6103938" cy="730250"/>
          </a:xfrm>
          <a:custGeom>
            <a:avLst/>
            <a:gdLst/>
            <a:ahLst/>
            <a:cxnLst/>
            <a:rect l="l" t="t" r="r" b="b"/>
            <a:pathLst>
              <a:path w="6103938" h="730250">
                <a:moveTo>
                  <a:pt x="63503" y="0"/>
                </a:moveTo>
                <a:lnTo>
                  <a:pt x="6040435" y="0"/>
                </a:lnTo>
                <a:cubicBezTo>
                  <a:pt x="6075506" y="0"/>
                  <a:pt x="6103938" y="28431"/>
                  <a:pt x="6103938" y="63503"/>
                </a:cubicBezTo>
                <a:lnTo>
                  <a:pt x="6103938" y="666747"/>
                </a:lnTo>
                <a:cubicBezTo>
                  <a:pt x="6103938" y="701819"/>
                  <a:pt x="6075506" y="730250"/>
                  <a:pt x="6040435" y="730250"/>
                </a:cubicBezTo>
                <a:lnTo>
                  <a:pt x="63503" y="730250"/>
                </a:lnTo>
                <a:cubicBezTo>
                  <a:pt x="28431" y="730250"/>
                  <a:pt x="0" y="701819"/>
                  <a:pt x="0" y="666747"/>
                </a:cubicBezTo>
                <a:lnTo>
                  <a:pt x="0" y="63503"/>
                </a:lnTo>
                <a:cubicBezTo>
                  <a:pt x="0" y="28455"/>
                  <a:pt x="28455" y="0"/>
                  <a:pt x="63503" y="0"/>
                </a:cubicBezTo>
                <a:close/>
              </a:path>
            </a:pathLst>
          </a:custGeom>
          <a:solidFill>
            <a:srgbClr val="F8F9FA"/>
          </a:solidFill>
          <a:ln/>
        </p:spPr>
      </p:sp>
      <p:sp>
        <p:nvSpPr>
          <p:cNvPr id="11" name="Shape 9"/>
          <p:cNvSpPr/>
          <p:nvPr/>
        </p:nvSpPr>
        <p:spPr>
          <a:xfrm>
            <a:off x="698500" y="1825625"/>
            <a:ext cx="571500" cy="222250"/>
          </a:xfrm>
          <a:custGeom>
            <a:avLst/>
            <a:gdLst/>
            <a:ahLst/>
            <a:cxnLst/>
            <a:rect l="l" t="t" r="r" b="b"/>
            <a:pathLst>
              <a:path w="571500" h="222250">
                <a:moveTo>
                  <a:pt x="111125" y="0"/>
                </a:moveTo>
                <a:lnTo>
                  <a:pt x="460375" y="0"/>
                </a:lnTo>
                <a:cubicBezTo>
                  <a:pt x="521707" y="0"/>
                  <a:pt x="571500" y="49793"/>
                  <a:pt x="571500" y="111125"/>
                </a:cubicBezTo>
                <a:lnTo>
                  <a:pt x="571500" y="111125"/>
                </a:lnTo>
                <a:cubicBezTo>
                  <a:pt x="571500" y="172457"/>
                  <a:pt x="521707" y="222250"/>
                  <a:pt x="460375" y="222250"/>
                </a:cubicBezTo>
                <a:lnTo>
                  <a:pt x="111125" y="222250"/>
                </a:lnTo>
                <a:cubicBezTo>
                  <a:pt x="49793" y="222250"/>
                  <a:pt x="0" y="172457"/>
                  <a:pt x="0" y="111125"/>
                </a:cubicBezTo>
                <a:lnTo>
                  <a:pt x="0" y="111125"/>
                </a:lnTo>
                <a:cubicBezTo>
                  <a:pt x="0" y="49793"/>
                  <a:pt x="49793" y="0"/>
                  <a:pt x="111125" y="0"/>
                </a:cubicBezTo>
                <a:close/>
              </a:path>
            </a:pathLst>
          </a:custGeom>
          <a:solidFill>
            <a:srgbClr val="1A3A5C"/>
          </a:solidFill>
          <a:ln/>
        </p:spPr>
      </p:sp>
      <p:sp>
        <p:nvSpPr>
          <p:cNvPr id="12" name="Text 10"/>
          <p:cNvSpPr/>
          <p:nvPr/>
        </p:nvSpPr>
        <p:spPr>
          <a:xfrm>
            <a:off x="698500" y="1825625"/>
            <a:ext cx="627063" cy="222250"/>
          </a:xfrm>
          <a:prstGeom prst="rect">
            <a:avLst/>
          </a:prstGeom>
          <a:noFill/>
          <a:ln/>
        </p:spPr>
        <p:txBody>
          <a:bodyPr wrap="square" lIns="95250" tIns="31750" rIns="95250" bIns="31750" rtlCol="0" anchor="ctr"/>
          <a:lstStyle/>
          <a:p>
            <a:pPr>
              <a:lnSpc>
                <a:spcPct val="120000"/>
              </a:lnSpc>
            </a:pPr>
            <a:r>
              <a:rPr lang="en-US" sz="875" b="1" dirty="0">
                <a:solidFill>
                  <a:srgbClr val="FFFFFF"/>
                </a:solidFill>
                <a:latin typeface="Liter" pitchFamily="34" charset="0"/>
                <a:ea typeface="Liter" pitchFamily="34" charset="-122"/>
                <a:cs typeface="Liter" pitchFamily="34" charset="-120"/>
              </a:rPr>
              <a:t>Ancient</a:t>
            </a:r>
            <a:endParaRPr lang="en-US" sz="1600" dirty="0"/>
          </a:p>
        </p:txBody>
      </p:sp>
      <p:sp>
        <p:nvSpPr>
          <p:cNvPr id="13" name="Text 11"/>
          <p:cNvSpPr/>
          <p:nvPr/>
        </p:nvSpPr>
        <p:spPr>
          <a:xfrm>
            <a:off x="1362770" y="1825625"/>
            <a:ext cx="1801813"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Goldsmiths &amp; Early Banking</a:t>
            </a:r>
            <a:endParaRPr lang="en-US" sz="1600" dirty="0"/>
          </a:p>
        </p:txBody>
      </p:sp>
      <p:sp>
        <p:nvSpPr>
          <p:cNvPr id="14" name="Text 12"/>
          <p:cNvSpPr/>
          <p:nvPr/>
        </p:nvSpPr>
        <p:spPr>
          <a:xfrm>
            <a:off x="698500" y="2079625"/>
            <a:ext cx="6040438" cy="349250"/>
          </a:xfrm>
          <a:prstGeom prst="rect">
            <a:avLst/>
          </a:prstGeom>
          <a:noFill/>
          <a:ln/>
        </p:spPr>
        <p:txBody>
          <a:bodyPr wrap="square" lIns="0" tIns="0" rIns="0" bIns="0" rtlCol="0" anchor="ctr"/>
          <a:lstStyle/>
          <a:p>
            <a:pPr>
              <a:lnSpc>
                <a:spcPct val="110000"/>
              </a:lnSpc>
            </a:pPr>
            <a:r>
              <a:rPr lang="en-US" sz="1000" dirty="0">
                <a:solidFill>
                  <a:srgbClr val="2B2D42"/>
                </a:solidFill>
                <a:latin typeface="Quattrocento Sans" pitchFamily="34" charset="0"/>
                <a:ea typeface="Quattrocento Sans" pitchFamily="34" charset="-122"/>
                <a:cs typeface="Quattrocento Sans" pitchFamily="34" charset="-120"/>
              </a:rPr>
              <a:t>Goldsmiths stored precious metals and issued receipts, which evolved into early paper money and fractional lending.</a:t>
            </a:r>
            <a:endParaRPr lang="en-US" sz="1600" dirty="0"/>
          </a:p>
        </p:txBody>
      </p:sp>
      <p:sp>
        <p:nvSpPr>
          <p:cNvPr id="15" name="Shape 13"/>
          <p:cNvSpPr/>
          <p:nvPr/>
        </p:nvSpPr>
        <p:spPr>
          <a:xfrm>
            <a:off x="460375" y="2603500"/>
            <a:ext cx="95250" cy="95250"/>
          </a:xfrm>
          <a:custGeom>
            <a:avLst/>
            <a:gdLst/>
            <a:ahLst/>
            <a:cxnLst/>
            <a:rect l="l" t="t" r="r" b="b"/>
            <a:pathLst>
              <a:path w="95250" h="95250">
                <a:moveTo>
                  <a:pt x="47625" y="0"/>
                </a:moveTo>
                <a:lnTo>
                  <a:pt x="47625" y="0"/>
                </a:lnTo>
                <a:cubicBezTo>
                  <a:pt x="73910" y="0"/>
                  <a:pt x="95250" y="21340"/>
                  <a:pt x="95250" y="47625"/>
                </a:cubicBezTo>
                <a:lnTo>
                  <a:pt x="95250" y="47625"/>
                </a:lnTo>
                <a:cubicBezTo>
                  <a:pt x="95250" y="73910"/>
                  <a:pt x="73910" y="95250"/>
                  <a:pt x="47625" y="95250"/>
                </a:cubicBezTo>
                <a:lnTo>
                  <a:pt x="47625" y="95250"/>
                </a:lnTo>
                <a:cubicBezTo>
                  <a:pt x="21340" y="95250"/>
                  <a:pt x="0" y="73910"/>
                  <a:pt x="0" y="47625"/>
                </a:cubicBezTo>
                <a:lnTo>
                  <a:pt x="0" y="47625"/>
                </a:lnTo>
                <a:cubicBezTo>
                  <a:pt x="0" y="21340"/>
                  <a:pt x="21340" y="0"/>
                  <a:pt x="47625" y="0"/>
                </a:cubicBezTo>
                <a:close/>
              </a:path>
            </a:pathLst>
          </a:custGeom>
          <a:solidFill>
            <a:srgbClr val="2A9D8F"/>
          </a:solidFill>
          <a:ln w="50800">
            <a:solidFill>
              <a:srgbClr val="F8F9FA"/>
            </a:solidFill>
            <a:prstDash val="solid"/>
          </a:ln>
        </p:spPr>
      </p:sp>
      <p:sp>
        <p:nvSpPr>
          <p:cNvPr id="16" name="Shape 14"/>
          <p:cNvSpPr/>
          <p:nvPr/>
        </p:nvSpPr>
        <p:spPr>
          <a:xfrm>
            <a:off x="635000" y="2555875"/>
            <a:ext cx="6103938" cy="555625"/>
          </a:xfrm>
          <a:custGeom>
            <a:avLst/>
            <a:gdLst/>
            <a:ahLst/>
            <a:cxnLst/>
            <a:rect l="l" t="t" r="r" b="b"/>
            <a:pathLst>
              <a:path w="6103938" h="555625">
                <a:moveTo>
                  <a:pt x="63502" y="0"/>
                </a:moveTo>
                <a:lnTo>
                  <a:pt x="6040435" y="0"/>
                </a:lnTo>
                <a:cubicBezTo>
                  <a:pt x="6075507" y="0"/>
                  <a:pt x="6103937" y="28431"/>
                  <a:pt x="6103937" y="63502"/>
                </a:cubicBezTo>
                <a:lnTo>
                  <a:pt x="6103938" y="492123"/>
                </a:lnTo>
                <a:cubicBezTo>
                  <a:pt x="6103937" y="527194"/>
                  <a:pt x="6075507" y="555625"/>
                  <a:pt x="6040435" y="555625"/>
                </a:cubicBezTo>
                <a:lnTo>
                  <a:pt x="63502" y="555625"/>
                </a:lnTo>
                <a:cubicBezTo>
                  <a:pt x="28431" y="555625"/>
                  <a:pt x="0" y="527194"/>
                  <a:pt x="0" y="492123"/>
                </a:cubicBezTo>
                <a:lnTo>
                  <a:pt x="0" y="63502"/>
                </a:lnTo>
                <a:cubicBezTo>
                  <a:pt x="0" y="28454"/>
                  <a:pt x="28454" y="0"/>
                  <a:pt x="63502" y="0"/>
                </a:cubicBezTo>
                <a:close/>
              </a:path>
            </a:pathLst>
          </a:custGeom>
          <a:solidFill>
            <a:srgbClr val="F8F9FA"/>
          </a:solidFill>
          <a:ln/>
        </p:spPr>
      </p:sp>
      <p:sp>
        <p:nvSpPr>
          <p:cNvPr id="17" name="Shape 15"/>
          <p:cNvSpPr/>
          <p:nvPr/>
        </p:nvSpPr>
        <p:spPr>
          <a:xfrm>
            <a:off x="698500" y="2619375"/>
            <a:ext cx="436563" cy="222250"/>
          </a:xfrm>
          <a:custGeom>
            <a:avLst/>
            <a:gdLst/>
            <a:ahLst/>
            <a:cxnLst/>
            <a:rect l="l" t="t" r="r" b="b"/>
            <a:pathLst>
              <a:path w="436563" h="222250">
                <a:moveTo>
                  <a:pt x="111125" y="0"/>
                </a:moveTo>
                <a:lnTo>
                  <a:pt x="325438" y="0"/>
                </a:lnTo>
                <a:cubicBezTo>
                  <a:pt x="386769" y="0"/>
                  <a:pt x="436563" y="49793"/>
                  <a:pt x="436563" y="111125"/>
                </a:cubicBezTo>
                <a:lnTo>
                  <a:pt x="436563" y="111125"/>
                </a:lnTo>
                <a:cubicBezTo>
                  <a:pt x="436563" y="172457"/>
                  <a:pt x="386769" y="222250"/>
                  <a:pt x="325438" y="222250"/>
                </a:cubicBezTo>
                <a:lnTo>
                  <a:pt x="111125" y="222250"/>
                </a:lnTo>
                <a:cubicBezTo>
                  <a:pt x="49793" y="222250"/>
                  <a:pt x="0" y="172457"/>
                  <a:pt x="0" y="111125"/>
                </a:cubicBezTo>
                <a:lnTo>
                  <a:pt x="0" y="111125"/>
                </a:lnTo>
                <a:cubicBezTo>
                  <a:pt x="0" y="49793"/>
                  <a:pt x="49793" y="0"/>
                  <a:pt x="111125" y="0"/>
                </a:cubicBezTo>
                <a:close/>
              </a:path>
            </a:pathLst>
          </a:custGeom>
          <a:solidFill>
            <a:srgbClr val="2A9D8F"/>
          </a:solidFill>
          <a:ln/>
        </p:spPr>
      </p:sp>
      <p:sp>
        <p:nvSpPr>
          <p:cNvPr id="18" name="Text 16"/>
          <p:cNvSpPr/>
          <p:nvPr/>
        </p:nvSpPr>
        <p:spPr>
          <a:xfrm>
            <a:off x="698500" y="2619375"/>
            <a:ext cx="492125" cy="222250"/>
          </a:xfrm>
          <a:prstGeom prst="rect">
            <a:avLst/>
          </a:prstGeom>
          <a:noFill/>
          <a:ln/>
        </p:spPr>
        <p:txBody>
          <a:bodyPr wrap="square" lIns="95250" tIns="31750" rIns="95250" bIns="31750" rtlCol="0" anchor="ctr"/>
          <a:lstStyle/>
          <a:p>
            <a:pPr>
              <a:lnSpc>
                <a:spcPct val="120000"/>
              </a:lnSpc>
            </a:pPr>
            <a:r>
              <a:rPr lang="en-US" sz="875" b="1" dirty="0">
                <a:solidFill>
                  <a:srgbClr val="FFFFFF"/>
                </a:solidFill>
                <a:latin typeface="Liter" pitchFamily="34" charset="0"/>
                <a:ea typeface="Liter" pitchFamily="34" charset="-122"/>
                <a:cs typeface="Liter" pitchFamily="34" charset="-120"/>
              </a:rPr>
              <a:t>1668</a:t>
            </a:r>
            <a:endParaRPr lang="en-US" sz="1600" dirty="0"/>
          </a:p>
        </p:txBody>
      </p:sp>
      <p:sp>
        <p:nvSpPr>
          <p:cNvPr id="19" name="Text 17"/>
          <p:cNvSpPr/>
          <p:nvPr/>
        </p:nvSpPr>
        <p:spPr>
          <a:xfrm>
            <a:off x="1229878" y="2619375"/>
            <a:ext cx="1182688"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First Central Bank</a:t>
            </a:r>
            <a:endParaRPr lang="en-US" sz="1600" dirty="0"/>
          </a:p>
        </p:txBody>
      </p:sp>
      <p:sp>
        <p:nvSpPr>
          <p:cNvPr id="20" name="Text 18"/>
          <p:cNvSpPr/>
          <p:nvPr/>
        </p:nvSpPr>
        <p:spPr>
          <a:xfrm>
            <a:off x="698500" y="2873375"/>
            <a:ext cx="6040438" cy="174625"/>
          </a:xfrm>
          <a:prstGeom prst="rect">
            <a:avLst/>
          </a:prstGeom>
          <a:noFill/>
          <a:ln/>
        </p:spPr>
        <p:txBody>
          <a:bodyPr wrap="square" lIns="0" tIns="0" rIns="0" bIns="0" rtlCol="0" anchor="ctr"/>
          <a:lstStyle/>
          <a:p>
            <a:pPr>
              <a:lnSpc>
                <a:spcPct val="110000"/>
              </a:lnSpc>
            </a:pPr>
            <a:r>
              <a:rPr lang="en-US" sz="1000" dirty="0">
                <a:solidFill>
                  <a:srgbClr val="2B2D42"/>
                </a:solidFill>
                <a:latin typeface="Quattrocento Sans" pitchFamily="34" charset="0"/>
                <a:ea typeface="Quattrocento Sans" pitchFamily="34" charset="-122"/>
                <a:cs typeface="Quattrocento Sans" pitchFamily="34" charset="-120"/>
              </a:rPr>
              <a:t>Sweden established the first central bank to prevent bank runs and manage monetary policy.</a:t>
            </a:r>
            <a:endParaRPr lang="en-US" sz="1600" dirty="0"/>
          </a:p>
        </p:txBody>
      </p:sp>
      <p:sp>
        <p:nvSpPr>
          <p:cNvPr id="21" name="Shape 19"/>
          <p:cNvSpPr/>
          <p:nvPr/>
        </p:nvSpPr>
        <p:spPr>
          <a:xfrm>
            <a:off x="460375" y="3222625"/>
            <a:ext cx="95250" cy="95250"/>
          </a:xfrm>
          <a:custGeom>
            <a:avLst/>
            <a:gdLst/>
            <a:ahLst/>
            <a:cxnLst/>
            <a:rect l="l" t="t" r="r" b="b"/>
            <a:pathLst>
              <a:path w="95250" h="95250">
                <a:moveTo>
                  <a:pt x="47625" y="0"/>
                </a:moveTo>
                <a:lnTo>
                  <a:pt x="47625" y="0"/>
                </a:lnTo>
                <a:cubicBezTo>
                  <a:pt x="73910" y="0"/>
                  <a:pt x="95250" y="21340"/>
                  <a:pt x="95250" y="47625"/>
                </a:cubicBezTo>
                <a:lnTo>
                  <a:pt x="95250" y="47625"/>
                </a:lnTo>
                <a:cubicBezTo>
                  <a:pt x="95250" y="73910"/>
                  <a:pt x="73910" y="95250"/>
                  <a:pt x="47625" y="95250"/>
                </a:cubicBezTo>
                <a:lnTo>
                  <a:pt x="47625" y="95250"/>
                </a:lnTo>
                <a:cubicBezTo>
                  <a:pt x="21340" y="95250"/>
                  <a:pt x="0" y="73910"/>
                  <a:pt x="0" y="47625"/>
                </a:cubicBezTo>
                <a:lnTo>
                  <a:pt x="0" y="47625"/>
                </a:lnTo>
                <a:cubicBezTo>
                  <a:pt x="0" y="21340"/>
                  <a:pt x="21340" y="0"/>
                  <a:pt x="47625" y="0"/>
                </a:cubicBezTo>
                <a:close/>
              </a:path>
            </a:pathLst>
          </a:custGeom>
          <a:solidFill>
            <a:srgbClr val="1A3A5C"/>
          </a:solidFill>
          <a:ln w="50800">
            <a:solidFill>
              <a:srgbClr val="F8F9FA"/>
            </a:solidFill>
            <a:prstDash val="solid"/>
          </a:ln>
        </p:spPr>
      </p:sp>
      <p:sp>
        <p:nvSpPr>
          <p:cNvPr id="22" name="Shape 20"/>
          <p:cNvSpPr/>
          <p:nvPr/>
        </p:nvSpPr>
        <p:spPr>
          <a:xfrm>
            <a:off x="635000" y="3175000"/>
            <a:ext cx="6103938" cy="555625"/>
          </a:xfrm>
          <a:custGeom>
            <a:avLst/>
            <a:gdLst/>
            <a:ahLst/>
            <a:cxnLst/>
            <a:rect l="l" t="t" r="r" b="b"/>
            <a:pathLst>
              <a:path w="6103938" h="555625">
                <a:moveTo>
                  <a:pt x="63502" y="0"/>
                </a:moveTo>
                <a:lnTo>
                  <a:pt x="6040435" y="0"/>
                </a:lnTo>
                <a:cubicBezTo>
                  <a:pt x="6075507" y="0"/>
                  <a:pt x="6103937" y="28431"/>
                  <a:pt x="6103937" y="63502"/>
                </a:cubicBezTo>
                <a:lnTo>
                  <a:pt x="6103938" y="492123"/>
                </a:lnTo>
                <a:cubicBezTo>
                  <a:pt x="6103937" y="527194"/>
                  <a:pt x="6075507" y="555625"/>
                  <a:pt x="6040435" y="555625"/>
                </a:cubicBezTo>
                <a:lnTo>
                  <a:pt x="63502" y="555625"/>
                </a:lnTo>
                <a:cubicBezTo>
                  <a:pt x="28431" y="555625"/>
                  <a:pt x="0" y="527194"/>
                  <a:pt x="0" y="492123"/>
                </a:cubicBezTo>
                <a:lnTo>
                  <a:pt x="0" y="63502"/>
                </a:lnTo>
                <a:cubicBezTo>
                  <a:pt x="0" y="28454"/>
                  <a:pt x="28454" y="0"/>
                  <a:pt x="63502" y="0"/>
                </a:cubicBezTo>
                <a:close/>
              </a:path>
            </a:pathLst>
          </a:custGeom>
          <a:solidFill>
            <a:srgbClr val="F8F9FA"/>
          </a:solidFill>
          <a:ln/>
        </p:spPr>
      </p:sp>
      <p:sp>
        <p:nvSpPr>
          <p:cNvPr id="23" name="Shape 21"/>
          <p:cNvSpPr/>
          <p:nvPr/>
        </p:nvSpPr>
        <p:spPr>
          <a:xfrm>
            <a:off x="698500" y="3238500"/>
            <a:ext cx="412750" cy="222250"/>
          </a:xfrm>
          <a:custGeom>
            <a:avLst/>
            <a:gdLst/>
            <a:ahLst/>
            <a:cxnLst/>
            <a:rect l="l" t="t" r="r" b="b"/>
            <a:pathLst>
              <a:path w="412750" h="222250">
                <a:moveTo>
                  <a:pt x="111125" y="0"/>
                </a:moveTo>
                <a:lnTo>
                  <a:pt x="301625" y="0"/>
                </a:lnTo>
                <a:cubicBezTo>
                  <a:pt x="362957" y="0"/>
                  <a:pt x="412750" y="49793"/>
                  <a:pt x="412750" y="111125"/>
                </a:cubicBezTo>
                <a:lnTo>
                  <a:pt x="412750" y="111125"/>
                </a:lnTo>
                <a:cubicBezTo>
                  <a:pt x="412750" y="172457"/>
                  <a:pt x="362957" y="222250"/>
                  <a:pt x="301625" y="222250"/>
                </a:cubicBezTo>
                <a:lnTo>
                  <a:pt x="111125" y="222250"/>
                </a:lnTo>
                <a:cubicBezTo>
                  <a:pt x="49793" y="222250"/>
                  <a:pt x="0" y="172457"/>
                  <a:pt x="0" y="111125"/>
                </a:cubicBezTo>
                <a:lnTo>
                  <a:pt x="0" y="111125"/>
                </a:lnTo>
                <a:cubicBezTo>
                  <a:pt x="0" y="49793"/>
                  <a:pt x="49793" y="0"/>
                  <a:pt x="111125" y="0"/>
                </a:cubicBezTo>
                <a:close/>
              </a:path>
            </a:pathLst>
          </a:custGeom>
          <a:solidFill>
            <a:srgbClr val="1A3A5C"/>
          </a:solidFill>
          <a:ln/>
        </p:spPr>
      </p:sp>
      <p:sp>
        <p:nvSpPr>
          <p:cNvPr id="24" name="Text 22"/>
          <p:cNvSpPr/>
          <p:nvPr/>
        </p:nvSpPr>
        <p:spPr>
          <a:xfrm>
            <a:off x="698500" y="3238500"/>
            <a:ext cx="468313" cy="222250"/>
          </a:xfrm>
          <a:prstGeom prst="rect">
            <a:avLst/>
          </a:prstGeom>
          <a:noFill/>
          <a:ln/>
        </p:spPr>
        <p:txBody>
          <a:bodyPr wrap="square" lIns="95250" tIns="31750" rIns="95250" bIns="31750" rtlCol="0" anchor="ctr"/>
          <a:lstStyle/>
          <a:p>
            <a:pPr>
              <a:lnSpc>
                <a:spcPct val="120000"/>
              </a:lnSpc>
            </a:pPr>
            <a:r>
              <a:rPr lang="en-US" sz="875" b="1" dirty="0">
                <a:solidFill>
                  <a:srgbClr val="FFFFFF"/>
                </a:solidFill>
                <a:latin typeface="Liter" pitchFamily="34" charset="0"/>
                <a:ea typeface="Liter" pitchFamily="34" charset="-122"/>
                <a:cs typeface="Liter" pitchFamily="34" charset="-120"/>
              </a:rPr>
              <a:t>1913</a:t>
            </a:r>
            <a:endParaRPr lang="en-US" sz="1600" dirty="0"/>
          </a:p>
        </p:txBody>
      </p:sp>
      <p:sp>
        <p:nvSpPr>
          <p:cNvPr id="25" name="Text 23"/>
          <p:cNvSpPr/>
          <p:nvPr/>
        </p:nvSpPr>
        <p:spPr>
          <a:xfrm>
            <a:off x="1205198" y="3238500"/>
            <a:ext cx="1325563"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Federal Reserve Act</a:t>
            </a:r>
            <a:endParaRPr lang="en-US" sz="1600" dirty="0"/>
          </a:p>
        </p:txBody>
      </p:sp>
      <p:sp>
        <p:nvSpPr>
          <p:cNvPr id="26" name="Text 24"/>
          <p:cNvSpPr/>
          <p:nvPr/>
        </p:nvSpPr>
        <p:spPr>
          <a:xfrm>
            <a:off x="698500" y="3492500"/>
            <a:ext cx="6040438" cy="174625"/>
          </a:xfrm>
          <a:prstGeom prst="rect">
            <a:avLst/>
          </a:prstGeom>
          <a:noFill/>
          <a:ln/>
        </p:spPr>
        <p:txBody>
          <a:bodyPr wrap="square" lIns="0" tIns="0" rIns="0" bIns="0" rtlCol="0" anchor="ctr"/>
          <a:lstStyle/>
          <a:p>
            <a:pPr>
              <a:lnSpc>
                <a:spcPct val="110000"/>
              </a:lnSpc>
            </a:pPr>
            <a:r>
              <a:rPr lang="en-US" sz="1000" dirty="0">
                <a:solidFill>
                  <a:srgbClr val="2B2D42"/>
                </a:solidFill>
                <a:latin typeface="Quattrocento Sans" pitchFamily="34" charset="0"/>
                <a:ea typeface="Quattrocento Sans" pitchFamily="34" charset="-122"/>
                <a:cs typeface="Quattrocento Sans" pitchFamily="34" charset="-120"/>
              </a:rPr>
              <a:t>The U.S. created the Federal Reserve System after the 1907 financial panic to stabilize the banking system.</a:t>
            </a:r>
            <a:endParaRPr lang="en-US" sz="1600" dirty="0"/>
          </a:p>
        </p:txBody>
      </p:sp>
      <p:sp>
        <p:nvSpPr>
          <p:cNvPr id="27" name="Shape 25"/>
          <p:cNvSpPr/>
          <p:nvPr/>
        </p:nvSpPr>
        <p:spPr>
          <a:xfrm>
            <a:off x="460375" y="3841750"/>
            <a:ext cx="95250" cy="95250"/>
          </a:xfrm>
          <a:custGeom>
            <a:avLst/>
            <a:gdLst/>
            <a:ahLst/>
            <a:cxnLst/>
            <a:rect l="l" t="t" r="r" b="b"/>
            <a:pathLst>
              <a:path w="95250" h="95250">
                <a:moveTo>
                  <a:pt x="47625" y="0"/>
                </a:moveTo>
                <a:lnTo>
                  <a:pt x="47625" y="0"/>
                </a:lnTo>
                <a:cubicBezTo>
                  <a:pt x="73910" y="0"/>
                  <a:pt x="95250" y="21340"/>
                  <a:pt x="95250" y="47625"/>
                </a:cubicBezTo>
                <a:lnTo>
                  <a:pt x="95250" y="47625"/>
                </a:lnTo>
                <a:cubicBezTo>
                  <a:pt x="95250" y="73910"/>
                  <a:pt x="73910" y="95250"/>
                  <a:pt x="47625" y="95250"/>
                </a:cubicBezTo>
                <a:lnTo>
                  <a:pt x="47625" y="95250"/>
                </a:lnTo>
                <a:cubicBezTo>
                  <a:pt x="21340" y="95250"/>
                  <a:pt x="0" y="73910"/>
                  <a:pt x="0" y="47625"/>
                </a:cubicBezTo>
                <a:lnTo>
                  <a:pt x="0" y="47625"/>
                </a:lnTo>
                <a:cubicBezTo>
                  <a:pt x="0" y="21340"/>
                  <a:pt x="21340" y="0"/>
                  <a:pt x="47625" y="0"/>
                </a:cubicBezTo>
                <a:close/>
              </a:path>
            </a:pathLst>
          </a:custGeom>
          <a:solidFill>
            <a:srgbClr val="2A9D8F"/>
          </a:solidFill>
          <a:ln w="50800">
            <a:solidFill>
              <a:srgbClr val="F8F9FA"/>
            </a:solidFill>
            <a:prstDash val="solid"/>
          </a:ln>
        </p:spPr>
      </p:sp>
      <p:sp>
        <p:nvSpPr>
          <p:cNvPr id="28" name="Shape 26"/>
          <p:cNvSpPr/>
          <p:nvPr/>
        </p:nvSpPr>
        <p:spPr>
          <a:xfrm>
            <a:off x="635000" y="3794125"/>
            <a:ext cx="6103938" cy="555625"/>
          </a:xfrm>
          <a:custGeom>
            <a:avLst/>
            <a:gdLst/>
            <a:ahLst/>
            <a:cxnLst/>
            <a:rect l="l" t="t" r="r" b="b"/>
            <a:pathLst>
              <a:path w="6103938" h="555625">
                <a:moveTo>
                  <a:pt x="63502" y="0"/>
                </a:moveTo>
                <a:lnTo>
                  <a:pt x="6040435" y="0"/>
                </a:lnTo>
                <a:cubicBezTo>
                  <a:pt x="6075507" y="0"/>
                  <a:pt x="6103937" y="28431"/>
                  <a:pt x="6103937" y="63502"/>
                </a:cubicBezTo>
                <a:lnTo>
                  <a:pt x="6103938" y="492123"/>
                </a:lnTo>
                <a:cubicBezTo>
                  <a:pt x="6103937" y="527194"/>
                  <a:pt x="6075507" y="555625"/>
                  <a:pt x="6040435" y="555625"/>
                </a:cubicBezTo>
                <a:lnTo>
                  <a:pt x="63502" y="555625"/>
                </a:lnTo>
                <a:cubicBezTo>
                  <a:pt x="28431" y="555625"/>
                  <a:pt x="0" y="527194"/>
                  <a:pt x="0" y="492123"/>
                </a:cubicBezTo>
                <a:lnTo>
                  <a:pt x="0" y="63502"/>
                </a:lnTo>
                <a:cubicBezTo>
                  <a:pt x="0" y="28454"/>
                  <a:pt x="28454" y="0"/>
                  <a:pt x="63502" y="0"/>
                </a:cubicBezTo>
                <a:close/>
              </a:path>
            </a:pathLst>
          </a:custGeom>
          <a:solidFill>
            <a:srgbClr val="F8F9FA"/>
          </a:solidFill>
          <a:ln/>
        </p:spPr>
      </p:sp>
      <p:sp>
        <p:nvSpPr>
          <p:cNvPr id="29" name="Shape 27"/>
          <p:cNvSpPr/>
          <p:nvPr/>
        </p:nvSpPr>
        <p:spPr>
          <a:xfrm>
            <a:off x="698500" y="3857625"/>
            <a:ext cx="428625" cy="222250"/>
          </a:xfrm>
          <a:custGeom>
            <a:avLst/>
            <a:gdLst/>
            <a:ahLst/>
            <a:cxnLst/>
            <a:rect l="l" t="t" r="r" b="b"/>
            <a:pathLst>
              <a:path w="428625" h="222250">
                <a:moveTo>
                  <a:pt x="111125" y="0"/>
                </a:moveTo>
                <a:lnTo>
                  <a:pt x="317500" y="0"/>
                </a:lnTo>
                <a:cubicBezTo>
                  <a:pt x="378832" y="0"/>
                  <a:pt x="428625" y="49793"/>
                  <a:pt x="428625" y="111125"/>
                </a:cubicBezTo>
                <a:lnTo>
                  <a:pt x="428625" y="111125"/>
                </a:lnTo>
                <a:cubicBezTo>
                  <a:pt x="428625" y="172457"/>
                  <a:pt x="378832" y="222250"/>
                  <a:pt x="317500" y="222250"/>
                </a:cubicBezTo>
                <a:lnTo>
                  <a:pt x="111125" y="222250"/>
                </a:lnTo>
                <a:cubicBezTo>
                  <a:pt x="49793" y="222250"/>
                  <a:pt x="0" y="172457"/>
                  <a:pt x="0" y="111125"/>
                </a:cubicBezTo>
                <a:lnTo>
                  <a:pt x="0" y="111125"/>
                </a:lnTo>
                <a:cubicBezTo>
                  <a:pt x="0" y="49793"/>
                  <a:pt x="49793" y="0"/>
                  <a:pt x="111125" y="0"/>
                </a:cubicBezTo>
                <a:close/>
              </a:path>
            </a:pathLst>
          </a:custGeom>
          <a:solidFill>
            <a:srgbClr val="2A9D8F"/>
          </a:solidFill>
          <a:ln/>
        </p:spPr>
      </p:sp>
      <p:sp>
        <p:nvSpPr>
          <p:cNvPr id="30" name="Text 28"/>
          <p:cNvSpPr/>
          <p:nvPr/>
        </p:nvSpPr>
        <p:spPr>
          <a:xfrm>
            <a:off x="698500" y="3857625"/>
            <a:ext cx="484187" cy="222250"/>
          </a:xfrm>
          <a:prstGeom prst="rect">
            <a:avLst/>
          </a:prstGeom>
          <a:noFill/>
          <a:ln/>
        </p:spPr>
        <p:txBody>
          <a:bodyPr wrap="square" lIns="95250" tIns="31750" rIns="95250" bIns="31750" rtlCol="0" anchor="ctr"/>
          <a:lstStyle/>
          <a:p>
            <a:pPr>
              <a:lnSpc>
                <a:spcPct val="120000"/>
              </a:lnSpc>
            </a:pPr>
            <a:r>
              <a:rPr lang="en-US" sz="875" b="1" dirty="0">
                <a:solidFill>
                  <a:srgbClr val="FFFFFF"/>
                </a:solidFill>
                <a:latin typeface="Liter" pitchFamily="34" charset="0"/>
                <a:ea typeface="Liter" pitchFamily="34" charset="-122"/>
                <a:cs typeface="Liter" pitchFamily="34" charset="-120"/>
              </a:rPr>
              <a:t>1933</a:t>
            </a:r>
            <a:endParaRPr lang="en-US" sz="1600" dirty="0"/>
          </a:p>
        </p:txBody>
      </p:sp>
      <p:sp>
        <p:nvSpPr>
          <p:cNvPr id="31" name="Text 29"/>
          <p:cNvSpPr/>
          <p:nvPr/>
        </p:nvSpPr>
        <p:spPr>
          <a:xfrm>
            <a:off x="1226282" y="3857625"/>
            <a:ext cx="1230313"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Glass-Steagall Act</a:t>
            </a:r>
            <a:endParaRPr lang="en-US" sz="1600" dirty="0"/>
          </a:p>
        </p:txBody>
      </p:sp>
      <p:sp>
        <p:nvSpPr>
          <p:cNvPr id="32" name="Text 30"/>
          <p:cNvSpPr/>
          <p:nvPr/>
        </p:nvSpPr>
        <p:spPr>
          <a:xfrm>
            <a:off x="698500" y="4111625"/>
            <a:ext cx="6040438" cy="174625"/>
          </a:xfrm>
          <a:prstGeom prst="rect">
            <a:avLst/>
          </a:prstGeom>
          <a:noFill/>
          <a:ln/>
        </p:spPr>
        <p:txBody>
          <a:bodyPr wrap="square" lIns="0" tIns="0" rIns="0" bIns="0" rtlCol="0" anchor="ctr"/>
          <a:lstStyle/>
          <a:p>
            <a:pPr>
              <a:lnSpc>
                <a:spcPct val="110000"/>
              </a:lnSpc>
            </a:pPr>
            <a:r>
              <a:rPr lang="en-US" sz="1000" dirty="0">
                <a:solidFill>
                  <a:srgbClr val="2B2D42"/>
                </a:solidFill>
                <a:latin typeface="Quattrocento Sans" pitchFamily="34" charset="0"/>
                <a:ea typeface="Quattrocento Sans" pitchFamily="34" charset="-122"/>
                <a:cs typeface="Quattrocento Sans" pitchFamily="34" charset="-120"/>
              </a:rPr>
              <a:t>Separated commercial and investment banking; FDIC was established to insure deposits.</a:t>
            </a:r>
            <a:endParaRPr lang="en-US" sz="1600" dirty="0"/>
          </a:p>
        </p:txBody>
      </p:sp>
      <p:sp>
        <p:nvSpPr>
          <p:cNvPr id="33" name="Shape 31"/>
          <p:cNvSpPr/>
          <p:nvPr/>
        </p:nvSpPr>
        <p:spPr>
          <a:xfrm>
            <a:off x="460375" y="4460875"/>
            <a:ext cx="95250" cy="95250"/>
          </a:xfrm>
          <a:custGeom>
            <a:avLst/>
            <a:gdLst/>
            <a:ahLst/>
            <a:cxnLst/>
            <a:rect l="l" t="t" r="r" b="b"/>
            <a:pathLst>
              <a:path w="95250" h="95250">
                <a:moveTo>
                  <a:pt x="47625" y="0"/>
                </a:moveTo>
                <a:lnTo>
                  <a:pt x="47625" y="0"/>
                </a:lnTo>
                <a:cubicBezTo>
                  <a:pt x="73910" y="0"/>
                  <a:pt x="95250" y="21340"/>
                  <a:pt x="95250" y="47625"/>
                </a:cubicBezTo>
                <a:lnTo>
                  <a:pt x="95250" y="47625"/>
                </a:lnTo>
                <a:cubicBezTo>
                  <a:pt x="95250" y="73910"/>
                  <a:pt x="73910" y="95250"/>
                  <a:pt x="47625" y="95250"/>
                </a:cubicBezTo>
                <a:lnTo>
                  <a:pt x="47625" y="95250"/>
                </a:lnTo>
                <a:cubicBezTo>
                  <a:pt x="21340" y="95250"/>
                  <a:pt x="0" y="73910"/>
                  <a:pt x="0" y="47625"/>
                </a:cubicBezTo>
                <a:lnTo>
                  <a:pt x="0" y="47625"/>
                </a:lnTo>
                <a:cubicBezTo>
                  <a:pt x="0" y="21340"/>
                  <a:pt x="21340" y="0"/>
                  <a:pt x="47625" y="0"/>
                </a:cubicBezTo>
                <a:close/>
              </a:path>
            </a:pathLst>
          </a:custGeom>
          <a:solidFill>
            <a:srgbClr val="1A3A5C"/>
          </a:solidFill>
          <a:ln w="50800">
            <a:solidFill>
              <a:srgbClr val="F8F9FA"/>
            </a:solidFill>
            <a:prstDash val="solid"/>
          </a:ln>
        </p:spPr>
      </p:sp>
      <p:sp>
        <p:nvSpPr>
          <p:cNvPr id="34" name="Shape 32"/>
          <p:cNvSpPr/>
          <p:nvPr/>
        </p:nvSpPr>
        <p:spPr>
          <a:xfrm>
            <a:off x="635000" y="4413250"/>
            <a:ext cx="6103938" cy="555625"/>
          </a:xfrm>
          <a:custGeom>
            <a:avLst/>
            <a:gdLst/>
            <a:ahLst/>
            <a:cxnLst/>
            <a:rect l="l" t="t" r="r" b="b"/>
            <a:pathLst>
              <a:path w="6103938" h="555625">
                <a:moveTo>
                  <a:pt x="63502" y="0"/>
                </a:moveTo>
                <a:lnTo>
                  <a:pt x="6040435" y="0"/>
                </a:lnTo>
                <a:cubicBezTo>
                  <a:pt x="6075507" y="0"/>
                  <a:pt x="6103937" y="28431"/>
                  <a:pt x="6103937" y="63502"/>
                </a:cubicBezTo>
                <a:lnTo>
                  <a:pt x="6103938" y="492123"/>
                </a:lnTo>
                <a:cubicBezTo>
                  <a:pt x="6103937" y="527194"/>
                  <a:pt x="6075507" y="555625"/>
                  <a:pt x="6040435" y="555625"/>
                </a:cubicBezTo>
                <a:lnTo>
                  <a:pt x="63502" y="555625"/>
                </a:lnTo>
                <a:cubicBezTo>
                  <a:pt x="28431" y="555625"/>
                  <a:pt x="0" y="527194"/>
                  <a:pt x="0" y="492123"/>
                </a:cubicBezTo>
                <a:lnTo>
                  <a:pt x="0" y="63502"/>
                </a:lnTo>
                <a:cubicBezTo>
                  <a:pt x="0" y="28454"/>
                  <a:pt x="28454" y="0"/>
                  <a:pt x="63502" y="0"/>
                </a:cubicBezTo>
                <a:close/>
              </a:path>
            </a:pathLst>
          </a:custGeom>
          <a:solidFill>
            <a:srgbClr val="F8F9FA"/>
          </a:solidFill>
          <a:ln/>
        </p:spPr>
      </p:sp>
      <p:sp>
        <p:nvSpPr>
          <p:cNvPr id="35" name="Shape 33"/>
          <p:cNvSpPr/>
          <p:nvPr/>
        </p:nvSpPr>
        <p:spPr>
          <a:xfrm>
            <a:off x="698500" y="4476750"/>
            <a:ext cx="436563" cy="222250"/>
          </a:xfrm>
          <a:custGeom>
            <a:avLst/>
            <a:gdLst/>
            <a:ahLst/>
            <a:cxnLst/>
            <a:rect l="l" t="t" r="r" b="b"/>
            <a:pathLst>
              <a:path w="436563" h="222250">
                <a:moveTo>
                  <a:pt x="111125" y="0"/>
                </a:moveTo>
                <a:lnTo>
                  <a:pt x="325438" y="0"/>
                </a:lnTo>
                <a:cubicBezTo>
                  <a:pt x="386769" y="0"/>
                  <a:pt x="436563" y="49793"/>
                  <a:pt x="436563" y="111125"/>
                </a:cubicBezTo>
                <a:lnTo>
                  <a:pt x="436563" y="111125"/>
                </a:lnTo>
                <a:cubicBezTo>
                  <a:pt x="436563" y="172457"/>
                  <a:pt x="386769" y="222250"/>
                  <a:pt x="325438" y="222250"/>
                </a:cubicBezTo>
                <a:lnTo>
                  <a:pt x="111125" y="222250"/>
                </a:lnTo>
                <a:cubicBezTo>
                  <a:pt x="49793" y="222250"/>
                  <a:pt x="0" y="172457"/>
                  <a:pt x="0" y="111125"/>
                </a:cubicBezTo>
                <a:lnTo>
                  <a:pt x="0" y="111125"/>
                </a:lnTo>
                <a:cubicBezTo>
                  <a:pt x="0" y="49793"/>
                  <a:pt x="49793" y="0"/>
                  <a:pt x="111125" y="0"/>
                </a:cubicBezTo>
                <a:close/>
              </a:path>
            </a:pathLst>
          </a:custGeom>
          <a:solidFill>
            <a:srgbClr val="1A3A5C"/>
          </a:solidFill>
          <a:ln/>
        </p:spPr>
      </p:sp>
      <p:sp>
        <p:nvSpPr>
          <p:cNvPr id="36" name="Text 34"/>
          <p:cNvSpPr/>
          <p:nvPr/>
        </p:nvSpPr>
        <p:spPr>
          <a:xfrm>
            <a:off x="698500" y="4476750"/>
            <a:ext cx="492125" cy="222250"/>
          </a:xfrm>
          <a:prstGeom prst="rect">
            <a:avLst/>
          </a:prstGeom>
          <a:noFill/>
          <a:ln/>
        </p:spPr>
        <p:txBody>
          <a:bodyPr wrap="square" lIns="95250" tIns="31750" rIns="95250" bIns="31750" rtlCol="0" anchor="ctr"/>
          <a:lstStyle/>
          <a:p>
            <a:pPr>
              <a:lnSpc>
                <a:spcPct val="120000"/>
              </a:lnSpc>
            </a:pPr>
            <a:r>
              <a:rPr lang="en-US" sz="875" b="1" dirty="0">
                <a:solidFill>
                  <a:srgbClr val="FFFFFF"/>
                </a:solidFill>
                <a:latin typeface="Liter" pitchFamily="34" charset="0"/>
                <a:ea typeface="Liter" pitchFamily="34" charset="-122"/>
                <a:cs typeface="Liter" pitchFamily="34" charset="-120"/>
              </a:rPr>
              <a:t>1999</a:t>
            </a:r>
            <a:endParaRPr lang="en-US" sz="1600" dirty="0"/>
          </a:p>
        </p:txBody>
      </p:sp>
      <p:sp>
        <p:nvSpPr>
          <p:cNvPr id="37" name="Text 35"/>
          <p:cNvSpPr/>
          <p:nvPr/>
        </p:nvSpPr>
        <p:spPr>
          <a:xfrm>
            <a:off x="1228080" y="4476750"/>
            <a:ext cx="1619250"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Gramm-Leach-Bliley Act</a:t>
            </a:r>
            <a:endParaRPr lang="en-US" sz="1600" dirty="0"/>
          </a:p>
        </p:txBody>
      </p:sp>
      <p:sp>
        <p:nvSpPr>
          <p:cNvPr id="38" name="Text 36"/>
          <p:cNvSpPr/>
          <p:nvPr/>
        </p:nvSpPr>
        <p:spPr>
          <a:xfrm>
            <a:off x="698500" y="4730750"/>
            <a:ext cx="6040438" cy="174625"/>
          </a:xfrm>
          <a:prstGeom prst="rect">
            <a:avLst/>
          </a:prstGeom>
          <a:noFill/>
          <a:ln/>
        </p:spPr>
        <p:txBody>
          <a:bodyPr wrap="square" lIns="0" tIns="0" rIns="0" bIns="0" rtlCol="0" anchor="ctr"/>
          <a:lstStyle/>
          <a:p>
            <a:pPr>
              <a:lnSpc>
                <a:spcPct val="110000"/>
              </a:lnSpc>
            </a:pPr>
            <a:r>
              <a:rPr lang="en-US" sz="1000" dirty="0">
                <a:solidFill>
                  <a:srgbClr val="2B2D42"/>
                </a:solidFill>
                <a:latin typeface="Quattrocento Sans" pitchFamily="34" charset="0"/>
                <a:ea typeface="Quattrocento Sans" pitchFamily="34" charset="-122"/>
                <a:cs typeface="Quattrocento Sans" pitchFamily="34" charset="-120"/>
              </a:rPr>
              <a:t>Repealed Glass-Steagall, allowing banks to offer investment and insurance services.</a:t>
            </a:r>
            <a:endParaRPr lang="en-US" sz="1600" dirty="0"/>
          </a:p>
        </p:txBody>
      </p:sp>
      <p:sp>
        <p:nvSpPr>
          <p:cNvPr id="39" name="Shape 37"/>
          <p:cNvSpPr/>
          <p:nvPr/>
        </p:nvSpPr>
        <p:spPr>
          <a:xfrm>
            <a:off x="460375" y="5080000"/>
            <a:ext cx="95250" cy="95250"/>
          </a:xfrm>
          <a:custGeom>
            <a:avLst/>
            <a:gdLst/>
            <a:ahLst/>
            <a:cxnLst/>
            <a:rect l="l" t="t" r="r" b="b"/>
            <a:pathLst>
              <a:path w="95250" h="95250">
                <a:moveTo>
                  <a:pt x="47625" y="0"/>
                </a:moveTo>
                <a:lnTo>
                  <a:pt x="47625" y="0"/>
                </a:lnTo>
                <a:cubicBezTo>
                  <a:pt x="73910" y="0"/>
                  <a:pt x="95250" y="21340"/>
                  <a:pt x="95250" y="47625"/>
                </a:cubicBezTo>
                <a:lnTo>
                  <a:pt x="95250" y="47625"/>
                </a:lnTo>
                <a:cubicBezTo>
                  <a:pt x="95250" y="73910"/>
                  <a:pt x="73910" y="95250"/>
                  <a:pt x="47625" y="95250"/>
                </a:cubicBezTo>
                <a:lnTo>
                  <a:pt x="47625" y="95250"/>
                </a:lnTo>
                <a:cubicBezTo>
                  <a:pt x="21340" y="95250"/>
                  <a:pt x="0" y="73910"/>
                  <a:pt x="0" y="47625"/>
                </a:cubicBezTo>
                <a:lnTo>
                  <a:pt x="0" y="47625"/>
                </a:lnTo>
                <a:cubicBezTo>
                  <a:pt x="0" y="21340"/>
                  <a:pt x="21340" y="0"/>
                  <a:pt x="47625" y="0"/>
                </a:cubicBezTo>
                <a:close/>
              </a:path>
            </a:pathLst>
          </a:custGeom>
          <a:solidFill>
            <a:srgbClr val="2A9D8F"/>
          </a:solidFill>
          <a:ln w="50800">
            <a:solidFill>
              <a:srgbClr val="F8F9FA"/>
            </a:solidFill>
            <a:prstDash val="solid"/>
          </a:ln>
        </p:spPr>
      </p:sp>
      <p:sp>
        <p:nvSpPr>
          <p:cNvPr id="40" name="Shape 38"/>
          <p:cNvSpPr/>
          <p:nvPr/>
        </p:nvSpPr>
        <p:spPr>
          <a:xfrm>
            <a:off x="635000" y="5032375"/>
            <a:ext cx="6103938" cy="555625"/>
          </a:xfrm>
          <a:custGeom>
            <a:avLst/>
            <a:gdLst/>
            <a:ahLst/>
            <a:cxnLst/>
            <a:rect l="l" t="t" r="r" b="b"/>
            <a:pathLst>
              <a:path w="6103938" h="555625">
                <a:moveTo>
                  <a:pt x="63502" y="0"/>
                </a:moveTo>
                <a:lnTo>
                  <a:pt x="6040435" y="0"/>
                </a:lnTo>
                <a:cubicBezTo>
                  <a:pt x="6075507" y="0"/>
                  <a:pt x="6103937" y="28431"/>
                  <a:pt x="6103937" y="63502"/>
                </a:cubicBezTo>
                <a:lnTo>
                  <a:pt x="6103938" y="492123"/>
                </a:lnTo>
                <a:cubicBezTo>
                  <a:pt x="6103937" y="527194"/>
                  <a:pt x="6075507" y="555625"/>
                  <a:pt x="6040435" y="555625"/>
                </a:cubicBezTo>
                <a:lnTo>
                  <a:pt x="63502" y="555625"/>
                </a:lnTo>
                <a:cubicBezTo>
                  <a:pt x="28431" y="555625"/>
                  <a:pt x="0" y="527194"/>
                  <a:pt x="0" y="492123"/>
                </a:cubicBezTo>
                <a:lnTo>
                  <a:pt x="0" y="63502"/>
                </a:lnTo>
                <a:cubicBezTo>
                  <a:pt x="0" y="28454"/>
                  <a:pt x="28454" y="0"/>
                  <a:pt x="63502" y="0"/>
                </a:cubicBezTo>
                <a:close/>
              </a:path>
            </a:pathLst>
          </a:custGeom>
          <a:solidFill>
            <a:srgbClr val="F8F9FA"/>
          </a:solidFill>
          <a:ln/>
        </p:spPr>
      </p:sp>
      <p:sp>
        <p:nvSpPr>
          <p:cNvPr id="41" name="Shape 39"/>
          <p:cNvSpPr/>
          <p:nvPr/>
        </p:nvSpPr>
        <p:spPr>
          <a:xfrm>
            <a:off x="698500" y="5095875"/>
            <a:ext cx="468313" cy="222250"/>
          </a:xfrm>
          <a:custGeom>
            <a:avLst/>
            <a:gdLst/>
            <a:ahLst/>
            <a:cxnLst/>
            <a:rect l="l" t="t" r="r" b="b"/>
            <a:pathLst>
              <a:path w="468313" h="222250">
                <a:moveTo>
                  <a:pt x="111125" y="0"/>
                </a:moveTo>
                <a:lnTo>
                  <a:pt x="357188" y="0"/>
                </a:lnTo>
                <a:cubicBezTo>
                  <a:pt x="418519" y="0"/>
                  <a:pt x="468313" y="49793"/>
                  <a:pt x="468313" y="111125"/>
                </a:cubicBezTo>
                <a:lnTo>
                  <a:pt x="468313" y="111125"/>
                </a:lnTo>
                <a:cubicBezTo>
                  <a:pt x="468313" y="172457"/>
                  <a:pt x="418519" y="222250"/>
                  <a:pt x="357188" y="222250"/>
                </a:cubicBezTo>
                <a:lnTo>
                  <a:pt x="111125" y="222250"/>
                </a:lnTo>
                <a:cubicBezTo>
                  <a:pt x="49793" y="222250"/>
                  <a:pt x="0" y="172457"/>
                  <a:pt x="0" y="111125"/>
                </a:cubicBezTo>
                <a:lnTo>
                  <a:pt x="0" y="111125"/>
                </a:lnTo>
                <a:cubicBezTo>
                  <a:pt x="0" y="49793"/>
                  <a:pt x="49793" y="0"/>
                  <a:pt x="111125" y="0"/>
                </a:cubicBezTo>
                <a:close/>
              </a:path>
            </a:pathLst>
          </a:custGeom>
          <a:solidFill>
            <a:srgbClr val="2A9D8F"/>
          </a:solidFill>
          <a:ln/>
        </p:spPr>
      </p:sp>
      <p:sp>
        <p:nvSpPr>
          <p:cNvPr id="42" name="Text 40"/>
          <p:cNvSpPr/>
          <p:nvPr/>
        </p:nvSpPr>
        <p:spPr>
          <a:xfrm>
            <a:off x="698500" y="5095875"/>
            <a:ext cx="523875" cy="222250"/>
          </a:xfrm>
          <a:prstGeom prst="rect">
            <a:avLst/>
          </a:prstGeom>
          <a:noFill/>
          <a:ln/>
        </p:spPr>
        <p:txBody>
          <a:bodyPr wrap="square" lIns="95250" tIns="31750" rIns="95250" bIns="31750" rtlCol="0" anchor="ctr"/>
          <a:lstStyle/>
          <a:p>
            <a:pPr>
              <a:lnSpc>
                <a:spcPct val="120000"/>
              </a:lnSpc>
            </a:pPr>
            <a:r>
              <a:rPr lang="en-US" sz="875" b="1" dirty="0">
                <a:solidFill>
                  <a:srgbClr val="FFFFFF"/>
                </a:solidFill>
                <a:latin typeface="Liter" pitchFamily="34" charset="0"/>
                <a:ea typeface="Liter" pitchFamily="34" charset="-122"/>
                <a:cs typeface="Liter" pitchFamily="34" charset="-120"/>
              </a:rPr>
              <a:t>2008</a:t>
            </a:r>
            <a:endParaRPr lang="en-US" sz="1600" dirty="0"/>
          </a:p>
        </p:txBody>
      </p:sp>
      <p:sp>
        <p:nvSpPr>
          <p:cNvPr id="43" name="Text 41"/>
          <p:cNvSpPr/>
          <p:nvPr/>
        </p:nvSpPr>
        <p:spPr>
          <a:xfrm>
            <a:off x="1258900" y="5095875"/>
            <a:ext cx="1444625"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Global Financial Crisis</a:t>
            </a:r>
            <a:endParaRPr lang="en-US" sz="1600" dirty="0"/>
          </a:p>
        </p:txBody>
      </p:sp>
      <p:sp>
        <p:nvSpPr>
          <p:cNvPr id="44" name="Text 42"/>
          <p:cNvSpPr/>
          <p:nvPr/>
        </p:nvSpPr>
        <p:spPr>
          <a:xfrm>
            <a:off x="698500" y="5349875"/>
            <a:ext cx="6040438" cy="174625"/>
          </a:xfrm>
          <a:prstGeom prst="rect">
            <a:avLst/>
          </a:prstGeom>
          <a:noFill/>
          <a:ln/>
        </p:spPr>
        <p:txBody>
          <a:bodyPr wrap="square" lIns="0" tIns="0" rIns="0" bIns="0" rtlCol="0" anchor="ctr"/>
          <a:lstStyle/>
          <a:p>
            <a:pPr>
              <a:lnSpc>
                <a:spcPct val="110000"/>
              </a:lnSpc>
            </a:pPr>
            <a:r>
              <a:rPr lang="en-US" sz="1000" dirty="0">
                <a:solidFill>
                  <a:srgbClr val="2B2D42"/>
                </a:solidFill>
                <a:latin typeface="Quattrocento Sans" pitchFamily="34" charset="0"/>
                <a:ea typeface="Quattrocento Sans" pitchFamily="34" charset="-122"/>
                <a:cs typeface="Quattrocento Sans" pitchFamily="34" charset="-120"/>
              </a:rPr>
              <a:t>Led to stricter regulations (Dodd-Frank) and increased focus on risk management.</a:t>
            </a:r>
            <a:endParaRPr lang="en-US" sz="1600" dirty="0"/>
          </a:p>
        </p:txBody>
      </p:sp>
      <p:sp>
        <p:nvSpPr>
          <p:cNvPr id="45" name="Shape 43"/>
          <p:cNvSpPr/>
          <p:nvPr/>
        </p:nvSpPr>
        <p:spPr>
          <a:xfrm>
            <a:off x="460375" y="5699125"/>
            <a:ext cx="95250" cy="95250"/>
          </a:xfrm>
          <a:custGeom>
            <a:avLst/>
            <a:gdLst/>
            <a:ahLst/>
            <a:cxnLst/>
            <a:rect l="l" t="t" r="r" b="b"/>
            <a:pathLst>
              <a:path w="95250" h="95250">
                <a:moveTo>
                  <a:pt x="47625" y="0"/>
                </a:moveTo>
                <a:lnTo>
                  <a:pt x="47625" y="0"/>
                </a:lnTo>
                <a:cubicBezTo>
                  <a:pt x="73910" y="0"/>
                  <a:pt x="95250" y="21340"/>
                  <a:pt x="95250" y="47625"/>
                </a:cubicBezTo>
                <a:lnTo>
                  <a:pt x="95250" y="47625"/>
                </a:lnTo>
                <a:cubicBezTo>
                  <a:pt x="95250" y="73910"/>
                  <a:pt x="73910" y="95250"/>
                  <a:pt x="47625" y="95250"/>
                </a:cubicBezTo>
                <a:lnTo>
                  <a:pt x="47625" y="95250"/>
                </a:lnTo>
                <a:cubicBezTo>
                  <a:pt x="21340" y="95250"/>
                  <a:pt x="0" y="73910"/>
                  <a:pt x="0" y="47625"/>
                </a:cubicBezTo>
                <a:lnTo>
                  <a:pt x="0" y="47625"/>
                </a:lnTo>
                <a:cubicBezTo>
                  <a:pt x="0" y="21340"/>
                  <a:pt x="21340" y="0"/>
                  <a:pt x="47625" y="0"/>
                </a:cubicBezTo>
                <a:close/>
              </a:path>
            </a:pathLst>
          </a:custGeom>
          <a:solidFill>
            <a:srgbClr val="1A3A5C"/>
          </a:solidFill>
          <a:ln w="50800">
            <a:solidFill>
              <a:srgbClr val="F8F9FA"/>
            </a:solidFill>
            <a:prstDash val="solid"/>
          </a:ln>
        </p:spPr>
      </p:sp>
      <p:sp>
        <p:nvSpPr>
          <p:cNvPr id="46" name="Shape 44"/>
          <p:cNvSpPr/>
          <p:nvPr/>
        </p:nvSpPr>
        <p:spPr>
          <a:xfrm>
            <a:off x="635000" y="5651500"/>
            <a:ext cx="6103938" cy="555625"/>
          </a:xfrm>
          <a:custGeom>
            <a:avLst/>
            <a:gdLst/>
            <a:ahLst/>
            <a:cxnLst/>
            <a:rect l="l" t="t" r="r" b="b"/>
            <a:pathLst>
              <a:path w="6103938" h="555625">
                <a:moveTo>
                  <a:pt x="63502" y="0"/>
                </a:moveTo>
                <a:lnTo>
                  <a:pt x="6040435" y="0"/>
                </a:lnTo>
                <a:cubicBezTo>
                  <a:pt x="6075507" y="0"/>
                  <a:pt x="6103937" y="28431"/>
                  <a:pt x="6103937" y="63502"/>
                </a:cubicBezTo>
                <a:lnTo>
                  <a:pt x="6103938" y="492123"/>
                </a:lnTo>
                <a:cubicBezTo>
                  <a:pt x="6103937" y="527194"/>
                  <a:pt x="6075507" y="555625"/>
                  <a:pt x="6040435" y="555625"/>
                </a:cubicBezTo>
                <a:lnTo>
                  <a:pt x="63502" y="555625"/>
                </a:lnTo>
                <a:cubicBezTo>
                  <a:pt x="28431" y="555625"/>
                  <a:pt x="0" y="527194"/>
                  <a:pt x="0" y="492123"/>
                </a:cubicBezTo>
                <a:lnTo>
                  <a:pt x="0" y="63502"/>
                </a:lnTo>
                <a:cubicBezTo>
                  <a:pt x="0" y="28454"/>
                  <a:pt x="28454" y="0"/>
                  <a:pt x="63502" y="0"/>
                </a:cubicBezTo>
                <a:close/>
              </a:path>
            </a:pathLst>
          </a:custGeom>
          <a:solidFill>
            <a:srgbClr val="F8F9FA"/>
          </a:solidFill>
          <a:ln/>
        </p:spPr>
      </p:sp>
      <p:sp>
        <p:nvSpPr>
          <p:cNvPr id="47" name="Shape 45"/>
          <p:cNvSpPr/>
          <p:nvPr/>
        </p:nvSpPr>
        <p:spPr>
          <a:xfrm>
            <a:off x="698500" y="5715000"/>
            <a:ext cx="515938" cy="222250"/>
          </a:xfrm>
          <a:custGeom>
            <a:avLst/>
            <a:gdLst/>
            <a:ahLst/>
            <a:cxnLst/>
            <a:rect l="l" t="t" r="r" b="b"/>
            <a:pathLst>
              <a:path w="515938" h="222250">
                <a:moveTo>
                  <a:pt x="111125" y="0"/>
                </a:moveTo>
                <a:lnTo>
                  <a:pt x="404813" y="0"/>
                </a:lnTo>
                <a:cubicBezTo>
                  <a:pt x="466144" y="0"/>
                  <a:pt x="515938" y="49793"/>
                  <a:pt x="515938" y="111125"/>
                </a:cubicBezTo>
                <a:lnTo>
                  <a:pt x="515938" y="111125"/>
                </a:lnTo>
                <a:cubicBezTo>
                  <a:pt x="515938" y="172457"/>
                  <a:pt x="466144" y="222250"/>
                  <a:pt x="404813" y="222250"/>
                </a:cubicBezTo>
                <a:lnTo>
                  <a:pt x="111125" y="222250"/>
                </a:lnTo>
                <a:cubicBezTo>
                  <a:pt x="49793" y="222250"/>
                  <a:pt x="0" y="172457"/>
                  <a:pt x="0" y="111125"/>
                </a:cubicBezTo>
                <a:lnTo>
                  <a:pt x="0" y="111125"/>
                </a:lnTo>
                <a:cubicBezTo>
                  <a:pt x="0" y="49793"/>
                  <a:pt x="49793" y="0"/>
                  <a:pt x="111125" y="0"/>
                </a:cubicBezTo>
                <a:close/>
              </a:path>
            </a:pathLst>
          </a:custGeom>
          <a:solidFill>
            <a:srgbClr val="1A3A5C"/>
          </a:solidFill>
          <a:ln/>
        </p:spPr>
      </p:sp>
      <p:sp>
        <p:nvSpPr>
          <p:cNvPr id="48" name="Text 46"/>
          <p:cNvSpPr/>
          <p:nvPr/>
        </p:nvSpPr>
        <p:spPr>
          <a:xfrm>
            <a:off x="698500" y="5715000"/>
            <a:ext cx="571500" cy="222250"/>
          </a:xfrm>
          <a:prstGeom prst="rect">
            <a:avLst/>
          </a:prstGeom>
          <a:noFill/>
          <a:ln/>
        </p:spPr>
        <p:txBody>
          <a:bodyPr wrap="square" lIns="95250" tIns="31750" rIns="95250" bIns="31750" rtlCol="0" anchor="ctr"/>
          <a:lstStyle/>
          <a:p>
            <a:pPr>
              <a:lnSpc>
                <a:spcPct val="120000"/>
              </a:lnSpc>
            </a:pPr>
            <a:r>
              <a:rPr lang="en-US" sz="875" b="1" dirty="0">
                <a:solidFill>
                  <a:srgbClr val="FFFFFF"/>
                </a:solidFill>
                <a:latin typeface="Liter" pitchFamily="34" charset="0"/>
                <a:ea typeface="Liter" pitchFamily="34" charset="-122"/>
                <a:cs typeface="Liter" pitchFamily="34" charset="-120"/>
              </a:rPr>
              <a:t>2020s</a:t>
            </a:r>
            <a:endParaRPr lang="en-US" sz="1600" dirty="0"/>
          </a:p>
        </p:txBody>
      </p:sp>
      <p:sp>
        <p:nvSpPr>
          <p:cNvPr id="49" name="Text 47"/>
          <p:cNvSpPr/>
          <p:nvPr/>
        </p:nvSpPr>
        <p:spPr>
          <a:xfrm>
            <a:off x="1309625" y="5715000"/>
            <a:ext cx="1246188"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Digital Banking Era</a:t>
            </a:r>
            <a:endParaRPr lang="en-US" sz="1600" dirty="0"/>
          </a:p>
        </p:txBody>
      </p:sp>
      <p:sp>
        <p:nvSpPr>
          <p:cNvPr id="50" name="Text 48"/>
          <p:cNvSpPr/>
          <p:nvPr/>
        </p:nvSpPr>
        <p:spPr>
          <a:xfrm>
            <a:off x="698500" y="5969000"/>
            <a:ext cx="6040438" cy="174625"/>
          </a:xfrm>
          <a:prstGeom prst="rect">
            <a:avLst/>
          </a:prstGeom>
          <a:noFill/>
          <a:ln/>
        </p:spPr>
        <p:txBody>
          <a:bodyPr wrap="square" lIns="0" tIns="0" rIns="0" bIns="0" rtlCol="0" anchor="ctr"/>
          <a:lstStyle/>
          <a:p>
            <a:pPr>
              <a:lnSpc>
                <a:spcPct val="110000"/>
              </a:lnSpc>
            </a:pPr>
            <a:r>
              <a:rPr lang="en-US" sz="1000" dirty="0">
                <a:solidFill>
                  <a:srgbClr val="2B2D42"/>
                </a:solidFill>
                <a:latin typeface="Quattrocento Sans" pitchFamily="34" charset="0"/>
                <a:ea typeface="Quattrocento Sans" pitchFamily="34" charset="-122"/>
                <a:cs typeface="Quattrocento Sans" pitchFamily="34" charset="-120"/>
              </a:rPr>
              <a:t>Rise of mobile banking, FinTech, AI, and cryptocurrencies transforming the industry.</a:t>
            </a:r>
            <a:endParaRPr lang="en-US" sz="1600" dirty="0"/>
          </a:p>
        </p:txBody>
      </p:sp>
      <p:sp>
        <p:nvSpPr>
          <p:cNvPr id="51" name="Shape 49"/>
          <p:cNvSpPr/>
          <p:nvPr/>
        </p:nvSpPr>
        <p:spPr>
          <a:xfrm>
            <a:off x="6994054" y="1285875"/>
            <a:ext cx="4881563" cy="2413000"/>
          </a:xfrm>
          <a:custGeom>
            <a:avLst/>
            <a:gdLst/>
            <a:ahLst/>
            <a:cxnLst/>
            <a:rect l="l" t="t" r="r" b="b"/>
            <a:pathLst>
              <a:path w="4881563" h="2413000">
                <a:moveTo>
                  <a:pt x="95241" y="0"/>
                </a:moveTo>
                <a:lnTo>
                  <a:pt x="4786321" y="0"/>
                </a:lnTo>
                <a:cubicBezTo>
                  <a:pt x="4838922" y="0"/>
                  <a:pt x="4881563" y="42641"/>
                  <a:pt x="4881563" y="95241"/>
                </a:cubicBezTo>
                <a:lnTo>
                  <a:pt x="4881563" y="2317759"/>
                </a:lnTo>
                <a:cubicBezTo>
                  <a:pt x="4881563" y="2370359"/>
                  <a:pt x="4838922" y="2413000"/>
                  <a:pt x="4786321" y="2413000"/>
                </a:cubicBezTo>
                <a:lnTo>
                  <a:pt x="95241" y="2413000"/>
                </a:lnTo>
                <a:cubicBezTo>
                  <a:pt x="42641" y="2413000"/>
                  <a:pt x="0" y="2370359"/>
                  <a:pt x="0" y="2317759"/>
                </a:cubicBezTo>
                <a:lnTo>
                  <a:pt x="0" y="95241"/>
                </a:lnTo>
                <a:cubicBezTo>
                  <a:pt x="0" y="42641"/>
                  <a:pt x="42641" y="0"/>
                  <a:pt x="95241"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52" name="Shape 50"/>
          <p:cNvSpPr/>
          <p:nvPr/>
        </p:nvSpPr>
        <p:spPr>
          <a:xfrm>
            <a:off x="7140897" y="1444625"/>
            <a:ext cx="158750" cy="158750"/>
          </a:xfrm>
          <a:custGeom>
            <a:avLst/>
            <a:gdLst/>
            <a:ahLst/>
            <a:cxnLst/>
            <a:rect l="l" t="t" r="r" b="b"/>
            <a:pathLst>
              <a:path w="158750" h="158750">
                <a:moveTo>
                  <a:pt x="74011" y="1581"/>
                </a:moveTo>
                <a:cubicBezTo>
                  <a:pt x="77267" y="-527"/>
                  <a:pt x="81483" y="-527"/>
                  <a:pt x="84739" y="1581"/>
                </a:cubicBezTo>
                <a:lnTo>
                  <a:pt x="154192" y="46230"/>
                </a:lnTo>
                <a:cubicBezTo>
                  <a:pt x="157882" y="48617"/>
                  <a:pt x="159587" y="53144"/>
                  <a:pt x="158347" y="57361"/>
                </a:cubicBezTo>
                <a:cubicBezTo>
                  <a:pt x="157107" y="61578"/>
                  <a:pt x="153231" y="64492"/>
                  <a:pt x="148828" y="64492"/>
                </a:cubicBezTo>
                <a:lnTo>
                  <a:pt x="138906" y="64492"/>
                </a:lnTo>
                <a:lnTo>
                  <a:pt x="138906" y="128984"/>
                </a:lnTo>
                <a:lnTo>
                  <a:pt x="154781" y="140891"/>
                </a:lnTo>
                <a:cubicBezTo>
                  <a:pt x="157293" y="142751"/>
                  <a:pt x="158750" y="145697"/>
                  <a:pt x="158750" y="148828"/>
                </a:cubicBezTo>
                <a:cubicBezTo>
                  <a:pt x="158750" y="154316"/>
                  <a:pt x="154316" y="158750"/>
                  <a:pt x="148828" y="158750"/>
                </a:cubicBezTo>
                <a:lnTo>
                  <a:pt x="9922" y="158750"/>
                </a:lnTo>
                <a:cubicBezTo>
                  <a:pt x="4434" y="158750"/>
                  <a:pt x="0" y="154316"/>
                  <a:pt x="0" y="148828"/>
                </a:cubicBezTo>
                <a:cubicBezTo>
                  <a:pt x="0" y="145697"/>
                  <a:pt x="1457" y="142751"/>
                  <a:pt x="3969" y="140891"/>
                </a:cubicBezTo>
                <a:lnTo>
                  <a:pt x="19844" y="128984"/>
                </a:lnTo>
                <a:lnTo>
                  <a:pt x="19844" y="128984"/>
                </a:lnTo>
                <a:lnTo>
                  <a:pt x="19844" y="64492"/>
                </a:lnTo>
                <a:lnTo>
                  <a:pt x="9922" y="64492"/>
                </a:lnTo>
                <a:cubicBezTo>
                  <a:pt x="5519" y="64492"/>
                  <a:pt x="1643" y="61578"/>
                  <a:pt x="403" y="57361"/>
                </a:cubicBezTo>
                <a:cubicBezTo>
                  <a:pt x="-837" y="53144"/>
                  <a:pt x="868" y="48586"/>
                  <a:pt x="4558" y="46230"/>
                </a:cubicBezTo>
                <a:lnTo>
                  <a:pt x="74011" y="1581"/>
                </a:lnTo>
                <a:close/>
                <a:moveTo>
                  <a:pt x="104180" y="64492"/>
                </a:moveTo>
                <a:lnTo>
                  <a:pt x="104180" y="128984"/>
                </a:lnTo>
                <a:lnTo>
                  <a:pt x="124023" y="128984"/>
                </a:lnTo>
                <a:lnTo>
                  <a:pt x="124023" y="64492"/>
                </a:lnTo>
                <a:lnTo>
                  <a:pt x="104180" y="64492"/>
                </a:lnTo>
                <a:close/>
                <a:moveTo>
                  <a:pt x="69453" y="128984"/>
                </a:moveTo>
                <a:lnTo>
                  <a:pt x="89297" y="128984"/>
                </a:lnTo>
                <a:lnTo>
                  <a:pt x="89297" y="64492"/>
                </a:lnTo>
                <a:lnTo>
                  <a:pt x="69453" y="64492"/>
                </a:lnTo>
                <a:lnTo>
                  <a:pt x="69453" y="128984"/>
                </a:lnTo>
                <a:close/>
                <a:moveTo>
                  <a:pt x="34727" y="64492"/>
                </a:moveTo>
                <a:lnTo>
                  <a:pt x="34727" y="128984"/>
                </a:lnTo>
                <a:lnTo>
                  <a:pt x="54570" y="128984"/>
                </a:lnTo>
                <a:lnTo>
                  <a:pt x="54570" y="64492"/>
                </a:lnTo>
                <a:lnTo>
                  <a:pt x="34727" y="64492"/>
                </a:lnTo>
                <a:close/>
              </a:path>
            </a:pathLst>
          </a:custGeom>
          <a:solidFill>
            <a:srgbClr val="2A9D8F"/>
          </a:solidFill>
          <a:ln/>
        </p:spPr>
      </p:sp>
      <p:sp>
        <p:nvSpPr>
          <p:cNvPr id="53" name="Text 51"/>
          <p:cNvSpPr/>
          <p:nvPr/>
        </p:nvSpPr>
        <p:spPr>
          <a:xfrm>
            <a:off x="7319491" y="1412875"/>
            <a:ext cx="4508500" cy="222250"/>
          </a:xfrm>
          <a:prstGeom prst="rect">
            <a:avLst/>
          </a:prstGeom>
          <a:noFill/>
          <a:ln/>
        </p:spPr>
        <p:txBody>
          <a:bodyPr wrap="square" lIns="0" tIns="0" rIns="0" bIns="0" rtlCol="0" anchor="ctr"/>
          <a:lstStyle/>
          <a:p>
            <a:pPr>
              <a:lnSpc>
                <a:spcPct val="120000"/>
              </a:lnSpc>
            </a:pPr>
            <a:r>
              <a:rPr lang="en-US" sz="1250" b="1" dirty="0">
                <a:solidFill>
                  <a:srgbClr val="1A3A5C"/>
                </a:solidFill>
                <a:latin typeface="Liter" pitchFamily="34" charset="0"/>
                <a:ea typeface="Liter" pitchFamily="34" charset="-122"/>
                <a:cs typeface="Liter" pitchFamily="34" charset="-120"/>
              </a:rPr>
              <a:t>Key Milestones</a:t>
            </a:r>
            <a:endParaRPr lang="en-US" sz="1600" dirty="0"/>
          </a:p>
        </p:txBody>
      </p:sp>
      <p:sp>
        <p:nvSpPr>
          <p:cNvPr id="54" name="Shape 52"/>
          <p:cNvSpPr/>
          <p:nvPr/>
        </p:nvSpPr>
        <p:spPr>
          <a:xfrm>
            <a:off x="7121054" y="1730375"/>
            <a:ext cx="4627563" cy="317500"/>
          </a:xfrm>
          <a:custGeom>
            <a:avLst/>
            <a:gdLst/>
            <a:ahLst/>
            <a:cxnLst/>
            <a:rect l="l" t="t" r="r" b="b"/>
            <a:pathLst>
              <a:path w="4627563" h="317500">
                <a:moveTo>
                  <a:pt x="63500" y="0"/>
                </a:moveTo>
                <a:lnTo>
                  <a:pt x="4564063" y="0"/>
                </a:lnTo>
                <a:cubicBezTo>
                  <a:pt x="4599109" y="0"/>
                  <a:pt x="4627563" y="28453"/>
                  <a:pt x="4627563" y="63500"/>
                </a:cubicBezTo>
                <a:lnTo>
                  <a:pt x="4627563" y="254000"/>
                </a:lnTo>
                <a:cubicBezTo>
                  <a:pt x="4627563" y="289047"/>
                  <a:pt x="4599109" y="317500"/>
                  <a:pt x="4564063" y="317500"/>
                </a:cubicBezTo>
                <a:lnTo>
                  <a:pt x="63500" y="317500"/>
                </a:lnTo>
                <a:cubicBezTo>
                  <a:pt x="28453" y="317500"/>
                  <a:pt x="0" y="289047"/>
                  <a:pt x="0" y="254000"/>
                </a:cubicBezTo>
                <a:lnTo>
                  <a:pt x="0" y="63500"/>
                </a:lnTo>
                <a:cubicBezTo>
                  <a:pt x="0" y="28453"/>
                  <a:pt x="28453" y="0"/>
                  <a:pt x="63500" y="0"/>
                </a:cubicBezTo>
                <a:close/>
              </a:path>
            </a:pathLst>
          </a:custGeom>
          <a:solidFill>
            <a:srgbClr val="F8F9FA"/>
          </a:solidFill>
          <a:ln/>
        </p:spPr>
      </p:sp>
      <p:sp>
        <p:nvSpPr>
          <p:cNvPr id="55" name="Shape 53"/>
          <p:cNvSpPr/>
          <p:nvPr/>
        </p:nvSpPr>
        <p:spPr>
          <a:xfrm>
            <a:off x="7204397" y="1817688"/>
            <a:ext cx="142875" cy="142875"/>
          </a:xfrm>
          <a:custGeom>
            <a:avLst/>
            <a:gdLst/>
            <a:ahLst/>
            <a:cxnLst/>
            <a:rect l="l" t="t" r="r" b="b"/>
            <a:pathLst>
              <a:path w="142875" h="142875">
                <a:moveTo>
                  <a:pt x="71438" y="142875"/>
                </a:moveTo>
                <a:cubicBezTo>
                  <a:pt x="110865" y="142875"/>
                  <a:pt x="142875" y="110865"/>
                  <a:pt x="142875" y="71438"/>
                </a:cubicBezTo>
                <a:cubicBezTo>
                  <a:pt x="142875" y="32010"/>
                  <a:pt x="110865" y="0"/>
                  <a:pt x="71438" y="0"/>
                </a:cubicBezTo>
                <a:cubicBezTo>
                  <a:pt x="32010" y="0"/>
                  <a:pt x="0" y="32010"/>
                  <a:pt x="0" y="71438"/>
                </a:cubicBezTo>
                <a:cubicBezTo>
                  <a:pt x="0" y="110865"/>
                  <a:pt x="32010" y="142875"/>
                  <a:pt x="71437" y="142875"/>
                </a:cubicBezTo>
                <a:close/>
                <a:moveTo>
                  <a:pt x="94990" y="59355"/>
                </a:moveTo>
                <a:lnTo>
                  <a:pt x="72665" y="95073"/>
                </a:lnTo>
                <a:cubicBezTo>
                  <a:pt x="71493" y="96943"/>
                  <a:pt x="69484" y="98115"/>
                  <a:pt x="67280" y="98227"/>
                </a:cubicBezTo>
                <a:cubicBezTo>
                  <a:pt x="65075" y="98338"/>
                  <a:pt x="62954" y="97334"/>
                  <a:pt x="61643" y="95548"/>
                </a:cubicBezTo>
                <a:lnTo>
                  <a:pt x="48248" y="77688"/>
                </a:lnTo>
                <a:cubicBezTo>
                  <a:pt x="46016" y="74730"/>
                  <a:pt x="46630" y="70545"/>
                  <a:pt x="49588" y="68312"/>
                </a:cubicBezTo>
                <a:cubicBezTo>
                  <a:pt x="52546" y="66080"/>
                  <a:pt x="56731" y="66694"/>
                  <a:pt x="58964" y="69652"/>
                </a:cubicBezTo>
                <a:lnTo>
                  <a:pt x="66498" y="79697"/>
                </a:lnTo>
                <a:lnTo>
                  <a:pt x="83632" y="52267"/>
                </a:lnTo>
                <a:cubicBezTo>
                  <a:pt x="85585" y="49141"/>
                  <a:pt x="89715" y="48165"/>
                  <a:pt x="92869" y="50146"/>
                </a:cubicBezTo>
                <a:cubicBezTo>
                  <a:pt x="96022" y="52127"/>
                  <a:pt x="96971" y="56229"/>
                  <a:pt x="94990" y="59382"/>
                </a:cubicBezTo>
                <a:close/>
              </a:path>
            </a:pathLst>
          </a:custGeom>
          <a:solidFill>
            <a:srgbClr val="2A9D8F"/>
          </a:solidFill>
          <a:ln/>
        </p:spPr>
      </p:sp>
      <p:sp>
        <p:nvSpPr>
          <p:cNvPr id="56" name="Text 54"/>
          <p:cNvSpPr/>
          <p:nvPr/>
        </p:nvSpPr>
        <p:spPr>
          <a:xfrm>
            <a:off x="7458397" y="1793875"/>
            <a:ext cx="1333500" cy="190500"/>
          </a:xfrm>
          <a:prstGeom prst="rect">
            <a:avLst/>
          </a:prstGeom>
          <a:noFill/>
          <a:ln/>
        </p:spPr>
        <p:txBody>
          <a:bodyPr wrap="square" lIns="0" tIns="0" rIns="0" bIns="0" rtlCol="0" anchor="ctr"/>
          <a:lstStyle/>
          <a:p>
            <a:pPr>
              <a:lnSpc>
                <a:spcPct val="130000"/>
              </a:lnSpc>
            </a:pPr>
            <a:r>
              <a:rPr lang="en-US" sz="1000" b="1" dirty="0">
                <a:solidFill>
                  <a:srgbClr val="2B2D42"/>
                </a:solidFill>
                <a:latin typeface="Quattrocento Sans" pitchFamily="34" charset="0"/>
                <a:ea typeface="Quattrocento Sans" pitchFamily="34" charset="-122"/>
                <a:cs typeface="Quattrocento Sans" pitchFamily="34" charset="-120"/>
              </a:rPr>
              <a:t>1864:</a:t>
            </a:r>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 National Bank Act</a:t>
            </a:r>
            <a:endParaRPr lang="en-US" sz="1600" dirty="0"/>
          </a:p>
        </p:txBody>
      </p:sp>
      <p:sp>
        <p:nvSpPr>
          <p:cNvPr id="57" name="Shape 55"/>
          <p:cNvSpPr/>
          <p:nvPr/>
        </p:nvSpPr>
        <p:spPr>
          <a:xfrm>
            <a:off x="7121054" y="2111375"/>
            <a:ext cx="4627563" cy="317500"/>
          </a:xfrm>
          <a:custGeom>
            <a:avLst/>
            <a:gdLst/>
            <a:ahLst/>
            <a:cxnLst/>
            <a:rect l="l" t="t" r="r" b="b"/>
            <a:pathLst>
              <a:path w="4627563" h="317500">
                <a:moveTo>
                  <a:pt x="63500" y="0"/>
                </a:moveTo>
                <a:lnTo>
                  <a:pt x="4564063" y="0"/>
                </a:lnTo>
                <a:cubicBezTo>
                  <a:pt x="4599109" y="0"/>
                  <a:pt x="4627563" y="28453"/>
                  <a:pt x="4627563" y="63500"/>
                </a:cubicBezTo>
                <a:lnTo>
                  <a:pt x="4627563" y="254000"/>
                </a:lnTo>
                <a:cubicBezTo>
                  <a:pt x="4627563" y="289047"/>
                  <a:pt x="4599109" y="317500"/>
                  <a:pt x="4564063" y="317500"/>
                </a:cubicBezTo>
                <a:lnTo>
                  <a:pt x="63500" y="317500"/>
                </a:lnTo>
                <a:cubicBezTo>
                  <a:pt x="28453" y="317500"/>
                  <a:pt x="0" y="289047"/>
                  <a:pt x="0" y="254000"/>
                </a:cubicBezTo>
                <a:lnTo>
                  <a:pt x="0" y="63500"/>
                </a:lnTo>
                <a:cubicBezTo>
                  <a:pt x="0" y="28453"/>
                  <a:pt x="28453" y="0"/>
                  <a:pt x="63500" y="0"/>
                </a:cubicBezTo>
                <a:close/>
              </a:path>
            </a:pathLst>
          </a:custGeom>
          <a:solidFill>
            <a:srgbClr val="F8F9FA"/>
          </a:solidFill>
          <a:ln/>
        </p:spPr>
      </p:sp>
      <p:sp>
        <p:nvSpPr>
          <p:cNvPr id="58" name="Shape 56"/>
          <p:cNvSpPr/>
          <p:nvPr/>
        </p:nvSpPr>
        <p:spPr>
          <a:xfrm>
            <a:off x="7204397" y="2198688"/>
            <a:ext cx="142875" cy="142875"/>
          </a:xfrm>
          <a:custGeom>
            <a:avLst/>
            <a:gdLst/>
            <a:ahLst/>
            <a:cxnLst/>
            <a:rect l="l" t="t" r="r" b="b"/>
            <a:pathLst>
              <a:path w="142875" h="142875">
                <a:moveTo>
                  <a:pt x="71438" y="142875"/>
                </a:moveTo>
                <a:cubicBezTo>
                  <a:pt x="110865" y="142875"/>
                  <a:pt x="142875" y="110865"/>
                  <a:pt x="142875" y="71438"/>
                </a:cubicBezTo>
                <a:cubicBezTo>
                  <a:pt x="142875" y="32010"/>
                  <a:pt x="110865" y="0"/>
                  <a:pt x="71438" y="0"/>
                </a:cubicBezTo>
                <a:cubicBezTo>
                  <a:pt x="32010" y="0"/>
                  <a:pt x="0" y="32010"/>
                  <a:pt x="0" y="71438"/>
                </a:cubicBezTo>
                <a:cubicBezTo>
                  <a:pt x="0" y="110865"/>
                  <a:pt x="32010" y="142875"/>
                  <a:pt x="71437" y="142875"/>
                </a:cubicBezTo>
                <a:close/>
                <a:moveTo>
                  <a:pt x="94990" y="59355"/>
                </a:moveTo>
                <a:lnTo>
                  <a:pt x="72665" y="95073"/>
                </a:lnTo>
                <a:cubicBezTo>
                  <a:pt x="71493" y="96943"/>
                  <a:pt x="69484" y="98115"/>
                  <a:pt x="67280" y="98227"/>
                </a:cubicBezTo>
                <a:cubicBezTo>
                  <a:pt x="65075" y="98338"/>
                  <a:pt x="62954" y="97334"/>
                  <a:pt x="61643" y="95548"/>
                </a:cubicBezTo>
                <a:lnTo>
                  <a:pt x="48248" y="77688"/>
                </a:lnTo>
                <a:cubicBezTo>
                  <a:pt x="46016" y="74730"/>
                  <a:pt x="46630" y="70545"/>
                  <a:pt x="49588" y="68312"/>
                </a:cubicBezTo>
                <a:cubicBezTo>
                  <a:pt x="52546" y="66080"/>
                  <a:pt x="56731" y="66694"/>
                  <a:pt x="58964" y="69652"/>
                </a:cubicBezTo>
                <a:lnTo>
                  <a:pt x="66498" y="79697"/>
                </a:lnTo>
                <a:lnTo>
                  <a:pt x="83632" y="52267"/>
                </a:lnTo>
                <a:cubicBezTo>
                  <a:pt x="85585" y="49141"/>
                  <a:pt x="89715" y="48165"/>
                  <a:pt x="92869" y="50146"/>
                </a:cubicBezTo>
                <a:cubicBezTo>
                  <a:pt x="96022" y="52127"/>
                  <a:pt x="96971" y="56229"/>
                  <a:pt x="94990" y="59382"/>
                </a:cubicBezTo>
                <a:close/>
              </a:path>
            </a:pathLst>
          </a:custGeom>
          <a:solidFill>
            <a:srgbClr val="2A9D8F"/>
          </a:solidFill>
          <a:ln/>
        </p:spPr>
      </p:sp>
      <p:sp>
        <p:nvSpPr>
          <p:cNvPr id="59" name="Text 57"/>
          <p:cNvSpPr/>
          <p:nvPr/>
        </p:nvSpPr>
        <p:spPr>
          <a:xfrm>
            <a:off x="7458397" y="2174875"/>
            <a:ext cx="1293813" cy="190500"/>
          </a:xfrm>
          <a:prstGeom prst="rect">
            <a:avLst/>
          </a:prstGeom>
          <a:noFill/>
          <a:ln/>
        </p:spPr>
        <p:txBody>
          <a:bodyPr wrap="square" lIns="0" tIns="0" rIns="0" bIns="0" rtlCol="0" anchor="ctr"/>
          <a:lstStyle/>
          <a:p>
            <a:pPr>
              <a:lnSpc>
                <a:spcPct val="130000"/>
              </a:lnSpc>
            </a:pPr>
            <a:r>
              <a:rPr lang="en-US" sz="1000" b="1" dirty="0">
                <a:solidFill>
                  <a:srgbClr val="2B2D42"/>
                </a:solidFill>
                <a:latin typeface="Quattrocento Sans" pitchFamily="34" charset="0"/>
                <a:ea typeface="Quattrocento Sans" pitchFamily="34" charset="-122"/>
                <a:cs typeface="Quattrocento Sans" pitchFamily="34" charset="-120"/>
              </a:rPr>
              <a:t>1935:</a:t>
            </a:r>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 FDIC Established</a:t>
            </a:r>
            <a:endParaRPr lang="en-US" sz="1600" dirty="0"/>
          </a:p>
        </p:txBody>
      </p:sp>
      <p:sp>
        <p:nvSpPr>
          <p:cNvPr id="60" name="Shape 58"/>
          <p:cNvSpPr/>
          <p:nvPr/>
        </p:nvSpPr>
        <p:spPr>
          <a:xfrm>
            <a:off x="7121054" y="2492375"/>
            <a:ext cx="4627563" cy="317500"/>
          </a:xfrm>
          <a:custGeom>
            <a:avLst/>
            <a:gdLst/>
            <a:ahLst/>
            <a:cxnLst/>
            <a:rect l="l" t="t" r="r" b="b"/>
            <a:pathLst>
              <a:path w="4627563" h="317500">
                <a:moveTo>
                  <a:pt x="63500" y="0"/>
                </a:moveTo>
                <a:lnTo>
                  <a:pt x="4564063" y="0"/>
                </a:lnTo>
                <a:cubicBezTo>
                  <a:pt x="4599109" y="0"/>
                  <a:pt x="4627563" y="28453"/>
                  <a:pt x="4627563" y="63500"/>
                </a:cubicBezTo>
                <a:lnTo>
                  <a:pt x="4627563" y="254000"/>
                </a:lnTo>
                <a:cubicBezTo>
                  <a:pt x="4627563" y="289047"/>
                  <a:pt x="4599109" y="317500"/>
                  <a:pt x="4564063" y="317500"/>
                </a:cubicBezTo>
                <a:lnTo>
                  <a:pt x="63500" y="317500"/>
                </a:lnTo>
                <a:cubicBezTo>
                  <a:pt x="28453" y="317500"/>
                  <a:pt x="0" y="289047"/>
                  <a:pt x="0" y="254000"/>
                </a:cubicBezTo>
                <a:lnTo>
                  <a:pt x="0" y="63500"/>
                </a:lnTo>
                <a:cubicBezTo>
                  <a:pt x="0" y="28453"/>
                  <a:pt x="28453" y="0"/>
                  <a:pt x="63500" y="0"/>
                </a:cubicBezTo>
                <a:close/>
              </a:path>
            </a:pathLst>
          </a:custGeom>
          <a:solidFill>
            <a:srgbClr val="F8F9FA"/>
          </a:solidFill>
          <a:ln/>
        </p:spPr>
      </p:sp>
      <p:sp>
        <p:nvSpPr>
          <p:cNvPr id="61" name="Shape 59"/>
          <p:cNvSpPr/>
          <p:nvPr/>
        </p:nvSpPr>
        <p:spPr>
          <a:xfrm>
            <a:off x="7204397" y="2579688"/>
            <a:ext cx="142875" cy="142875"/>
          </a:xfrm>
          <a:custGeom>
            <a:avLst/>
            <a:gdLst/>
            <a:ahLst/>
            <a:cxnLst/>
            <a:rect l="l" t="t" r="r" b="b"/>
            <a:pathLst>
              <a:path w="142875" h="142875">
                <a:moveTo>
                  <a:pt x="71438" y="142875"/>
                </a:moveTo>
                <a:cubicBezTo>
                  <a:pt x="110865" y="142875"/>
                  <a:pt x="142875" y="110865"/>
                  <a:pt x="142875" y="71438"/>
                </a:cubicBezTo>
                <a:cubicBezTo>
                  <a:pt x="142875" y="32010"/>
                  <a:pt x="110865" y="0"/>
                  <a:pt x="71438" y="0"/>
                </a:cubicBezTo>
                <a:cubicBezTo>
                  <a:pt x="32010" y="0"/>
                  <a:pt x="0" y="32010"/>
                  <a:pt x="0" y="71438"/>
                </a:cubicBezTo>
                <a:cubicBezTo>
                  <a:pt x="0" y="110865"/>
                  <a:pt x="32010" y="142875"/>
                  <a:pt x="71437" y="142875"/>
                </a:cubicBezTo>
                <a:close/>
                <a:moveTo>
                  <a:pt x="94990" y="59355"/>
                </a:moveTo>
                <a:lnTo>
                  <a:pt x="72665" y="95073"/>
                </a:lnTo>
                <a:cubicBezTo>
                  <a:pt x="71493" y="96943"/>
                  <a:pt x="69484" y="98115"/>
                  <a:pt x="67280" y="98227"/>
                </a:cubicBezTo>
                <a:cubicBezTo>
                  <a:pt x="65075" y="98338"/>
                  <a:pt x="62954" y="97334"/>
                  <a:pt x="61643" y="95548"/>
                </a:cubicBezTo>
                <a:lnTo>
                  <a:pt x="48248" y="77688"/>
                </a:lnTo>
                <a:cubicBezTo>
                  <a:pt x="46016" y="74730"/>
                  <a:pt x="46630" y="70545"/>
                  <a:pt x="49588" y="68312"/>
                </a:cubicBezTo>
                <a:cubicBezTo>
                  <a:pt x="52546" y="66080"/>
                  <a:pt x="56731" y="66694"/>
                  <a:pt x="58964" y="69652"/>
                </a:cubicBezTo>
                <a:lnTo>
                  <a:pt x="66498" y="79697"/>
                </a:lnTo>
                <a:lnTo>
                  <a:pt x="83632" y="52267"/>
                </a:lnTo>
                <a:cubicBezTo>
                  <a:pt x="85585" y="49141"/>
                  <a:pt x="89715" y="48165"/>
                  <a:pt x="92869" y="50146"/>
                </a:cubicBezTo>
                <a:cubicBezTo>
                  <a:pt x="96022" y="52127"/>
                  <a:pt x="96971" y="56229"/>
                  <a:pt x="94990" y="59382"/>
                </a:cubicBezTo>
                <a:close/>
              </a:path>
            </a:pathLst>
          </a:custGeom>
          <a:solidFill>
            <a:srgbClr val="2A9D8F"/>
          </a:solidFill>
          <a:ln/>
        </p:spPr>
      </p:sp>
      <p:sp>
        <p:nvSpPr>
          <p:cNvPr id="62" name="Text 60"/>
          <p:cNvSpPr/>
          <p:nvPr/>
        </p:nvSpPr>
        <p:spPr>
          <a:xfrm>
            <a:off x="7458397" y="2555875"/>
            <a:ext cx="1500188" cy="190500"/>
          </a:xfrm>
          <a:prstGeom prst="rect">
            <a:avLst/>
          </a:prstGeom>
          <a:noFill/>
          <a:ln/>
        </p:spPr>
        <p:txBody>
          <a:bodyPr wrap="square" lIns="0" tIns="0" rIns="0" bIns="0" rtlCol="0" anchor="ctr"/>
          <a:lstStyle/>
          <a:p>
            <a:pPr>
              <a:lnSpc>
                <a:spcPct val="130000"/>
              </a:lnSpc>
            </a:pPr>
            <a:r>
              <a:rPr lang="en-US" sz="1000" b="1" dirty="0">
                <a:solidFill>
                  <a:srgbClr val="2B2D42"/>
                </a:solidFill>
                <a:latin typeface="Quattrocento Sans" pitchFamily="34" charset="0"/>
                <a:ea typeface="Quattrocento Sans" pitchFamily="34" charset="-122"/>
                <a:cs typeface="Quattrocento Sans" pitchFamily="34" charset="-120"/>
              </a:rPr>
              <a:t>1971:</a:t>
            </a:r>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 End of Gold Standard</a:t>
            </a:r>
            <a:endParaRPr lang="en-US" sz="1600" dirty="0"/>
          </a:p>
        </p:txBody>
      </p:sp>
      <p:sp>
        <p:nvSpPr>
          <p:cNvPr id="63" name="Shape 61"/>
          <p:cNvSpPr/>
          <p:nvPr/>
        </p:nvSpPr>
        <p:spPr>
          <a:xfrm>
            <a:off x="7121054" y="2873375"/>
            <a:ext cx="4627563" cy="317500"/>
          </a:xfrm>
          <a:custGeom>
            <a:avLst/>
            <a:gdLst/>
            <a:ahLst/>
            <a:cxnLst/>
            <a:rect l="l" t="t" r="r" b="b"/>
            <a:pathLst>
              <a:path w="4627563" h="317500">
                <a:moveTo>
                  <a:pt x="63500" y="0"/>
                </a:moveTo>
                <a:lnTo>
                  <a:pt x="4564063" y="0"/>
                </a:lnTo>
                <a:cubicBezTo>
                  <a:pt x="4599109" y="0"/>
                  <a:pt x="4627563" y="28453"/>
                  <a:pt x="4627563" y="63500"/>
                </a:cubicBezTo>
                <a:lnTo>
                  <a:pt x="4627563" y="254000"/>
                </a:lnTo>
                <a:cubicBezTo>
                  <a:pt x="4627563" y="289047"/>
                  <a:pt x="4599109" y="317500"/>
                  <a:pt x="4564063" y="317500"/>
                </a:cubicBezTo>
                <a:lnTo>
                  <a:pt x="63500" y="317500"/>
                </a:lnTo>
                <a:cubicBezTo>
                  <a:pt x="28453" y="317500"/>
                  <a:pt x="0" y="289047"/>
                  <a:pt x="0" y="254000"/>
                </a:cubicBezTo>
                <a:lnTo>
                  <a:pt x="0" y="63500"/>
                </a:lnTo>
                <a:cubicBezTo>
                  <a:pt x="0" y="28453"/>
                  <a:pt x="28453" y="0"/>
                  <a:pt x="63500" y="0"/>
                </a:cubicBezTo>
                <a:close/>
              </a:path>
            </a:pathLst>
          </a:custGeom>
          <a:solidFill>
            <a:srgbClr val="F8F9FA"/>
          </a:solidFill>
          <a:ln/>
        </p:spPr>
      </p:sp>
      <p:sp>
        <p:nvSpPr>
          <p:cNvPr id="64" name="Shape 62"/>
          <p:cNvSpPr/>
          <p:nvPr/>
        </p:nvSpPr>
        <p:spPr>
          <a:xfrm>
            <a:off x="7204397" y="2960688"/>
            <a:ext cx="142875" cy="142875"/>
          </a:xfrm>
          <a:custGeom>
            <a:avLst/>
            <a:gdLst/>
            <a:ahLst/>
            <a:cxnLst/>
            <a:rect l="l" t="t" r="r" b="b"/>
            <a:pathLst>
              <a:path w="142875" h="142875">
                <a:moveTo>
                  <a:pt x="71438" y="142875"/>
                </a:moveTo>
                <a:cubicBezTo>
                  <a:pt x="110865" y="142875"/>
                  <a:pt x="142875" y="110865"/>
                  <a:pt x="142875" y="71438"/>
                </a:cubicBezTo>
                <a:cubicBezTo>
                  <a:pt x="142875" y="32010"/>
                  <a:pt x="110865" y="0"/>
                  <a:pt x="71438" y="0"/>
                </a:cubicBezTo>
                <a:cubicBezTo>
                  <a:pt x="32010" y="0"/>
                  <a:pt x="0" y="32010"/>
                  <a:pt x="0" y="71438"/>
                </a:cubicBezTo>
                <a:cubicBezTo>
                  <a:pt x="0" y="110865"/>
                  <a:pt x="32010" y="142875"/>
                  <a:pt x="71437" y="142875"/>
                </a:cubicBezTo>
                <a:close/>
                <a:moveTo>
                  <a:pt x="94990" y="59355"/>
                </a:moveTo>
                <a:lnTo>
                  <a:pt x="72665" y="95073"/>
                </a:lnTo>
                <a:cubicBezTo>
                  <a:pt x="71493" y="96943"/>
                  <a:pt x="69484" y="98115"/>
                  <a:pt x="67280" y="98227"/>
                </a:cubicBezTo>
                <a:cubicBezTo>
                  <a:pt x="65075" y="98338"/>
                  <a:pt x="62954" y="97334"/>
                  <a:pt x="61643" y="95548"/>
                </a:cubicBezTo>
                <a:lnTo>
                  <a:pt x="48248" y="77688"/>
                </a:lnTo>
                <a:cubicBezTo>
                  <a:pt x="46016" y="74730"/>
                  <a:pt x="46630" y="70545"/>
                  <a:pt x="49588" y="68312"/>
                </a:cubicBezTo>
                <a:cubicBezTo>
                  <a:pt x="52546" y="66080"/>
                  <a:pt x="56731" y="66694"/>
                  <a:pt x="58964" y="69652"/>
                </a:cubicBezTo>
                <a:lnTo>
                  <a:pt x="66498" y="79697"/>
                </a:lnTo>
                <a:lnTo>
                  <a:pt x="83632" y="52267"/>
                </a:lnTo>
                <a:cubicBezTo>
                  <a:pt x="85585" y="49141"/>
                  <a:pt x="89715" y="48165"/>
                  <a:pt x="92869" y="50146"/>
                </a:cubicBezTo>
                <a:cubicBezTo>
                  <a:pt x="96022" y="52127"/>
                  <a:pt x="96971" y="56229"/>
                  <a:pt x="94990" y="59382"/>
                </a:cubicBezTo>
                <a:close/>
              </a:path>
            </a:pathLst>
          </a:custGeom>
          <a:solidFill>
            <a:srgbClr val="2A9D8F"/>
          </a:solidFill>
          <a:ln/>
        </p:spPr>
      </p:sp>
      <p:sp>
        <p:nvSpPr>
          <p:cNvPr id="65" name="Text 63"/>
          <p:cNvSpPr/>
          <p:nvPr/>
        </p:nvSpPr>
        <p:spPr>
          <a:xfrm>
            <a:off x="7458397" y="2936875"/>
            <a:ext cx="1349375" cy="190500"/>
          </a:xfrm>
          <a:prstGeom prst="rect">
            <a:avLst/>
          </a:prstGeom>
          <a:noFill/>
          <a:ln/>
        </p:spPr>
        <p:txBody>
          <a:bodyPr wrap="square" lIns="0" tIns="0" rIns="0" bIns="0" rtlCol="0" anchor="ctr"/>
          <a:lstStyle/>
          <a:p>
            <a:pPr>
              <a:lnSpc>
                <a:spcPct val="130000"/>
              </a:lnSpc>
            </a:pPr>
            <a:r>
              <a:rPr lang="en-US" sz="1000" b="1" dirty="0">
                <a:solidFill>
                  <a:srgbClr val="2B2D42"/>
                </a:solidFill>
                <a:latin typeface="Quattrocento Sans" pitchFamily="34" charset="0"/>
                <a:ea typeface="Quattrocento Sans" pitchFamily="34" charset="-122"/>
                <a:cs typeface="Quattrocento Sans" pitchFamily="34" charset="-120"/>
              </a:rPr>
              <a:t>1994:</a:t>
            </a:r>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 Interstate Banking</a:t>
            </a:r>
            <a:endParaRPr lang="en-US" sz="1600" dirty="0"/>
          </a:p>
        </p:txBody>
      </p:sp>
      <p:sp>
        <p:nvSpPr>
          <p:cNvPr id="66" name="Shape 64"/>
          <p:cNvSpPr/>
          <p:nvPr/>
        </p:nvSpPr>
        <p:spPr>
          <a:xfrm>
            <a:off x="7121054" y="3254375"/>
            <a:ext cx="4627563" cy="317500"/>
          </a:xfrm>
          <a:custGeom>
            <a:avLst/>
            <a:gdLst/>
            <a:ahLst/>
            <a:cxnLst/>
            <a:rect l="l" t="t" r="r" b="b"/>
            <a:pathLst>
              <a:path w="4627563" h="317500">
                <a:moveTo>
                  <a:pt x="63500" y="0"/>
                </a:moveTo>
                <a:lnTo>
                  <a:pt x="4564063" y="0"/>
                </a:lnTo>
                <a:cubicBezTo>
                  <a:pt x="4599109" y="0"/>
                  <a:pt x="4627563" y="28453"/>
                  <a:pt x="4627563" y="63500"/>
                </a:cubicBezTo>
                <a:lnTo>
                  <a:pt x="4627563" y="254000"/>
                </a:lnTo>
                <a:cubicBezTo>
                  <a:pt x="4627563" y="289047"/>
                  <a:pt x="4599109" y="317500"/>
                  <a:pt x="4564063" y="317500"/>
                </a:cubicBezTo>
                <a:lnTo>
                  <a:pt x="63500" y="317500"/>
                </a:lnTo>
                <a:cubicBezTo>
                  <a:pt x="28453" y="317500"/>
                  <a:pt x="0" y="289047"/>
                  <a:pt x="0" y="254000"/>
                </a:cubicBezTo>
                <a:lnTo>
                  <a:pt x="0" y="63500"/>
                </a:lnTo>
                <a:cubicBezTo>
                  <a:pt x="0" y="28453"/>
                  <a:pt x="28453" y="0"/>
                  <a:pt x="63500" y="0"/>
                </a:cubicBezTo>
                <a:close/>
              </a:path>
            </a:pathLst>
          </a:custGeom>
          <a:solidFill>
            <a:srgbClr val="F8F9FA"/>
          </a:solidFill>
          <a:ln/>
        </p:spPr>
      </p:sp>
      <p:sp>
        <p:nvSpPr>
          <p:cNvPr id="67" name="Shape 65"/>
          <p:cNvSpPr/>
          <p:nvPr/>
        </p:nvSpPr>
        <p:spPr>
          <a:xfrm>
            <a:off x="7204397" y="3341688"/>
            <a:ext cx="142875" cy="142875"/>
          </a:xfrm>
          <a:custGeom>
            <a:avLst/>
            <a:gdLst/>
            <a:ahLst/>
            <a:cxnLst/>
            <a:rect l="l" t="t" r="r" b="b"/>
            <a:pathLst>
              <a:path w="142875" h="142875">
                <a:moveTo>
                  <a:pt x="71438" y="142875"/>
                </a:moveTo>
                <a:cubicBezTo>
                  <a:pt x="110865" y="142875"/>
                  <a:pt x="142875" y="110865"/>
                  <a:pt x="142875" y="71438"/>
                </a:cubicBezTo>
                <a:cubicBezTo>
                  <a:pt x="142875" y="32010"/>
                  <a:pt x="110865" y="0"/>
                  <a:pt x="71438" y="0"/>
                </a:cubicBezTo>
                <a:cubicBezTo>
                  <a:pt x="32010" y="0"/>
                  <a:pt x="0" y="32010"/>
                  <a:pt x="0" y="71438"/>
                </a:cubicBezTo>
                <a:cubicBezTo>
                  <a:pt x="0" y="110865"/>
                  <a:pt x="32010" y="142875"/>
                  <a:pt x="71437" y="142875"/>
                </a:cubicBezTo>
                <a:close/>
                <a:moveTo>
                  <a:pt x="94990" y="59355"/>
                </a:moveTo>
                <a:lnTo>
                  <a:pt x="72665" y="95073"/>
                </a:lnTo>
                <a:cubicBezTo>
                  <a:pt x="71493" y="96943"/>
                  <a:pt x="69484" y="98115"/>
                  <a:pt x="67280" y="98227"/>
                </a:cubicBezTo>
                <a:cubicBezTo>
                  <a:pt x="65075" y="98338"/>
                  <a:pt x="62954" y="97334"/>
                  <a:pt x="61643" y="95548"/>
                </a:cubicBezTo>
                <a:lnTo>
                  <a:pt x="48248" y="77688"/>
                </a:lnTo>
                <a:cubicBezTo>
                  <a:pt x="46016" y="74730"/>
                  <a:pt x="46630" y="70545"/>
                  <a:pt x="49588" y="68312"/>
                </a:cubicBezTo>
                <a:cubicBezTo>
                  <a:pt x="52546" y="66080"/>
                  <a:pt x="56731" y="66694"/>
                  <a:pt x="58964" y="69652"/>
                </a:cubicBezTo>
                <a:lnTo>
                  <a:pt x="66498" y="79697"/>
                </a:lnTo>
                <a:lnTo>
                  <a:pt x="83632" y="52267"/>
                </a:lnTo>
                <a:cubicBezTo>
                  <a:pt x="85585" y="49141"/>
                  <a:pt x="89715" y="48165"/>
                  <a:pt x="92869" y="50146"/>
                </a:cubicBezTo>
                <a:cubicBezTo>
                  <a:pt x="96022" y="52127"/>
                  <a:pt x="96971" y="56229"/>
                  <a:pt x="94990" y="59382"/>
                </a:cubicBezTo>
                <a:close/>
              </a:path>
            </a:pathLst>
          </a:custGeom>
          <a:solidFill>
            <a:srgbClr val="2A9D8F"/>
          </a:solidFill>
          <a:ln/>
        </p:spPr>
      </p:sp>
      <p:sp>
        <p:nvSpPr>
          <p:cNvPr id="68" name="Text 66"/>
          <p:cNvSpPr/>
          <p:nvPr/>
        </p:nvSpPr>
        <p:spPr>
          <a:xfrm>
            <a:off x="7458397" y="3317875"/>
            <a:ext cx="1936750" cy="190500"/>
          </a:xfrm>
          <a:prstGeom prst="rect">
            <a:avLst/>
          </a:prstGeom>
          <a:noFill/>
          <a:ln/>
        </p:spPr>
        <p:txBody>
          <a:bodyPr wrap="square" lIns="0" tIns="0" rIns="0" bIns="0" rtlCol="0" anchor="ctr"/>
          <a:lstStyle/>
          <a:p>
            <a:pPr>
              <a:lnSpc>
                <a:spcPct val="130000"/>
              </a:lnSpc>
            </a:pPr>
            <a:r>
              <a:rPr lang="en-US" sz="1000" b="1" dirty="0">
                <a:solidFill>
                  <a:srgbClr val="2B2D42"/>
                </a:solidFill>
                <a:latin typeface="Quattrocento Sans" pitchFamily="34" charset="0"/>
                <a:ea typeface="Quattrocento Sans" pitchFamily="34" charset="-122"/>
                <a:cs typeface="Quattrocento Sans" pitchFamily="34" charset="-120"/>
              </a:rPr>
              <a:t>2020:</a:t>
            </a:r>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 Zero Reserve Requirements</a:t>
            </a:r>
            <a:endParaRPr lang="en-US" sz="1600" dirty="0"/>
          </a:p>
        </p:txBody>
      </p:sp>
      <p:sp>
        <p:nvSpPr>
          <p:cNvPr id="69" name="Shape 67"/>
          <p:cNvSpPr/>
          <p:nvPr/>
        </p:nvSpPr>
        <p:spPr>
          <a:xfrm>
            <a:off x="6994054" y="3825875"/>
            <a:ext cx="4881563" cy="2508250"/>
          </a:xfrm>
          <a:custGeom>
            <a:avLst/>
            <a:gdLst/>
            <a:ahLst/>
            <a:cxnLst/>
            <a:rect l="l" t="t" r="r" b="b"/>
            <a:pathLst>
              <a:path w="4881563" h="2508250">
                <a:moveTo>
                  <a:pt x="95238" y="0"/>
                </a:moveTo>
                <a:lnTo>
                  <a:pt x="4786324" y="0"/>
                </a:lnTo>
                <a:cubicBezTo>
                  <a:pt x="4838923" y="0"/>
                  <a:pt x="4881563" y="42640"/>
                  <a:pt x="4881563" y="95238"/>
                </a:cubicBezTo>
                <a:lnTo>
                  <a:pt x="4881563" y="2413012"/>
                </a:lnTo>
                <a:cubicBezTo>
                  <a:pt x="4881563" y="2465610"/>
                  <a:pt x="4838923" y="2508250"/>
                  <a:pt x="4786324" y="2508250"/>
                </a:cubicBezTo>
                <a:lnTo>
                  <a:pt x="95238" y="2508250"/>
                </a:lnTo>
                <a:cubicBezTo>
                  <a:pt x="42640" y="2508250"/>
                  <a:pt x="0" y="2465610"/>
                  <a:pt x="0" y="2413012"/>
                </a:cubicBezTo>
                <a:lnTo>
                  <a:pt x="0" y="95238"/>
                </a:lnTo>
                <a:cubicBezTo>
                  <a:pt x="0" y="42675"/>
                  <a:pt x="42675" y="0"/>
                  <a:pt x="95238" y="0"/>
                </a:cubicBezTo>
                <a:close/>
              </a:path>
            </a:pathLst>
          </a:custGeom>
          <a:gradFill rotWithShape="1" flip="none">
            <a:gsLst>
              <a:gs pos="0">
                <a:srgbClr val="1A3A5C"/>
              </a:gs>
              <a:gs pos="100000">
                <a:srgbClr val="2A9D8F"/>
              </a:gs>
            </a:gsLst>
            <a:lin ang="2700000" scaled="1"/>
          </a:gradFill>
          <a:ln/>
          <a:effectLst>
            <a:outerShdw sx="100000" sy="100000" kx="0" ky="0" algn="bl" rotWithShape="0" blurRad="119063" dist="79375" dir="5400000">
              <a:srgbClr val="000000">
                <a:alpha val="10196"/>
              </a:srgbClr>
            </a:outerShdw>
          </a:effectLst>
        </p:spPr>
      </p:sp>
      <p:sp>
        <p:nvSpPr>
          <p:cNvPr id="70" name="Shape 68"/>
          <p:cNvSpPr/>
          <p:nvPr/>
        </p:nvSpPr>
        <p:spPr>
          <a:xfrm>
            <a:off x="7140897" y="4492625"/>
            <a:ext cx="158750" cy="158750"/>
          </a:xfrm>
          <a:custGeom>
            <a:avLst/>
            <a:gdLst/>
            <a:ahLst/>
            <a:cxnLst/>
            <a:rect l="l" t="t" r="r" b="b"/>
            <a:pathLst>
              <a:path w="158750" h="158750">
                <a:moveTo>
                  <a:pt x="19844" y="19844"/>
                </a:moveTo>
                <a:cubicBezTo>
                  <a:pt x="19844" y="14356"/>
                  <a:pt x="15410" y="9922"/>
                  <a:pt x="9922" y="9922"/>
                </a:cubicBezTo>
                <a:cubicBezTo>
                  <a:pt x="4434" y="9922"/>
                  <a:pt x="0" y="14356"/>
                  <a:pt x="0" y="19844"/>
                </a:cubicBezTo>
                <a:lnTo>
                  <a:pt x="0" y="124023"/>
                </a:lnTo>
                <a:cubicBezTo>
                  <a:pt x="0" y="137728"/>
                  <a:pt x="11100" y="148828"/>
                  <a:pt x="24805" y="148828"/>
                </a:cubicBezTo>
                <a:lnTo>
                  <a:pt x="148828" y="148828"/>
                </a:lnTo>
                <a:cubicBezTo>
                  <a:pt x="154316" y="148828"/>
                  <a:pt x="158750" y="144394"/>
                  <a:pt x="158750" y="138906"/>
                </a:cubicBezTo>
                <a:cubicBezTo>
                  <a:pt x="158750" y="133418"/>
                  <a:pt x="154316" y="128984"/>
                  <a:pt x="148828" y="128984"/>
                </a:cubicBezTo>
                <a:lnTo>
                  <a:pt x="24805" y="128984"/>
                </a:lnTo>
                <a:cubicBezTo>
                  <a:pt x="22076" y="128984"/>
                  <a:pt x="19844" y="126752"/>
                  <a:pt x="19844" y="124023"/>
                </a:cubicBezTo>
                <a:lnTo>
                  <a:pt x="19844" y="19844"/>
                </a:lnTo>
                <a:close/>
                <a:moveTo>
                  <a:pt x="145914" y="46695"/>
                </a:moveTo>
                <a:cubicBezTo>
                  <a:pt x="149789" y="42819"/>
                  <a:pt x="149789" y="36525"/>
                  <a:pt x="145914" y="32649"/>
                </a:cubicBezTo>
                <a:cubicBezTo>
                  <a:pt x="142038" y="28773"/>
                  <a:pt x="135744" y="28773"/>
                  <a:pt x="131868" y="32649"/>
                </a:cubicBezTo>
                <a:lnTo>
                  <a:pt x="99219" y="65329"/>
                </a:lnTo>
                <a:lnTo>
                  <a:pt x="81421" y="47563"/>
                </a:lnTo>
                <a:cubicBezTo>
                  <a:pt x="77546" y="43687"/>
                  <a:pt x="71251" y="43687"/>
                  <a:pt x="67376" y="47563"/>
                </a:cubicBezTo>
                <a:lnTo>
                  <a:pt x="37610" y="77329"/>
                </a:lnTo>
                <a:cubicBezTo>
                  <a:pt x="33734" y="81204"/>
                  <a:pt x="33734" y="87499"/>
                  <a:pt x="37610" y="91374"/>
                </a:cubicBezTo>
                <a:cubicBezTo>
                  <a:pt x="41486" y="95250"/>
                  <a:pt x="47780" y="95250"/>
                  <a:pt x="51656" y="91374"/>
                </a:cubicBezTo>
                <a:lnTo>
                  <a:pt x="74414" y="68616"/>
                </a:lnTo>
                <a:lnTo>
                  <a:pt x="92211" y="86413"/>
                </a:lnTo>
                <a:cubicBezTo>
                  <a:pt x="96087" y="90289"/>
                  <a:pt x="102381" y="90289"/>
                  <a:pt x="106257" y="86413"/>
                </a:cubicBezTo>
                <a:lnTo>
                  <a:pt x="145945" y="46726"/>
                </a:lnTo>
                <a:close/>
              </a:path>
            </a:pathLst>
          </a:custGeom>
          <a:solidFill>
            <a:srgbClr val="FFFFFF"/>
          </a:solidFill>
          <a:ln/>
        </p:spPr>
      </p:sp>
      <p:sp>
        <p:nvSpPr>
          <p:cNvPr id="71" name="Text 69"/>
          <p:cNvSpPr/>
          <p:nvPr/>
        </p:nvSpPr>
        <p:spPr>
          <a:xfrm>
            <a:off x="7319491" y="4460875"/>
            <a:ext cx="4508500"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Liter" pitchFamily="34" charset="0"/>
                <a:ea typeface="Liter" pitchFamily="34" charset="-122"/>
                <a:cs typeface="Liter" pitchFamily="34" charset="-120"/>
              </a:rPr>
              <a:t>Evolution Impact</a:t>
            </a:r>
            <a:endParaRPr lang="en-US" sz="1600" dirty="0"/>
          </a:p>
        </p:txBody>
      </p:sp>
      <p:sp>
        <p:nvSpPr>
          <p:cNvPr id="72" name="Text 70"/>
          <p:cNvSpPr/>
          <p:nvPr/>
        </p:nvSpPr>
        <p:spPr>
          <a:xfrm>
            <a:off x="7121054" y="4746625"/>
            <a:ext cx="4691063" cy="349250"/>
          </a:xfrm>
          <a:prstGeom prst="rect">
            <a:avLst/>
          </a:prstGeom>
          <a:noFill/>
          <a:ln/>
        </p:spPr>
        <p:txBody>
          <a:bodyPr wrap="square" lIns="0" tIns="0" rIns="0" bIns="0" rtlCol="0" anchor="ctr"/>
          <a:lstStyle/>
          <a:p>
            <a:pPr>
              <a:lnSpc>
                <a:spcPct val="110000"/>
              </a:lnSpc>
            </a:pPr>
            <a:r>
              <a:rPr lang="en-US" sz="1000" dirty="0">
                <a:solidFill>
                  <a:srgbClr val="FFFFFF"/>
                </a:solidFill>
                <a:latin typeface="Quattrocento Sans" pitchFamily="34" charset="0"/>
                <a:ea typeface="Quattrocento Sans" pitchFamily="34" charset="-122"/>
                <a:cs typeface="Quattrocento Sans" pitchFamily="34" charset="-120"/>
              </a:rPr>
              <a:t>Banking has transformed from </a:t>
            </a:r>
            <a:pPr>
              <a:lnSpc>
                <a:spcPct val="110000"/>
              </a:lnSpc>
            </a:pPr>
            <a:r>
              <a:rPr lang="en-US" sz="1000" dirty="0">
                <a:solidFill>
                  <a:srgbClr val="FFFFFF"/>
                </a:solidFill>
                <a:highlight>
                  <a:srgbClr val="FFFFFF">
                    <a:alpha val="20000"/>
                  </a:srgbClr>
                </a:highlight>
                <a:latin typeface="Quattrocento Sans" pitchFamily="34" charset="0"/>
                <a:ea typeface="Quattrocento Sans" pitchFamily="34" charset="-122"/>
                <a:cs typeface="Quattrocento Sans" pitchFamily="34" charset="-120"/>
              </a:rPr>
              <a:t>physical branches </a:t>
            </a:r>
            <a:pPr>
              <a:lnSpc>
                <a:spcPct val="110000"/>
              </a:lnSpc>
            </a:pPr>
            <a:r>
              <a:rPr lang="en-US" sz="1000" dirty="0">
                <a:solidFill>
                  <a:srgbClr val="FFFFFF"/>
                </a:solidFill>
                <a:latin typeface="Quattrocento Sans" pitchFamily="34" charset="0"/>
                <a:ea typeface="Quattrocento Sans" pitchFamily="34" charset="-122"/>
                <a:cs typeface="Quattrocento Sans" pitchFamily="34" charset="-120"/>
              </a:rPr>
              <a:t>to </a:t>
            </a:r>
            <a:pPr>
              <a:lnSpc>
                <a:spcPct val="110000"/>
              </a:lnSpc>
            </a:pPr>
            <a:r>
              <a:rPr lang="en-US" sz="1000" dirty="0">
                <a:solidFill>
                  <a:srgbClr val="FFFFFF"/>
                </a:solidFill>
                <a:highlight>
                  <a:srgbClr val="FFFFFF">
                    <a:alpha val="20000"/>
                  </a:srgbClr>
                </a:highlight>
                <a:latin typeface="Quattrocento Sans" pitchFamily="34" charset="0"/>
                <a:ea typeface="Quattrocento Sans" pitchFamily="34" charset="-122"/>
                <a:cs typeface="Quattrocento Sans" pitchFamily="34" charset="-120"/>
              </a:rPr>
              <a:t>digital-first </a:t>
            </a:r>
            <a:pPr>
              <a:lnSpc>
                <a:spcPct val="110000"/>
              </a:lnSpc>
            </a:pPr>
            <a:r>
              <a:rPr lang="en-US" sz="1000" dirty="0">
                <a:solidFill>
                  <a:srgbClr val="FFFFFF"/>
                </a:solidFill>
                <a:latin typeface="Quattrocento Sans" pitchFamily="34" charset="0"/>
                <a:ea typeface="Quattrocento Sans" pitchFamily="34" charset="-122"/>
                <a:cs typeface="Quattrocento Sans" pitchFamily="34" charset="-120"/>
              </a:rPr>
              <a:t>services, making financial services more accessible than ever.</a:t>
            </a:r>
            <a:endParaRPr lang="en-US" sz="1600" dirty="0"/>
          </a:p>
        </p:txBody>
      </p:sp>
      <p:sp>
        <p:nvSpPr>
          <p:cNvPr id="73" name="Shape 71"/>
          <p:cNvSpPr/>
          <p:nvPr/>
        </p:nvSpPr>
        <p:spPr>
          <a:xfrm>
            <a:off x="7121054" y="5191125"/>
            <a:ext cx="2262188" cy="508000"/>
          </a:xfrm>
          <a:custGeom>
            <a:avLst/>
            <a:gdLst/>
            <a:ahLst/>
            <a:cxnLst/>
            <a:rect l="l" t="t" r="r" b="b"/>
            <a:pathLst>
              <a:path w="2262188" h="508000">
                <a:moveTo>
                  <a:pt x="63500" y="0"/>
                </a:moveTo>
                <a:lnTo>
                  <a:pt x="2198688" y="0"/>
                </a:lnTo>
                <a:cubicBezTo>
                  <a:pt x="2233734" y="0"/>
                  <a:pt x="2262188" y="28453"/>
                  <a:pt x="2262188" y="63500"/>
                </a:cubicBezTo>
                <a:lnTo>
                  <a:pt x="2262188" y="444500"/>
                </a:lnTo>
                <a:cubicBezTo>
                  <a:pt x="2262188" y="479547"/>
                  <a:pt x="2233734" y="508000"/>
                  <a:pt x="2198688" y="508000"/>
                </a:cubicBezTo>
                <a:lnTo>
                  <a:pt x="63500" y="508000"/>
                </a:lnTo>
                <a:cubicBezTo>
                  <a:pt x="28453" y="508000"/>
                  <a:pt x="0" y="479547"/>
                  <a:pt x="0" y="444500"/>
                </a:cubicBezTo>
                <a:lnTo>
                  <a:pt x="0" y="63500"/>
                </a:lnTo>
                <a:cubicBezTo>
                  <a:pt x="0" y="28453"/>
                  <a:pt x="28453" y="0"/>
                  <a:pt x="63500" y="0"/>
                </a:cubicBezTo>
                <a:close/>
              </a:path>
            </a:pathLst>
          </a:custGeom>
          <a:solidFill>
            <a:srgbClr val="FFFFFF">
              <a:alpha val="10196"/>
            </a:srgbClr>
          </a:solidFill>
          <a:ln/>
        </p:spPr>
      </p:sp>
      <p:sp>
        <p:nvSpPr>
          <p:cNvPr id="74" name="Text 72"/>
          <p:cNvSpPr/>
          <p:nvPr/>
        </p:nvSpPr>
        <p:spPr>
          <a:xfrm>
            <a:off x="7136929" y="5254625"/>
            <a:ext cx="2230438" cy="254000"/>
          </a:xfrm>
          <a:prstGeom prst="rect">
            <a:avLst/>
          </a:prstGeom>
          <a:noFill/>
          <a:ln/>
        </p:spPr>
        <p:txBody>
          <a:bodyPr wrap="square" lIns="0" tIns="0" rIns="0" bIns="0" rtlCol="0" anchor="ctr"/>
          <a:lstStyle/>
          <a:p>
            <a:pPr algn="ctr">
              <a:lnSpc>
                <a:spcPct val="110000"/>
              </a:lnSpc>
            </a:pPr>
            <a:r>
              <a:rPr lang="en-US" sz="1500" b="1" dirty="0">
                <a:solidFill>
                  <a:srgbClr val="FFFFFF"/>
                </a:solidFill>
                <a:latin typeface="Liter" pitchFamily="34" charset="0"/>
                <a:ea typeface="Liter" pitchFamily="34" charset="-122"/>
                <a:cs typeface="Liter" pitchFamily="34" charset="-120"/>
              </a:rPr>
              <a:t>3.2B</a:t>
            </a:r>
            <a:endParaRPr lang="en-US" sz="1600" dirty="0"/>
          </a:p>
        </p:txBody>
      </p:sp>
      <p:sp>
        <p:nvSpPr>
          <p:cNvPr id="75" name="Text 73"/>
          <p:cNvSpPr/>
          <p:nvPr/>
        </p:nvSpPr>
        <p:spPr>
          <a:xfrm>
            <a:off x="7160741" y="5508625"/>
            <a:ext cx="2182813" cy="127000"/>
          </a:xfrm>
          <a:prstGeom prst="rect">
            <a:avLst/>
          </a:prstGeom>
          <a:noFill/>
          <a:ln/>
        </p:spPr>
        <p:txBody>
          <a:bodyPr wrap="square" lIns="0" tIns="0" rIns="0" bIns="0" rtlCol="0" anchor="ctr"/>
          <a:lstStyle/>
          <a:p>
            <a:pPr algn="ctr">
              <a:lnSpc>
                <a:spcPct val="110000"/>
              </a:lnSpc>
            </a:pPr>
            <a:r>
              <a:rPr lang="en-US" sz="750" dirty="0">
                <a:solidFill>
                  <a:srgbClr val="FFFFFF"/>
                </a:solidFill>
                <a:latin typeface="Quattrocento Sans" pitchFamily="34" charset="0"/>
                <a:ea typeface="Quattrocento Sans" pitchFamily="34" charset="-122"/>
                <a:cs typeface="Quattrocento Sans" pitchFamily="34" charset="-120"/>
              </a:rPr>
              <a:t>Mobile Banking Users</a:t>
            </a:r>
            <a:endParaRPr lang="en-US" sz="1600" dirty="0"/>
          </a:p>
        </p:txBody>
      </p:sp>
      <p:sp>
        <p:nvSpPr>
          <p:cNvPr id="76" name="Shape 74"/>
          <p:cNvSpPr/>
          <p:nvPr/>
        </p:nvSpPr>
        <p:spPr>
          <a:xfrm>
            <a:off x="9481902" y="5191125"/>
            <a:ext cx="2262188" cy="508000"/>
          </a:xfrm>
          <a:custGeom>
            <a:avLst/>
            <a:gdLst/>
            <a:ahLst/>
            <a:cxnLst/>
            <a:rect l="l" t="t" r="r" b="b"/>
            <a:pathLst>
              <a:path w="2262188" h="508000">
                <a:moveTo>
                  <a:pt x="63500" y="0"/>
                </a:moveTo>
                <a:lnTo>
                  <a:pt x="2198688" y="0"/>
                </a:lnTo>
                <a:cubicBezTo>
                  <a:pt x="2233734" y="0"/>
                  <a:pt x="2262188" y="28453"/>
                  <a:pt x="2262188" y="63500"/>
                </a:cubicBezTo>
                <a:lnTo>
                  <a:pt x="2262188" y="444500"/>
                </a:lnTo>
                <a:cubicBezTo>
                  <a:pt x="2262188" y="479547"/>
                  <a:pt x="2233734" y="508000"/>
                  <a:pt x="2198688" y="508000"/>
                </a:cubicBezTo>
                <a:lnTo>
                  <a:pt x="63500" y="508000"/>
                </a:lnTo>
                <a:cubicBezTo>
                  <a:pt x="28453" y="508000"/>
                  <a:pt x="0" y="479547"/>
                  <a:pt x="0" y="444500"/>
                </a:cubicBezTo>
                <a:lnTo>
                  <a:pt x="0" y="63500"/>
                </a:lnTo>
                <a:cubicBezTo>
                  <a:pt x="0" y="28453"/>
                  <a:pt x="28453" y="0"/>
                  <a:pt x="63500" y="0"/>
                </a:cubicBezTo>
                <a:close/>
              </a:path>
            </a:pathLst>
          </a:custGeom>
          <a:solidFill>
            <a:srgbClr val="FFFFFF">
              <a:alpha val="10196"/>
            </a:srgbClr>
          </a:solidFill>
          <a:ln/>
        </p:spPr>
      </p:sp>
      <p:sp>
        <p:nvSpPr>
          <p:cNvPr id="77" name="Text 75"/>
          <p:cNvSpPr/>
          <p:nvPr/>
        </p:nvSpPr>
        <p:spPr>
          <a:xfrm>
            <a:off x="9497777" y="5254625"/>
            <a:ext cx="2230438" cy="254000"/>
          </a:xfrm>
          <a:prstGeom prst="rect">
            <a:avLst/>
          </a:prstGeom>
          <a:noFill/>
          <a:ln/>
        </p:spPr>
        <p:txBody>
          <a:bodyPr wrap="square" lIns="0" tIns="0" rIns="0" bIns="0" rtlCol="0" anchor="ctr"/>
          <a:lstStyle/>
          <a:p>
            <a:pPr algn="ctr">
              <a:lnSpc>
                <a:spcPct val="110000"/>
              </a:lnSpc>
            </a:pPr>
            <a:r>
              <a:rPr lang="en-US" sz="1500" b="1" dirty="0">
                <a:solidFill>
                  <a:srgbClr val="FFFFFF"/>
                </a:solidFill>
                <a:latin typeface="Liter" pitchFamily="34" charset="0"/>
                <a:ea typeface="Liter" pitchFamily="34" charset="-122"/>
                <a:cs typeface="Liter" pitchFamily="34" charset="-120"/>
              </a:rPr>
              <a:t>89M</a:t>
            </a:r>
            <a:endParaRPr lang="en-US" sz="1600" dirty="0"/>
          </a:p>
        </p:txBody>
      </p:sp>
      <p:sp>
        <p:nvSpPr>
          <p:cNvPr id="78" name="Text 76"/>
          <p:cNvSpPr/>
          <p:nvPr/>
        </p:nvSpPr>
        <p:spPr>
          <a:xfrm>
            <a:off x="9521589" y="5508625"/>
            <a:ext cx="2182813" cy="127000"/>
          </a:xfrm>
          <a:prstGeom prst="rect">
            <a:avLst/>
          </a:prstGeom>
          <a:noFill/>
          <a:ln/>
        </p:spPr>
        <p:txBody>
          <a:bodyPr wrap="square" lIns="0" tIns="0" rIns="0" bIns="0" rtlCol="0" anchor="ctr"/>
          <a:lstStyle/>
          <a:p>
            <a:pPr algn="ctr">
              <a:lnSpc>
                <a:spcPct val="110000"/>
              </a:lnSpc>
            </a:pPr>
            <a:r>
              <a:rPr lang="en-US" sz="750" dirty="0">
                <a:solidFill>
                  <a:srgbClr val="FFFFFF"/>
                </a:solidFill>
                <a:latin typeface="Quattrocento Sans" pitchFamily="34" charset="0"/>
                <a:ea typeface="Quattrocento Sans" pitchFamily="34" charset="-122"/>
                <a:cs typeface="Quattrocento Sans" pitchFamily="34" charset="-120"/>
              </a:rPr>
              <a:t>Users in N. America</a:t>
            </a:r>
            <a:endParaRPr lang="en-US" sz="1600" dirty="0"/>
          </a:p>
        </p:txBody>
      </p:sp>
      <p:sp>
        <p:nvSpPr>
          <p:cNvPr id="79" name="Shape 77"/>
          <p:cNvSpPr/>
          <p:nvPr/>
        </p:nvSpPr>
        <p:spPr>
          <a:xfrm>
            <a:off x="333375" y="6429375"/>
            <a:ext cx="11541125" cy="539750"/>
          </a:xfrm>
          <a:custGeom>
            <a:avLst/>
            <a:gdLst/>
            <a:ahLst/>
            <a:cxnLst/>
            <a:rect l="l" t="t" r="r" b="b"/>
            <a:pathLst>
              <a:path w="11541125" h="539750">
                <a:moveTo>
                  <a:pt x="31750" y="0"/>
                </a:moveTo>
                <a:lnTo>
                  <a:pt x="11477623" y="0"/>
                </a:lnTo>
                <a:cubicBezTo>
                  <a:pt x="11512694" y="0"/>
                  <a:pt x="11541125" y="28431"/>
                  <a:pt x="11541125" y="63502"/>
                </a:cubicBezTo>
                <a:lnTo>
                  <a:pt x="11541125" y="476248"/>
                </a:lnTo>
                <a:cubicBezTo>
                  <a:pt x="11541125" y="511319"/>
                  <a:pt x="11512694" y="539750"/>
                  <a:pt x="11477623" y="539750"/>
                </a:cubicBezTo>
                <a:lnTo>
                  <a:pt x="31750" y="539750"/>
                </a:lnTo>
                <a:cubicBezTo>
                  <a:pt x="14227" y="539750"/>
                  <a:pt x="0" y="525523"/>
                  <a:pt x="0" y="508000"/>
                </a:cubicBezTo>
                <a:lnTo>
                  <a:pt x="0" y="31750"/>
                </a:lnTo>
                <a:cubicBezTo>
                  <a:pt x="0" y="14227"/>
                  <a:pt x="14227" y="0"/>
                  <a:pt x="31750" y="0"/>
                </a:cubicBezTo>
                <a:close/>
              </a:path>
            </a:pathLst>
          </a:custGeom>
          <a:solidFill>
            <a:srgbClr val="1A3A5C">
              <a:alpha val="5098"/>
            </a:srgbClr>
          </a:solidFill>
          <a:ln/>
        </p:spPr>
      </p:sp>
      <p:sp>
        <p:nvSpPr>
          <p:cNvPr id="80" name="Shape 78"/>
          <p:cNvSpPr/>
          <p:nvPr/>
        </p:nvSpPr>
        <p:spPr>
          <a:xfrm>
            <a:off x="333375" y="6429375"/>
            <a:ext cx="31750" cy="539750"/>
          </a:xfrm>
          <a:custGeom>
            <a:avLst/>
            <a:gdLst/>
            <a:ahLst/>
            <a:cxnLst/>
            <a:rect l="l" t="t" r="r" b="b"/>
            <a:pathLst>
              <a:path w="31750" h="539750">
                <a:moveTo>
                  <a:pt x="31750" y="0"/>
                </a:moveTo>
                <a:lnTo>
                  <a:pt x="31750" y="0"/>
                </a:lnTo>
                <a:lnTo>
                  <a:pt x="31750" y="539750"/>
                </a:lnTo>
                <a:lnTo>
                  <a:pt x="31750" y="539750"/>
                </a:lnTo>
                <a:cubicBezTo>
                  <a:pt x="14227" y="539750"/>
                  <a:pt x="0" y="525523"/>
                  <a:pt x="0" y="508000"/>
                </a:cubicBezTo>
                <a:lnTo>
                  <a:pt x="0" y="31750"/>
                </a:lnTo>
                <a:cubicBezTo>
                  <a:pt x="0" y="14227"/>
                  <a:pt x="14227" y="0"/>
                  <a:pt x="31750" y="0"/>
                </a:cubicBezTo>
                <a:close/>
              </a:path>
            </a:pathLst>
          </a:custGeom>
          <a:solidFill>
            <a:srgbClr val="1A3A5C"/>
          </a:solidFill>
          <a:ln/>
        </p:spPr>
      </p:sp>
      <p:sp>
        <p:nvSpPr>
          <p:cNvPr id="81" name="Shape 79"/>
          <p:cNvSpPr/>
          <p:nvPr/>
        </p:nvSpPr>
        <p:spPr>
          <a:xfrm>
            <a:off x="468313" y="6544469"/>
            <a:ext cx="111125" cy="127000"/>
          </a:xfrm>
          <a:custGeom>
            <a:avLst/>
            <a:gdLst/>
            <a:ahLst/>
            <a:cxnLst/>
            <a:rect l="l" t="t" r="r" b="b"/>
            <a:pathLst>
              <a:path w="111125" h="127000">
                <a:moveTo>
                  <a:pt x="0" y="53578"/>
                </a:moveTo>
                <a:cubicBezTo>
                  <a:pt x="0" y="37133"/>
                  <a:pt x="13320" y="23812"/>
                  <a:pt x="29766" y="23812"/>
                </a:cubicBezTo>
                <a:lnTo>
                  <a:pt x="31750" y="23812"/>
                </a:lnTo>
                <a:cubicBezTo>
                  <a:pt x="36140" y="23812"/>
                  <a:pt x="39688" y="27360"/>
                  <a:pt x="39688" y="31750"/>
                </a:cubicBezTo>
                <a:cubicBezTo>
                  <a:pt x="39688" y="36140"/>
                  <a:pt x="36140" y="39688"/>
                  <a:pt x="31750" y="39688"/>
                </a:cubicBezTo>
                <a:lnTo>
                  <a:pt x="29766" y="39688"/>
                </a:lnTo>
                <a:cubicBezTo>
                  <a:pt x="22101" y="39688"/>
                  <a:pt x="15875" y="45913"/>
                  <a:pt x="15875" y="53578"/>
                </a:cubicBezTo>
                <a:lnTo>
                  <a:pt x="15875" y="55563"/>
                </a:lnTo>
                <a:lnTo>
                  <a:pt x="31750" y="55563"/>
                </a:lnTo>
                <a:cubicBezTo>
                  <a:pt x="40506" y="55563"/>
                  <a:pt x="47625" y="62681"/>
                  <a:pt x="47625" y="71438"/>
                </a:cubicBezTo>
                <a:lnTo>
                  <a:pt x="47625" y="87313"/>
                </a:lnTo>
                <a:cubicBezTo>
                  <a:pt x="47625" y="96069"/>
                  <a:pt x="40506" y="103188"/>
                  <a:pt x="31750" y="103188"/>
                </a:cubicBezTo>
                <a:lnTo>
                  <a:pt x="15875" y="103188"/>
                </a:lnTo>
                <a:cubicBezTo>
                  <a:pt x="7119" y="103188"/>
                  <a:pt x="0" y="96069"/>
                  <a:pt x="0" y="87313"/>
                </a:cubicBezTo>
                <a:lnTo>
                  <a:pt x="0" y="53578"/>
                </a:lnTo>
                <a:close/>
                <a:moveTo>
                  <a:pt x="63500" y="53578"/>
                </a:moveTo>
                <a:cubicBezTo>
                  <a:pt x="63500" y="37133"/>
                  <a:pt x="76820" y="23812"/>
                  <a:pt x="93266" y="23812"/>
                </a:cubicBezTo>
                <a:lnTo>
                  <a:pt x="95250" y="23812"/>
                </a:lnTo>
                <a:cubicBezTo>
                  <a:pt x="99640" y="23812"/>
                  <a:pt x="103188" y="27360"/>
                  <a:pt x="103188" y="31750"/>
                </a:cubicBezTo>
                <a:cubicBezTo>
                  <a:pt x="103188" y="36140"/>
                  <a:pt x="99640" y="39688"/>
                  <a:pt x="95250" y="39688"/>
                </a:cubicBezTo>
                <a:lnTo>
                  <a:pt x="93266" y="39688"/>
                </a:lnTo>
                <a:cubicBezTo>
                  <a:pt x="85601" y="39688"/>
                  <a:pt x="79375" y="45913"/>
                  <a:pt x="79375" y="53578"/>
                </a:cubicBezTo>
                <a:lnTo>
                  <a:pt x="79375" y="55563"/>
                </a:lnTo>
                <a:lnTo>
                  <a:pt x="95250" y="55563"/>
                </a:lnTo>
                <a:cubicBezTo>
                  <a:pt x="104006" y="55563"/>
                  <a:pt x="111125" y="62681"/>
                  <a:pt x="111125" y="71438"/>
                </a:cubicBezTo>
                <a:lnTo>
                  <a:pt x="111125" y="87313"/>
                </a:lnTo>
                <a:cubicBezTo>
                  <a:pt x="111125" y="96069"/>
                  <a:pt x="104006" y="103188"/>
                  <a:pt x="95250" y="103188"/>
                </a:cubicBezTo>
                <a:lnTo>
                  <a:pt x="79375" y="103188"/>
                </a:lnTo>
                <a:cubicBezTo>
                  <a:pt x="70619" y="103188"/>
                  <a:pt x="63500" y="96069"/>
                  <a:pt x="63500" y="87313"/>
                </a:cubicBezTo>
                <a:lnTo>
                  <a:pt x="63500" y="53578"/>
                </a:lnTo>
                <a:close/>
              </a:path>
            </a:pathLst>
          </a:custGeom>
          <a:solidFill>
            <a:srgbClr val="2A9D8F"/>
          </a:solidFill>
          <a:ln/>
        </p:spPr>
      </p:sp>
      <p:sp>
        <p:nvSpPr>
          <p:cNvPr id="82" name="Text 80"/>
          <p:cNvSpPr/>
          <p:nvPr/>
        </p:nvSpPr>
        <p:spPr>
          <a:xfrm>
            <a:off x="642938" y="6524625"/>
            <a:ext cx="11199813" cy="349250"/>
          </a:xfrm>
          <a:prstGeom prst="rect">
            <a:avLst/>
          </a:prstGeom>
          <a:noFill/>
          <a:ln/>
        </p:spPr>
        <p:txBody>
          <a:bodyPr wrap="square" lIns="0" tIns="0" rIns="0" bIns="0" rtlCol="0" anchor="ctr"/>
          <a:lstStyle/>
          <a:p>
            <a:pPr>
              <a:lnSpc>
                <a:spcPct val="110000"/>
              </a:lnSpc>
            </a:pPr>
            <a:r>
              <a:rPr lang="en-US" sz="1000" b="1" dirty="0">
                <a:solidFill>
                  <a:srgbClr val="2B2D42"/>
                </a:solidFill>
                <a:latin typeface="Quattrocento Sans" pitchFamily="34" charset="0"/>
                <a:ea typeface="Quattrocento Sans" pitchFamily="34" charset="-122"/>
                <a:cs typeface="Quattrocento Sans" pitchFamily="34" charset="-120"/>
              </a:rPr>
              <a:t>Speaker Note:</a:t>
            </a:r>
            <a:pPr>
              <a:lnSpc>
                <a:spcPct val="110000"/>
              </a:lnSpc>
            </a:pPr>
            <a:r>
              <a:rPr lang="en-US" sz="1000" dirty="0">
                <a:solidFill>
                  <a:srgbClr val="2B2D42"/>
                </a:solidFill>
                <a:latin typeface="Quattrocento Sans" pitchFamily="34" charset="0"/>
                <a:ea typeface="Quattrocento Sans" pitchFamily="34" charset="-122"/>
                <a:cs typeface="Quattrocento Sans" pitchFamily="34" charset="-120"/>
              </a:rPr>
              <a:t> Emphasize how banking evolved from simple gold storage to complex financial systems. Highlight the 2008 crisis as a turning point that led to modern regulations. Ask students to imagine banking without smartphones—how different would their experience be?</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2A9D8F"/>
                </a:solidFill>
                <a:latin typeface="Liter" pitchFamily="34" charset="0"/>
                <a:ea typeface="Liter" pitchFamily="34" charset="-122"/>
                <a:cs typeface="Liter" pitchFamily="34" charset="-120"/>
              </a:rPr>
              <a:t>CHAPTER 03</a:t>
            </a:r>
            <a:endParaRPr lang="en-US" sz="1600" dirty="0"/>
          </a:p>
        </p:txBody>
      </p:sp>
      <p:sp>
        <p:nvSpPr>
          <p:cNvPr id="3" name="Text 1"/>
          <p:cNvSpPr/>
          <p:nvPr/>
        </p:nvSpPr>
        <p:spPr>
          <a:xfrm>
            <a:off x="317500" y="571500"/>
            <a:ext cx="11795125" cy="595313"/>
          </a:xfrm>
          <a:prstGeom prst="rect">
            <a:avLst/>
          </a:prstGeom>
          <a:noFill/>
          <a:ln/>
        </p:spPr>
        <p:txBody>
          <a:bodyPr wrap="square" lIns="0" tIns="0" rIns="0" bIns="0" rtlCol="0" anchor="ctr"/>
          <a:lstStyle/>
          <a:p>
            <a:pPr>
              <a:lnSpc>
                <a:spcPct val="100000"/>
              </a:lnSpc>
            </a:pPr>
            <a:r>
              <a:rPr lang="en-US" sz="3750" b="1" dirty="0">
                <a:solidFill>
                  <a:srgbClr val="1A3A5C"/>
                </a:solidFill>
                <a:latin typeface="Oranienbaum" pitchFamily="34" charset="0"/>
                <a:ea typeface="Oranienbaum" pitchFamily="34" charset="-122"/>
                <a:cs typeface="Oranienbaum" pitchFamily="34" charset="-120"/>
              </a:rPr>
              <a:t>Types of Banks</a:t>
            </a:r>
            <a:endParaRPr lang="en-US" sz="1600" dirty="0"/>
          </a:p>
        </p:txBody>
      </p:sp>
      <p:sp>
        <p:nvSpPr>
          <p:cNvPr id="4" name="Shape 2"/>
          <p:cNvSpPr/>
          <p:nvPr/>
        </p:nvSpPr>
        <p:spPr>
          <a:xfrm>
            <a:off x="317500" y="1293813"/>
            <a:ext cx="762000" cy="47625"/>
          </a:xfrm>
          <a:custGeom>
            <a:avLst/>
            <a:gdLst/>
            <a:ahLst/>
            <a:cxnLst/>
            <a:rect l="l" t="t" r="r" b="b"/>
            <a:pathLst>
              <a:path w="762000" h="47625">
                <a:moveTo>
                  <a:pt x="0" y="0"/>
                </a:moveTo>
                <a:lnTo>
                  <a:pt x="762000" y="0"/>
                </a:lnTo>
                <a:lnTo>
                  <a:pt x="762000" y="47625"/>
                </a:lnTo>
                <a:lnTo>
                  <a:pt x="0" y="47625"/>
                </a:lnTo>
                <a:lnTo>
                  <a:pt x="0" y="0"/>
                </a:lnTo>
                <a:close/>
              </a:path>
            </a:pathLst>
          </a:custGeom>
          <a:solidFill>
            <a:srgbClr val="2A9D8F"/>
          </a:solidFill>
          <a:ln/>
        </p:spPr>
      </p:sp>
      <p:sp>
        <p:nvSpPr>
          <p:cNvPr id="5" name="Shape 3"/>
          <p:cNvSpPr/>
          <p:nvPr/>
        </p:nvSpPr>
        <p:spPr>
          <a:xfrm>
            <a:off x="317500" y="1547813"/>
            <a:ext cx="5683250" cy="2801938"/>
          </a:xfrm>
          <a:custGeom>
            <a:avLst/>
            <a:gdLst/>
            <a:ahLst/>
            <a:cxnLst/>
            <a:rect l="l" t="t" r="r" b="b"/>
            <a:pathLst>
              <a:path w="5683250" h="2801938">
                <a:moveTo>
                  <a:pt x="31750" y="0"/>
                </a:moveTo>
                <a:lnTo>
                  <a:pt x="5651500" y="0"/>
                </a:lnTo>
                <a:cubicBezTo>
                  <a:pt x="5669023" y="0"/>
                  <a:pt x="5683250" y="14227"/>
                  <a:pt x="5683250" y="31750"/>
                </a:cubicBezTo>
                <a:lnTo>
                  <a:pt x="5683250" y="2706700"/>
                </a:lnTo>
                <a:cubicBezTo>
                  <a:pt x="5683250" y="2759298"/>
                  <a:pt x="5640611" y="2801938"/>
                  <a:pt x="5588012" y="2801938"/>
                </a:cubicBezTo>
                <a:lnTo>
                  <a:pt x="95238" y="2801938"/>
                </a:lnTo>
                <a:cubicBezTo>
                  <a:pt x="42675" y="2801938"/>
                  <a:pt x="0" y="2759263"/>
                  <a:pt x="0" y="2706700"/>
                </a:cubicBezTo>
                <a:lnTo>
                  <a:pt x="0" y="31750"/>
                </a:lnTo>
                <a:cubicBezTo>
                  <a:pt x="0" y="14227"/>
                  <a:pt x="14227" y="0"/>
                  <a:pt x="31750" y="0"/>
                </a:cubicBezTo>
                <a:close/>
              </a:path>
            </a:pathLst>
          </a:custGeom>
          <a:solidFill>
            <a:srgbClr val="FFFFFF"/>
          </a:solidFill>
          <a:ln/>
          <a:effectLst>
            <a:outerShdw sx="100000" sy="100000" kx="0" ky="0" algn="bl" rotWithShape="0" blurRad="119063" dist="79375" dir="5400000">
              <a:srgbClr val="000000">
                <a:alpha val="10196"/>
              </a:srgbClr>
            </a:outerShdw>
          </a:effectLst>
        </p:spPr>
      </p:sp>
      <p:sp>
        <p:nvSpPr>
          <p:cNvPr id="6" name="Shape 4"/>
          <p:cNvSpPr/>
          <p:nvPr/>
        </p:nvSpPr>
        <p:spPr>
          <a:xfrm>
            <a:off x="317500" y="1547813"/>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1A3A5C"/>
          </a:solidFill>
          <a:ln/>
        </p:spPr>
      </p:sp>
      <p:sp>
        <p:nvSpPr>
          <p:cNvPr id="7" name="Shape 5"/>
          <p:cNvSpPr/>
          <p:nvPr/>
        </p:nvSpPr>
        <p:spPr>
          <a:xfrm>
            <a:off x="508000" y="1754188"/>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1A3A5C"/>
          </a:solidFill>
          <a:ln/>
        </p:spPr>
      </p:sp>
      <p:sp>
        <p:nvSpPr>
          <p:cNvPr id="8" name="Shape 6"/>
          <p:cNvSpPr/>
          <p:nvPr/>
        </p:nvSpPr>
        <p:spPr>
          <a:xfrm>
            <a:off x="674688" y="1889125"/>
            <a:ext cx="178594" cy="238125"/>
          </a:xfrm>
          <a:custGeom>
            <a:avLst/>
            <a:gdLst/>
            <a:ahLst/>
            <a:cxnLst/>
            <a:rect l="l" t="t" r="r" b="b"/>
            <a:pathLst>
              <a:path w="178594" h="238125">
                <a:moveTo>
                  <a:pt x="29766" y="0"/>
                </a:moveTo>
                <a:cubicBezTo>
                  <a:pt x="13348" y="0"/>
                  <a:pt x="0" y="13348"/>
                  <a:pt x="0" y="29766"/>
                </a:cubicBezTo>
                <a:lnTo>
                  <a:pt x="0" y="208359"/>
                </a:lnTo>
                <a:cubicBezTo>
                  <a:pt x="0" y="224777"/>
                  <a:pt x="13348" y="238125"/>
                  <a:pt x="29766" y="238125"/>
                </a:cubicBezTo>
                <a:lnTo>
                  <a:pt x="148828" y="238125"/>
                </a:lnTo>
                <a:cubicBezTo>
                  <a:pt x="165246" y="238125"/>
                  <a:pt x="178594" y="224777"/>
                  <a:pt x="178594" y="208359"/>
                </a:cubicBezTo>
                <a:lnTo>
                  <a:pt x="178594" y="29766"/>
                </a:lnTo>
                <a:cubicBezTo>
                  <a:pt x="178594" y="13348"/>
                  <a:pt x="165246" y="0"/>
                  <a:pt x="148828" y="0"/>
                </a:cubicBezTo>
                <a:lnTo>
                  <a:pt x="29766" y="0"/>
                </a:lnTo>
                <a:close/>
                <a:moveTo>
                  <a:pt x="81855" y="163711"/>
                </a:moveTo>
                <a:lnTo>
                  <a:pt x="96738" y="163711"/>
                </a:lnTo>
                <a:cubicBezTo>
                  <a:pt x="104970" y="163711"/>
                  <a:pt x="111621" y="170362"/>
                  <a:pt x="111621" y="178594"/>
                </a:cubicBezTo>
                <a:lnTo>
                  <a:pt x="111621" y="215801"/>
                </a:lnTo>
                <a:lnTo>
                  <a:pt x="66973" y="215801"/>
                </a:lnTo>
                <a:lnTo>
                  <a:pt x="66973" y="178594"/>
                </a:lnTo>
                <a:cubicBezTo>
                  <a:pt x="66973" y="170362"/>
                  <a:pt x="73623" y="163711"/>
                  <a:pt x="81855" y="163711"/>
                </a:cubicBezTo>
                <a:close/>
                <a:moveTo>
                  <a:pt x="44648" y="52090"/>
                </a:moveTo>
                <a:cubicBezTo>
                  <a:pt x="44648" y="47997"/>
                  <a:pt x="47997" y="44648"/>
                  <a:pt x="52090" y="44648"/>
                </a:cubicBezTo>
                <a:lnTo>
                  <a:pt x="66973" y="44648"/>
                </a:lnTo>
                <a:cubicBezTo>
                  <a:pt x="71065" y="44648"/>
                  <a:pt x="74414" y="47997"/>
                  <a:pt x="74414" y="52090"/>
                </a:cubicBezTo>
                <a:lnTo>
                  <a:pt x="74414" y="66973"/>
                </a:lnTo>
                <a:cubicBezTo>
                  <a:pt x="74414" y="71065"/>
                  <a:pt x="71065" y="74414"/>
                  <a:pt x="66973" y="74414"/>
                </a:cubicBezTo>
                <a:lnTo>
                  <a:pt x="52090" y="74414"/>
                </a:lnTo>
                <a:cubicBezTo>
                  <a:pt x="47997" y="74414"/>
                  <a:pt x="44648" y="71065"/>
                  <a:pt x="44648" y="66973"/>
                </a:cubicBezTo>
                <a:lnTo>
                  <a:pt x="44648" y="52090"/>
                </a:lnTo>
                <a:close/>
                <a:moveTo>
                  <a:pt x="111621" y="44648"/>
                </a:moveTo>
                <a:lnTo>
                  <a:pt x="126504" y="44648"/>
                </a:lnTo>
                <a:cubicBezTo>
                  <a:pt x="130597" y="44648"/>
                  <a:pt x="133945" y="47997"/>
                  <a:pt x="133945" y="52090"/>
                </a:cubicBezTo>
                <a:lnTo>
                  <a:pt x="133945" y="66973"/>
                </a:lnTo>
                <a:cubicBezTo>
                  <a:pt x="133945" y="71065"/>
                  <a:pt x="130597" y="74414"/>
                  <a:pt x="126504" y="74414"/>
                </a:cubicBezTo>
                <a:lnTo>
                  <a:pt x="111621" y="74414"/>
                </a:lnTo>
                <a:cubicBezTo>
                  <a:pt x="107528" y="74414"/>
                  <a:pt x="104180" y="71065"/>
                  <a:pt x="104180" y="66973"/>
                </a:cubicBezTo>
                <a:lnTo>
                  <a:pt x="104180" y="52090"/>
                </a:lnTo>
                <a:cubicBezTo>
                  <a:pt x="104180" y="47997"/>
                  <a:pt x="107528" y="44648"/>
                  <a:pt x="111621" y="44648"/>
                </a:cubicBezTo>
                <a:close/>
                <a:moveTo>
                  <a:pt x="44648" y="111621"/>
                </a:moveTo>
                <a:cubicBezTo>
                  <a:pt x="44648" y="107528"/>
                  <a:pt x="47997" y="104180"/>
                  <a:pt x="52090" y="104180"/>
                </a:cubicBezTo>
                <a:lnTo>
                  <a:pt x="66973" y="104180"/>
                </a:lnTo>
                <a:cubicBezTo>
                  <a:pt x="71065" y="104180"/>
                  <a:pt x="74414" y="107528"/>
                  <a:pt x="74414" y="111621"/>
                </a:cubicBezTo>
                <a:lnTo>
                  <a:pt x="74414" y="126504"/>
                </a:lnTo>
                <a:cubicBezTo>
                  <a:pt x="74414" y="130597"/>
                  <a:pt x="71065" y="133945"/>
                  <a:pt x="66973" y="133945"/>
                </a:cubicBezTo>
                <a:lnTo>
                  <a:pt x="52090" y="133945"/>
                </a:lnTo>
                <a:cubicBezTo>
                  <a:pt x="47997" y="133945"/>
                  <a:pt x="44648" y="130597"/>
                  <a:pt x="44648" y="126504"/>
                </a:cubicBezTo>
                <a:lnTo>
                  <a:pt x="44648" y="111621"/>
                </a:lnTo>
                <a:close/>
                <a:moveTo>
                  <a:pt x="111621" y="104180"/>
                </a:moveTo>
                <a:lnTo>
                  <a:pt x="126504" y="104180"/>
                </a:lnTo>
                <a:cubicBezTo>
                  <a:pt x="130597" y="104180"/>
                  <a:pt x="133945" y="107528"/>
                  <a:pt x="133945" y="111621"/>
                </a:cubicBezTo>
                <a:lnTo>
                  <a:pt x="133945" y="126504"/>
                </a:lnTo>
                <a:cubicBezTo>
                  <a:pt x="133945" y="130597"/>
                  <a:pt x="130597" y="133945"/>
                  <a:pt x="126504" y="133945"/>
                </a:cubicBezTo>
                <a:lnTo>
                  <a:pt x="111621" y="133945"/>
                </a:lnTo>
                <a:cubicBezTo>
                  <a:pt x="107528" y="133945"/>
                  <a:pt x="104180" y="130597"/>
                  <a:pt x="104180" y="126504"/>
                </a:cubicBezTo>
                <a:lnTo>
                  <a:pt x="104180" y="111621"/>
                </a:lnTo>
                <a:cubicBezTo>
                  <a:pt x="104180" y="107528"/>
                  <a:pt x="107528" y="104180"/>
                  <a:pt x="111621" y="104180"/>
                </a:cubicBezTo>
                <a:close/>
              </a:path>
            </a:pathLst>
          </a:custGeom>
          <a:solidFill>
            <a:srgbClr val="FFFFFF"/>
          </a:solidFill>
          <a:ln/>
        </p:spPr>
      </p:sp>
      <p:sp>
        <p:nvSpPr>
          <p:cNvPr id="9" name="Text 7"/>
          <p:cNvSpPr/>
          <p:nvPr/>
        </p:nvSpPr>
        <p:spPr>
          <a:xfrm>
            <a:off x="1143000" y="1770063"/>
            <a:ext cx="2079625" cy="285750"/>
          </a:xfrm>
          <a:prstGeom prst="rect">
            <a:avLst/>
          </a:prstGeom>
          <a:noFill/>
          <a:ln/>
        </p:spPr>
        <p:txBody>
          <a:bodyPr wrap="square" lIns="0" tIns="0" rIns="0" bIns="0" rtlCol="0" anchor="ctr"/>
          <a:lstStyle/>
          <a:p>
            <a:pPr>
              <a:lnSpc>
                <a:spcPct val="100000"/>
              </a:lnSpc>
            </a:pPr>
            <a:r>
              <a:rPr lang="en-US" sz="1875" b="1" dirty="0">
                <a:solidFill>
                  <a:srgbClr val="1A3A5C"/>
                </a:solidFill>
                <a:latin typeface="Liter" pitchFamily="34" charset="0"/>
                <a:ea typeface="Liter" pitchFamily="34" charset="-122"/>
                <a:cs typeface="Liter" pitchFamily="34" charset="-120"/>
              </a:rPr>
              <a:t>Commercial Banks</a:t>
            </a:r>
            <a:endParaRPr lang="en-US" sz="1600" dirty="0"/>
          </a:p>
        </p:txBody>
      </p:sp>
      <p:sp>
        <p:nvSpPr>
          <p:cNvPr id="10" name="Text 8"/>
          <p:cNvSpPr/>
          <p:nvPr/>
        </p:nvSpPr>
        <p:spPr>
          <a:xfrm>
            <a:off x="1143000" y="2055813"/>
            <a:ext cx="2024062"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Liter" pitchFamily="34" charset="0"/>
                <a:ea typeface="Liter" pitchFamily="34" charset="-122"/>
                <a:cs typeface="Liter" pitchFamily="34" charset="-120"/>
              </a:rPr>
              <a:t>Retail &amp; Business Banking</a:t>
            </a:r>
            <a:endParaRPr lang="en-US" sz="1600" dirty="0"/>
          </a:p>
        </p:txBody>
      </p:sp>
      <p:sp>
        <p:nvSpPr>
          <p:cNvPr id="11" name="Text 9"/>
          <p:cNvSpPr/>
          <p:nvPr/>
        </p:nvSpPr>
        <p:spPr>
          <a:xfrm>
            <a:off x="508000" y="2389188"/>
            <a:ext cx="5373688" cy="468313"/>
          </a:xfrm>
          <a:prstGeom prst="rect">
            <a:avLst/>
          </a:prstGeom>
          <a:noFill/>
          <a:ln/>
        </p:spPr>
        <p:txBody>
          <a:bodyPr wrap="square" lIns="0" tIns="0" rIns="0" bIns="0" rtlCol="0" anchor="ctr"/>
          <a:lstStyle/>
          <a:p>
            <a:pPr>
              <a:lnSpc>
                <a:spcPct val="140000"/>
              </a:lnSpc>
            </a:pPr>
            <a:r>
              <a:rPr lang="en-US" sz="1125" dirty="0">
                <a:solidFill>
                  <a:srgbClr val="2B2D42"/>
                </a:solidFill>
                <a:latin typeface="Quattrocento Sans" pitchFamily="34" charset="0"/>
                <a:ea typeface="Quattrocento Sans" pitchFamily="34" charset="-122"/>
                <a:cs typeface="Quattrocento Sans" pitchFamily="34" charset="-120"/>
              </a:rPr>
              <a:t>The most common type of bank that serves individuals and businesses. They accept deposits, provide loans, and offer everyday financial services.</a:t>
            </a:r>
            <a:endParaRPr lang="en-US" sz="1600" dirty="0"/>
          </a:p>
        </p:txBody>
      </p:sp>
      <p:sp>
        <p:nvSpPr>
          <p:cNvPr id="12" name="Shape 10"/>
          <p:cNvSpPr/>
          <p:nvPr/>
        </p:nvSpPr>
        <p:spPr>
          <a:xfrm>
            <a:off x="523875" y="3012281"/>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2A9D8F"/>
          </a:solidFill>
          <a:ln/>
        </p:spPr>
      </p:sp>
      <p:sp>
        <p:nvSpPr>
          <p:cNvPr id="13" name="Text 11"/>
          <p:cNvSpPr/>
          <p:nvPr/>
        </p:nvSpPr>
        <p:spPr>
          <a:xfrm>
            <a:off x="730250" y="2980531"/>
            <a:ext cx="1651000"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Checking &amp; savings accounts</a:t>
            </a:r>
            <a:endParaRPr lang="en-US" sz="1600" dirty="0"/>
          </a:p>
        </p:txBody>
      </p:sp>
      <p:sp>
        <p:nvSpPr>
          <p:cNvPr id="14" name="Shape 12"/>
          <p:cNvSpPr/>
          <p:nvPr/>
        </p:nvSpPr>
        <p:spPr>
          <a:xfrm>
            <a:off x="523875" y="3266281"/>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2A9D8F"/>
          </a:solidFill>
          <a:ln/>
        </p:spPr>
      </p:sp>
      <p:sp>
        <p:nvSpPr>
          <p:cNvPr id="15" name="Text 13"/>
          <p:cNvSpPr/>
          <p:nvPr/>
        </p:nvSpPr>
        <p:spPr>
          <a:xfrm>
            <a:off x="730250" y="3234531"/>
            <a:ext cx="1476375"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Personal &amp; business loans</a:t>
            </a:r>
            <a:endParaRPr lang="en-US" sz="1600" dirty="0"/>
          </a:p>
        </p:txBody>
      </p:sp>
      <p:sp>
        <p:nvSpPr>
          <p:cNvPr id="16" name="Shape 14"/>
          <p:cNvSpPr/>
          <p:nvPr/>
        </p:nvSpPr>
        <p:spPr>
          <a:xfrm>
            <a:off x="523875" y="3520281"/>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2A9D8F"/>
          </a:solidFill>
          <a:ln/>
        </p:spPr>
      </p:sp>
      <p:sp>
        <p:nvSpPr>
          <p:cNvPr id="17" name="Text 15"/>
          <p:cNvSpPr/>
          <p:nvPr/>
        </p:nvSpPr>
        <p:spPr>
          <a:xfrm>
            <a:off x="730250" y="3488531"/>
            <a:ext cx="1460500"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Credit cards &amp; mortgages</a:t>
            </a:r>
            <a:endParaRPr lang="en-US" sz="1600" dirty="0"/>
          </a:p>
        </p:txBody>
      </p:sp>
      <p:sp>
        <p:nvSpPr>
          <p:cNvPr id="18" name="Shape 16"/>
          <p:cNvSpPr/>
          <p:nvPr/>
        </p:nvSpPr>
        <p:spPr>
          <a:xfrm>
            <a:off x="508000" y="3806031"/>
            <a:ext cx="5302250" cy="349250"/>
          </a:xfrm>
          <a:custGeom>
            <a:avLst/>
            <a:gdLst/>
            <a:ahLst/>
            <a:cxnLst/>
            <a:rect l="l" t="t" r="r" b="b"/>
            <a:pathLst>
              <a:path w="5302250" h="349250">
                <a:moveTo>
                  <a:pt x="63501" y="0"/>
                </a:moveTo>
                <a:lnTo>
                  <a:pt x="5238749" y="0"/>
                </a:lnTo>
                <a:cubicBezTo>
                  <a:pt x="5273820" y="0"/>
                  <a:pt x="5302250" y="28430"/>
                  <a:pt x="5302250" y="63501"/>
                </a:cubicBezTo>
                <a:lnTo>
                  <a:pt x="5302250" y="285749"/>
                </a:lnTo>
                <a:cubicBezTo>
                  <a:pt x="5302250" y="320820"/>
                  <a:pt x="5273820" y="349250"/>
                  <a:pt x="5238749" y="349250"/>
                </a:cubicBezTo>
                <a:lnTo>
                  <a:pt x="63501" y="349250"/>
                </a:lnTo>
                <a:cubicBezTo>
                  <a:pt x="28430" y="349250"/>
                  <a:pt x="0" y="320820"/>
                  <a:pt x="0" y="285749"/>
                </a:cubicBezTo>
                <a:lnTo>
                  <a:pt x="0" y="63501"/>
                </a:lnTo>
                <a:cubicBezTo>
                  <a:pt x="0" y="28430"/>
                  <a:pt x="28430" y="0"/>
                  <a:pt x="63501" y="0"/>
                </a:cubicBezTo>
                <a:close/>
              </a:path>
            </a:pathLst>
          </a:custGeom>
          <a:solidFill>
            <a:srgbClr val="F8F9FA"/>
          </a:solidFill>
          <a:ln/>
        </p:spPr>
      </p:sp>
      <p:sp>
        <p:nvSpPr>
          <p:cNvPr id="19" name="Text 17"/>
          <p:cNvSpPr/>
          <p:nvPr/>
        </p:nvSpPr>
        <p:spPr>
          <a:xfrm>
            <a:off x="603250" y="3901281"/>
            <a:ext cx="5167313" cy="158750"/>
          </a:xfrm>
          <a:prstGeom prst="rect">
            <a:avLst/>
          </a:prstGeom>
          <a:noFill/>
          <a:ln/>
        </p:spPr>
        <p:txBody>
          <a:bodyPr wrap="square" lIns="0" tIns="0" rIns="0" bIns="0" rtlCol="0" anchor="ctr"/>
          <a:lstStyle/>
          <a:p>
            <a:pPr>
              <a:lnSpc>
                <a:spcPct val="120000"/>
              </a:lnSpc>
            </a:pPr>
            <a:r>
              <a:rPr lang="en-US" sz="875" b="1" dirty="0">
                <a:solidFill>
                  <a:srgbClr val="1A3A5C"/>
                </a:solidFill>
                <a:latin typeface="Quattrocento Sans" pitchFamily="34" charset="0"/>
                <a:ea typeface="Quattrocento Sans" pitchFamily="34" charset="-122"/>
                <a:cs typeface="Quattrocento Sans" pitchFamily="34" charset="-120"/>
              </a:rPr>
              <a:t>Examples:</a:t>
            </a:r>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 JPMorgan Chase, Bank of America, Wells Fargo, Citibank</a:t>
            </a:r>
            <a:endParaRPr lang="en-US" sz="1600" dirty="0"/>
          </a:p>
        </p:txBody>
      </p:sp>
      <p:sp>
        <p:nvSpPr>
          <p:cNvPr id="20" name="Shape 18"/>
          <p:cNvSpPr/>
          <p:nvPr/>
        </p:nvSpPr>
        <p:spPr>
          <a:xfrm>
            <a:off x="6191250" y="1547813"/>
            <a:ext cx="5683250" cy="2801938"/>
          </a:xfrm>
          <a:custGeom>
            <a:avLst/>
            <a:gdLst/>
            <a:ahLst/>
            <a:cxnLst/>
            <a:rect l="l" t="t" r="r" b="b"/>
            <a:pathLst>
              <a:path w="5683250" h="2801938">
                <a:moveTo>
                  <a:pt x="31750" y="0"/>
                </a:moveTo>
                <a:lnTo>
                  <a:pt x="5651500" y="0"/>
                </a:lnTo>
                <a:cubicBezTo>
                  <a:pt x="5669023" y="0"/>
                  <a:pt x="5683250" y="14227"/>
                  <a:pt x="5683250" y="31750"/>
                </a:cubicBezTo>
                <a:lnTo>
                  <a:pt x="5683250" y="2706700"/>
                </a:lnTo>
                <a:cubicBezTo>
                  <a:pt x="5683250" y="2759298"/>
                  <a:pt x="5640611" y="2801938"/>
                  <a:pt x="5588012" y="2801938"/>
                </a:cubicBezTo>
                <a:lnTo>
                  <a:pt x="95238" y="2801938"/>
                </a:lnTo>
                <a:cubicBezTo>
                  <a:pt x="42675" y="2801938"/>
                  <a:pt x="0" y="2759263"/>
                  <a:pt x="0" y="2706700"/>
                </a:cubicBezTo>
                <a:lnTo>
                  <a:pt x="0" y="31750"/>
                </a:lnTo>
                <a:cubicBezTo>
                  <a:pt x="0" y="14227"/>
                  <a:pt x="14227" y="0"/>
                  <a:pt x="31750" y="0"/>
                </a:cubicBezTo>
                <a:close/>
              </a:path>
            </a:pathLst>
          </a:custGeom>
          <a:solidFill>
            <a:srgbClr val="FFFFFF"/>
          </a:solidFill>
          <a:ln/>
          <a:effectLst>
            <a:outerShdw sx="100000" sy="100000" kx="0" ky="0" algn="bl" rotWithShape="0" blurRad="119063" dist="79375" dir="5400000">
              <a:srgbClr val="000000">
                <a:alpha val="10196"/>
              </a:srgbClr>
            </a:outerShdw>
          </a:effectLst>
        </p:spPr>
      </p:sp>
      <p:sp>
        <p:nvSpPr>
          <p:cNvPr id="21" name="Shape 19"/>
          <p:cNvSpPr/>
          <p:nvPr/>
        </p:nvSpPr>
        <p:spPr>
          <a:xfrm>
            <a:off x="6191250" y="1547813"/>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2A9D8F"/>
          </a:solidFill>
          <a:ln/>
        </p:spPr>
      </p:sp>
      <p:sp>
        <p:nvSpPr>
          <p:cNvPr id="22" name="Shape 20"/>
          <p:cNvSpPr/>
          <p:nvPr/>
        </p:nvSpPr>
        <p:spPr>
          <a:xfrm>
            <a:off x="6381750" y="1754188"/>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2A9D8F"/>
          </a:solidFill>
          <a:ln/>
        </p:spPr>
      </p:sp>
      <p:sp>
        <p:nvSpPr>
          <p:cNvPr id="23" name="Shape 21"/>
          <p:cNvSpPr/>
          <p:nvPr/>
        </p:nvSpPr>
        <p:spPr>
          <a:xfrm>
            <a:off x="6518672" y="1889125"/>
            <a:ext cx="238125" cy="238125"/>
          </a:xfrm>
          <a:custGeom>
            <a:avLst/>
            <a:gdLst/>
            <a:ahLst/>
            <a:cxnLst/>
            <a:rect l="l" t="t" r="r" b="b"/>
            <a:pathLst>
              <a:path w="238125" h="238125">
                <a:moveTo>
                  <a:pt x="111016" y="2372"/>
                </a:moveTo>
                <a:cubicBezTo>
                  <a:pt x="115900" y="-791"/>
                  <a:pt x="122225" y="-791"/>
                  <a:pt x="127109" y="2372"/>
                </a:cubicBezTo>
                <a:lnTo>
                  <a:pt x="231288" y="69345"/>
                </a:lnTo>
                <a:cubicBezTo>
                  <a:pt x="236823" y="72926"/>
                  <a:pt x="239381" y="79716"/>
                  <a:pt x="237520" y="86041"/>
                </a:cubicBezTo>
                <a:cubicBezTo>
                  <a:pt x="235660" y="92366"/>
                  <a:pt x="229846" y="96738"/>
                  <a:pt x="223242" y="96738"/>
                </a:cubicBezTo>
                <a:lnTo>
                  <a:pt x="208359" y="96738"/>
                </a:lnTo>
                <a:lnTo>
                  <a:pt x="208359" y="193477"/>
                </a:lnTo>
                <a:lnTo>
                  <a:pt x="232172" y="211336"/>
                </a:lnTo>
                <a:cubicBezTo>
                  <a:pt x="235939" y="214126"/>
                  <a:pt x="238125" y="218545"/>
                  <a:pt x="238125" y="223242"/>
                </a:cubicBezTo>
                <a:cubicBezTo>
                  <a:pt x="238125" y="231474"/>
                  <a:pt x="231474" y="238125"/>
                  <a:pt x="223242" y="238125"/>
                </a:cubicBezTo>
                <a:lnTo>
                  <a:pt x="14883" y="238125"/>
                </a:lnTo>
                <a:cubicBezTo>
                  <a:pt x="6651" y="238125"/>
                  <a:pt x="0" y="231474"/>
                  <a:pt x="0" y="223242"/>
                </a:cubicBezTo>
                <a:cubicBezTo>
                  <a:pt x="0" y="218545"/>
                  <a:pt x="2186" y="214126"/>
                  <a:pt x="5953" y="211336"/>
                </a:cubicBezTo>
                <a:lnTo>
                  <a:pt x="29766" y="193477"/>
                </a:lnTo>
                <a:lnTo>
                  <a:pt x="29766" y="193477"/>
                </a:lnTo>
                <a:lnTo>
                  <a:pt x="29766" y="96738"/>
                </a:lnTo>
                <a:lnTo>
                  <a:pt x="14883" y="96738"/>
                </a:lnTo>
                <a:cubicBezTo>
                  <a:pt x="8279" y="96738"/>
                  <a:pt x="2465" y="92366"/>
                  <a:pt x="605" y="86041"/>
                </a:cubicBezTo>
                <a:cubicBezTo>
                  <a:pt x="-1256" y="79716"/>
                  <a:pt x="1302" y="72879"/>
                  <a:pt x="6837" y="69345"/>
                </a:cubicBezTo>
                <a:lnTo>
                  <a:pt x="111016" y="2372"/>
                </a:lnTo>
                <a:close/>
                <a:moveTo>
                  <a:pt x="156270" y="96738"/>
                </a:moveTo>
                <a:lnTo>
                  <a:pt x="156270" y="193477"/>
                </a:lnTo>
                <a:lnTo>
                  <a:pt x="186035" y="193477"/>
                </a:lnTo>
                <a:lnTo>
                  <a:pt x="186035" y="96738"/>
                </a:lnTo>
                <a:lnTo>
                  <a:pt x="156270" y="96738"/>
                </a:lnTo>
                <a:close/>
                <a:moveTo>
                  <a:pt x="104180" y="193477"/>
                </a:moveTo>
                <a:lnTo>
                  <a:pt x="133945" y="193477"/>
                </a:lnTo>
                <a:lnTo>
                  <a:pt x="133945" y="96738"/>
                </a:lnTo>
                <a:lnTo>
                  <a:pt x="104180" y="96738"/>
                </a:lnTo>
                <a:lnTo>
                  <a:pt x="104180" y="193477"/>
                </a:lnTo>
                <a:close/>
                <a:moveTo>
                  <a:pt x="52090" y="96738"/>
                </a:moveTo>
                <a:lnTo>
                  <a:pt x="52090" y="193477"/>
                </a:lnTo>
                <a:lnTo>
                  <a:pt x="81855" y="193477"/>
                </a:lnTo>
                <a:lnTo>
                  <a:pt x="81855" y="96738"/>
                </a:lnTo>
                <a:lnTo>
                  <a:pt x="52090" y="96738"/>
                </a:lnTo>
                <a:close/>
              </a:path>
            </a:pathLst>
          </a:custGeom>
          <a:solidFill>
            <a:srgbClr val="FFFFFF"/>
          </a:solidFill>
          <a:ln/>
        </p:spPr>
      </p:sp>
      <p:sp>
        <p:nvSpPr>
          <p:cNvPr id="24" name="Text 22"/>
          <p:cNvSpPr/>
          <p:nvPr/>
        </p:nvSpPr>
        <p:spPr>
          <a:xfrm>
            <a:off x="7016750" y="1770063"/>
            <a:ext cx="1571625" cy="285750"/>
          </a:xfrm>
          <a:prstGeom prst="rect">
            <a:avLst/>
          </a:prstGeom>
          <a:noFill/>
          <a:ln/>
        </p:spPr>
        <p:txBody>
          <a:bodyPr wrap="square" lIns="0" tIns="0" rIns="0" bIns="0" rtlCol="0" anchor="ctr"/>
          <a:lstStyle/>
          <a:p>
            <a:pPr>
              <a:lnSpc>
                <a:spcPct val="100000"/>
              </a:lnSpc>
            </a:pPr>
            <a:r>
              <a:rPr lang="en-US" sz="1875" b="1" dirty="0">
                <a:solidFill>
                  <a:srgbClr val="1A3A5C"/>
                </a:solidFill>
                <a:latin typeface="Liter" pitchFamily="34" charset="0"/>
                <a:ea typeface="Liter" pitchFamily="34" charset="-122"/>
                <a:cs typeface="Liter" pitchFamily="34" charset="-120"/>
              </a:rPr>
              <a:t>Central Banks</a:t>
            </a:r>
            <a:endParaRPr lang="en-US" sz="1600" dirty="0"/>
          </a:p>
        </p:txBody>
      </p:sp>
      <p:sp>
        <p:nvSpPr>
          <p:cNvPr id="25" name="Text 23"/>
          <p:cNvSpPr/>
          <p:nvPr/>
        </p:nvSpPr>
        <p:spPr>
          <a:xfrm>
            <a:off x="7016750" y="2055813"/>
            <a:ext cx="1516063"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Liter" pitchFamily="34" charset="0"/>
                <a:ea typeface="Liter" pitchFamily="34" charset="-122"/>
                <a:cs typeface="Liter" pitchFamily="34" charset="-120"/>
              </a:rPr>
              <a:t>Monetary Authority</a:t>
            </a:r>
            <a:endParaRPr lang="en-US" sz="1600" dirty="0"/>
          </a:p>
        </p:txBody>
      </p:sp>
      <p:sp>
        <p:nvSpPr>
          <p:cNvPr id="26" name="Text 24"/>
          <p:cNvSpPr/>
          <p:nvPr/>
        </p:nvSpPr>
        <p:spPr>
          <a:xfrm>
            <a:off x="6381750" y="2389188"/>
            <a:ext cx="5373688" cy="468313"/>
          </a:xfrm>
          <a:prstGeom prst="rect">
            <a:avLst/>
          </a:prstGeom>
          <a:noFill/>
          <a:ln/>
        </p:spPr>
        <p:txBody>
          <a:bodyPr wrap="square" lIns="0" tIns="0" rIns="0" bIns="0" rtlCol="0" anchor="ctr"/>
          <a:lstStyle/>
          <a:p>
            <a:pPr>
              <a:lnSpc>
                <a:spcPct val="140000"/>
              </a:lnSpc>
            </a:pPr>
            <a:r>
              <a:rPr lang="en-US" sz="1125" dirty="0">
                <a:solidFill>
                  <a:srgbClr val="2B2D42"/>
                </a:solidFill>
                <a:latin typeface="Quattrocento Sans" pitchFamily="34" charset="0"/>
                <a:ea typeface="Quattrocento Sans" pitchFamily="34" charset="-122"/>
                <a:cs typeface="Quattrocento Sans" pitchFamily="34" charset="-120"/>
              </a:rPr>
              <a:t>Government institutions that manage a country's money supply, set interest rates, and ensure financial stability. They act as "banker's bank."</a:t>
            </a:r>
            <a:endParaRPr lang="en-US" sz="1600" dirty="0"/>
          </a:p>
        </p:txBody>
      </p:sp>
      <p:sp>
        <p:nvSpPr>
          <p:cNvPr id="27" name="Shape 25"/>
          <p:cNvSpPr/>
          <p:nvPr/>
        </p:nvSpPr>
        <p:spPr>
          <a:xfrm>
            <a:off x="6397625" y="3012281"/>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2A9D8F"/>
          </a:solidFill>
          <a:ln/>
        </p:spPr>
      </p:sp>
      <p:sp>
        <p:nvSpPr>
          <p:cNvPr id="28" name="Text 26"/>
          <p:cNvSpPr/>
          <p:nvPr/>
        </p:nvSpPr>
        <p:spPr>
          <a:xfrm>
            <a:off x="6604000" y="2980531"/>
            <a:ext cx="1849438"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Monetary policy implementation</a:t>
            </a:r>
            <a:endParaRPr lang="en-US" sz="1600" dirty="0"/>
          </a:p>
        </p:txBody>
      </p:sp>
      <p:sp>
        <p:nvSpPr>
          <p:cNvPr id="29" name="Shape 27"/>
          <p:cNvSpPr/>
          <p:nvPr/>
        </p:nvSpPr>
        <p:spPr>
          <a:xfrm>
            <a:off x="6397625" y="3266281"/>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2A9D8F"/>
          </a:solidFill>
          <a:ln/>
        </p:spPr>
      </p:sp>
      <p:sp>
        <p:nvSpPr>
          <p:cNvPr id="30" name="Text 28"/>
          <p:cNvSpPr/>
          <p:nvPr/>
        </p:nvSpPr>
        <p:spPr>
          <a:xfrm>
            <a:off x="6604000" y="3234531"/>
            <a:ext cx="1071563"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Currency issuance</a:t>
            </a:r>
            <a:endParaRPr lang="en-US" sz="1600" dirty="0"/>
          </a:p>
        </p:txBody>
      </p:sp>
      <p:sp>
        <p:nvSpPr>
          <p:cNvPr id="31" name="Shape 29"/>
          <p:cNvSpPr/>
          <p:nvPr/>
        </p:nvSpPr>
        <p:spPr>
          <a:xfrm>
            <a:off x="6397625" y="3520281"/>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2A9D8F"/>
          </a:solidFill>
          <a:ln/>
        </p:spPr>
      </p:sp>
      <p:sp>
        <p:nvSpPr>
          <p:cNvPr id="32" name="Text 30"/>
          <p:cNvSpPr/>
          <p:nvPr/>
        </p:nvSpPr>
        <p:spPr>
          <a:xfrm>
            <a:off x="6604000" y="3488531"/>
            <a:ext cx="1158875"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Lender of last resort</a:t>
            </a:r>
            <a:endParaRPr lang="en-US" sz="1600" dirty="0"/>
          </a:p>
        </p:txBody>
      </p:sp>
      <p:sp>
        <p:nvSpPr>
          <p:cNvPr id="33" name="Shape 31"/>
          <p:cNvSpPr/>
          <p:nvPr/>
        </p:nvSpPr>
        <p:spPr>
          <a:xfrm>
            <a:off x="6381750" y="3806031"/>
            <a:ext cx="5302250" cy="349250"/>
          </a:xfrm>
          <a:custGeom>
            <a:avLst/>
            <a:gdLst/>
            <a:ahLst/>
            <a:cxnLst/>
            <a:rect l="l" t="t" r="r" b="b"/>
            <a:pathLst>
              <a:path w="5302250" h="349250">
                <a:moveTo>
                  <a:pt x="63501" y="0"/>
                </a:moveTo>
                <a:lnTo>
                  <a:pt x="5238749" y="0"/>
                </a:lnTo>
                <a:cubicBezTo>
                  <a:pt x="5273820" y="0"/>
                  <a:pt x="5302250" y="28430"/>
                  <a:pt x="5302250" y="63501"/>
                </a:cubicBezTo>
                <a:lnTo>
                  <a:pt x="5302250" y="285749"/>
                </a:lnTo>
                <a:cubicBezTo>
                  <a:pt x="5302250" y="320820"/>
                  <a:pt x="5273820" y="349250"/>
                  <a:pt x="5238749" y="349250"/>
                </a:cubicBezTo>
                <a:lnTo>
                  <a:pt x="63501" y="349250"/>
                </a:lnTo>
                <a:cubicBezTo>
                  <a:pt x="28430" y="349250"/>
                  <a:pt x="0" y="320820"/>
                  <a:pt x="0" y="285749"/>
                </a:cubicBezTo>
                <a:lnTo>
                  <a:pt x="0" y="63501"/>
                </a:lnTo>
                <a:cubicBezTo>
                  <a:pt x="0" y="28430"/>
                  <a:pt x="28430" y="0"/>
                  <a:pt x="63501" y="0"/>
                </a:cubicBezTo>
                <a:close/>
              </a:path>
            </a:pathLst>
          </a:custGeom>
          <a:solidFill>
            <a:srgbClr val="F8F9FA"/>
          </a:solidFill>
          <a:ln/>
        </p:spPr>
      </p:sp>
      <p:sp>
        <p:nvSpPr>
          <p:cNvPr id="34" name="Text 32"/>
          <p:cNvSpPr/>
          <p:nvPr/>
        </p:nvSpPr>
        <p:spPr>
          <a:xfrm>
            <a:off x="6477000" y="3901281"/>
            <a:ext cx="5167313" cy="158750"/>
          </a:xfrm>
          <a:prstGeom prst="rect">
            <a:avLst/>
          </a:prstGeom>
          <a:noFill/>
          <a:ln/>
        </p:spPr>
        <p:txBody>
          <a:bodyPr wrap="square" lIns="0" tIns="0" rIns="0" bIns="0" rtlCol="0" anchor="ctr"/>
          <a:lstStyle/>
          <a:p>
            <a:pPr>
              <a:lnSpc>
                <a:spcPct val="120000"/>
              </a:lnSpc>
            </a:pPr>
            <a:r>
              <a:rPr lang="en-US" sz="875" b="1" dirty="0">
                <a:solidFill>
                  <a:srgbClr val="1A3A5C"/>
                </a:solidFill>
                <a:latin typeface="Quattrocento Sans" pitchFamily="34" charset="0"/>
                <a:ea typeface="Quattrocento Sans" pitchFamily="34" charset="-122"/>
                <a:cs typeface="Quattrocento Sans" pitchFamily="34" charset="-120"/>
              </a:rPr>
              <a:t>Examples:</a:t>
            </a:r>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 Federal Reserve (US), ECB (Europe), Bank of England</a:t>
            </a:r>
            <a:endParaRPr lang="en-US" sz="1600" dirty="0"/>
          </a:p>
        </p:txBody>
      </p:sp>
      <p:sp>
        <p:nvSpPr>
          <p:cNvPr id="35" name="Shape 33"/>
          <p:cNvSpPr/>
          <p:nvPr/>
        </p:nvSpPr>
        <p:spPr>
          <a:xfrm>
            <a:off x="317500" y="4552156"/>
            <a:ext cx="5683250" cy="3032125"/>
          </a:xfrm>
          <a:custGeom>
            <a:avLst/>
            <a:gdLst/>
            <a:ahLst/>
            <a:cxnLst/>
            <a:rect l="l" t="t" r="r" b="b"/>
            <a:pathLst>
              <a:path w="5683250" h="3032125">
                <a:moveTo>
                  <a:pt x="31750" y="0"/>
                </a:moveTo>
                <a:lnTo>
                  <a:pt x="5651500" y="0"/>
                </a:lnTo>
                <a:cubicBezTo>
                  <a:pt x="5669035" y="0"/>
                  <a:pt x="5683250" y="14215"/>
                  <a:pt x="5683250" y="31750"/>
                </a:cubicBezTo>
                <a:lnTo>
                  <a:pt x="5683250" y="2936886"/>
                </a:lnTo>
                <a:cubicBezTo>
                  <a:pt x="5683250" y="2989485"/>
                  <a:pt x="5640610" y="3032125"/>
                  <a:pt x="5588011" y="3032125"/>
                </a:cubicBezTo>
                <a:lnTo>
                  <a:pt x="95239" y="3032125"/>
                </a:lnTo>
                <a:cubicBezTo>
                  <a:pt x="42640" y="3032125"/>
                  <a:pt x="0" y="2989485"/>
                  <a:pt x="0" y="2936886"/>
                </a:cubicBezTo>
                <a:lnTo>
                  <a:pt x="0" y="31750"/>
                </a:lnTo>
                <a:cubicBezTo>
                  <a:pt x="0" y="14227"/>
                  <a:pt x="14227" y="0"/>
                  <a:pt x="31750" y="0"/>
                </a:cubicBezTo>
                <a:close/>
              </a:path>
            </a:pathLst>
          </a:custGeom>
          <a:solidFill>
            <a:srgbClr val="FFFFFF"/>
          </a:solidFill>
          <a:ln/>
          <a:effectLst>
            <a:outerShdw sx="100000" sy="100000" kx="0" ky="0" algn="bl" rotWithShape="0" blurRad="119063" dist="79375" dir="5400000">
              <a:srgbClr val="000000">
                <a:alpha val="10196"/>
              </a:srgbClr>
            </a:outerShdw>
          </a:effectLst>
        </p:spPr>
      </p:sp>
      <p:sp>
        <p:nvSpPr>
          <p:cNvPr id="36" name="Shape 34"/>
          <p:cNvSpPr/>
          <p:nvPr/>
        </p:nvSpPr>
        <p:spPr>
          <a:xfrm>
            <a:off x="317500" y="4552156"/>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1A3A5C"/>
          </a:solidFill>
          <a:ln/>
        </p:spPr>
      </p:sp>
      <p:sp>
        <p:nvSpPr>
          <p:cNvPr id="37" name="Shape 35"/>
          <p:cNvSpPr/>
          <p:nvPr/>
        </p:nvSpPr>
        <p:spPr>
          <a:xfrm>
            <a:off x="508000" y="4758531"/>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1A3A5C"/>
          </a:solidFill>
          <a:ln/>
        </p:spPr>
      </p:sp>
      <p:sp>
        <p:nvSpPr>
          <p:cNvPr id="38" name="Shape 36"/>
          <p:cNvSpPr/>
          <p:nvPr/>
        </p:nvSpPr>
        <p:spPr>
          <a:xfrm>
            <a:off x="644922" y="4893469"/>
            <a:ext cx="238125" cy="238125"/>
          </a:xfrm>
          <a:custGeom>
            <a:avLst/>
            <a:gdLst/>
            <a:ahLst/>
            <a:cxnLst/>
            <a:rect l="l" t="t" r="r" b="b"/>
            <a:pathLst>
              <a:path w="238125" h="238125">
                <a:moveTo>
                  <a:pt x="29766" y="29766"/>
                </a:moveTo>
                <a:cubicBezTo>
                  <a:pt x="29766" y="21534"/>
                  <a:pt x="23115" y="14883"/>
                  <a:pt x="14883" y="14883"/>
                </a:cubicBezTo>
                <a:cubicBezTo>
                  <a:pt x="6651" y="14883"/>
                  <a:pt x="0" y="21534"/>
                  <a:pt x="0" y="29766"/>
                </a:cubicBezTo>
                <a:lnTo>
                  <a:pt x="0" y="186035"/>
                </a:lnTo>
                <a:cubicBezTo>
                  <a:pt x="0" y="206592"/>
                  <a:pt x="16650" y="223242"/>
                  <a:pt x="37207" y="223242"/>
                </a:cubicBezTo>
                <a:lnTo>
                  <a:pt x="223242" y="223242"/>
                </a:lnTo>
                <a:cubicBezTo>
                  <a:pt x="231474" y="223242"/>
                  <a:pt x="238125" y="216591"/>
                  <a:pt x="238125" y="208359"/>
                </a:cubicBezTo>
                <a:cubicBezTo>
                  <a:pt x="238125" y="200127"/>
                  <a:pt x="231474" y="193477"/>
                  <a:pt x="223242" y="193477"/>
                </a:cubicBezTo>
                <a:lnTo>
                  <a:pt x="37207" y="193477"/>
                </a:lnTo>
                <a:cubicBezTo>
                  <a:pt x="33114" y="193477"/>
                  <a:pt x="29766" y="190128"/>
                  <a:pt x="29766" y="186035"/>
                </a:cubicBezTo>
                <a:lnTo>
                  <a:pt x="29766" y="29766"/>
                </a:lnTo>
                <a:close/>
                <a:moveTo>
                  <a:pt x="218870" y="70042"/>
                </a:moveTo>
                <a:cubicBezTo>
                  <a:pt x="224684" y="64229"/>
                  <a:pt x="224684" y="54787"/>
                  <a:pt x="218870" y="48974"/>
                </a:cubicBezTo>
                <a:cubicBezTo>
                  <a:pt x="213057" y="43160"/>
                  <a:pt x="203615" y="43160"/>
                  <a:pt x="197802" y="48974"/>
                </a:cubicBezTo>
                <a:lnTo>
                  <a:pt x="148828" y="97994"/>
                </a:lnTo>
                <a:lnTo>
                  <a:pt x="122132" y="71344"/>
                </a:lnTo>
                <a:cubicBezTo>
                  <a:pt x="116318" y="65531"/>
                  <a:pt x="106877" y="65531"/>
                  <a:pt x="101064" y="71344"/>
                </a:cubicBezTo>
                <a:lnTo>
                  <a:pt x="56415" y="115993"/>
                </a:lnTo>
                <a:cubicBezTo>
                  <a:pt x="50602" y="121807"/>
                  <a:pt x="50602" y="131248"/>
                  <a:pt x="56415" y="137061"/>
                </a:cubicBezTo>
                <a:cubicBezTo>
                  <a:pt x="62229" y="142875"/>
                  <a:pt x="71670" y="142875"/>
                  <a:pt x="77484" y="137061"/>
                </a:cubicBezTo>
                <a:lnTo>
                  <a:pt x="111621" y="102924"/>
                </a:lnTo>
                <a:lnTo>
                  <a:pt x="138317" y="129620"/>
                </a:lnTo>
                <a:cubicBezTo>
                  <a:pt x="144131" y="135434"/>
                  <a:pt x="153572" y="135434"/>
                  <a:pt x="159386" y="129620"/>
                </a:cubicBezTo>
                <a:lnTo>
                  <a:pt x="218917" y="70089"/>
                </a:lnTo>
                <a:close/>
              </a:path>
            </a:pathLst>
          </a:custGeom>
          <a:solidFill>
            <a:srgbClr val="FFFFFF"/>
          </a:solidFill>
          <a:ln/>
        </p:spPr>
      </p:sp>
      <p:sp>
        <p:nvSpPr>
          <p:cNvPr id="39" name="Text 37"/>
          <p:cNvSpPr/>
          <p:nvPr/>
        </p:nvSpPr>
        <p:spPr>
          <a:xfrm>
            <a:off x="1143000" y="4774406"/>
            <a:ext cx="1984375" cy="285750"/>
          </a:xfrm>
          <a:prstGeom prst="rect">
            <a:avLst/>
          </a:prstGeom>
          <a:noFill/>
          <a:ln/>
        </p:spPr>
        <p:txBody>
          <a:bodyPr wrap="square" lIns="0" tIns="0" rIns="0" bIns="0" rtlCol="0" anchor="ctr"/>
          <a:lstStyle/>
          <a:p>
            <a:pPr>
              <a:lnSpc>
                <a:spcPct val="100000"/>
              </a:lnSpc>
            </a:pPr>
            <a:r>
              <a:rPr lang="en-US" sz="1875" b="1" dirty="0">
                <a:solidFill>
                  <a:srgbClr val="1A3A5C"/>
                </a:solidFill>
                <a:latin typeface="Liter" pitchFamily="34" charset="0"/>
                <a:ea typeface="Liter" pitchFamily="34" charset="-122"/>
                <a:cs typeface="Liter" pitchFamily="34" charset="-120"/>
              </a:rPr>
              <a:t>Investment Banks</a:t>
            </a:r>
            <a:endParaRPr lang="en-US" sz="1600" dirty="0"/>
          </a:p>
        </p:txBody>
      </p:sp>
      <p:sp>
        <p:nvSpPr>
          <p:cNvPr id="40" name="Text 38"/>
          <p:cNvSpPr/>
          <p:nvPr/>
        </p:nvSpPr>
        <p:spPr>
          <a:xfrm>
            <a:off x="1143000" y="5060156"/>
            <a:ext cx="1928813"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Liter" pitchFamily="34" charset="0"/>
                <a:ea typeface="Liter" pitchFamily="34" charset="-122"/>
                <a:cs typeface="Liter" pitchFamily="34" charset="-120"/>
              </a:rPr>
              <a:t>Capital Markets &amp; Advisory</a:t>
            </a:r>
            <a:endParaRPr lang="en-US" sz="1600" dirty="0"/>
          </a:p>
        </p:txBody>
      </p:sp>
      <p:sp>
        <p:nvSpPr>
          <p:cNvPr id="41" name="Text 39"/>
          <p:cNvSpPr/>
          <p:nvPr/>
        </p:nvSpPr>
        <p:spPr>
          <a:xfrm>
            <a:off x="508000" y="5393531"/>
            <a:ext cx="5373688" cy="698500"/>
          </a:xfrm>
          <a:prstGeom prst="rect">
            <a:avLst/>
          </a:prstGeom>
          <a:noFill/>
          <a:ln/>
        </p:spPr>
        <p:txBody>
          <a:bodyPr wrap="square" lIns="0" tIns="0" rIns="0" bIns="0" rtlCol="0" anchor="ctr"/>
          <a:lstStyle/>
          <a:p>
            <a:pPr>
              <a:lnSpc>
                <a:spcPct val="140000"/>
              </a:lnSpc>
            </a:pPr>
            <a:r>
              <a:rPr lang="en-US" sz="1125" dirty="0">
                <a:solidFill>
                  <a:srgbClr val="2B2D42"/>
                </a:solidFill>
                <a:latin typeface="Quattrocento Sans" pitchFamily="34" charset="0"/>
                <a:ea typeface="Quattrocento Sans" pitchFamily="34" charset="-122"/>
                <a:cs typeface="Quattrocento Sans" pitchFamily="34" charset="-120"/>
              </a:rPr>
              <a:t>Specialized banks that help companies raise capital, facilitate mergers and acquisitions, and trade securities. They don't take deposits from the public.</a:t>
            </a:r>
            <a:endParaRPr lang="en-US" sz="1600" dirty="0"/>
          </a:p>
        </p:txBody>
      </p:sp>
      <p:sp>
        <p:nvSpPr>
          <p:cNvPr id="42" name="Shape 40"/>
          <p:cNvSpPr/>
          <p:nvPr/>
        </p:nvSpPr>
        <p:spPr>
          <a:xfrm>
            <a:off x="523875" y="6248797"/>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2A9D8F"/>
          </a:solidFill>
          <a:ln/>
        </p:spPr>
      </p:sp>
      <p:sp>
        <p:nvSpPr>
          <p:cNvPr id="43" name="Text 41"/>
          <p:cNvSpPr/>
          <p:nvPr/>
        </p:nvSpPr>
        <p:spPr>
          <a:xfrm>
            <a:off x="730250" y="6217047"/>
            <a:ext cx="1563688"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Underwriting IPOs &amp; bonds</a:t>
            </a:r>
            <a:endParaRPr lang="en-US" sz="1600" dirty="0"/>
          </a:p>
        </p:txBody>
      </p:sp>
      <p:sp>
        <p:nvSpPr>
          <p:cNvPr id="44" name="Shape 42"/>
          <p:cNvSpPr/>
          <p:nvPr/>
        </p:nvSpPr>
        <p:spPr>
          <a:xfrm>
            <a:off x="523875" y="6502797"/>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2A9D8F"/>
          </a:solidFill>
          <a:ln/>
        </p:spPr>
      </p:sp>
      <p:sp>
        <p:nvSpPr>
          <p:cNvPr id="45" name="Text 43"/>
          <p:cNvSpPr/>
          <p:nvPr/>
        </p:nvSpPr>
        <p:spPr>
          <a:xfrm>
            <a:off x="730250" y="6471047"/>
            <a:ext cx="1809750"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Mergers &amp; acquisitions advisory</a:t>
            </a:r>
            <a:endParaRPr lang="en-US" sz="1600" dirty="0"/>
          </a:p>
        </p:txBody>
      </p:sp>
      <p:sp>
        <p:nvSpPr>
          <p:cNvPr id="46" name="Shape 44"/>
          <p:cNvSpPr/>
          <p:nvPr/>
        </p:nvSpPr>
        <p:spPr>
          <a:xfrm>
            <a:off x="523875" y="6756797"/>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2A9D8F"/>
          </a:solidFill>
          <a:ln/>
        </p:spPr>
      </p:sp>
      <p:sp>
        <p:nvSpPr>
          <p:cNvPr id="47" name="Text 45"/>
          <p:cNvSpPr/>
          <p:nvPr/>
        </p:nvSpPr>
        <p:spPr>
          <a:xfrm>
            <a:off x="730250" y="6725047"/>
            <a:ext cx="1658938"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Trading &amp; asset management</a:t>
            </a:r>
            <a:endParaRPr lang="en-US" sz="1600" dirty="0"/>
          </a:p>
        </p:txBody>
      </p:sp>
      <p:sp>
        <p:nvSpPr>
          <p:cNvPr id="48" name="Shape 46"/>
          <p:cNvSpPr/>
          <p:nvPr/>
        </p:nvSpPr>
        <p:spPr>
          <a:xfrm>
            <a:off x="508000" y="7042547"/>
            <a:ext cx="5302250" cy="349250"/>
          </a:xfrm>
          <a:custGeom>
            <a:avLst/>
            <a:gdLst/>
            <a:ahLst/>
            <a:cxnLst/>
            <a:rect l="l" t="t" r="r" b="b"/>
            <a:pathLst>
              <a:path w="5302250" h="349250">
                <a:moveTo>
                  <a:pt x="63501" y="0"/>
                </a:moveTo>
                <a:lnTo>
                  <a:pt x="5238749" y="0"/>
                </a:lnTo>
                <a:cubicBezTo>
                  <a:pt x="5273820" y="0"/>
                  <a:pt x="5302250" y="28430"/>
                  <a:pt x="5302250" y="63501"/>
                </a:cubicBezTo>
                <a:lnTo>
                  <a:pt x="5302250" y="285749"/>
                </a:lnTo>
                <a:cubicBezTo>
                  <a:pt x="5302250" y="320820"/>
                  <a:pt x="5273820" y="349250"/>
                  <a:pt x="5238749" y="349250"/>
                </a:cubicBezTo>
                <a:lnTo>
                  <a:pt x="63501" y="349250"/>
                </a:lnTo>
                <a:cubicBezTo>
                  <a:pt x="28430" y="349250"/>
                  <a:pt x="0" y="320820"/>
                  <a:pt x="0" y="285749"/>
                </a:cubicBezTo>
                <a:lnTo>
                  <a:pt x="0" y="63501"/>
                </a:lnTo>
                <a:cubicBezTo>
                  <a:pt x="0" y="28430"/>
                  <a:pt x="28430" y="0"/>
                  <a:pt x="63501" y="0"/>
                </a:cubicBezTo>
                <a:close/>
              </a:path>
            </a:pathLst>
          </a:custGeom>
          <a:solidFill>
            <a:srgbClr val="F8F9FA"/>
          </a:solidFill>
          <a:ln/>
        </p:spPr>
      </p:sp>
      <p:sp>
        <p:nvSpPr>
          <p:cNvPr id="49" name="Text 47"/>
          <p:cNvSpPr/>
          <p:nvPr/>
        </p:nvSpPr>
        <p:spPr>
          <a:xfrm>
            <a:off x="603250" y="7137797"/>
            <a:ext cx="5167313" cy="158750"/>
          </a:xfrm>
          <a:prstGeom prst="rect">
            <a:avLst/>
          </a:prstGeom>
          <a:noFill/>
          <a:ln/>
        </p:spPr>
        <p:txBody>
          <a:bodyPr wrap="square" lIns="0" tIns="0" rIns="0" bIns="0" rtlCol="0" anchor="ctr"/>
          <a:lstStyle/>
          <a:p>
            <a:pPr>
              <a:lnSpc>
                <a:spcPct val="120000"/>
              </a:lnSpc>
            </a:pPr>
            <a:r>
              <a:rPr lang="en-US" sz="875" b="1" dirty="0">
                <a:solidFill>
                  <a:srgbClr val="1A3A5C"/>
                </a:solidFill>
                <a:latin typeface="Quattrocento Sans" pitchFamily="34" charset="0"/>
                <a:ea typeface="Quattrocento Sans" pitchFamily="34" charset="-122"/>
                <a:cs typeface="Quattrocento Sans" pitchFamily="34" charset="-120"/>
              </a:rPr>
              <a:t>Examples:</a:t>
            </a:r>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 Goldman Sachs, Morgan Stanley, JP Morgan</a:t>
            </a:r>
            <a:endParaRPr lang="en-US" sz="1600" dirty="0"/>
          </a:p>
        </p:txBody>
      </p:sp>
      <p:sp>
        <p:nvSpPr>
          <p:cNvPr id="50" name="Shape 48"/>
          <p:cNvSpPr/>
          <p:nvPr/>
        </p:nvSpPr>
        <p:spPr>
          <a:xfrm>
            <a:off x="6191250" y="4552156"/>
            <a:ext cx="5683250" cy="3032125"/>
          </a:xfrm>
          <a:custGeom>
            <a:avLst/>
            <a:gdLst/>
            <a:ahLst/>
            <a:cxnLst/>
            <a:rect l="l" t="t" r="r" b="b"/>
            <a:pathLst>
              <a:path w="5683250" h="3032125">
                <a:moveTo>
                  <a:pt x="31750" y="0"/>
                </a:moveTo>
                <a:lnTo>
                  <a:pt x="5651500" y="0"/>
                </a:lnTo>
                <a:cubicBezTo>
                  <a:pt x="5669035" y="0"/>
                  <a:pt x="5683250" y="14215"/>
                  <a:pt x="5683250" y="31750"/>
                </a:cubicBezTo>
                <a:lnTo>
                  <a:pt x="5683250" y="2936886"/>
                </a:lnTo>
                <a:cubicBezTo>
                  <a:pt x="5683250" y="2989485"/>
                  <a:pt x="5640610" y="3032125"/>
                  <a:pt x="5588011" y="3032125"/>
                </a:cubicBezTo>
                <a:lnTo>
                  <a:pt x="95239" y="3032125"/>
                </a:lnTo>
                <a:cubicBezTo>
                  <a:pt x="42640" y="3032125"/>
                  <a:pt x="0" y="2989485"/>
                  <a:pt x="0" y="2936886"/>
                </a:cubicBezTo>
                <a:lnTo>
                  <a:pt x="0" y="31750"/>
                </a:lnTo>
                <a:cubicBezTo>
                  <a:pt x="0" y="14227"/>
                  <a:pt x="14227" y="0"/>
                  <a:pt x="31750" y="0"/>
                </a:cubicBezTo>
                <a:close/>
              </a:path>
            </a:pathLst>
          </a:custGeom>
          <a:solidFill>
            <a:srgbClr val="FFFFFF"/>
          </a:solidFill>
          <a:ln/>
          <a:effectLst>
            <a:outerShdw sx="100000" sy="100000" kx="0" ky="0" algn="bl" rotWithShape="0" blurRad="119063" dist="79375" dir="5400000">
              <a:srgbClr val="000000">
                <a:alpha val="10196"/>
              </a:srgbClr>
            </a:outerShdw>
          </a:effectLst>
        </p:spPr>
      </p:sp>
      <p:sp>
        <p:nvSpPr>
          <p:cNvPr id="51" name="Shape 49"/>
          <p:cNvSpPr/>
          <p:nvPr/>
        </p:nvSpPr>
        <p:spPr>
          <a:xfrm>
            <a:off x="6191250" y="4552156"/>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2A9D8F"/>
          </a:solidFill>
          <a:ln/>
        </p:spPr>
      </p:sp>
      <p:sp>
        <p:nvSpPr>
          <p:cNvPr id="52" name="Shape 50"/>
          <p:cNvSpPr/>
          <p:nvPr/>
        </p:nvSpPr>
        <p:spPr>
          <a:xfrm>
            <a:off x="6381750" y="4758531"/>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2A9D8F"/>
          </a:solidFill>
          <a:ln/>
        </p:spPr>
      </p:sp>
      <p:sp>
        <p:nvSpPr>
          <p:cNvPr id="53" name="Shape 51"/>
          <p:cNvSpPr/>
          <p:nvPr/>
        </p:nvSpPr>
        <p:spPr>
          <a:xfrm>
            <a:off x="6488906" y="4893469"/>
            <a:ext cx="297656" cy="238125"/>
          </a:xfrm>
          <a:custGeom>
            <a:avLst/>
            <a:gdLst/>
            <a:ahLst/>
            <a:cxnLst/>
            <a:rect l="l" t="t" r="r" b="b"/>
            <a:pathLst>
              <a:path w="297656" h="238125">
                <a:moveTo>
                  <a:pt x="148828" y="7441"/>
                </a:moveTo>
                <a:cubicBezTo>
                  <a:pt x="175524" y="7441"/>
                  <a:pt x="197197" y="29115"/>
                  <a:pt x="197197" y="55811"/>
                </a:cubicBezTo>
                <a:cubicBezTo>
                  <a:pt x="197197" y="82506"/>
                  <a:pt x="175524" y="104180"/>
                  <a:pt x="148828" y="104180"/>
                </a:cubicBezTo>
                <a:cubicBezTo>
                  <a:pt x="122132" y="104180"/>
                  <a:pt x="100459" y="82506"/>
                  <a:pt x="100459" y="55811"/>
                </a:cubicBezTo>
                <a:cubicBezTo>
                  <a:pt x="100459" y="29115"/>
                  <a:pt x="122132" y="7441"/>
                  <a:pt x="148828" y="7441"/>
                </a:cubicBezTo>
                <a:close/>
                <a:moveTo>
                  <a:pt x="44648" y="40928"/>
                </a:moveTo>
                <a:cubicBezTo>
                  <a:pt x="63130" y="40928"/>
                  <a:pt x="78135" y="55932"/>
                  <a:pt x="78135" y="74414"/>
                </a:cubicBezTo>
                <a:cubicBezTo>
                  <a:pt x="78135" y="92896"/>
                  <a:pt x="63130" y="107900"/>
                  <a:pt x="44648" y="107900"/>
                </a:cubicBezTo>
                <a:cubicBezTo>
                  <a:pt x="26167" y="107900"/>
                  <a:pt x="11162" y="92896"/>
                  <a:pt x="11162" y="74414"/>
                </a:cubicBezTo>
                <a:cubicBezTo>
                  <a:pt x="11162" y="55932"/>
                  <a:pt x="26167" y="40928"/>
                  <a:pt x="44648" y="40928"/>
                </a:cubicBezTo>
                <a:close/>
                <a:moveTo>
                  <a:pt x="0" y="193477"/>
                </a:moveTo>
                <a:cubicBezTo>
                  <a:pt x="0" y="160595"/>
                  <a:pt x="26650" y="133945"/>
                  <a:pt x="59531" y="133945"/>
                </a:cubicBezTo>
                <a:cubicBezTo>
                  <a:pt x="65484" y="133945"/>
                  <a:pt x="71251" y="134829"/>
                  <a:pt x="76693" y="136457"/>
                </a:cubicBezTo>
                <a:cubicBezTo>
                  <a:pt x="61392" y="153572"/>
                  <a:pt x="52090" y="176175"/>
                  <a:pt x="52090" y="200918"/>
                </a:cubicBezTo>
                <a:lnTo>
                  <a:pt x="52090" y="208359"/>
                </a:lnTo>
                <a:cubicBezTo>
                  <a:pt x="52090" y="213661"/>
                  <a:pt x="53206" y="218684"/>
                  <a:pt x="55206" y="223242"/>
                </a:cubicBezTo>
                <a:lnTo>
                  <a:pt x="14883" y="223242"/>
                </a:lnTo>
                <a:cubicBezTo>
                  <a:pt x="6651" y="223242"/>
                  <a:pt x="0" y="216591"/>
                  <a:pt x="0" y="208359"/>
                </a:cubicBezTo>
                <a:lnTo>
                  <a:pt x="0" y="193477"/>
                </a:lnTo>
                <a:close/>
                <a:moveTo>
                  <a:pt x="242450" y="223242"/>
                </a:moveTo>
                <a:cubicBezTo>
                  <a:pt x="244450" y="218684"/>
                  <a:pt x="245566" y="213661"/>
                  <a:pt x="245566" y="208359"/>
                </a:cubicBezTo>
                <a:lnTo>
                  <a:pt x="245566" y="200918"/>
                </a:lnTo>
                <a:cubicBezTo>
                  <a:pt x="245566" y="176175"/>
                  <a:pt x="236265" y="153572"/>
                  <a:pt x="220963" y="136457"/>
                </a:cubicBezTo>
                <a:cubicBezTo>
                  <a:pt x="226405" y="134829"/>
                  <a:pt x="232172" y="133945"/>
                  <a:pt x="238125" y="133945"/>
                </a:cubicBezTo>
                <a:cubicBezTo>
                  <a:pt x="271007" y="133945"/>
                  <a:pt x="297656" y="160595"/>
                  <a:pt x="297656" y="193477"/>
                </a:cubicBezTo>
                <a:lnTo>
                  <a:pt x="297656" y="208359"/>
                </a:lnTo>
                <a:cubicBezTo>
                  <a:pt x="297656" y="216591"/>
                  <a:pt x="291005" y="223242"/>
                  <a:pt x="282773" y="223242"/>
                </a:cubicBezTo>
                <a:lnTo>
                  <a:pt x="242450" y="223242"/>
                </a:lnTo>
                <a:close/>
                <a:moveTo>
                  <a:pt x="219521" y="74414"/>
                </a:moveTo>
                <a:cubicBezTo>
                  <a:pt x="219521" y="55932"/>
                  <a:pt x="234526" y="40928"/>
                  <a:pt x="253008" y="40928"/>
                </a:cubicBezTo>
                <a:cubicBezTo>
                  <a:pt x="271489" y="40928"/>
                  <a:pt x="286494" y="55932"/>
                  <a:pt x="286494" y="74414"/>
                </a:cubicBezTo>
                <a:cubicBezTo>
                  <a:pt x="286494" y="92896"/>
                  <a:pt x="271489" y="107900"/>
                  <a:pt x="253008" y="107900"/>
                </a:cubicBezTo>
                <a:cubicBezTo>
                  <a:pt x="234526" y="107900"/>
                  <a:pt x="219521" y="92896"/>
                  <a:pt x="219521" y="74414"/>
                </a:cubicBezTo>
                <a:close/>
                <a:moveTo>
                  <a:pt x="74414" y="200918"/>
                </a:moveTo>
                <a:cubicBezTo>
                  <a:pt x="74414" y="159804"/>
                  <a:pt x="107714" y="126504"/>
                  <a:pt x="148828" y="126504"/>
                </a:cubicBezTo>
                <a:cubicBezTo>
                  <a:pt x="189942" y="126504"/>
                  <a:pt x="223242" y="159804"/>
                  <a:pt x="223242" y="200918"/>
                </a:cubicBezTo>
                <a:lnTo>
                  <a:pt x="223242" y="208359"/>
                </a:lnTo>
                <a:cubicBezTo>
                  <a:pt x="223242" y="216591"/>
                  <a:pt x="216591" y="223242"/>
                  <a:pt x="208359" y="223242"/>
                </a:cubicBezTo>
                <a:lnTo>
                  <a:pt x="89297" y="223242"/>
                </a:lnTo>
                <a:cubicBezTo>
                  <a:pt x="81065" y="223242"/>
                  <a:pt x="74414" y="216591"/>
                  <a:pt x="74414" y="208359"/>
                </a:cubicBezTo>
                <a:lnTo>
                  <a:pt x="74414" y="200918"/>
                </a:lnTo>
                <a:close/>
              </a:path>
            </a:pathLst>
          </a:custGeom>
          <a:solidFill>
            <a:srgbClr val="FFFFFF"/>
          </a:solidFill>
          <a:ln/>
        </p:spPr>
      </p:sp>
      <p:sp>
        <p:nvSpPr>
          <p:cNvPr id="54" name="Text 52"/>
          <p:cNvSpPr/>
          <p:nvPr/>
        </p:nvSpPr>
        <p:spPr>
          <a:xfrm>
            <a:off x="7016750" y="4774406"/>
            <a:ext cx="2087563" cy="285750"/>
          </a:xfrm>
          <a:prstGeom prst="rect">
            <a:avLst/>
          </a:prstGeom>
          <a:noFill/>
          <a:ln/>
        </p:spPr>
        <p:txBody>
          <a:bodyPr wrap="square" lIns="0" tIns="0" rIns="0" bIns="0" rtlCol="0" anchor="ctr"/>
          <a:lstStyle/>
          <a:p>
            <a:pPr>
              <a:lnSpc>
                <a:spcPct val="100000"/>
              </a:lnSpc>
            </a:pPr>
            <a:r>
              <a:rPr lang="en-US" sz="1875" b="1" dirty="0">
                <a:solidFill>
                  <a:srgbClr val="1A3A5C"/>
                </a:solidFill>
                <a:latin typeface="Liter" pitchFamily="34" charset="0"/>
                <a:ea typeface="Liter" pitchFamily="34" charset="-122"/>
                <a:cs typeface="Liter" pitchFamily="34" charset="-120"/>
              </a:rPr>
              <a:t>Cooperative Banks</a:t>
            </a:r>
            <a:endParaRPr lang="en-US" sz="1600" dirty="0"/>
          </a:p>
        </p:txBody>
      </p:sp>
      <p:sp>
        <p:nvSpPr>
          <p:cNvPr id="55" name="Text 53"/>
          <p:cNvSpPr/>
          <p:nvPr/>
        </p:nvSpPr>
        <p:spPr>
          <a:xfrm>
            <a:off x="7016750" y="5060156"/>
            <a:ext cx="203200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Liter" pitchFamily="34" charset="0"/>
                <a:ea typeface="Liter" pitchFamily="34" charset="-122"/>
                <a:cs typeface="Liter" pitchFamily="34" charset="-120"/>
              </a:rPr>
              <a:t>Member-Owned Institutions</a:t>
            </a:r>
            <a:endParaRPr lang="en-US" sz="1600" dirty="0"/>
          </a:p>
        </p:txBody>
      </p:sp>
      <p:sp>
        <p:nvSpPr>
          <p:cNvPr id="56" name="Text 54"/>
          <p:cNvSpPr/>
          <p:nvPr/>
        </p:nvSpPr>
        <p:spPr>
          <a:xfrm>
            <a:off x="6381750" y="5393531"/>
            <a:ext cx="5373688" cy="698500"/>
          </a:xfrm>
          <a:prstGeom prst="rect">
            <a:avLst/>
          </a:prstGeom>
          <a:noFill/>
          <a:ln/>
        </p:spPr>
        <p:txBody>
          <a:bodyPr wrap="square" lIns="0" tIns="0" rIns="0" bIns="0" rtlCol="0" anchor="ctr"/>
          <a:lstStyle/>
          <a:p>
            <a:pPr>
              <a:lnSpc>
                <a:spcPct val="140000"/>
              </a:lnSpc>
            </a:pPr>
            <a:r>
              <a:rPr lang="en-US" sz="1125" dirty="0">
                <a:solidFill>
                  <a:srgbClr val="2B2D42"/>
                </a:solidFill>
                <a:latin typeface="Quattrocento Sans" pitchFamily="34" charset="0"/>
                <a:ea typeface="Quattrocento Sans" pitchFamily="34" charset="-122"/>
                <a:cs typeface="Quattrocento Sans" pitchFamily="34" charset="-120"/>
              </a:rPr>
              <a:t>Owned and operated by their members, these banks focus on serving local communities with better rates and personalized service. Profits are shared among members.</a:t>
            </a:r>
            <a:endParaRPr lang="en-US" sz="1600" dirty="0"/>
          </a:p>
        </p:txBody>
      </p:sp>
      <p:sp>
        <p:nvSpPr>
          <p:cNvPr id="57" name="Shape 55"/>
          <p:cNvSpPr/>
          <p:nvPr/>
        </p:nvSpPr>
        <p:spPr>
          <a:xfrm>
            <a:off x="6397625" y="6248797"/>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2A9D8F"/>
          </a:solidFill>
          <a:ln/>
        </p:spPr>
      </p:sp>
      <p:sp>
        <p:nvSpPr>
          <p:cNvPr id="58" name="Text 56"/>
          <p:cNvSpPr/>
          <p:nvPr/>
        </p:nvSpPr>
        <p:spPr>
          <a:xfrm>
            <a:off x="6604000" y="6217047"/>
            <a:ext cx="1746250"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Member-owned &amp; democratic</a:t>
            </a:r>
            <a:endParaRPr lang="en-US" sz="1600" dirty="0"/>
          </a:p>
        </p:txBody>
      </p:sp>
      <p:sp>
        <p:nvSpPr>
          <p:cNvPr id="59" name="Shape 57"/>
          <p:cNvSpPr/>
          <p:nvPr/>
        </p:nvSpPr>
        <p:spPr>
          <a:xfrm>
            <a:off x="6397625" y="6502797"/>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2A9D8F"/>
          </a:solidFill>
          <a:ln/>
        </p:spPr>
      </p:sp>
      <p:sp>
        <p:nvSpPr>
          <p:cNvPr id="60" name="Text 58"/>
          <p:cNvSpPr/>
          <p:nvPr/>
        </p:nvSpPr>
        <p:spPr>
          <a:xfrm>
            <a:off x="6604000" y="6471047"/>
            <a:ext cx="1635125"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Community-focused lending</a:t>
            </a:r>
            <a:endParaRPr lang="en-US" sz="1600" dirty="0"/>
          </a:p>
        </p:txBody>
      </p:sp>
      <p:sp>
        <p:nvSpPr>
          <p:cNvPr id="61" name="Shape 59"/>
          <p:cNvSpPr/>
          <p:nvPr/>
        </p:nvSpPr>
        <p:spPr>
          <a:xfrm>
            <a:off x="6397625" y="6756797"/>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2A9D8F"/>
          </a:solidFill>
          <a:ln/>
        </p:spPr>
      </p:sp>
      <p:sp>
        <p:nvSpPr>
          <p:cNvPr id="62" name="Text 60"/>
          <p:cNvSpPr/>
          <p:nvPr/>
        </p:nvSpPr>
        <p:spPr>
          <a:xfrm>
            <a:off x="6604000" y="6725047"/>
            <a:ext cx="1611313"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Profit sharing with members</a:t>
            </a:r>
            <a:endParaRPr lang="en-US" sz="1600" dirty="0"/>
          </a:p>
        </p:txBody>
      </p:sp>
      <p:sp>
        <p:nvSpPr>
          <p:cNvPr id="63" name="Shape 61"/>
          <p:cNvSpPr/>
          <p:nvPr/>
        </p:nvSpPr>
        <p:spPr>
          <a:xfrm>
            <a:off x="6381750" y="7042547"/>
            <a:ext cx="5302250" cy="349250"/>
          </a:xfrm>
          <a:custGeom>
            <a:avLst/>
            <a:gdLst/>
            <a:ahLst/>
            <a:cxnLst/>
            <a:rect l="l" t="t" r="r" b="b"/>
            <a:pathLst>
              <a:path w="5302250" h="349250">
                <a:moveTo>
                  <a:pt x="63501" y="0"/>
                </a:moveTo>
                <a:lnTo>
                  <a:pt x="5238749" y="0"/>
                </a:lnTo>
                <a:cubicBezTo>
                  <a:pt x="5273820" y="0"/>
                  <a:pt x="5302250" y="28430"/>
                  <a:pt x="5302250" y="63501"/>
                </a:cubicBezTo>
                <a:lnTo>
                  <a:pt x="5302250" y="285749"/>
                </a:lnTo>
                <a:cubicBezTo>
                  <a:pt x="5302250" y="320820"/>
                  <a:pt x="5273820" y="349250"/>
                  <a:pt x="5238749" y="349250"/>
                </a:cubicBezTo>
                <a:lnTo>
                  <a:pt x="63501" y="349250"/>
                </a:lnTo>
                <a:cubicBezTo>
                  <a:pt x="28430" y="349250"/>
                  <a:pt x="0" y="320820"/>
                  <a:pt x="0" y="285749"/>
                </a:cubicBezTo>
                <a:lnTo>
                  <a:pt x="0" y="63501"/>
                </a:lnTo>
                <a:cubicBezTo>
                  <a:pt x="0" y="28430"/>
                  <a:pt x="28430" y="0"/>
                  <a:pt x="63501" y="0"/>
                </a:cubicBezTo>
                <a:close/>
              </a:path>
            </a:pathLst>
          </a:custGeom>
          <a:solidFill>
            <a:srgbClr val="F8F9FA"/>
          </a:solidFill>
          <a:ln/>
        </p:spPr>
      </p:sp>
      <p:sp>
        <p:nvSpPr>
          <p:cNvPr id="64" name="Text 62"/>
          <p:cNvSpPr/>
          <p:nvPr/>
        </p:nvSpPr>
        <p:spPr>
          <a:xfrm>
            <a:off x="6477000" y="7137797"/>
            <a:ext cx="5167313" cy="158750"/>
          </a:xfrm>
          <a:prstGeom prst="rect">
            <a:avLst/>
          </a:prstGeom>
          <a:noFill/>
          <a:ln/>
        </p:spPr>
        <p:txBody>
          <a:bodyPr wrap="square" lIns="0" tIns="0" rIns="0" bIns="0" rtlCol="0" anchor="ctr"/>
          <a:lstStyle/>
          <a:p>
            <a:pPr>
              <a:lnSpc>
                <a:spcPct val="120000"/>
              </a:lnSpc>
            </a:pPr>
            <a:r>
              <a:rPr lang="en-US" sz="875" b="1" dirty="0">
                <a:solidFill>
                  <a:srgbClr val="1A3A5C"/>
                </a:solidFill>
                <a:latin typeface="Quattrocento Sans" pitchFamily="34" charset="0"/>
                <a:ea typeface="Quattrocento Sans" pitchFamily="34" charset="-122"/>
                <a:cs typeface="Quattrocento Sans" pitchFamily="34" charset="-120"/>
              </a:rPr>
              <a:t>Examples:</a:t>
            </a:r>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 Credit unions, community banks, Grameen Bank</a:t>
            </a:r>
            <a:endParaRPr lang="en-US" sz="1600" dirty="0"/>
          </a:p>
        </p:txBody>
      </p:sp>
      <p:sp>
        <p:nvSpPr>
          <p:cNvPr id="65" name="Shape 63"/>
          <p:cNvSpPr/>
          <p:nvPr/>
        </p:nvSpPr>
        <p:spPr>
          <a:xfrm>
            <a:off x="333375" y="7741047"/>
            <a:ext cx="11541125" cy="666750"/>
          </a:xfrm>
          <a:custGeom>
            <a:avLst/>
            <a:gdLst/>
            <a:ahLst/>
            <a:cxnLst/>
            <a:rect l="l" t="t" r="r" b="b"/>
            <a:pathLst>
              <a:path w="11541125" h="666750">
                <a:moveTo>
                  <a:pt x="31750" y="0"/>
                </a:moveTo>
                <a:lnTo>
                  <a:pt x="11477624" y="0"/>
                </a:lnTo>
                <a:cubicBezTo>
                  <a:pt x="11512695" y="0"/>
                  <a:pt x="11541125" y="28430"/>
                  <a:pt x="11541125" y="63501"/>
                </a:cubicBezTo>
                <a:lnTo>
                  <a:pt x="11541125" y="603249"/>
                </a:lnTo>
                <a:cubicBezTo>
                  <a:pt x="11541125" y="638320"/>
                  <a:pt x="11512695" y="666750"/>
                  <a:pt x="11477624" y="666750"/>
                </a:cubicBezTo>
                <a:lnTo>
                  <a:pt x="31750" y="666750"/>
                </a:lnTo>
                <a:cubicBezTo>
                  <a:pt x="14215" y="666750"/>
                  <a:pt x="0" y="652535"/>
                  <a:pt x="0" y="635000"/>
                </a:cubicBezTo>
                <a:lnTo>
                  <a:pt x="0" y="31750"/>
                </a:lnTo>
                <a:cubicBezTo>
                  <a:pt x="0" y="14227"/>
                  <a:pt x="14227" y="0"/>
                  <a:pt x="31750" y="0"/>
                </a:cubicBezTo>
                <a:close/>
              </a:path>
            </a:pathLst>
          </a:custGeom>
          <a:solidFill>
            <a:srgbClr val="1A3A5C">
              <a:alpha val="5098"/>
            </a:srgbClr>
          </a:solidFill>
          <a:ln/>
        </p:spPr>
      </p:sp>
      <p:sp>
        <p:nvSpPr>
          <p:cNvPr id="66" name="Shape 64"/>
          <p:cNvSpPr/>
          <p:nvPr/>
        </p:nvSpPr>
        <p:spPr>
          <a:xfrm>
            <a:off x="333375" y="7741047"/>
            <a:ext cx="31750" cy="666750"/>
          </a:xfrm>
          <a:custGeom>
            <a:avLst/>
            <a:gdLst/>
            <a:ahLst/>
            <a:cxnLst/>
            <a:rect l="l" t="t" r="r" b="b"/>
            <a:pathLst>
              <a:path w="31750" h="666750">
                <a:moveTo>
                  <a:pt x="31750" y="0"/>
                </a:moveTo>
                <a:lnTo>
                  <a:pt x="31750" y="0"/>
                </a:lnTo>
                <a:lnTo>
                  <a:pt x="31750" y="666750"/>
                </a:lnTo>
                <a:lnTo>
                  <a:pt x="31750" y="666750"/>
                </a:lnTo>
                <a:cubicBezTo>
                  <a:pt x="14227" y="666750"/>
                  <a:pt x="0" y="652523"/>
                  <a:pt x="0" y="635000"/>
                </a:cubicBezTo>
                <a:lnTo>
                  <a:pt x="0" y="31750"/>
                </a:lnTo>
                <a:cubicBezTo>
                  <a:pt x="0" y="14227"/>
                  <a:pt x="14227" y="0"/>
                  <a:pt x="31750" y="0"/>
                </a:cubicBezTo>
                <a:close/>
              </a:path>
            </a:pathLst>
          </a:custGeom>
          <a:solidFill>
            <a:srgbClr val="1A3A5C"/>
          </a:solidFill>
          <a:ln/>
        </p:spPr>
      </p:sp>
      <p:sp>
        <p:nvSpPr>
          <p:cNvPr id="67" name="Shape 65"/>
          <p:cNvSpPr/>
          <p:nvPr/>
        </p:nvSpPr>
        <p:spPr>
          <a:xfrm>
            <a:off x="500063" y="7903766"/>
            <a:ext cx="111125" cy="127000"/>
          </a:xfrm>
          <a:custGeom>
            <a:avLst/>
            <a:gdLst/>
            <a:ahLst/>
            <a:cxnLst/>
            <a:rect l="l" t="t" r="r" b="b"/>
            <a:pathLst>
              <a:path w="111125" h="127000">
                <a:moveTo>
                  <a:pt x="0" y="53578"/>
                </a:moveTo>
                <a:cubicBezTo>
                  <a:pt x="0" y="37133"/>
                  <a:pt x="13320" y="23812"/>
                  <a:pt x="29766" y="23812"/>
                </a:cubicBezTo>
                <a:lnTo>
                  <a:pt x="31750" y="23812"/>
                </a:lnTo>
                <a:cubicBezTo>
                  <a:pt x="36140" y="23812"/>
                  <a:pt x="39688" y="27360"/>
                  <a:pt x="39688" y="31750"/>
                </a:cubicBezTo>
                <a:cubicBezTo>
                  <a:pt x="39688" y="36140"/>
                  <a:pt x="36140" y="39688"/>
                  <a:pt x="31750" y="39688"/>
                </a:cubicBezTo>
                <a:lnTo>
                  <a:pt x="29766" y="39688"/>
                </a:lnTo>
                <a:cubicBezTo>
                  <a:pt x="22101" y="39688"/>
                  <a:pt x="15875" y="45913"/>
                  <a:pt x="15875" y="53578"/>
                </a:cubicBezTo>
                <a:lnTo>
                  <a:pt x="15875" y="55563"/>
                </a:lnTo>
                <a:lnTo>
                  <a:pt x="31750" y="55563"/>
                </a:lnTo>
                <a:cubicBezTo>
                  <a:pt x="40506" y="55563"/>
                  <a:pt x="47625" y="62681"/>
                  <a:pt x="47625" y="71438"/>
                </a:cubicBezTo>
                <a:lnTo>
                  <a:pt x="47625" y="87313"/>
                </a:lnTo>
                <a:cubicBezTo>
                  <a:pt x="47625" y="96069"/>
                  <a:pt x="40506" y="103188"/>
                  <a:pt x="31750" y="103188"/>
                </a:cubicBezTo>
                <a:lnTo>
                  <a:pt x="15875" y="103188"/>
                </a:lnTo>
                <a:cubicBezTo>
                  <a:pt x="7119" y="103188"/>
                  <a:pt x="0" y="96069"/>
                  <a:pt x="0" y="87313"/>
                </a:cubicBezTo>
                <a:lnTo>
                  <a:pt x="0" y="53578"/>
                </a:lnTo>
                <a:close/>
                <a:moveTo>
                  <a:pt x="63500" y="53578"/>
                </a:moveTo>
                <a:cubicBezTo>
                  <a:pt x="63500" y="37133"/>
                  <a:pt x="76820" y="23812"/>
                  <a:pt x="93266" y="23812"/>
                </a:cubicBezTo>
                <a:lnTo>
                  <a:pt x="95250" y="23812"/>
                </a:lnTo>
                <a:cubicBezTo>
                  <a:pt x="99640" y="23812"/>
                  <a:pt x="103188" y="27360"/>
                  <a:pt x="103188" y="31750"/>
                </a:cubicBezTo>
                <a:cubicBezTo>
                  <a:pt x="103188" y="36140"/>
                  <a:pt x="99640" y="39688"/>
                  <a:pt x="95250" y="39688"/>
                </a:cubicBezTo>
                <a:lnTo>
                  <a:pt x="93266" y="39688"/>
                </a:lnTo>
                <a:cubicBezTo>
                  <a:pt x="85601" y="39688"/>
                  <a:pt x="79375" y="45913"/>
                  <a:pt x="79375" y="53578"/>
                </a:cubicBezTo>
                <a:lnTo>
                  <a:pt x="79375" y="55563"/>
                </a:lnTo>
                <a:lnTo>
                  <a:pt x="95250" y="55563"/>
                </a:lnTo>
                <a:cubicBezTo>
                  <a:pt x="104006" y="55563"/>
                  <a:pt x="111125" y="62681"/>
                  <a:pt x="111125" y="71438"/>
                </a:cubicBezTo>
                <a:lnTo>
                  <a:pt x="111125" y="87313"/>
                </a:lnTo>
                <a:cubicBezTo>
                  <a:pt x="111125" y="96069"/>
                  <a:pt x="104006" y="103188"/>
                  <a:pt x="95250" y="103188"/>
                </a:cubicBezTo>
                <a:lnTo>
                  <a:pt x="79375" y="103188"/>
                </a:lnTo>
                <a:cubicBezTo>
                  <a:pt x="70619" y="103188"/>
                  <a:pt x="63500" y="96069"/>
                  <a:pt x="63500" y="87313"/>
                </a:cubicBezTo>
                <a:lnTo>
                  <a:pt x="63500" y="53578"/>
                </a:lnTo>
                <a:close/>
              </a:path>
            </a:pathLst>
          </a:custGeom>
          <a:solidFill>
            <a:srgbClr val="2A9D8F"/>
          </a:solidFill>
          <a:ln/>
        </p:spPr>
      </p:sp>
      <p:sp>
        <p:nvSpPr>
          <p:cNvPr id="68" name="Text 66"/>
          <p:cNvSpPr/>
          <p:nvPr/>
        </p:nvSpPr>
        <p:spPr>
          <a:xfrm>
            <a:off x="674688" y="7868047"/>
            <a:ext cx="11136313" cy="412750"/>
          </a:xfrm>
          <a:prstGeom prst="rect">
            <a:avLst/>
          </a:prstGeom>
          <a:noFill/>
          <a:ln/>
        </p:spPr>
        <p:txBody>
          <a:bodyPr wrap="square" lIns="0" tIns="0" rIns="0" bIns="0" rtlCol="0" anchor="ctr"/>
          <a:lstStyle/>
          <a:p>
            <a:pPr>
              <a:lnSpc>
                <a:spcPct val="140000"/>
              </a:lnSpc>
            </a:pPr>
            <a:r>
              <a:rPr lang="en-US" sz="1000" b="1" dirty="0">
                <a:solidFill>
                  <a:srgbClr val="2B2D42"/>
                </a:solidFill>
                <a:latin typeface="Quattrocento Sans" pitchFamily="34" charset="0"/>
                <a:ea typeface="Quattrocento Sans" pitchFamily="34" charset="-122"/>
                <a:cs typeface="Quattrocento Sans" pitchFamily="34" charset="-120"/>
              </a:rPr>
              <a:t>Speaker Note:</a:t>
            </a:r>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 Ask students which type of bank they use most often. Explain that most people primarily interact with commercial banks for daily needs, but central banks affect everyone's lives through interest rates and inflation control. Investment banks work behind the scenes to keep capital markets functioning.</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2A9D8F"/>
                </a:solidFill>
                <a:latin typeface="Liter" pitchFamily="34" charset="0"/>
                <a:ea typeface="Liter" pitchFamily="34" charset="-122"/>
                <a:cs typeface="Liter" pitchFamily="34" charset="-120"/>
              </a:rPr>
              <a:t>CHAPTER 04</a:t>
            </a:r>
            <a:endParaRPr lang="en-US" sz="1600" dirty="0"/>
          </a:p>
        </p:txBody>
      </p:sp>
      <p:sp>
        <p:nvSpPr>
          <p:cNvPr id="3" name="Text 1"/>
          <p:cNvSpPr/>
          <p:nvPr/>
        </p:nvSpPr>
        <p:spPr>
          <a:xfrm>
            <a:off x="317500" y="539750"/>
            <a:ext cx="11747500" cy="476250"/>
          </a:xfrm>
          <a:prstGeom prst="rect">
            <a:avLst/>
          </a:prstGeom>
          <a:noFill/>
          <a:ln/>
        </p:spPr>
        <p:txBody>
          <a:bodyPr wrap="square" lIns="0" tIns="0" rIns="0" bIns="0" rtlCol="0" anchor="ctr"/>
          <a:lstStyle/>
          <a:p>
            <a:pPr>
              <a:lnSpc>
                <a:spcPct val="100000"/>
              </a:lnSpc>
            </a:pPr>
            <a:r>
              <a:rPr lang="en-US" sz="3000" b="1" dirty="0">
                <a:solidFill>
                  <a:srgbClr val="1A3A5C"/>
                </a:solidFill>
                <a:latin typeface="Oranienbaum" pitchFamily="34" charset="0"/>
                <a:ea typeface="Oranienbaum" pitchFamily="34" charset="-122"/>
                <a:cs typeface="Oranienbaum" pitchFamily="34" charset="-120"/>
              </a:rPr>
              <a:t>Functions of Banks</a:t>
            </a:r>
            <a:endParaRPr lang="en-US" sz="1600" dirty="0"/>
          </a:p>
        </p:txBody>
      </p:sp>
      <p:sp>
        <p:nvSpPr>
          <p:cNvPr id="4" name="Shape 2"/>
          <p:cNvSpPr/>
          <p:nvPr/>
        </p:nvSpPr>
        <p:spPr>
          <a:xfrm>
            <a:off x="317500" y="1111250"/>
            <a:ext cx="762000" cy="47625"/>
          </a:xfrm>
          <a:custGeom>
            <a:avLst/>
            <a:gdLst/>
            <a:ahLst/>
            <a:cxnLst/>
            <a:rect l="l" t="t" r="r" b="b"/>
            <a:pathLst>
              <a:path w="762000" h="47625">
                <a:moveTo>
                  <a:pt x="0" y="0"/>
                </a:moveTo>
                <a:lnTo>
                  <a:pt x="762000" y="0"/>
                </a:lnTo>
                <a:lnTo>
                  <a:pt x="762000" y="47625"/>
                </a:lnTo>
                <a:lnTo>
                  <a:pt x="0" y="47625"/>
                </a:lnTo>
                <a:lnTo>
                  <a:pt x="0" y="0"/>
                </a:lnTo>
                <a:close/>
              </a:path>
            </a:pathLst>
          </a:custGeom>
          <a:solidFill>
            <a:srgbClr val="2A9D8F"/>
          </a:solidFill>
          <a:ln/>
        </p:spPr>
      </p:sp>
      <p:sp>
        <p:nvSpPr>
          <p:cNvPr id="5" name="Shape 3"/>
          <p:cNvSpPr/>
          <p:nvPr/>
        </p:nvSpPr>
        <p:spPr>
          <a:xfrm>
            <a:off x="317500" y="1285875"/>
            <a:ext cx="5683250" cy="1420813"/>
          </a:xfrm>
          <a:custGeom>
            <a:avLst/>
            <a:gdLst/>
            <a:ahLst/>
            <a:cxnLst/>
            <a:rect l="l" t="t" r="r" b="b"/>
            <a:pathLst>
              <a:path w="5683250" h="1420813">
                <a:moveTo>
                  <a:pt x="95251" y="0"/>
                </a:moveTo>
                <a:lnTo>
                  <a:pt x="5587999" y="0"/>
                </a:lnTo>
                <a:cubicBezTo>
                  <a:pt x="5640605" y="0"/>
                  <a:pt x="5683250" y="42645"/>
                  <a:pt x="5683250" y="95251"/>
                </a:cubicBezTo>
                <a:lnTo>
                  <a:pt x="5683250" y="1325561"/>
                </a:lnTo>
                <a:cubicBezTo>
                  <a:pt x="5683250" y="1378167"/>
                  <a:pt x="5640605" y="1420812"/>
                  <a:pt x="5587999" y="1420813"/>
                </a:cubicBezTo>
                <a:lnTo>
                  <a:pt x="95251" y="1420813"/>
                </a:lnTo>
                <a:cubicBezTo>
                  <a:pt x="42645" y="1420813"/>
                  <a:pt x="0" y="1378167"/>
                  <a:pt x="0" y="1325561"/>
                </a:cubicBezTo>
                <a:lnTo>
                  <a:pt x="0" y="95251"/>
                </a:lnTo>
                <a:cubicBezTo>
                  <a:pt x="0" y="42645"/>
                  <a:pt x="42645" y="0"/>
                  <a:pt x="95251" y="0"/>
                </a:cubicBezTo>
                <a:close/>
              </a:path>
            </a:pathLst>
          </a:custGeom>
          <a:gradFill rotWithShape="1" flip="none">
            <a:gsLst>
              <a:gs pos="0">
                <a:srgbClr val="1A3A5C"/>
              </a:gs>
              <a:gs pos="100000">
                <a:srgbClr val="2A9D8F"/>
              </a:gs>
            </a:gsLst>
            <a:lin ang="0" scaled="1"/>
          </a:gradFill>
          <a:ln/>
          <a:effectLst>
            <a:outerShdw sx="100000" sy="100000" kx="0" ky="0" algn="bl" rotWithShape="0" blurRad="119063" dist="79375" dir="5400000">
              <a:srgbClr val="000000">
                <a:alpha val="10196"/>
              </a:srgbClr>
            </a:outerShdw>
          </a:effectLst>
        </p:spPr>
      </p:sp>
      <p:sp>
        <p:nvSpPr>
          <p:cNvPr id="6" name="Shape 4"/>
          <p:cNvSpPr/>
          <p:nvPr/>
        </p:nvSpPr>
        <p:spPr>
          <a:xfrm>
            <a:off x="476250" y="1444625"/>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FFFFFF">
              <a:alpha val="20000"/>
            </a:srgbClr>
          </a:solidFill>
          <a:ln/>
        </p:spPr>
      </p:sp>
      <p:sp>
        <p:nvSpPr>
          <p:cNvPr id="7" name="Shape 5"/>
          <p:cNvSpPr/>
          <p:nvPr/>
        </p:nvSpPr>
        <p:spPr>
          <a:xfrm>
            <a:off x="569516" y="1555750"/>
            <a:ext cx="321469" cy="285750"/>
          </a:xfrm>
          <a:custGeom>
            <a:avLst/>
            <a:gdLst/>
            <a:ahLst/>
            <a:cxnLst/>
            <a:rect l="l" t="t" r="r" b="b"/>
            <a:pathLst>
              <a:path w="321469" h="285750">
                <a:moveTo>
                  <a:pt x="172734" y="-10548"/>
                </a:moveTo>
                <a:cubicBezTo>
                  <a:pt x="170445" y="-15013"/>
                  <a:pt x="165813" y="-17859"/>
                  <a:pt x="160790" y="-17859"/>
                </a:cubicBezTo>
                <a:cubicBezTo>
                  <a:pt x="155767" y="-17859"/>
                  <a:pt x="151135" y="-15013"/>
                  <a:pt x="148847" y="-10548"/>
                </a:cubicBezTo>
                <a:lnTo>
                  <a:pt x="107770" y="69931"/>
                </a:lnTo>
                <a:lnTo>
                  <a:pt x="18529" y="84106"/>
                </a:lnTo>
                <a:cubicBezTo>
                  <a:pt x="13562" y="84888"/>
                  <a:pt x="9432" y="88404"/>
                  <a:pt x="7869" y="93204"/>
                </a:cubicBezTo>
                <a:cubicBezTo>
                  <a:pt x="6307" y="98003"/>
                  <a:pt x="7590" y="103250"/>
                  <a:pt x="11106" y="106821"/>
                </a:cubicBezTo>
                <a:lnTo>
                  <a:pt x="74954" y="170724"/>
                </a:lnTo>
                <a:lnTo>
                  <a:pt x="60889" y="259966"/>
                </a:lnTo>
                <a:cubicBezTo>
                  <a:pt x="60108" y="264933"/>
                  <a:pt x="62173" y="269956"/>
                  <a:pt x="66247" y="272914"/>
                </a:cubicBezTo>
                <a:cubicBezTo>
                  <a:pt x="70321" y="275872"/>
                  <a:pt x="75679" y="276318"/>
                  <a:pt x="80200" y="274030"/>
                </a:cubicBezTo>
                <a:lnTo>
                  <a:pt x="160790" y="233065"/>
                </a:lnTo>
                <a:lnTo>
                  <a:pt x="241325" y="274030"/>
                </a:lnTo>
                <a:cubicBezTo>
                  <a:pt x="245790" y="276318"/>
                  <a:pt x="251203" y="275872"/>
                  <a:pt x="255277" y="272914"/>
                </a:cubicBezTo>
                <a:cubicBezTo>
                  <a:pt x="259352" y="269956"/>
                  <a:pt x="261417" y="264988"/>
                  <a:pt x="260635" y="259966"/>
                </a:cubicBezTo>
                <a:lnTo>
                  <a:pt x="246515" y="170724"/>
                </a:lnTo>
                <a:lnTo>
                  <a:pt x="310362" y="106821"/>
                </a:lnTo>
                <a:cubicBezTo>
                  <a:pt x="313934" y="103250"/>
                  <a:pt x="315162" y="98003"/>
                  <a:pt x="313599" y="93204"/>
                </a:cubicBezTo>
                <a:cubicBezTo>
                  <a:pt x="312037" y="88404"/>
                  <a:pt x="307963" y="84888"/>
                  <a:pt x="302940" y="84106"/>
                </a:cubicBezTo>
                <a:lnTo>
                  <a:pt x="213754" y="69931"/>
                </a:lnTo>
                <a:lnTo>
                  <a:pt x="172734" y="-10548"/>
                </a:lnTo>
                <a:close/>
              </a:path>
            </a:pathLst>
          </a:custGeom>
          <a:solidFill>
            <a:srgbClr val="FFFFFF"/>
          </a:solidFill>
          <a:ln/>
        </p:spPr>
      </p:sp>
      <p:sp>
        <p:nvSpPr>
          <p:cNvPr id="8" name="Text 6"/>
          <p:cNvSpPr/>
          <p:nvPr/>
        </p:nvSpPr>
        <p:spPr>
          <a:xfrm>
            <a:off x="1111250" y="1539875"/>
            <a:ext cx="2420938"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Primary Functions</a:t>
            </a:r>
            <a:endParaRPr lang="en-US" sz="1600" dirty="0"/>
          </a:p>
        </p:txBody>
      </p:sp>
      <p:sp>
        <p:nvSpPr>
          <p:cNvPr id="9" name="Text 7"/>
          <p:cNvSpPr/>
          <p:nvPr/>
        </p:nvSpPr>
        <p:spPr>
          <a:xfrm>
            <a:off x="476250" y="2079625"/>
            <a:ext cx="5437188" cy="468313"/>
          </a:xfrm>
          <a:prstGeom prst="rect">
            <a:avLst/>
          </a:prstGeom>
          <a:noFill/>
          <a:ln/>
        </p:spPr>
        <p:txBody>
          <a:bodyPr wrap="square" lIns="0" tIns="0" rIns="0" bIns="0" rtlCol="0" anchor="ctr"/>
          <a:lstStyle/>
          <a:p>
            <a:pPr>
              <a:lnSpc>
                <a:spcPct val="140000"/>
              </a:lnSpc>
            </a:pPr>
            <a:r>
              <a:rPr lang="en-US" sz="1125" dirty="0">
                <a:solidFill>
                  <a:srgbClr val="FFFFFF"/>
                </a:solidFill>
                <a:latin typeface="Quattrocento Sans" pitchFamily="34" charset="0"/>
                <a:ea typeface="Quattrocento Sans" pitchFamily="34" charset="-122"/>
                <a:cs typeface="Quattrocento Sans" pitchFamily="34" charset="-120"/>
              </a:rPr>
              <a:t>Core activities that define the fundamental purpose of commercial banking and generate primary revenue.</a:t>
            </a:r>
            <a:endParaRPr lang="en-US" sz="1600" dirty="0"/>
          </a:p>
        </p:txBody>
      </p:sp>
      <p:sp>
        <p:nvSpPr>
          <p:cNvPr id="10" name="Shape 8"/>
          <p:cNvSpPr/>
          <p:nvPr/>
        </p:nvSpPr>
        <p:spPr>
          <a:xfrm>
            <a:off x="333375" y="2829719"/>
            <a:ext cx="5667375" cy="2222500"/>
          </a:xfrm>
          <a:custGeom>
            <a:avLst/>
            <a:gdLst/>
            <a:ahLst/>
            <a:cxnLst/>
            <a:rect l="l" t="t" r="r" b="b"/>
            <a:pathLst>
              <a:path w="5667375" h="2222500">
                <a:moveTo>
                  <a:pt x="31750" y="0"/>
                </a:moveTo>
                <a:lnTo>
                  <a:pt x="5572119" y="0"/>
                </a:lnTo>
                <a:cubicBezTo>
                  <a:pt x="5624727" y="0"/>
                  <a:pt x="5667375" y="42648"/>
                  <a:pt x="5667375" y="95256"/>
                </a:cubicBezTo>
                <a:lnTo>
                  <a:pt x="5667375" y="2127244"/>
                </a:lnTo>
                <a:cubicBezTo>
                  <a:pt x="5667375" y="2179852"/>
                  <a:pt x="5624727" y="2222500"/>
                  <a:pt x="5572119" y="2222500"/>
                </a:cubicBezTo>
                <a:lnTo>
                  <a:pt x="31750" y="2222500"/>
                </a:lnTo>
                <a:cubicBezTo>
                  <a:pt x="14215" y="2222500"/>
                  <a:pt x="0" y="2208285"/>
                  <a:pt x="0" y="219075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11" name="Shape 9"/>
          <p:cNvSpPr/>
          <p:nvPr/>
        </p:nvSpPr>
        <p:spPr>
          <a:xfrm>
            <a:off x="333375" y="2829719"/>
            <a:ext cx="31750" cy="2222500"/>
          </a:xfrm>
          <a:custGeom>
            <a:avLst/>
            <a:gdLst/>
            <a:ahLst/>
            <a:cxnLst/>
            <a:rect l="l" t="t" r="r" b="b"/>
            <a:pathLst>
              <a:path w="31750" h="2222500">
                <a:moveTo>
                  <a:pt x="31750" y="0"/>
                </a:moveTo>
                <a:lnTo>
                  <a:pt x="31750" y="0"/>
                </a:lnTo>
                <a:lnTo>
                  <a:pt x="31750" y="2222500"/>
                </a:lnTo>
                <a:lnTo>
                  <a:pt x="31750" y="2222500"/>
                </a:lnTo>
                <a:cubicBezTo>
                  <a:pt x="14227" y="2222500"/>
                  <a:pt x="0" y="2208273"/>
                  <a:pt x="0" y="2190750"/>
                </a:cubicBezTo>
                <a:lnTo>
                  <a:pt x="0" y="31750"/>
                </a:lnTo>
                <a:cubicBezTo>
                  <a:pt x="0" y="14227"/>
                  <a:pt x="14227" y="0"/>
                  <a:pt x="31750" y="0"/>
                </a:cubicBezTo>
                <a:close/>
              </a:path>
            </a:pathLst>
          </a:custGeom>
          <a:solidFill>
            <a:srgbClr val="1A3A5C"/>
          </a:solidFill>
          <a:ln/>
        </p:spPr>
      </p:sp>
      <p:sp>
        <p:nvSpPr>
          <p:cNvPr id="12" name="Shape 10"/>
          <p:cNvSpPr/>
          <p:nvPr/>
        </p:nvSpPr>
        <p:spPr>
          <a:xfrm>
            <a:off x="508000" y="2988469"/>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1A3A5C"/>
          </a:solidFill>
          <a:ln/>
        </p:spPr>
      </p:sp>
      <p:sp>
        <p:nvSpPr>
          <p:cNvPr id="13" name="Text 11"/>
          <p:cNvSpPr/>
          <p:nvPr/>
        </p:nvSpPr>
        <p:spPr>
          <a:xfrm>
            <a:off x="460375" y="2988469"/>
            <a:ext cx="539750" cy="444500"/>
          </a:xfrm>
          <a:prstGeom prst="rect">
            <a:avLst/>
          </a:prstGeom>
          <a:noFill/>
          <a:ln/>
        </p:spPr>
        <p:txBody>
          <a:bodyPr wrap="square" lIns="0" tIns="0" rIns="0" bIns="0" rtlCol="0" anchor="ctr"/>
          <a:lstStyle/>
          <a:p>
            <a:pPr algn="ctr">
              <a:lnSpc>
                <a:spcPct val="110000"/>
              </a:lnSpc>
            </a:pPr>
            <a:r>
              <a:rPr lang="en-US" sz="1500"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14" name="Text 12"/>
          <p:cNvSpPr/>
          <p:nvPr/>
        </p:nvSpPr>
        <p:spPr>
          <a:xfrm>
            <a:off x="1079500" y="2988469"/>
            <a:ext cx="485775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Accepting Deposits</a:t>
            </a:r>
            <a:endParaRPr lang="en-US" sz="1600" dirty="0"/>
          </a:p>
        </p:txBody>
      </p:sp>
      <p:sp>
        <p:nvSpPr>
          <p:cNvPr id="15" name="Text 13"/>
          <p:cNvSpPr/>
          <p:nvPr/>
        </p:nvSpPr>
        <p:spPr>
          <a:xfrm>
            <a:off x="1079500" y="3305969"/>
            <a:ext cx="482600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Banks accept various types of deposits, providing safe storage and earning interest for customers.</a:t>
            </a:r>
            <a:endParaRPr lang="en-US" sz="1600" dirty="0"/>
          </a:p>
        </p:txBody>
      </p:sp>
      <p:sp>
        <p:nvSpPr>
          <p:cNvPr id="16" name="Shape 14"/>
          <p:cNvSpPr/>
          <p:nvPr/>
        </p:nvSpPr>
        <p:spPr>
          <a:xfrm>
            <a:off x="508000" y="3909219"/>
            <a:ext cx="1714500" cy="984250"/>
          </a:xfrm>
          <a:custGeom>
            <a:avLst/>
            <a:gdLst/>
            <a:ahLst/>
            <a:cxnLst/>
            <a:rect l="l" t="t" r="r" b="b"/>
            <a:pathLst>
              <a:path w="1714500" h="984250">
                <a:moveTo>
                  <a:pt x="63504" y="0"/>
                </a:moveTo>
                <a:lnTo>
                  <a:pt x="1650996" y="0"/>
                </a:lnTo>
                <a:cubicBezTo>
                  <a:pt x="1686068" y="0"/>
                  <a:pt x="1714500" y="28432"/>
                  <a:pt x="1714500" y="63504"/>
                </a:cubicBezTo>
                <a:lnTo>
                  <a:pt x="1714500" y="920746"/>
                </a:lnTo>
                <a:cubicBezTo>
                  <a:pt x="1714500" y="955818"/>
                  <a:pt x="1686068" y="984250"/>
                  <a:pt x="1650996" y="984250"/>
                </a:cubicBezTo>
                <a:lnTo>
                  <a:pt x="63504" y="984250"/>
                </a:lnTo>
                <a:cubicBezTo>
                  <a:pt x="28432" y="984250"/>
                  <a:pt x="0" y="955818"/>
                  <a:pt x="0" y="920746"/>
                </a:cubicBezTo>
                <a:lnTo>
                  <a:pt x="0" y="63504"/>
                </a:lnTo>
                <a:cubicBezTo>
                  <a:pt x="0" y="28455"/>
                  <a:pt x="28455" y="0"/>
                  <a:pt x="63504" y="0"/>
                </a:cubicBezTo>
                <a:close/>
              </a:path>
            </a:pathLst>
          </a:custGeom>
          <a:solidFill>
            <a:srgbClr val="F8F9FA"/>
          </a:solidFill>
          <a:ln/>
        </p:spPr>
      </p:sp>
      <p:sp>
        <p:nvSpPr>
          <p:cNvPr id="17" name="Shape 15"/>
          <p:cNvSpPr/>
          <p:nvPr/>
        </p:nvSpPr>
        <p:spPr>
          <a:xfrm>
            <a:off x="1270000" y="4004469"/>
            <a:ext cx="190500" cy="190500"/>
          </a:xfrm>
          <a:custGeom>
            <a:avLst/>
            <a:gdLst/>
            <a:ahLst/>
            <a:cxnLst/>
            <a:rect l="l" t="t" r="r" b="b"/>
            <a:pathLst>
              <a:path w="190500" h="190500">
                <a:moveTo>
                  <a:pt x="23812" y="11906"/>
                </a:moveTo>
                <a:cubicBezTo>
                  <a:pt x="10678" y="11906"/>
                  <a:pt x="0" y="22585"/>
                  <a:pt x="0" y="35719"/>
                </a:cubicBezTo>
                <a:lnTo>
                  <a:pt x="0" y="142875"/>
                </a:lnTo>
                <a:cubicBezTo>
                  <a:pt x="0" y="156009"/>
                  <a:pt x="10678" y="166688"/>
                  <a:pt x="23812" y="166688"/>
                </a:cubicBezTo>
                <a:lnTo>
                  <a:pt x="166688" y="166688"/>
                </a:lnTo>
                <a:cubicBezTo>
                  <a:pt x="179822" y="166688"/>
                  <a:pt x="190500" y="156009"/>
                  <a:pt x="190500" y="142875"/>
                </a:cubicBezTo>
                <a:lnTo>
                  <a:pt x="190500" y="71438"/>
                </a:lnTo>
                <a:cubicBezTo>
                  <a:pt x="190500" y="58303"/>
                  <a:pt x="179822" y="47625"/>
                  <a:pt x="166688" y="47625"/>
                </a:cubicBezTo>
                <a:lnTo>
                  <a:pt x="26789" y="47625"/>
                </a:lnTo>
                <a:cubicBezTo>
                  <a:pt x="21841" y="47625"/>
                  <a:pt x="17859" y="43644"/>
                  <a:pt x="17859" y="38695"/>
                </a:cubicBezTo>
                <a:cubicBezTo>
                  <a:pt x="17859" y="33747"/>
                  <a:pt x="21841" y="29766"/>
                  <a:pt x="26789" y="29766"/>
                </a:cubicBezTo>
                <a:lnTo>
                  <a:pt x="169664" y="29766"/>
                </a:lnTo>
                <a:cubicBezTo>
                  <a:pt x="174613" y="29766"/>
                  <a:pt x="178594" y="25784"/>
                  <a:pt x="178594" y="20836"/>
                </a:cubicBezTo>
                <a:cubicBezTo>
                  <a:pt x="178594" y="15887"/>
                  <a:pt x="174613" y="11906"/>
                  <a:pt x="169664" y="11906"/>
                </a:cubicBezTo>
                <a:lnTo>
                  <a:pt x="23812" y="11906"/>
                </a:lnTo>
                <a:close/>
                <a:moveTo>
                  <a:pt x="154781" y="95250"/>
                </a:moveTo>
                <a:cubicBezTo>
                  <a:pt x="161352" y="95250"/>
                  <a:pt x="166688" y="100585"/>
                  <a:pt x="166688" y="107156"/>
                </a:cubicBezTo>
                <a:cubicBezTo>
                  <a:pt x="166688" y="113727"/>
                  <a:pt x="161352" y="119063"/>
                  <a:pt x="154781" y="119063"/>
                </a:cubicBezTo>
                <a:cubicBezTo>
                  <a:pt x="148210" y="119063"/>
                  <a:pt x="142875" y="113727"/>
                  <a:pt x="142875" y="107156"/>
                </a:cubicBezTo>
                <a:cubicBezTo>
                  <a:pt x="142875" y="100585"/>
                  <a:pt x="148210" y="95250"/>
                  <a:pt x="154781" y="95250"/>
                </a:cubicBezTo>
                <a:close/>
              </a:path>
            </a:pathLst>
          </a:custGeom>
          <a:solidFill>
            <a:srgbClr val="2A9D8F"/>
          </a:solidFill>
          <a:ln/>
        </p:spPr>
      </p:sp>
      <p:sp>
        <p:nvSpPr>
          <p:cNvPr id="18" name="Text 16"/>
          <p:cNvSpPr/>
          <p:nvPr/>
        </p:nvSpPr>
        <p:spPr>
          <a:xfrm>
            <a:off x="571500" y="4258469"/>
            <a:ext cx="1587500" cy="190500"/>
          </a:xfrm>
          <a:prstGeom prst="rect">
            <a:avLst/>
          </a:prstGeom>
          <a:noFill/>
          <a:ln/>
        </p:spPr>
        <p:txBody>
          <a:bodyPr wrap="square" lIns="0" tIns="0" rIns="0" bIns="0" rtlCol="0" anchor="ctr"/>
          <a:lstStyle/>
          <a:p>
            <a:pPr algn="ctr">
              <a:lnSpc>
                <a:spcPct val="130000"/>
              </a:lnSpc>
            </a:pPr>
            <a:r>
              <a:rPr lang="en-US" sz="1000" b="1" dirty="0">
                <a:solidFill>
                  <a:srgbClr val="1A3A5C"/>
                </a:solidFill>
                <a:latin typeface="Liter" pitchFamily="34" charset="0"/>
                <a:ea typeface="Liter" pitchFamily="34" charset="-122"/>
                <a:cs typeface="Liter" pitchFamily="34" charset="-120"/>
              </a:rPr>
              <a:t>Current Deposits</a:t>
            </a:r>
            <a:endParaRPr lang="en-US" sz="1600" dirty="0"/>
          </a:p>
        </p:txBody>
      </p:sp>
      <p:sp>
        <p:nvSpPr>
          <p:cNvPr id="19" name="Text 17"/>
          <p:cNvSpPr/>
          <p:nvPr/>
        </p:nvSpPr>
        <p:spPr>
          <a:xfrm>
            <a:off x="575469" y="4480719"/>
            <a:ext cx="1579563" cy="158750"/>
          </a:xfrm>
          <a:prstGeom prst="rect">
            <a:avLst/>
          </a:prstGeom>
          <a:noFill/>
          <a:ln/>
        </p:spPr>
        <p:txBody>
          <a:bodyPr wrap="square" lIns="0" tIns="0" rIns="0" bIns="0" rtlCol="0" anchor="ctr"/>
          <a:lstStyle/>
          <a:p>
            <a:pPr algn="ct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For businesses; no interest</a:t>
            </a:r>
            <a:endParaRPr lang="en-US" sz="1600" dirty="0"/>
          </a:p>
        </p:txBody>
      </p:sp>
      <p:sp>
        <p:nvSpPr>
          <p:cNvPr id="20" name="Shape 18"/>
          <p:cNvSpPr/>
          <p:nvPr/>
        </p:nvSpPr>
        <p:spPr>
          <a:xfrm>
            <a:off x="2317750" y="3909219"/>
            <a:ext cx="1714500" cy="984250"/>
          </a:xfrm>
          <a:custGeom>
            <a:avLst/>
            <a:gdLst/>
            <a:ahLst/>
            <a:cxnLst/>
            <a:rect l="l" t="t" r="r" b="b"/>
            <a:pathLst>
              <a:path w="1714500" h="984250">
                <a:moveTo>
                  <a:pt x="63504" y="0"/>
                </a:moveTo>
                <a:lnTo>
                  <a:pt x="1650996" y="0"/>
                </a:lnTo>
                <a:cubicBezTo>
                  <a:pt x="1686068" y="0"/>
                  <a:pt x="1714500" y="28432"/>
                  <a:pt x="1714500" y="63504"/>
                </a:cubicBezTo>
                <a:lnTo>
                  <a:pt x="1714500" y="920746"/>
                </a:lnTo>
                <a:cubicBezTo>
                  <a:pt x="1714500" y="955818"/>
                  <a:pt x="1686068" y="984250"/>
                  <a:pt x="1650996" y="984250"/>
                </a:cubicBezTo>
                <a:lnTo>
                  <a:pt x="63504" y="984250"/>
                </a:lnTo>
                <a:cubicBezTo>
                  <a:pt x="28432" y="984250"/>
                  <a:pt x="0" y="955818"/>
                  <a:pt x="0" y="920746"/>
                </a:cubicBezTo>
                <a:lnTo>
                  <a:pt x="0" y="63504"/>
                </a:lnTo>
                <a:cubicBezTo>
                  <a:pt x="0" y="28455"/>
                  <a:pt x="28455" y="0"/>
                  <a:pt x="63504" y="0"/>
                </a:cubicBezTo>
                <a:close/>
              </a:path>
            </a:pathLst>
          </a:custGeom>
          <a:solidFill>
            <a:srgbClr val="F8F9FA"/>
          </a:solidFill>
          <a:ln/>
        </p:spPr>
      </p:sp>
      <p:sp>
        <p:nvSpPr>
          <p:cNvPr id="21" name="Shape 19"/>
          <p:cNvSpPr/>
          <p:nvPr/>
        </p:nvSpPr>
        <p:spPr>
          <a:xfrm>
            <a:off x="3067844" y="4004469"/>
            <a:ext cx="214313" cy="190500"/>
          </a:xfrm>
          <a:custGeom>
            <a:avLst/>
            <a:gdLst/>
            <a:ahLst/>
            <a:cxnLst/>
            <a:rect l="l" t="t" r="r" b="b"/>
            <a:pathLst>
              <a:path w="214313" h="190500">
                <a:moveTo>
                  <a:pt x="107156" y="-11906"/>
                </a:moveTo>
                <a:cubicBezTo>
                  <a:pt x="126870" y="-11906"/>
                  <a:pt x="142875" y="4099"/>
                  <a:pt x="142875" y="23812"/>
                </a:cubicBezTo>
                <a:cubicBezTo>
                  <a:pt x="142875" y="43526"/>
                  <a:pt x="126870" y="59531"/>
                  <a:pt x="107156" y="59531"/>
                </a:cubicBezTo>
                <a:cubicBezTo>
                  <a:pt x="87443" y="59531"/>
                  <a:pt x="71438" y="43526"/>
                  <a:pt x="71438" y="23813"/>
                </a:cubicBezTo>
                <a:cubicBezTo>
                  <a:pt x="71438" y="4099"/>
                  <a:pt x="87443" y="-11906"/>
                  <a:pt x="107156" y="-11906"/>
                </a:cubicBezTo>
                <a:close/>
                <a:moveTo>
                  <a:pt x="17859" y="113109"/>
                </a:moveTo>
                <a:cubicBezTo>
                  <a:pt x="17859" y="87027"/>
                  <a:pt x="35347" y="64219"/>
                  <a:pt x="61429" y="51755"/>
                </a:cubicBezTo>
                <a:cubicBezTo>
                  <a:pt x="70842" y="67121"/>
                  <a:pt x="87809" y="77391"/>
                  <a:pt x="107156" y="77391"/>
                </a:cubicBezTo>
                <a:cubicBezTo>
                  <a:pt x="127881" y="77391"/>
                  <a:pt x="145889" y="65596"/>
                  <a:pt x="154781" y="48369"/>
                </a:cubicBezTo>
                <a:cubicBezTo>
                  <a:pt x="160660" y="44165"/>
                  <a:pt x="167841" y="41672"/>
                  <a:pt x="175617" y="41672"/>
                </a:cubicBezTo>
                <a:lnTo>
                  <a:pt x="182873" y="41672"/>
                </a:lnTo>
                <a:cubicBezTo>
                  <a:pt x="186742" y="41672"/>
                  <a:pt x="189570" y="45318"/>
                  <a:pt x="188640" y="49076"/>
                </a:cubicBezTo>
                <a:lnTo>
                  <a:pt x="182277" y="74488"/>
                </a:lnTo>
                <a:cubicBezTo>
                  <a:pt x="185961" y="79102"/>
                  <a:pt x="189049" y="84051"/>
                  <a:pt x="191356" y="89297"/>
                </a:cubicBezTo>
                <a:lnTo>
                  <a:pt x="199430" y="89297"/>
                </a:lnTo>
                <a:cubicBezTo>
                  <a:pt x="204378" y="89297"/>
                  <a:pt x="208359" y="93278"/>
                  <a:pt x="208359" y="98227"/>
                </a:cubicBezTo>
                <a:lnTo>
                  <a:pt x="208359" y="139898"/>
                </a:lnTo>
                <a:cubicBezTo>
                  <a:pt x="208359" y="144847"/>
                  <a:pt x="204378" y="148828"/>
                  <a:pt x="199430" y="148828"/>
                </a:cubicBezTo>
                <a:lnTo>
                  <a:pt x="184547" y="148828"/>
                </a:lnTo>
                <a:cubicBezTo>
                  <a:pt x="178408" y="157014"/>
                  <a:pt x="170222" y="163562"/>
                  <a:pt x="160734" y="167692"/>
                </a:cubicBezTo>
                <a:lnTo>
                  <a:pt x="160734" y="178594"/>
                </a:lnTo>
                <a:cubicBezTo>
                  <a:pt x="160734" y="185179"/>
                  <a:pt x="155414" y="190500"/>
                  <a:pt x="148828" y="190500"/>
                </a:cubicBezTo>
                <a:lnTo>
                  <a:pt x="136550" y="190500"/>
                </a:lnTo>
                <a:cubicBezTo>
                  <a:pt x="131229" y="190500"/>
                  <a:pt x="126578" y="186965"/>
                  <a:pt x="125090" y="181868"/>
                </a:cubicBezTo>
                <a:lnTo>
                  <a:pt x="122448" y="172641"/>
                </a:lnTo>
                <a:lnTo>
                  <a:pt x="91827" y="172641"/>
                </a:lnTo>
                <a:lnTo>
                  <a:pt x="89185" y="181868"/>
                </a:lnTo>
                <a:cubicBezTo>
                  <a:pt x="87734" y="186965"/>
                  <a:pt x="83083" y="190500"/>
                  <a:pt x="77763" y="190500"/>
                </a:cubicBezTo>
                <a:lnTo>
                  <a:pt x="65484" y="190500"/>
                </a:lnTo>
                <a:cubicBezTo>
                  <a:pt x="58899" y="190500"/>
                  <a:pt x="53578" y="185179"/>
                  <a:pt x="53578" y="178594"/>
                </a:cubicBezTo>
                <a:lnTo>
                  <a:pt x="53578" y="167692"/>
                </a:lnTo>
                <a:cubicBezTo>
                  <a:pt x="32556" y="158502"/>
                  <a:pt x="17859" y="137517"/>
                  <a:pt x="17859" y="113109"/>
                </a:cubicBezTo>
                <a:close/>
                <a:moveTo>
                  <a:pt x="157758" y="119063"/>
                </a:moveTo>
                <a:cubicBezTo>
                  <a:pt x="162686" y="119063"/>
                  <a:pt x="166688" y="115061"/>
                  <a:pt x="166688" y="110133"/>
                </a:cubicBezTo>
                <a:cubicBezTo>
                  <a:pt x="166688" y="105204"/>
                  <a:pt x="162686" y="101203"/>
                  <a:pt x="157758" y="101203"/>
                </a:cubicBezTo>
                <a:cubicBezTo>
                  <a:pt x="152829" y="101203"/>
                  <a:pt x="148828" y="105204"/>
                  <a:pt x="148828" y="110133"/>
                </a:cubicBezTo>
                <a:cubicBezTo>
                  <a:pt x="148828" y="115061"/>
                  <a:pt x="152829" y="119063"/>
                  <a:pt x="157758" y="119063"/>
                </a:cubicBezTo>
                <a:close/>
              </a:path>
            </a:pathLst>
          </a:custGeom>
          <a:solidFill>
            <a:srgbClr val="2A9D8F"/>
          </a:solidFill>
          <a:ln/>
        </p:spPr>
      </p:sp>
      <p:sp>
        <p:nvSpPr>
          <p:cNvPr id="22" name="Text 20"/>
          <p:cNvSpPr/>
          <p:nvPr/>
        </p:nvSpPr>
        <p:spPr>
          <a:xfrm>
            <a:off x="2381250" y="4258469"/>
            <a:ext cx="1587500" cy="190500"/>
          </a:xfrm>
          <a:prstGeom prst="rect">
            <a:avLst/>
          </a:prstGeom>
          <a:noFill/>
          <a:ln/>
        </p:spPr>
        <p:txBody>
          <a:bodyPr wrap="square" lIns="0" tIns="0" rIns="0" bIns="0" rtlCol="0" anchor="ctr"/>
          <a:lstStyle/>
          <a:p>
            <a:pPr algn="ctr">
              <a:lnSpc>
                <a:spcPct val="130000"/>
              </a:lnSpc>
            </a:pPr>
            <a:r>
              <a:rPr lang="en-US" sz="1000" b="1" dirty="0">
                <a:solidFill>
                  <a:srgbClr val="1A3A5C"/>
                </a:solidFill>
                <a:latin typeface="Liter" pitchFamily="34" charset="0"/>
                <a:ea typeface="Liter" pitchFamily="34" charset="-122"/>
                <a:cs typeface="Liter" pitchFamily="34" charset="-120"/>
              </a:rPr>
              <a:t>Savings Deposits</a:t>
            </a:r>
            <a:endParaRPr lang="en-US" sz="1600" dirty="0"/>
          </a:p>
        </p:txBody>
      </p:sp>
      <p:sp>
        <p:nvSpPr>
          <p:cNvPr id="23" name="Text 21"/>
          <p:cNvSpPr/>
          <p:nvPr/>
        </p:nvSpPr>
        <p:spPr>
          <a:xfrm>
            <a:off x="2385219" y="4480719"/>
            <a:ext cx="1579563" cy="317500"/>
          </a:xfrm>
          <a:prstGeom prst="rect">
            <a:avLst/>
          </a:prstGeom>
          <a:noFill/>
          <a:ln/>
        </p:spPr>
        <p:txBody>
          <a:bodyPr wrap="square" lIns="0" tIns="0" rIns="0" bIns="0" rtlCol="0" anchor="ctr"/>
          <a:lstStyle/>
          <a:p>
            <a:pPr algn="ct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For individuals; moderate interest</a:t>
            </a:r>
            <a:endParaRPr lang="en-US" sz="1600" dirty="0"/>
          </a:p>
        </p:txBody>
      </p:sp>
      <p:sp>
        <p:nvSpPr>
          <p:cNvPr id="24" name="Shape 22"/>
          <p:cNvSpPr/>
          <p:nvPr/>
        </p:nvSpPr>
        <p:spPr>
          <a:xfrm>
            <a:off x="4127500" y="3909219"/>
            <a:ext cx="1714500" cy="984250"/>
          </a:xfrm>
          <a:custGeom>
            <a:avLst/>
            <a:gdLst/>
            <a:ahLst/>
            <a:cxnLst/>
            <a:rect l="l" t="t" r="r" b="b"/>
            <a:pathLst>
              <a:path w="1714500" h="984250">
                <a:moveTo>
                  <a:pt x="63504" y="0"/>
                </a:moveTo>
                <a:lnTo>
                  <a:pt x="1650996" y="0"/>
                </a:lnTo>
                <a:cubicBezTo>
                  <a:pt x="1686068" y="0"/>
                  <a:pt x="1714500" y="28432"/>
                  <a:pt x="1714500" y="63504"/>
                </a:cubicBezTo>
                <a:lnTo>
                  <a:pt x="1714500" y="920746"/>
                </a:lnTo>
                <a:cubicBezTo>
                  <a:pt x="1714500" y="955818"/>
                  <a:pt x="1686068" y="984250"/>
                  <a:pt x="1650996" y="984250"/>
                </a:cubicBezTo>
                <a:lnTo>
                  <a:pt x="63504" y="984250"/>
                </a:lnTo>
                <a:cubicBezTo>
                  <a:pt x="28432" y="984250"/>
                  <a:pt x="0" y="955818"/>
                  <a:pt x="0" y="920746"/>
                </a:cubicBezTo>
                <a:lnTo>
                  <a:pt x="0" y="63504"/>
                </a:lnTo>
                <a:cubicBezTo>
                  <a:pt x="0" y="28455"/>
                  <a:pt x="28455" y="0"/>
                  <a:pt x="63504" y="0"/>
                </a:cubicBezTo>
                <a:close/>
              </a:path>
            </a:pathLst>
          </a:custGeom>
          <a:solidFill>
            <a:srgbClr val="F8F9FA"/>
          </a:solidFill>
          <a:ln/>
        </p:spPr>
      </p:sp>
      <p:sp>
        <p:nvSpPr>
          <p:cNvPr id="25" name="Shape 23"/>
          <p:cNvSpPr/>
          <p:nvPr/>
        </p:nvSpPr>
        <p:spPr>
          <a:xfrm>
            <a:off x="4913313" y="4004469"/>
            <a:ext cx="142875" cy="190500"/>
          </a:xfrm>
          <a:custGeom>
            <a:avLst/>
            <a:gdLst/>
            <a:ahLst/>
            <a:cxnLst/>
            <a:rect l="l" t="t" r="r" b="b"/>
            <a:pathLst>
              <a:path w="142875" h="190500">
                <a:moveTo>
                  <a:pt x="47625" y="35719"/>
                </a:moveTo>
                <a:lnTo>
                  <a:pt x="47625" y="59531"/>
                </a:lnTo>
                <a:lnTo>
                  <a:pt x="95250" y="59531"/>
                </a:lnTo>
                <a:lnTo>
                  <a:pt x="95250" y="35719"/>
                </a:lnTo>
                <a:cubicBezTo>
                  <a:pt x="95250" y="22585"/>
                  <a:pt x="84572" y="11906"/>
                  <a:pt x="71438" y="11906"/>
                </a:cubicBezTo>
                <a:cubicBezTo>
                  <a:pt x="58303" y="11906"/>
                  <a:pt x="47625" y="22585"/>
                  <a:pt x="47625" y="35719"/>
                </a:cubicBezTo>
                <a:close/>
                <a:moveTo>
                  <a:pt x="23812" y="59531"/>
                </a:moveTo>
                <a:lnTo>
                  <a:pt x="23812" y="35719"/>
                </a:lnTo>
                <a:cubicBezTo>
                  <a:pt x="23812" y="9413"/>
                  <a:pt x="45132" y="-11906"/>
                  <a:pt x="71438" y="-11906"/>
                </a:cubicBezTo>
                <a:cubicBezTo>
                  <a:pt x="97743" y="-11906"/>
                  <a:pt x="119063" y="9413"/>
                  <a:pt x="119063" y="35719"/>
                </a:cubicBezTo>
                <a:lnTo>
                  <a:pt x="119063" y="59531"/>
                </a:lnTo>
                <a:cubicBezTo>
                  <a:pt x="132197" y="59531"/>
                  <a:pt x="142875" y="70210"/>
                  <a:pt x="142875" y="83344"/>
                </a:cubicBezTo>
                <a:lnTo>
                  <a:pt x="142875" y="166688"/>
                </a:lnTo>
                <a:cubicBezTo>
                  <a:pt x="142875" y="179822"/>
                  <a:pt x="132197" y="190500"/>
                  <a:pt x="119063" y="190500"/>
                </a:cubicBezTo>
                <a:lnTo>
                  <a:pt x="23812" y="190500"/>
                </a:lnTo>
                <a:cubicBezTo>
                  <a:pt x="10678" y="190500"/>
                  <a:pt x="0" y="179822"/>
                  <a:pt x="0" y="166688"/>
                </a:cubicBezTo>
                <a:lnTo>
                  <a:pt x="0" y="83344"/>
                </a:lnTo>
                <a:cubicBezTo>
                  <a:pt x="0" y="70210"/>
                  <a:pt x="10678" y="59531"/>
                  <a:pt x="23812" y="59531"/>
                </a:cubicBezTo>
                <a:close/>
              </a:path>
            </a:pathLst>
          </a:custGeom>
          <a:solidFill>
            <a:srgbClr val="2A9D8F"/>
          </a:solidFill>
          <a:ln/>
        </p:spPr>
      </p:sp>
      <p:sp>
        <p:nvSpPr>
          <p:cNvPr id="26" name="Text 24"/>
          <p:cNvSpPr/>
          <p:nvPr/>
        </p:nvSpPr>
        <p:spPr>
          <a:xfrm>
            <a:off x="4191000" y="4258469"/>
            <a:ext cx="1587500" cy="190500"/>
          </a:xfrm>
          <a:prstGeom prst="rect">
            <a:avLst/>
          </a:prstGeom>
          <a:noFill/>
          <a:ln/>
        </p:spPr>
        <p:txBody>
          <a:bodyPr wrap="square" lIns="0" tIns="0" rIns="0" bIns="0" rtlCol="0" anchor="ctr"/>
          <a:lstStyle/>
          <a:p>
            <a:pPr algn="ctr">
              <a:lnSpc>
                <a:spcPct val="130000"/>
              </a:lnSpc>
            </a:pPr>
            <a:r>
              <a:rPr lang="en-US" sz="1000" b="1" dirty="0">
                <a:solidFill>
                  <a:srgbClr val="1A3A5C"/>
                </a:solidFill>
                <a:latin typeface="Liter" pitchFamily="34" charset="0"/>
                <a:ea typeface="Liter" pitchFamily="34" charset="-122"/>
                <a:cs typeface="Liter" pitchFamily="34" charset="-120"/>
              </a:rPr>
              <a:t>Fixed Deposits</a:t>
            </a:r>
            <a:endParaRPr lang="en-US" sz="1600" dirty="0"/>
          </a:p>
        </p:txBody>
      </p:sp>
      <p:sp>
        <p:nvSpPr>
          <p:cNvPr id="27" name="Text 25"/>
          <p:cNvSpPr/>
          <p:nvPr/>
        </p:nvSpPr>
        <p:spPr>
          <a:xfrm>
            <a:off x="4194969" y="4480719"/>
            <a:ext cx="1579563" cy="158750"/>
          </a:xfrm>
          <a:prstGeom prst="rect">
            <a:avLst/>
          </a:prstGeom>
          <a:noFill/>
          <a:ln/>
        </p:spPr>
        <p:txBody>
          <a:bodyPr wrap="square" lIns="0" tIns="0" rIns="0" bIns="0" rtlCol="0" anchor="ctr"/>
          <a:lstStyle/>
          <a:p>
            <a:pPr algn="ct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Time-bound; highest interest</a:t>
            </a:r>
            <a:endParaRPr lang="en-US" sz="1600" dirty="0"/>
          </a:p>
        </p:txBody>
      </p:sp>
      <p:sp>
        <p:nvSpPr>
          <p:cNvPr id="28" name="Shape 26"/>
          <p:cNvSpPr/>
          <p:nvPr/>
        </p:nvSpPr>
        <p:spPr>
          <a:xfrm>
            <a:off x="333375" y="5179219"/>
            <a:ext cx="5667375" cy="2063750"/>
          </a:xfrm>
          <a:custGeom>
            <a:avLst/>
            <a:gdLst/>
            <a:ahLst/>
            <a:cxnLst/>
            <a:rect l="l" t="t" r="r" b="b"/>
            <a:pathLst>
              <a:path w="5667375" h="2063750">
                <a:moveTo>
                  <a:pt x="31750" y="0"/>
                </a:moveTo>
                <a:lnTo>
                  <a:pt x="5572133" y="0"/>
                </a:lnTo>
                <a:cubicBezTo>
                  <a:pt x="5624734" y="0"/>
                  <a:pt x="5667375" y="42641"/>
                  <a:pt x="5667375" y="95242"/>
                </a:cubicBezTo>
                <a:lnTo>
                  <a:pt x="5667375" y="1968508"/>
                </a:lnTo>
                <a:cubicBezTo>
                  <a:pt x="5667375" y="2021109"/>
                  <a:pt x="5624734" y="2063750"/>
                  <a:pt x="5572133" y="2063750"/>
                </a:cubicBezTo>
                <a:lnTo>
                  <a:pt x="31750" y="2063750"/>
                </a:lnTo>
                <a:cubicBezTo>
                  <a:pt x="14215" y="2063750"/>
                  <a:pt x="0" y="2049535"/>
                  <a:pt x="0" y="2032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29" name="Shape 27"/>
          <p:cNvSpPr/>
          <p:nvPr/>
        </p:nvSpPr>
        <p:spPr>
          <a:xfrm>
            <a:off x="333375" y="5179219"/>
            <a:ext cx="31750" cy="2063750"/>
          </a:xfrm>
          <a:custGeom>
            <a:avLst/>
            <a:gdLst/>
            <a:ahLst/>
            <a:cxnLst/>
            <a:rect l="l" t="t" r="r" b="b"/>
            <a:pathLst>
              <a:path w="31750" h="2063750">
                <a:moveTo>
                  <a:pt x="31750" y="0"/>
                </a:moveTo>
                <a:lnTo>
                  <a:pt x="31750" y="0"/>
                </a:lnTo>
                <a:lnTo>
                  <a:pt x="31750" y="2063750"/>
                </a:lnTo>
                <a:lnTo>
                  <a:pt x="31750" y="2063750"/>
                </a:lnTo>
                <a:cubicBezTo>
                  <a:pt x="14227" y="2063750"/>
                  <a:pt x="0" y="2049523"/>
                  <a:pt x="0" y="2032000"/>
                </a:cubicBezTo>
                <a:lnTo>
                  <a:pt x="0" y="31750"/>
                </a:lnTo>
                <a:cubicBezTo>
                  <a:pt x="0" y="14227"/>
                  <a:pt x="14227" y="0"/>
                  <a:pt x="31750" y="0"/>
                </a:cubicBezTo>
                <a:close/>
              </a:path>
            </a:pathLst>
          </a:custGeom>
          <a:solidFill>
            <a:srgbClr val="2A9D8F"/>
          </a:solidFill>
          <a:ln/>
        </p:spPr>
      </p:sp>
      <p:sp>
        <p:nvSpPr>
          <p:cNvPr id="30" name="Shape 28"/>
          <p:cNvSpPr/>
          <p:nvPr/>
        </p:nvSpPr>
        <p:spPr>
          <a:xfrm>
            <a:off x="508000" y="5337969"/>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2A9D8F"/>
          </a:solidFill>
          <a:ln/>
        </p:spPr>
      </p:sp>
      <p:sp>
        <p:nvSpPr>
          <p:cNvPr id="31" name="Text 29"/>
          <p:cNvSpPr/>
          <p:nvPr/>
        </p:nvSpPr>
        <p:spPr>
          <a:xfrm>
            <a:off x="460375" y="5337969"/>
            <a:ext cx="539750" cy="444500"/>
          </a:xfrm>
          <a:prstGeom prst="rect">
            <a:avLst/>
          </a:prstGeom>
          <a:noFill/>
          <a:ln/>
        </p:spPr>
        <p:txBody>
          <a:bodyPr wrap="square" lIns="0" tIns="0" rIns="0" bIns="0" rtlCol="0" anchor="ctr"/>
          <a:lstStyle/>
          <a:p>
            <a:pPr algn="ctr">
              <a:lnSpc>
                <a:spcPct val="110000"/>
              </a:lnSpc>
            </a:pPr>
            <a:r>
              <a:rPr lang="en-US" sz="1500"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32" name="Text 30"/>
          <p:cNvSpPr/>
          <p:nvPr/>
        </p:nvSpPr>
        <p:spPr>
          <a:xfrm>
            <a:off x="1079500" y="5337969"/>
            <a:ext cx="485775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Advancing Loans</a:t>
            </a:r>
            <a:endParaRPr lang="en-US" sz="1600" dirty="0"/>
          </a:p>
        </p:txBody>
      </p:sp>
      <p:sp>
        <p:nvSpPr>
          <p:cNvPr id="33" name="Text 31"/>
          <p:cNvSpPr/>
          <p:nvPr/>
        </p:nvSpPr>
        <p:spPr>
          <a:xfrm>
            <a:off x="1079500" y="5655469"/>
            <a:ext cx="482600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Banks lend deposited money to borrowers, charging interest as their primary income source.</a:t>
            </a:r>
            <a:endParaRPr lang="en-US" sz="1600" dirty="0"/>
          </a:p>
        </p:txBody>
      </p:sp>
      <p:sp>
        <p:nvSpPr>
          <p:cNvPr id="34" name="Shape 32"/>
          <p:cNvSpPr/>
          <p:nvPr/>
        </p:nvSpPr>
        <p:spPr>
          <a:xfrm>
            <a:off x="508000" y="6258719"/>
            <a:ext cx="1714500" cy="825500"/>
          </a:xfrm>
          <a:custGeom>
            <a:avLst/>
            <a:gdLst/>
            <a:ahLst/>
            <a:cxnLst/>
            <a:rect l="l" t="t" r="r" b="b"/>
            <a:pathLst>
              <a:path w="1714500" h="825500">
                <a:moveTo>
                  <a:pt x="63497" y="0"/>
                </a:moveTo>
                <a:lnTo>
                  <a:pt x="1651003" y="0"/>
                </a:lnTo>
                <a:cubicBezTo>
                  <a:pt x="1686071" y="0"/>
                  <a:pt x="1714500" y="28429"/>
                  <a:pt x="1714500" y="63497"/>
                </a:cubicBezTo>
                <a:lnTo>
                  <a:pt x="1714500" y="762003"/>
                </a:lnTo>
                <a:cubicBezTo>
                  <a:pt x="1714500" y="797071"/>
                  <a:pt x="1686071" y="825500"/>
                  <a:pt x="1651003" y="825500"/>
                </a:cubicBezTo>
                <a:lnTo>
                  <a:pt x="63497" y="825500"/>
                </a:lnTo>
                <a:cubicBezTo>
                  <a:pt x="28429" y="825500"/>
                  <a:pt x="0" y="797071"/>
                  <a:pt x="0" y="762003"/>
                </a:cubicBezTo>
                <a:lnTo>
                  <a:pt x="0" y="63497"/>
                </a:lnTo>
                <a:cubicBezTo>
                  <a:pt x="0" y="28452"/>
                  <a:pt x="28452" y="0"/>
                  <a:pt x="63497" y="0"/>
                </a:cubicBezTo>
                <a:close/>
              </a:path>
            </a:pathLst>
          </a:custGeom>
          <a:solidFill>
            <a:srgbClr val="F8F9FA"/>
          </a:solidFill>
          <a:ln/>
        </p:spPr>
      </p:sp>
      <p:sp>
        <p:nvSpPr>
          <p:cNvPr id="35" name="Shape 33"/>
          <p:cNvSpPr/>
          <p:nvPr/>
        </p:nvSpPr>
        <p:spPr>
          <a:xfrm>
            <a:off x="1270000" y="6353969"/>
            <a:ext cx="190500" cy="190500"/>
          </a:xfrm>
          <a:custGeom>
            <a:avLst/>
            <a:gdLst/>
            <a:ahLst/>
            <a:cxnLst/>
            <a:rect l="l" t="t" r="r" b="b"/>
            <a:pathLst>
              <a:path w="190500" h="190500">
                <a:moveTo>
                  <a:pt x="0" y="156121"/>
                </a:moveTo>
                <a:lnTo>
                  <a:pt x="0" y="40742"/>
                </a:lnTo>
                <a:cubicBezTo>
                  <a:pt x="0" y="32110"/>
                  <a:pt x="8967" y="26380"/>
                  <a:pt x="17227" y="28835"/>
                </a:cubicBezTo>
                <a:cubicBezTo>
                  <a:pt x="49857" y="38584"/>
                  <a:pt x="72926" y="30882"/>
                  <a:pt x="96143" y="23143"/>
                </a:cubicBezTo>
                <a:cubicBezTo>
                  <a:pt x="120142" y="15143"/>
                  <a:pt x="144289" y="7107"/>
                  <a:pt x="179226" y="18269"/>
                </a:cubicBezTo>
                <a:cubicBezTo>
                  <a:pt x="186110" y="20464"/>
                  <a:pt x="190500" y="27124"/>
                  <a:pt x="190500" y="34379"/>
                </a:cubicBezTo>
                <a:lnTo>
                  <a:pt x="190500" y="149758"/>
                </a:lnTo>
                <a:cubicBezTo>
                  <a:pt x="190500" y="158390"/>
                  <a:pt x="181533" y="164120"/>
                  <a:pt x="173310" y="161665"/>
                </a:cubicBezTo>
                <a:cubicBezTo>
                  <a:pt x="140680" y="151916"/>
                  <a:pt x="117574" y="159618"/>
                  <a:pt x="94394" y="167357"/>
                </a:cubicBezTo>
                <a:cubicBezTo>
                  <a:pt x="70396" y="175357"/>
                  <a:pt x="46248" y="183393"/>
                  <a:pt x="11311" y="172231"/>
                </a:cubicBezTo>
                <a:cubicBezTo>
                  <a:pt x="4428" y="170036"/>
                  <a:pt x="37" y="163376"/>
                  <a:pt x="37" y="156121"/>
                </a:cubicBezTo>
                <a:close/>
                <a:moveTo>
                  <a:pt x="125016" y="95250"/>
                </a:moveTo>
                <a:cubicBezTo>
                  <a:pt x="125016" y="75530"/>
                  <a:pt x="111696" y="59531"/>
                  <a:pt x="95250" y="59531"/>
                </a:cubicBezTo>
                <a:cubicBezTo>
                  <a:pt x="78804" y="59531"/>
                  <a:pt x="65484" y="75530"/>
                  <a:pt x="65484" y="95250"/>
                </a:cubicBezTo>
                <a:cubicBezTo>
                  <a:pt x="65484" y="114970"/>
                  <a:pt x="78804" y="130969"/>
                  <a:pt x="95250" y="130969"/>
                </a:cubicBezTo>
                <a:cubicBezTo>
                  <a:pt x="111696" y="130969"/>
                  <a:pt x="125016" y="114970"/>
                  <a:pt x="125016" y="95250"/>
                </a:cubicBezTo>
                <a:close/>
                <a:moveTo>
                  <a:pt x="44648" y="153888"/>
                </a:moveTo>
                <a:cubicBezTo>
                  <a:pt x="46286" y="153888"/>
                  <a:pt x="47588" y="152474"/>
                  <a:pt x="47327" y="150875"/>
                </a:cubicBezTo>
                <a:cubicBezTo>
                  <a:pt x="45616" y="140531"/>
                  <a:pt x="37281" y="132457"/>
                  <a:pt x="26789" y="131155"/>
                </a:cubicBezTo>
                <a:cubicBezTo>
                  <a:pt x="25152" y="130969"/>
                  <a:pt x="23812" y="132308"/>
                  <a:pt x="23812" y="133945"/>
                </a:cubicBezTo>
                <a:lnTo>
                  <a:pt x="23812" y="148791"/>
                </a:lnTo>
                <a:cubicBezTo>
                  <a:pt x="23812" y="150130"/>
                  <a:pt x="24705" y="151321"/>
                  <a:pt x="26045" y="151656"/>
                </a:cubicBezTo>
                <a:cubicBezTo>
                  <a:pt x="32705" y="153219"/>
                  <a:pt x="38807" y="153925"/>
                  <a:pt x="44648" y="153925"/>
                </a:cubicBezTo>
                <a:close/>
                <a:moveTo>
                  <a:pt x="163153" y="134875"/>
                </a:moveTo>
                <a:cubicBezTo>
                  <a:pt x="165013" y="135173"/>
                  <a:pt x="166688" y="133759"/>
                  <a:pt x="166688" y="131899"/>
                </a:cubicBezTo>
                <a:lnTo>
                  <a:pt x="166688" y="116049"/>
                </a:lnTo>
                <a:cubicBezTo>
                  <a:pt x="166688" y="114412"/>
                  <a:pt x="165348" y="113035"/>
                  <a:pt x="163711" y="113258"/>
                </a:cubicBezTo>
                <a:cubicBezTo>
                  <a:pt x="154335" y="114412"/>
                  <a:pt x="146633" y="121034"/>
                  <a:pt x="143917" y="129853"/>
                </a:cubicBezTo>
                <a:cubicBezTo>
                  <a:pt x="143396" y="131601"/>
                  <a:pt x="144773" y="133238"/>
                  <a:pt x="146596" y="133276"/>
                </a:cubicBezTo>
                <a:cubicBezTo>
                  <a:pt x="151879" y="133424"/>
                  <a:pt x="157386" y="133908"/>
                  <a:pt x="163116" y="134875"/>
                </a:cubicBezTo>
                <a:close/>
                <a:moveTo>
                  <a:pt x="166688" y="56555"/>
                </a:moveTo>
                <a:lnTo>
                  <a:pt x="166688" y="41709"/>
                </a:lnTo>
                <a:cubicBezTo>
                  <a:pt x="166688" y="40370"/>
                  <a:pt x="165757" y="39179"/>
                  <a:pt x="164455" y="38844"/>
                </a:cubicBezTo>
                <a:cubicBezTo>
                  <a:pt x="157795" y="37281"/>
                  <a:pt x="151693" y="36575"/>
                  <a:pt x="145852" y="36575"/>
                </a:cubicBezTo>
                <a:cubicBezTo>
                  <a:pt x="144214" y="36575"/>
                  <a:pt x="142912" y="37988"/>
                  <a:pt x="143173" y="39588"/>
                </a:cubicBezTo>
                <a:cubicBezTo>
                  <a:pt x="144884" y="49932"/>
                  <a:pt x="153219" y="58006"/>
                  <a:pt x="163711" y="59308"/>
                </a:cubicBezTo>
                <a:cubicBezTo>
                  <a:pt x="165348" y="59494"/>
                  <a:pt x="166688" y="58155"/>
                  <a:pt x="166688" y="56517"/>
                </a:cubicBezTo>
                <a:close/>
                <a:moveTo>
                  <a:pt x="46583" y="60610"/>
                </a:moveTo>
                <a:cubicBezTo>
                  <a:pt x="47104" y="58862"/>
                  <a:pt x="45727" y="57224"/>
                  <a:pt x="43904" y="57187"/>
                </a:cubicBezTo>
                <a:cubicBezTo>
                  <a:pt x="38621" y="57038"/>
                  <a:pt x="33114" y="56555"/>
                  <a:pt x="27384" y="55587"/>
                </a:cubicBezTo>
                <a:cubicBezTo>
                  <a:pt x="25524" y="55290"/>
                  <a:pt x="23850" y="56704"/>
                  <a:pt x="23850" y="58564"/>
                </a:cubicBezTo>
                <a:lnTo>
                  <a:pt x="23812" y="74414"/>
                </a:lnTo>
                <a:cubicBezTo>
                  <a:pt x="23812" y="76051"/>
                  <a:pt x="25152" y="77428"/>
                  <a:pt x="26789" y="77205"/>
                </a:cubicBezTo>
                <a:cubicBezTo>
                  <a:pt x="36165" y="76051"/>
                  <a:pt x="43867" y="69428"/>
                  <a:pt x="46583" y="60610"/>
                </a:cubicBezTo>
                <a:close/>
              </a:path>
            </a:pathLst>
          </a:custGeom>
          <a:solidFill>
            <a:srgbClr val="2A9D8F"/>
          </a:solidFill>
          <a:ln/>
        </p:spPr>
      </p:sp>
      <p:sp>
        <p:nvSpPr>
          <p:cNvPr id="36" name="Text 34"/>
          <p:cNvSpPr/>
          <p:nvPr/>
        </p:nvSpPr>
        <p:spPr>
          <a:xfrm>
            <a:off x="571500" y="6607969"/>
            <a:ext cx="1587500" cy="190500"/>
          </a:xfrm>
          <a:prstGeom prst="rect">
            <a:avLst/>
          </a:prstGeom>
          <a:noFill/>
          <a:ln/>
        </p:spPr>
        <p:txBody>
          <a:bodyPr wrap="square" lIns="0" tIns="0" rIns="0" bIns="0" rtlCol="0" anchor="ctr"/>
          <a:lstStyle/>
          <a:p>
            <a:pPr algn="ctr">
              <a:lnSpc>
                <a:spcPct val="130000"/>
              </a:lnSpc>
            </a:pPr>
            <a:r>
              <a:rPr lang="en-US" sz="1000" b="1" dirty="0">
                <a:solidFill>
                  <a:srgbClr val="1A3A5C"/>
                </a:solidFill>
                <a:latin typeface="Liter" pitchFamily="34" charset="0"/>
                <a:ea typeface="Liter" pitchFamily="34" charset="-122"/>
                <a:cs typeface="Liter" pitchFamily="34" charset="-120"/>
              </a:rPr>
              <a:t>Cash Credit</a:t>
            </a:r>
            <a:endParaRPr lang="en-US" sz="1600" dirty="0"/>
          </a:p>
        </p:txBody>
      </p:sp>
      <p:sp>
        <p:nvSpPr>
          <p:cNvPr id="37" name="Text 35"/>
          <p:cNvSpPr/>
          <p:nvPr/>
        </p:nvSpPr>
        <p:spPr>
          <a:xfrm>
            <a:off x="575469" y="6830219"/>
            <a:ext cx="1579563" cy="158750"/>
          </a:xfrm>
          <a:prstGeom prst="rect">
            <a:avLst/>
          </a:prstGeom>
          <a:noFill/>
          <a:ln/>
        </p:spPr>
        <p:txBody>
          <a:bodyPr wrap="square" lIns="0" tIns="0" rIns="0" bIns="0" rtlCol="0" anchor="ctr"/>
          <a:lstStyle/>
          <a:p>
            <a:pPr algn="ct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Against collateral</a:t>
            </a:r>
            <a:endParaRPr lang="en-US" sz="1600" dirty="0"/>
          </a:p>
        </p:txBody>
      </p:sp>
      <p:sp>
        <p:nvSpPr>
          <p:cNvPr id="38" name="Shape 36"/>
          <p:cNvSpPr/>
          <p:nvPr/>
        </p:nvSpPr>
        <p:spPr>
          <a:xfrm>
            <a:off x="2317750" y="6258719"/>
            <a:ext cx="1714500" cy="825500"/>
          </a:xfrm>
          <a:custGeom>
            <a:avLst/>
            <a:gdLst/>
            <a:ahLst/>
            <a:cxnLst/>
            <a:rect l="l" t="t" r="r" b="b"/>
            <a:pathLst>
              <a:path w="1714500" h="825500">
                <a:moveTo>
                  <a:pt x="63497" y="0"/>
                </a:moveTo>
                <a:lnTo>
                  <a:pt x="1651003" y="0"/>
                </a:lnTo>
                <a:cubicBezTo>
                  <a:pt x="1686071" y="0"/>
                  <a:pt x="1714500" y="28429"/>
                  <a:pt x="1714500" y="63497"/>
                </a:cubicBezTo>
                <a:lnTo>
                  <a:pt x="1714500" y="762003"/>
                </a:lnTo>
                <a:cubicBezTo>
                  <a:pt x="1714500" y="797071"/>
                  <a:pt x="1686071" y="825500"/>
                  <a:pt x="1651003" y="825500"/>
                </a:cubicBezTo>
                <a:lnTo>
                  <a:pt x="63497" y="825500"/>
                </a:lnTo>
                <a:cubicBezTo>
                  <a:pt x="28429" y="825500"/>
                  <a:pt x="0" y="797071"/>
                  <a:pt x="0" y="762003"/>
                </a:cubicBezTo>
                <a:lnTo>
                  <a:pt x="0" y="63497"/>
                </a:lnTo>
                <a:cubicBezTo>
                  <a:pt x="0" y="28452"/>
                  <a:pt x="28452" y="0"/>
                  <a:pt x="63497" y="0"/>
                </a:cubicBezTo>
                <a:close/>
              </a:path>
            </a:pathLst>
          </a:custGeom>
          <a:solidFill>
            <a:srgbClr val="F8F9FA"/>
          </a:solidFill>
          <a:ln/>
        </p:spPr>
      </p:sp>
      <p:sp>
        <p:nvSpPr>
          <p:cNvPr id="39" name="Shape 37"/>
          <p:cNvSpPr/>
          <p:nvPr/>
        </p:nvSpPr>
        <p:spPr>
          <a:xfrm>
            <a:off x="3067844" y="6353969"/>
            <a:ext cx="214313" cy="190500"/>
          </a:xfrm>
          <a:custGeom>
            <a:avLst/>
            <a:gdLst/>
            <a:ahLst/>
            <a:cxnLst/>
            <a:rect l="l" t="t" r="r" b="b"/>
            <a:pathLst>
              <a:path w="214313" h="190500">
                <a:moveTo>
                  <a:pt x="107156" y="-5953"/>
                </a:moveTo>
                <a:cubicBezTo>
                  <a:pt x="102208" y="-5953"/>
                  <a:pt x="98227" y="-1972"/>
                  <a:pt x="98227" y="2977"/>
                </a:cubicBezTo>
                <a:lnTo>
                  <a:pt x="98227" y="7441"/>
                </a:lnTo>
                <a:lnTo>
                  <a:pt x="97557" y="7441"/>
                </a:lnTo>
                <a:cubicBezTo>
                  <a:pt x="83939" y="7441"/>
                  <a:pt x="72926" y="18492"/>
                  <a:pt x="72926" y="32072"/>
                </a:cubicBezTo>
                <a:cubicBezTo>
                  <a:pt x="72926" y="44500"/>
                  <a:pt x="82190" y="54992"/>
                  <a:pt x="94506" y="56517"/>
                </a:cubicBezTo>
                <a:lnTo>
                  <a:pt x="117202" y="59345"/>
                </a:lnTo>
                <a:cubicBezTo>
                  <a:pt x="119100" y="59568"/>
                  <a:pt x="120551" y="61206"/>
                  <a:pt x="120551" y="63140"/>
                </a:cubicBezTo>
                <a:cubicBezTo>
                  <a:pt x="120551" y="65261"/>
                  <a:pt x="118839" y="66935"/>
                  <a:pt x="116756" y="66935"/>
                </a:cubicBezTo>
                <a:lnTo>
                  <a:pt x="89297" y="66973"/>
                </a:lnTo>
                <a:cubicBezTo>
                  <a:pt x="83530" y="66973"/>
                  <a:pt x="78879" y="71624"/>
                  <a:pt x="78879" y="77391"/>
                </a:cubicBezTo>
                <a:cubicBezTo>
                  <a:pt x="78879" y="83158"/>
                  <a:pt x="83530" y="87809"/>
                  <a:pt x="89297" y="87809"/>
                </a:cubicBezTo>
                <a:lnTo>
                  <a:pt x="98227" y="87809"/>
                </a:lnTo>
                <a:lnTo>
                  <a:pt x="98227" y="92273"/>
                </a:lnTo>
                <a:cubicBezTo>
                  <a:pt x="98227" y="97222"/>
                  <a:pt x="102208" y="101203"/>
                  <a:pt x="107156" y="101203"/>
                </a:cubicBezTo>
                <a:cubicBezTo>
                  <a:pt x="112105" y="101203"/>
                  <a:pt x="116086" y="97222"/>
                  <a:pt x="116086" y="92273"/>
                </a:cubicBezTo>
                <a:lnTo>
                  <a:pt x="116086" y="87809"/>
                </a:lnTo>
                <a:lnTo>
                  <a:pt x="116756" y="87809"/>
                </a:lnTo>
                <a:cubicBezTo>
                  <a:pt x="130373" y="87809"/>
                  <a:pt x="141387" y="76758"/>
                  <a:pt x="141387" y="63178"/>
                </a:cubicBezTo>
                <a:cubicBezTo>
                  <a:pt x="141387" y="50750"/>
                  <a:pt x="132122" y="40258"/>
                  <a:pt x="119807" y="38733"/>
                </a:cubicBezTo>
                <a:lnTo>
                  <a:pt x="97110" y="35905"/>
                </a:lnTo>
                <a:cubicBezTo>
                  <a:pt x="95213" y="35682"/>
                  <a:pt x="93762" y="34044"/>
                  <a:pt x="93762" y="32110"/>
                </a:cubicBezTo>
                <a:cubicBezTo>
                  <a:pt x="93762" y="29989"/>
                  <a:pt x="95473" y="28315"/>
                  <a:pt x="97557" y="28315"/>
                </a:cubicBezTo>
                <a:lnTo>
                  <a:pt x="122039" y="28277"/>
                </a:lnTo>
                <a:cubicBezTo>
                  <a:pt x="127806" y="28277"/>
                  <a:pt x="132457" y="23626"/>
                  <a:pt x="132457" y="17859"/>
                </a:cubicBezTo>
                <a:cubicBezTo>
                  <a:pt x="132457" y="12092"/>
                  <a:pt x="127806" y="7441"/>
                  <a:pt x="122039" y="7441"/>
                </a:cubicBezTo>
                <a:lnTo>
                  <a:pt x="116086" y="7441"/>
                </a:lnTo>
                <a:lnTo>
                  <a:pt x="116086" y="2977"/>
                </a:lnTo>
                <a:cubicBezTo>
                  <a:pt x="116086" y="-1972"/>
                  <a:pt x="112105" y="-5953"/>
                  <a:pt x="107156" y="-5953"/>
                </a:cubicBezTo>
                <a:close/>
                <a:moveTo>
                  <a:pt x="40667" y="127062"/>
                </a:moveTo>
                <a:lnTo>
                  <a:pt x="24817" y="142875"/>
                </a:lnTo>
                <a:lnTo>
                  <a:pt x="11906" y="142875"/>
                </a:lnTo>
                <a:cubicBezTo>
                  <a:pt x="5321" y="142875"/>
                  <a:pt x="0" y="148196"/>
                  <a:pt x="0" y="154781"/>
                </a:cubicBezTo>
                <a:lnTo>
                  <a:pt x="0" y="178594"/>
                </a:lnTo>
                <a:cubicBezTo>
                  <a:pt x="0" y="185179"/>
                  <a:pt x="5321" y="190500"/>
                  <a:pt x="11906" y="190500"/>
                </a:cubicBezTo>
                <a:lnTo>
                  <a:pt x="131155" y="190500"/>
                </a:lnTo>
                <a:cubicBezTo>
                  <a:pt x="141945" y="190500"/>
                  <a:pt x="152474" y="187040"/>
                  <a:pt x="161181" y="180640"/>
                </a:cubicBezTo>
                <a:lnTo>
                  <a:pt x="208285" y="145926"/>
                </a:lnTo>
                <a:cubicBezTo>
                  <a:pt x="214908" y="141052"/>
                  <a:pt x="216322" y="131750"/>
                  <a:pt x="211448" y="125127"/>
                </a:cubicBezTo>
                <a:cubicBezTo>
                  <a:pt x="206573" y="118504"/>
                  <a:pt x="197272" y="117091"/>
                  <a:pt x="190649" y="121965"/>
                </a:cubicBezTo>
                <a:lnTo>
                  <a:pt x="146075" y="154781"/>
                </a:lnTo>
                <a:lnTo>
                  <a:pt x="104180" y="154781"/>
                </a:lnTo>
                <a:cubicBezTo>
                  <a:pt x="99231" y="154781"/>
                  <a:pt x="95250" y="150800"/>
                  <a:pt x="95250" y="145852"/>
                </a:cubicBezTo>
                <a:cubicBezTo>
                  <a:pt x="95250" y="140903"/>
                  <a:pt x="99231" y="136922"/>
                  <a:pt x="104180" y="136922"/>
                </a:cubicBezTo>
                <a:lnTo>
                  <a:pt x="130969" y="136922"/>
                </a:lnTo>
                <a:cubicBezTo>
                  <a:pt x="137554" y="136922"/>
                  <a:pt x="142875" y="131601"/>
                  <a:pt x="142875" y="125016"/>
                </a:cubicBezTo>
                <a:cubicBezTo>
                  <a:pt x="142875" y="118430"/>
                  <a:pt x="137554" y="113109"/>
                  <a:pt x="130969" y="113109"/>
                </a:cubicBezTo>
                <a:lnTo>
                  <a:pt x="74340" y="113109"/>
                </a:lnTo>
                <a:cubicBezTo>
                  <a:pt x="61726" y="113109"/>
                  <a:pt x="49597" y="118132"/>
                  <a:pt x="40667" y="127062"/>
                </a:cubicBezTo>
                <a:close/>
              </a:path>
            </a:pathLst>
          </a:custGeom>
          <a:solidFill>
            <a:srgbClr val="2A9D8F"/>
          </a:solidFill>
          <a:ln/>
        </p:spPr>
      </p:sp>
      <p:sp>
        <p:nvSpPr>
          <p:cNvPr id="40" name="Text 38"/>
          <p:cNvSpPr/>
          <p:nvPr/>
        </p:nvSpPr>
        <p:spPr>
          <a:xfrm>
            <a:off x="2381250" y="6607969"/>
            <a:ext cx="1587500" cy="190500"/>
          </a:xfrm>
          <a:prstGeom prst="rect">
            <a:avLst/>
          </a:prstGeom>
          <a:noFill/>
          <a:ln/>
        </p:spPr>
        <p:txBody>
          <a:bodyPr wrap="square" lIns="0" tIns="0" rIns="0" bIns="0" rtlCol="0" anchor="ctr"/>
          <a:lstStyle/>
          <a:p>
            <a:pPr algn="ctr">
              <a:lnSpc>
                <a:spcPct val="130000"/>
              </a:lnSpc>
            </a:pPr>
            <a:r>
              <a:rPr lang="en-US" sz="1000" b="1" dirty="0">
                <a:solidFill>
                  <a:srgbClr val="1A3A5C"/>
                </a:solidFill>
                <a:latin typeface="Liter" pitchFamily="34" charset="0"/>
                <a:ea typeface="Liter" pitchFamily="34" charset="-122"/>
                <a:cs typeface="Liter" pitchFamily="34" charset="-120"/>
              </a:rPr>
              <a:t>Demand Loans</a:t>
            </a:r>
            <a:endParaRPr lang="en-US" sz="1600" dirty="0"/>
          </a:p>
        </p:txBody>
      </p:sp>
      <p:sp>
        <p:nvSpPr>
          <p:cNvPr id="41" name="Text 39"/>
          <p:cNvSpPr/>
          <p:nvPr/>
        </p:nvSpPr>
        <p:spPr>
          <a:xfrm>
            <a:off x="2385219" y="6830219"/>
            <a:ext cx="1579563" cy="158750"/>
          </a:xfrm>
          <a:prstGeom prst="rect">
            <a:avLst/>
          </a:prstGeom>
          <a:noFill/>
          <a:ln/>
        </p:spPr>
        <p:txBody>
          <a:bodyPr wrap="square" lIns="0" tIns="0" rIns="0" bIns="0" rtlCol="0" anchor="ctr"/>
          <a:lstStyle/>
          <a:p>
            <a:pPr algn="ct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Recallable anytime</a:t>
            </a:r>
            <a:endParaRPr lang="en-US" sz="1600" dirty="0"/>
          </a:p>
        </p:txBody>
      </p:sp>
      <p:sp>
        <p:nvSpPr>
          <p:cNvPr id="42" name="Shape 40"/>
          <p:cNvSpPr/>
          <p:nvPr/>
        </p:nvSpPr>
        <p:spPr>
          <a:xfrm>
            <a:off x="4127500" y="6258719"/>
            <a:ext cx="1714500" cy="825500"/>
          </a:xfrm>
          <a:custGeom>
            <a:avLst/>
            <a:gdLst/>
            <a:ahLst/>
            <a:cxnLst/>
            <a:rect l="l" t="t" r="r" b="b"/>
            <a:pathLst>
              <a:path w="1714500" h="825500">
                <a:moveTo>
                  <a:pt x="63497" y="0"/>
                </a:moveTo>
                <a:lnTo>
                  <a:pt x="1651003" y="0"/>
                </a:lnTo>
                <a:cubicBezTo>
                  <a:pt x="1686071" y="0"/>
                  <a:pt x="1714500" y="28429"/>
                  <a:pt x="1714500" y="63497"/>
                </a:cubicBezTo>
                <a:lnTo>
                  <a:pt x="1714500" y="762003"/>
                </a:lnTo>
                <a:cubicBezTo>
                  <a:pt x="1714500" y="797071"/>
                  <a:pt x="1686071" y="825500"/>
                  <a:pt x="1651003" y="825500"/>
                </a:cubicBezTo>
                <a:lnTo>
                  <a:pt x="63497" y="825500"/>
                </a:lnTo>
                <a:cubicBezTo>
                  <a:pt x="28429" y="825500"/>
                  <a:pt x="0" y="797071"/>
                  <a:pt x="0" y="762003"/>
                </a:cubicBezTo>
                <a:lnTo>
                  <a:pt x="0" y="63497"/>
                </a:lnTo>
                <a:cubicBezTo>
                  <a:pt x="0" y="28452"/>
                  <a:pt x="28452" y="0"/>
                  <a:pt x="63497" y="0"/>
                </a:cubicBezTo>
                <a:close/>
              </a:path>
            </a:pathLst>
          </a:custGeom>
          <a:solidFill>
            <a:srgbClr val="F8F9FA"/>
          </a:solidFill>
          <a:ln/>
        </p:spPr>
      </p:sp>
      <p:sp>
        <p:nvSpPr>
          <p:cNvPr id="43" name="Shape 41"/>
          <p:cNvSpPr/>
          <p:nvPr/>
        </p:nvSpPr>
        <p:spPr>
          <a:xfrm>
            <a:off x="4889500" y="6353969"/>
            <a:ext cx="190500" cy="190500"/>
          </a:xfrm>
          <a:custGeom>
            <a:avLst/>
            <a:gdLst/>
            <a:ahLst/>
            <a:cxnLst/>
            <a:rect l="l" t="t" r="r" b="b"/>
            <a:pathLst>
              <a:path w="190500" h="190500">
                <a:moveTo>
                  <a:pt x="103361" y="3200"/>
                </a:moveTo>
                <a:cubicBezTo>
                  <a:pt x="98785" y="-1042"/>
                  <a:pt x="91715" y="-1042"/>
                  <a:pt x="87176" y="3200"/>
                </a:cubicBezTo>
                <a:lnTo>
                  <a:pt x="3832" y="80590"/>
                </a:lnTo>
                <a:cubicBezTo>
                  <a:pt x="260" y="83939"/>
                  <a:pt x="-930" y="89111"/>
                  <a:pt x="856" y="93650"/>
                </a:cubicBezTo>
                <a:cubicBezTo>
                  <a:pt x="2642" y="98189"/>
                  <a:pt x="6995" y="101203"/>
                  <a:pt x="11906" y="101203"/>
                </a:cubicBezTo>
                <a:lnTo>
                  <a:pt x="17859" y="101203"/>
                </a:lnTo>
                <a:lnTo>
                  <a:pt x="17859" y="166688"/>
                </a:lnTo>
                <a:cubicBezTo>
                  <a:pt x="17859" y="179822"/>
                  <a:pt x="28538" y="190500"/>
                  <a:pt x="41672" y="190500"/>
                </a:cubicBezTo>
                <a:lnTo>
                  <a:pt x="148828" y="190500"/>
                </a:lnTo>
                <a:cubicBezTo>
                  <a:pt x="161962" y="190500"/>
                  <a:pt x="172641" y="179822"/>
                  <a:pt x="172641" y="166688"/>
                </a:cubicBezTo>
                <a:lnTo>
                  <a:pt x="172641" y="101203"/>
                </a:lnTo>
                <a:lnTo>
                  <a:pt x="178594" y="101203"/>
                </a:lnTo>
                <a:cubicBezTo>
                  <a:pt x="183505" y="101203"/>
                  <a:pt x="187896" y="98189"/>
                  <a:pt x="189681" y="93650"/>
                </a:cubicBezTo>
                <a:cubicBezTo>
                  <a:pt x="191467" y="89111"/>
                  <a:pt x="190277" y="83902"/>
                  <a:pt x="186705" y="80590"/>
                </a:cubicBezTo>
                <a:lnTo>
                  <a:pt x="103361" y="3200"/>
                </a:lnTo>
                <a:close/>
                <a:moveTo>
                  <a:pt x="89297" y="119063"/>
                </a:moveTo>
                <a:lnTo>
                  <a:pt x="101203" y="119063"/>
                </a:lnTo>
                <a:cubicBezTo>
                  <a:pt x="111063" y="119063"/>
                  <a:pt x="119063" y="127062"/>
                  <a:pt x="119063" y="136922"/>
                </a:cubicBezTo>
                <a:lnTo>
                  <a:pt x="119063" y="172641"/>
                </a:lnTo>
                <a:lnTo>
                  <a:pt x="71438" y="172641"/>
                </a:lnTo>
                <a:lnTo>
                  <a:pt x="71438" y="136922"/>
                </a:lnTo>
                <a:cubicBezTo>
                  <a:pt x="71438" y="127062"/>
                  <a:pt x="79437" y="119063"/>
                  <a:pt x="89297" y="119063"/>
                </a:cubicBezTo>
                <a:close/>
              </a:path>
            </a:pathLst>
          </a:custGeom>
          <a:solidFill>
            <a:srgbClr val="2A9D8F"/>
          </a:solidFill>
          <a:ln/>
        </p:spPr>
      </p:sp>
      <p:sp>
        <p:nvSpPr>
          <p:cNvPr id="44" name="Text 42"/>
          <p:cNvSpPr/>
          <p:nvPr/>
        </p:nvSpPr>
        <p:spPr>
          <a:xfrm>
            <a:off x="4191000" y="6607969"/>
            <a:ext cx="1587500" cy="190500"/>
          </a:xfrm>
          <a:prstGeom prst="rect">
            <a:avLst/>
          </a:prstGeom>
          <a:noFill/>
          <a:ln/>
        </p:spPr>
        <p:txBody>
          <a:bodyPr wrap="square" lIns="0" tIns="0" rIns="0" bIns="0" rtlCol="0" anchor="ctr"/>
          <a:lstStyle/>
          <a:p>
            <a:pPr algn="ctr">
              <a:lnSpc>
                <a:spcPct val="130000"/>
              </a:lnSpc>
            </a:pPr>
            <a:r>
              <a:rPr lang="en-US" sz="1000" b="1" dirty="0">
                <a:solidFill>
                  <a:srgbClr val="1A3A5C"/>
                </a:solidFill>
                <a:latin typeface="Liter" pitchFamily="34" charset="0"/>
                <a:ea typeface="Liter" pitchFamily="34" charset="-122"/>
                <a:cs typeface="Liter" pitchFamily="34" charset="-120"/>
              </a:rPr>
              <a:t>Term Loans</a:t>
            </a:r>
            <a:endParaRPr lang="en-US" sz="1600" dirty="0"/>
          </a:p>
        </p:txBody>
      </p:sp>
      <p:sp>
        <p:nvSpPr>
          <p:cNvPr id="45" name="Text 43"/>
          <p:cNvSpPr/>
          <p:nvPr/>
        </p:nvSpPr>
        <p:spPr>
          <a:xfrm>
            <a:off x="4194969" y="6830219"/>
            <a:ext cx="1579563" cy="158750"/>
          </a:xfrm>
          <a:prstGeom prst="rect">
            <a:avLst/>
          </a:prstGeom>
          <a:noFill/>
          <a:ln/>
        </p:spPr>
        <p:txBody>
          <a:bodyPr wrap="square" lIns="0" tIns="0" rIns="0" bIns="0" rtlCol="0" anchor="ctr"/>
          <a:lstStyle/>
          <a:p>
            <a:pPr algn="ct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Fixed repayment period</a:t>
            </a:r>
            <a:endParaRPr lang="en-US" sz="1600" dirty="0"/>
          </a:p>
        </p:txBody>
      </p:sp>
      <p:sp>
        <p:nvSpPr>
          <p:cNvPr id="46" name="Shape 44"/>
          <p:cNvSpPr/>
          <p:nvPr/>
        </p:nvSpPr>
        <p:spPr>
          <a:xfrm>
            <a:off x="6191250" y="1285875"/>
            <a:ext cx="5683250" cy="1182688"/>
          </a:xfrm>
          <a:custGeom>
            <a:avLst/>
            <a:gdLst/>
            <a:ahLst/>
            <a:cxnLst/>
            <a:rect l="l" t="t" r="r" b="b"/>
            <a:pathLst>
              <a:path w="5683250" h="1182688">
                <a:moveTo>
                  <a:pt x="95254" y="0"/>
                </a:moveTo>
                <a:lnTo>
                  <a:pt x="5587996" y="0"/>
                </a:lnTo>
                <a:cubicBezTo>
                  <a:pt x="5640603" y="0"/>
                  <a:pt x="5683250" y="42647"/>
                  <a:pt x="5683250" y="95254"/>
                </a:cubicBezTo>
                <a:lnTo>
                  <a:pt x="5683250" y="1087434"/>
                </a:lnTo>
                <a:cubicBezTo>
                  <a:pt x="5683250" y="1140041"/>
                  <a:pt x="5640603" y="1182688"/>
                  <a:pt x="5587996" y="1182688"/>
                </a:cubicBezTo>
                <a:lnTo>
                  <a:pt x="95254" y="1182688"/>
                </a:lnTo>
                <a:cubicBezTo>
                  <a:pt x="42682" y="1182688"/>
                  <a:pt x="0" y="1140006"/>
                  <a:pt x="0" y="1087434"/>
                </a:cubicBezTo>
                <a:lnTo>
                  <a:pt x="0" y="95254"/>
                </a:lnTo>
                <a:cubicBezTo>
                  <a:pt x="0" y="42647"/>
                  <a:pt x="42647" y="0"/>
                  <a:pt x="95254" y="0"/>
                </a:cubicBezTo>
                <a:close/>
              </a:path>
            </a:pathLst>
          </a:custGeom>
          <a:gradFill rotWithShape="1" flip="none">
            <a:gsLst>
              <a:gs pos="0">
                <a:srgbClr val="2A9D8F"/>
              </a:gs>
              <a:gs pos="100000">
                <a:srgbClr val="1A3A5C"/>
              </a:gs>
            </a:gsLst>
            <a:lin ang="0" scaled="1"/>
          </a:gradFill>
          <a:ln/>
          <a:effectLst>
            <a:outerShdw sx="100000" sy="100000" kx="0" ky="0" algn="bl" rotWithShape="0" blurRad="119063" dist="79375" dir="5400000">
              <a:srgbClr val="000000">
                <a:alpha val="10196"/>
              </a:srgbClr>
            </a:outerShdw>
          </a:effectLst>
        </p:spPr>
      </p:sp>
      <p:sp>
        <p:nvSpPr>
          <p:cNvPr id="47" name="Shape 45"/>
          <p:cNvSpPr/>
          <p:nvPr/>
        </p:nvSpPr>
        <p:spPr>
          <a:xfrm>
            <a:off x="6350000" y="1444625"/>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FFFFFF">
              <a:alpha val="20000"/>
            </a:srgbClr>
          </a:solidFill>
          <a:ln/>
        </p:spPr>
      </p:sp>
      <p:sp>
        <p:nvSpPr>
          <p:cNvPr id="48" name="Shape 46"/>
          <p:cNvSpPr/>
          <p:nvPr/>
        </p:nvSpPr>
        <p:spPr>
          <a:xfrm>
            <a:off x="6425406" y="1555750"/>
            <a:ext cx="357188" cy="285750"/>
          </a:xfrm>
          <a:custGeom>
            <a:avLst/>
            <a:gdLst/>
            <a:ahLst/>
            <a:cxnLst/>
            <a:rect l="l" t="t" r="r" b="b"/>
            <a:pathLst>
              <a:path w="357188" h="285750">
                <a:moveTo>
                  <a:pt x="232116" y="117481"/>
                </a:moveTo>
                <a:cubicBezTo>
                  <a:pt x="238925" y="115639"/>
                  <a:pt x="246069" y="118876"/>
                  <a:pt x="249138" y="125183"/>
                </a:cubicBezTo>
                <a:lnTo>
                  <a:pt x="259519" y="146168"/>
                </a:lnTo>
                <a:cubicBezTo>
                  <a:pt x="265268" y="146949"/>
                  <a:pt x="270904" y="148512"/>
                  <a:pt x="276206" y="150688"/>
                </a:cubicBezTo>
                <a:lnTo>
                  <a:pt x="295740" y="137685"/>
                </a:lnTo>
                <a:cubicBezTo>
                  <a:pt x="301600" y="133778"/>
                  <a:pt x="309358" y="134559"/>
                  <a:pt x="314325" y="139526"/>
                </a:cubicBezTo>
                <a:lnTo>
                  <a:pt x="325041" y="150242"/>
                </a:lnTo>
                <a:cubicBezTo>
                  <a:pt x="330008" y="155209"/>
                  <a:pt x="330789" y="163023"/>
                  <a:pt x="326882" y="168827"/>
                </a:cubicBezTo>
                <a:lnTo>
                  <a:pt x="313879" y="188305"/>
                </a:lnTo>
                <a:cubicBezTo>
                  <a:pt x="314939" y="190928"/>
                  <a:pt x="315888" y="193663"/>
                  <a:pt x="316669" y="196509"/>
                </a:cubicBezTo>
                <a:cubicBezTo>
                  <a:pt x="317450" y="199355"/>
                  <a:pt x="317953" y="202146"/>
                  <a:pt x="318343" y="204992"/>
                </a:cubicBezTo>
                <a:lnTo>
                  <a:pt x="339384" y="215373"/>
                </a:lnTo>
                <a:cubicBezTo>
                  <a:pt x="345691" y="218498"/>
                  <a:pt x="348928" y="225642"/>
                  <a:pt x="347086" y="232395"/>
                </a:cubicBezTo>
                <a:lnTo>
                  <a:pt x="343179" y="247017"/>
                </a:lnTo>
                <a:cubicBezTo>
                  <a:pt x="341337" y="253771"/>
                  <a:pt x="335031" y="258347"/>
                  <a:pt x="327999" y="257901"/>
                </a:cubicBezTo>
                <a:lnTo>
                  <a:pt x="304558" y="256394"/>
                </a:lnTo>
                <a:cubicBezTo>
                  <a:pt x="301042" y="260914"/>
                  <a:pt x="296968" y="265100"/>
                  <a:pt x="292336" y="268672"/>
                </a:cubicBezTo>
                <a:lnTo>
                  <a:pt x="293843" y="292057"/>
                </a:lnTo>
                <a:cubicBezTo>
                  <a:pt x="294289" y="299089"/>
                  <a:pt x="289713" y="305451"/>
                  <a:pt x="282959" y="307237"/>
                </a:cubicBezTo>
                <a:lnTo>
                  <a:pt x="268337" y="311144"/>
                </a:lnTo>
                <a:cubicBezTo>
                  <a:pt x="261528" y="312986"/>
                  <a:pt x="254440" y="309749"/>
                  <a:pt x="251315" y="303442"/>
                </a:cubicBezTo>
                <a:lnTo>
                  <a:pt x="240934" y="282457"/>
                </a:lnTo>
                <a:cubicBezTo>
                  <a:pt x="235186" y="281676"/>
                  <a:pt x="229549" y="280113"/>
                  <a:pt x="224247" y="277937"/>
                </a:cubicBezTo>
                <a:lnTo>
                  <a:pt x="204713" y="290940"/>
                </a:lnTo>
                <a:cubicBezTo>
                  <a:pt x="198853" y="294847"/>
                  <a:pt x="191095" y="294066"/>
                  <a:pt x="186128" y="289099"/>
                </a:cubicBezTo>
                <a:lnTo>
                  <a:pt x="175413" y="278383"/>
                </a:lnTo>
                <a:cubicBezTo>
                  <a:pt x="170445" y="273416"/>
                  <a:pt x="169664" y="265658"/>
                  <a:pt x="173571" y="259798"/>
                </a:cubicBezTo>
                <a:lnTo>
                  <a:pt x="186575" y="240264"/>
                </a:lnTo>
                <a:cubicBezTo>
                  <a:pt x="185514" y="237641"/>
                  <a:pt x="184565" y="234907"/>
                  <a:pt x="183784" y="232060"/>
                </a:cubicBezTo>
                <a:cubicBezTo>
                  <a:pt x="183003" y="229214"/>
                  <a:pt x="182500" y="226368"/>
                  <a:pt x="182110" y="223577"/>
                </a:cubicBezTo>
                <a:lnTo>
                  <a:pt x="161069" y="213196"/>
                </a:lnTo>
                <a:cubicBezTo>
                  <a:pt x="154763" y="210071"/>
                  <a:pt x="151581" y="202927"/>
                  <a:pt x="153367" y="196174"/>
                </a:cubicBezTo>
                <a:lnTo>
                  <a:pt x="157274" y="181552"/>
                </a:lnTo>
                <a:cubicBezTo>
                  <a:pt x="159116" y="174799"/>
                  <a:pt x="165422" y="170222"/>
                  <a:pt x="172455" y="170669"/>
                </a:cubicBezTo>
                <a:lnTo>
                  <a:pt x="195839" y="172176"/>
                </a:lnTo>
                <a:cubicBezTo>
                  <a:pt x="199355" y="167655"/>
                  <a:pt x="203429" y="163469"/>
                  <a:pt x="208062" y="159897"/>
                </a:cubicBezTo>
                <a:lnTo>
                  <a:pt x="206555" y="136568"/>
                </a:lnTo>
                <a:cubicBezTo>
                  <a:pt x="206108" y="129536"/>
                  <a:pt x="210685" y="123174"/>
                  <a:pt x="217438" y="121388"/>
                </a:cubicBezTo>
                <a:lnTo>
                  <a:pt x="232060" y="117481"/>
                </a:lnTo>
                <a:close/>
                <a:moveTo>
                  <a:pt x="250254" y="189756"/>
                </a:moveTo>
                <a:cubicBezTo>
                  <a:pt x="236701" y="189771"/>
                  <a:pt x="225710" y="200787"/>
                  <a:pt x="225726" y="214340"/>
                </a:cubicBezTo>
                <a:cubicBezTo>
                  <a:pt x="225741" y="227894"/>
                  <a:pt x="236757" y="238885"/>
                  <a:pt x="250310" y="238869"/>
                </a:cubicBezTo>
                <a:cubicBezTo>
                  <a:pt x="263863" y="238854"/>
                  <a:pt x="274854" y="227838"/>
                  <a:pt x="274839" y="214285"/>
                </a:cubicBezTo>
                <a:cubicBezTo>
                  <a:pt x="274824" y="200731"/>
                  <a:pt x="263808" y="189740"/>
                  <a:pt x="250254" y="189756"/>
                </a:cubicBezTo>
                <a:close/>
                <a:moveTo>
                  <a:pt x="125518" y="-25394"/>
                </a:moveTo>
                <a:lnTo>
                  <a:pt x="140140" y="-21487"/>
                </a:lnTo>
                <a:cubicBezTo>
                  <a:pt x="146893" y="-19645"/>
                  <a:pt x="151470" y="-13283"/>
                  <a:pt x="151023" y="-6307"/>
                </a:cubicBezTo>
                <a:lnTo>
                  <a:pt x="149516" y="17022"/>
                </a:lnTo>
                <a:cubicBezTo>
                  <a:pt x="154149" y="20594"/>
                  <a:pt x="158223" y="24724"/>
                  <a:pt x="161739" y="29301"/>
                </a:cubicBezTo>
                <a:lnTo>
                  <a:pt x="185179" y="27794"/>
                </a:lnTo>
                <a:cubicBezTo>
                  <a:pt x="192156" y="27347"/>
                  <a:pt x="198518" y="31924"/>
                  <a:pt x="200360" y="38677"/>
                </a:cubicBezTo>
                <a:lnTo>
                  <a:pt x="204267" y="53299"/>
                </a:lnTo>
                <a:cubicBezTo>
                  <a:pt x="206053" y="60052"/>
                  <a:pt x="202871" y="67196"/>
                  <a:pt x="196565" y="70321"/>
                </a:cubicBezTo>
                <a:lnTo>
                  <a:pt x="175524" y="80702"/>
                </a:lnTo>
                <a:cubicBezTo>
                  <a:pt x="175133" y="83548"/>
                  <a:pt x="174575" y="86395"/>
                  <a:pt x="173850" y="89185"/>
                </a:cubicBezTo>
                <a:cubicBezTo>
                  <a:pt x="173124" y="91976"/>
                  <a:pt x="172120" y="94766"/>
                  <a:pt x="171059" y="97389"/>
                </a:cubicBezTo>
                <a:lnTo>
                  <a:pt x="184063" y="116923"/>
                </a:lnTo>
                <a:cubicBezTo>
                  <a:pt x="187970" y="122783"/>
                  <a:pt x="187189" y="130541"/>
                  <a:pt x="182221" y="135508"/>
                </a:cubicBezTo>
                <a:lnTo>
                  <a:pt x="171506" y="146224"/>
                </a:lnTo>
                <a:cubicBezTo>
                  <a:pt x="166539" y="151191"/>
                  <a:pt x="158781" y="151972"/>
                  <a:pt x="152921" y="148065"/>
                </a:cubicBezTo>
                <a:lnTo>
                  <a:pt x="133387" y="135062"/>
                </a:lnTo>
                <a:cubicBezTo>
                  <a:pt x="128085" y="137238"/>
                  <a:pt x="122448" y="138801"/>
                  <a:pt x="116700" y="139582"/>
                </a:cubicBezTo>
                <a:lnTo>
                  <a:pt x="106319" y="160567"/>
                </a:lnTo>
                <a:cubicBezTo>
                  <a:pt x="103194" y="166874"/>
                  <a:pt x="96050" y="170055"/>
                  <a:pt x="89297" y="168269"/>
                </a:cubicBezTo>
                <a:lnTo>
                  <a:pt x="74675" y="164362"/>
                </a:lnTo>
                <a:cubicBezTo>
                  <a:pt x="67866" y="162520"/>
                  <a:pt x="63345" y="156158"/>
                  <a:pt x="63791" y="149182"/>
                </a:cubicBezTo>
                <a:lnTo>
                  <a:pt x="65298" y="125797"/>
                </a:lnTo>
                <a:cubicBezTo>
                  <a:pt x="60666" y="122225"/>
                  <a:pt x="56592" y="118095"/>
                  <a:pt x="53076" y="113519"/>
                </a:cubicBezTo>
                <a:lnTo>
                  <a:pt x="29635" y="115026"/>
                </a:lnTo>
                <a:cubicBezTo>
                  <a:pt x="22659" y="115472"/>
                  <a:pt x="16297" y="110896"/>
                  <a:pt x="14455" y="104142"/>
                </a:cubicBezTo>
                <a:lnTo>
                  <a:pt x="10548" y="89520"/>
                </a:lnTo>
                <a:cubicBezTo>
                  <a:pt x="8762" y="82767"/>
                  <a:pt x="11943" y="75623"/>
                  <a:pt x="18250" y="72498"/>
                </a:cubicBezTo>
                <a:lnTo>
                  <a:pt x="39291" y="62117"/>
                </a:lnTo>
                <a:cubicBezTo>
                  <a:pt x="39681" y="59271"/>
                  <a:pt x="40239" y="56480"/>
                  <a:pt x="40965" y="53634"/>
                </a:cubicBezTo>
                <a:cubicBezTo>
                  <a:pt x="41746" y="50788"/>
                  <a:pt x="42639" y="48053"/>
                  <a:pt x="43755" y="45430"/>
                </a:cubicBezTo>
                <a:lnTo>
                  <a:pt x="30752" y="25952"/>
                </a:lnTo>
                <a:cubicBezTo>
                  <a:pt x="26845" y="20092"/>
                  <a:pt x="27626" y="12334"/>
                  <a:pt x="32593" y="7367"/>
                </a:cubicBezTo>
                <a:lnTo>
                  <a:pt x="43309" y="-3349"/>
                </a:lnTo>
                <a:cubicBezTo>
                  <a:pt x="48276" y="-8316"/>
                  <a:pt x="56034" y="-9097"/>
                  <a:pt x="61894" y="-5190"/>
                </a:cubicBezTo>
                <a:lnTo>
                  <a:pt x="81428" y="7813"/>
                </a:lnTo>
                <a:cubicBezTo>
                  <a:pt x="86730" y="5637"/>
                  <a:pt x="92366" y="4074"/>
                  <a:pt x="98115" y="3293"/>
                </a:cubicBezTo>
                <a:lnTo>
                  <a:pt x="108496" y="-17692"/>
                </a:lnTo>
                <a:cubicBezTo>
                  <a:pt x="111621" y="-23999"/>
                  <a:pt x="118709" y="-27180"/>
                  <a:pt x="125518" y="-25394"/>
                </a:cubicBezTo>
                <a:close/>
                <a:moveTo>
                  <a:pt x="107379" y="46881"/>
                </a:moveTo>
                <a:cubicBezTo>
                  <a:pt x="93826" y="46881"/>
                  <a:pt x="82823" y="57884"/>
                  <a:pt x="82823" y="71438"/>
                </a:cubicBezTo>
                <a:cubicBezTo>
                  <a:pt x="82823" y="84991"/>
                  <a:pt x="93826" y="95994"/>
                  <a:pt x="107379" y="95994"/>
                </a:cubicBezTo>
                <a:cubicBezTo>
                  <a:pt x="120933" y="95994"/>
                  <a:pt x="131936" y="84991"/>
                  <a:pt x="131936" y="71438"/>
                </a:cubicBezTo>
                <a:cubicBezTo>
                  <a:pt x="131936" y="57884"/>
                  <a:pt x="120933" y="46881"/>
                  <a:pt x="107379" y="46881"/>
                </a:cubicBezTo>
                <a:close/>
              </a:path>
            </a:pathLst>
          </a:custGeom>
          <a:solidFill>
            <a:srgbClr val="FFFFFF"/>
          </a:solidFill>
          <a:ln/>
        </p:spPr>
      </p:sp>
      <p:sp>
        <p:nvSpPr>
          <p:cNvPr id="49" name="Text 47"/>
          <p:cNvSpPr/>
          <p:nvPr/>
        </p:nvSpPr>
        <p:spPr>
          <a:xfrm>
            <a:off x="6985000" y="1539875"/>
            <a:ext cx="2801938" cy="317500"/>
          </a:xfrm>
          <a:prstGeom prst="rect">
            <a:avLst/>
          </a:prstGeom>
          <a:noFill/>
          <a:ln/>
        </p:spPr>
        <p:txBody>
          <a:bodyPr wrap="square" lIns="0" tIns="0" rIns="0" bIns="0" rtlCol="0" anchor="ctr"/>
          <a:lstStyle/>
          <a:p>
            <a:pPr>
              <a:lnSpc>
                <a:spcPct val="90000"/>
              </a:lnSpc>
            </a:pPr>
            <a:r>
              <a:rPr lang="en-US" sz="2250" b="1" dirty="0">
                <a:solidFill>
                  <a:srgbClr val="FFFFFF"/>
                </a:solidFill>
                <a:latin typeface="Liter" pitchFamily="34" charset="0"/>
                <a:ea typeface="Liter" pitchFamily="34" charset="-122"/>
                <a:cs typeface="Liter" pitchFamily="34" charset="-120"/>
              </a:rPr>
              <a:t>Secondary Functions</a:t>
            </a:r>
            <a:endParaRPr lang="en-US" sz="1600" dirty="0"/>
          </a:p>
        </p:txBody>
      </p:sp>
      <p:sp>
        <p:nvSpPr>
          <p:cNvPr id="50" name="Text 48"/>
          <p:cNvSpPr/>
          <p:nvPr/>
        </p:nvSpPr>
        <p:spPr>
          <a:xfrm>
            <a:off x="6350000" y="2079625"/>
            <a:ext cx="5437188" cy="230188"/>
          </a:xfrm>
          <a:prstGeom prst="rect">
            <a:avLst/>
          </a:prstGeom>
          <a:noFill/>
          <a:ln/>
        </p:spPr>
        <p:txBody>
          <a:bodyPr wrap="square" lIns="0" tIns="0" rIns="0" bIns="0" rtlCol="0" anchor="ctr"/>
          <a:lstStyle/>
          <a:p>
            <a:pPr>
              <a:lnSpc>
                <a:spcPct val="140000"/>
              </a:lnSpc>
            </a:pPr>
            <a:r>
              <a:rPr lang="en-US" sz="1125" dirty="0">
                <a:solidFill>
                  <a:srgbClr val="FFFFFF"/>
                </a:solidFill>
                <a:latin typeface="Quattrocento Sans" pitchFamily="34" charset="0"/>
                <a:ea typeface="Quattrocento Sans" pitchFamily="34" charset="-122"/>
                <a:cs typeface="Quattrocento Sans" pitchFamily="34" charset="-120"/>
              </a:rPr>
              <a:t>Additional services that enhance customer value and diversify bank revenue streams.</a:t>
            </a:r>
            <a:endParaRPr lang="en-US" sz="1600" dirty="0"/>
          </a:p>
        </p:txBody>
      </p:sp>
      <p:sp>
        <p:nvSpPr>
          <p:cNvPr id="51" name="Shape 49"/>
          <p:cNvSpPr/>
          <p:nvPr/>
        </p:nvSpPr>
        <p:spPr>
          <a:xfrm>
            <a:off x="6191250" y="2597547"/>
            <a:ext cx="5683250" cy="3405188"/>
          </a:xfrm>
          <a:custGeom>
            <a:avLst/>
            <a:gdLst/>
            <a:ahLst/>
            <a:cxnLst/>
            <a:rect l="l" t="t" r="r" b="b"/>
            <a:pathLst>
              <a:path w="5683250" h="3405188">
                <a:moveTo>
                  <a:pt x="95243" y="0"/>
                </a:moveTo>
                <a:lnTo>
                  <a:pt x="5588007" y="0"/>
                </a:lnTo>
                <a:cubicBezTo>
                  <a:pt x="5640608" y="0"/>
                  <a:pt x="5683250" y="42642"/>
                  <a:pt x="5683250" y="95243"/>
                </a:cubicBezTo>
                <a:lnTo>
                  <a:pt x="5683250" y="3309944"/>
                </a:lnTo>
                <a:cubicBezTo>
                  <a:pt x="5683250" y="3362546"/>
                  <a:pt x="5640608" y="3405188"/>
                  <a:pt x="5588007" y="3405188"/>
                </a:cubicBezTo>
                <a:lnTo>
                  <a:pt x="95243" y="3405188"/>
                </a:lnTo>
                <a:cubicBezTo>
                  <a:pt x="42642" y="3405188"/>
                  <a:pt x="0" y="3362546"/>
                  <a:pt x="0" y="3309944"/>
                </a:cubicBezTo>
                <a:lnTo>
                  <a:pt x="0" y="95243"/>
                </a:lnTo>
                <a:cubicBezTo>
                  <a:pt x="0" y="42677"/>
                  <a:pt x="42677" y="0"/>
                  <a:pt x="95243"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52" name="Shape 50"/>
          <p:cNvSpPr/>
          <p:nvPr/>
        </p:nvSpPr>
        <p:spPr>
          <a:xfrm>
            <a:off x="6373813" y="2788047"/>
            <a:ext cx="190500" cy="190500"/>
          </a:xfrm>
          <a:custGeom>
            <a:avLst/>
            <a:gdLst/>
            <a:ahLst/>
            <a:cxnLst/>
            <a:rect l="l" t="t" r="r" b="b"/>
            <a:pathLst>
              <a:path w="190500" h="190500">
                <a:moveTo>
                  <a:pt x="65484" y="20836"/>
                </a:moveTo>
                <a:lnTo>
                  <a:pt x="65484" y="35719"/>
                </a:lnTo>
                <a:lnTo>
                  <a:pt x="125016" y="35719"/>
                </a:lnTo>
                <a:lnTo>
                  <a:pt x="125016" y="20836"/>
                </a:lnTo>
                <a:cubicBezTo>
                  <a:pt x="125016" y="19199"/>
                  <a:pt x="123676" y="17859"/>
                  <a:pt x="122039" y="17859"/>
                </a:cubicBezTo>
                <a:lnTo>
                  <a:pt x="68461" y="17859"/>
                </a:lnTo>
                <a:cubicBezTo>
                  <a:pt x="66824" y="17859"/>
                  <a:pt x="65484" y="19199"/>
                  <a:pt x="65484" y="20836"/>
                </a:cubicBezTo>
                <a:close/>
                <a:moveTo>
                  <a:pt x="47625" y="35719"/>
                </a:moveTo>
                <a:lnTo>
                  <a:pt x="47625" y="20836"/>
                </a:lnTo>
                <a:cubicBezTo>
                  <a:pt x="47625" y="9339"/>
                  <a:pt x="56964" y="0"/>
                  <a:pt x="68461" y="0"/>
                </a:cubicBezTo>
                <a:lnTo>
                  <a:pt x="122039" y="0"/>
                </a:lnTo>
                <a:cubicBezTo>
                  <a:pt x="133536" y="0"/>
                  <a:pt x="142875" y="9339"/>
                  <a:pt x="142875" y="20836"/>
                </a:cubicBezTo>
                <a:lnTo>
                  <a:pt x="142875" y="35719"/>
                </a:lnTo>
                <a:lnTo>
                  <a:pt x="153330" y="35719"/>
                </a:lnTo>
                <a:cubicBezTo>
                  <a:pt x="158055" y="35719"/>
                  <a:pt x="162595" y="37616"/>
                  <a:pt x="165943" y="40965"/>
                </a:cubicBezTo>
                <a:lnTo>
                  <a:pt x="185254" y="60275"/>
                </a:lnTo>
                <a:cubicBezTo>
                  <a:pt x="188602" y="63624"/>
                  <a:pt x="190500" y="68163"/>
                  <a:pt x="190500" y="72889"/>
                </a:cubicBezTo>
                <a:lnTo>
                  <a:pt x="190500" y="101203"/>
                </a:lnTo>
                <a:lnTo>
                  <a:pt x="139898" y="101203"/>
                </a:lnTo>
                <a:lnTo>
                  <a:pt x="139898" y="95250"/>
                </a:lnTo>
                <a:cubicBezTo>
                  <a:pt x="139898" y="90301"/>
                  <a:pt x="135917" y="86320"/>
                  <a:pt x="130969" y="86320"/>
                </a:cubicBezTo>
                <a:cubicBezTo>
                  <a:pt x="126020" y="86320"/>
                  <a:pt x="122039" y="90301"/>
                  <a:pt x="122039" y="95250"/>
                </a:cubicBezTo>
                <a:lnTo>
                  <a:pt x="122039" y="101203"/>
                </a:lnTo>
                <a:lnTo>
                  <a:pt x="68461" y="101203"/>
                </a:lnTo>
                <a:lnTo>
                  <a:pt x="68461" y="95250"/>
                </a:lnTo>
                <a:cubicBezTo>
                  <a:pt x="68461" y="90301"/>
                  <a:pt x="64480" y="86320"/>
                  <a:pt x="59531" y="86320"/>
                </a:cubicBezTo>
                <a:cubicBezTo>
                  <a:pt x="54583" y="86320"/>
                  <a:pt x="50602" y="90301"/>
                  <a:pt x="50602" y="95250"/>
                </a:cubicBezTo>
                <a:lnTo>
                  <a:pt x="50602" y="101203"/>
                </a:lnTo>
                <a:lnTo>
                  <a:pt x="0" y="101203"/>
                </a:lnTo>
                <a:lnTo>
                  <a:pt x="0" y="72889"/>
                </a:lnTo>
                <a:cubicBezTo>
                  <a:pt x="0" y="68163"/>
                  <a:pt x="1898" y="63624"/>
                  <a:pt x="5246" y="60275"/>
                </a:cubicBezTo>
                <a:lnTo>
                  <a:pt x="24557" y="40965"/>
                </a:lnTo>
                <a:cubicBezTo>
                  <a:pt x="27905" y="37616"/>
                  <a:pt x="32445" y="35719"/>
                  <a:pt x="37170" y="35719"/>
                </a:cubicBezTo>
                <a:lnTo>
                  <a:pt x="47625" y="35719"/>
                </a:lnTo>
                <a:close/>
                <a:moveTo>
                  <a:pt x="0" y="154781"/>
                </a:moveTo>
                <a:lnTo>
                  <a:pt x="0" y="119063"/>
                </a:lnTo>
                <a:lnTo>
                  <a:pt x="50602" y="119063"/>
                </a:lnTo>
                <a:lnTo>
                  <a:pt x="50602" y="125016"/>
                </a:lnTo>
                <a:cubicBezTo>
                  <a:pt x="50602" y="129964"/>
                  <a:pt x="54583" y="133945"/>
                  <a:pt x="59531" y="133945"/>
                </a:cubicBezTo>
                <a:cubicBezTo>
                  <a:pt x="64480" y="133945"/>
                  <a:pt x="68461" y="129964"/>
                  <a:pt x="68461" y="125016"/>
                </a:cubicBezTo>
                <a:lnTo>
                  <a:pt x="68461" y="119063"/>
                </a:lnTo>
                <a:lnTo>
                  <a:pt x="122039" y="119063"/>
                </a:lnTo>
                <a:lnTo>
                  <a:pt x="122039" y="125016"/>
                </a:lnTo>
                <a:cubicBezTo>
                  <a:pt x="122039" y="129964"/>
                  <a:pt x="126020" y="133945"/>
                  <a:pt x="130969" y="133945"/>
                </a:cubicBezTo>
                <a:cubicBezTo>
                  <a:pt x="135917" y="133945"/>
                  <a:pt x="139898" y="129964"/>
                  <a:pt x="139898" y="125016"/>
                </a:cubicBezTo>
                <a:lnTo>
                  <a:pt x="139898" y="119063"/>
                </a:lnTo>
                <a:lnTo>
                  <a:pt x="190500" y="119063"/>
                </a:lnTo>
                <a:lnTo>
                  <a:pt x="190500" y="154781"/>
                </a:lnTo>
                <a:cubicBezTo>
                  <a:pt x="190500" y="167915"/>
                  <a:pt x="179822" y="178594"/>
                  <a:pt x="166688" y="178594"/>
                </a:cubicBezTo>
                <a:lnTo>
                  <a:pt x="23812" y="178594"/>
                </a:lnTo>
                <a:cubicBezTo>
                  <a:pt x="10678" y="178594"/>
                  <a:pt x="0" y="167915"/>
                  <a:pt x="0" y="154781"/>
                </a:cubicBezTo>
                <a:close/>
              </a:path>
            </a:pathLst>
          </a:custGeom>
          <a:solidFill>
            <a:srgbClr val="2A9D8F"/>
          </a:solidFill>
          <a:ln/>
        </p:spPr>
      </p:sp>
      <p:sp>
        <p:nvSpPr>
          <p:cNvPr id="53" name="Text 51"/>
          <p:cNvSpPr/>
          <p:nvPr/>
        </p:nvSpPr>
        <p:spPr>
          <a:xfrm>
            <a:off x="6588125" y="2756297"/>
            <a:ext cx="5222875"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Agency &amp; Utility Services</a:t>
            </a:r>
            <a:endParaRPr lang="en-US" sz="1600" dirty="0"/>
          </a:p>
        </p:txBody>
      </p:sp>
      <p:sp>
        <p:nvSpPr>
          <p:cNvPr id="54" name="Shape 52"/>
          <p:cNvSpPr/>
          <p:nvPr/>
        </p:nvSpPr>
        <p:spPr>
          <a:xfrm>
            <a:off x="6350000" y="3137297"/>
            <a:ext cx="2635250" cy="571500"/>
          </a:xfrm>
          <a:custGeom>
            <a:avLst/>
            <a:gdLst/>
            <a:ahLst/>
            <a:cxnLst/>
            <a:rect l="l" t="t" r="r" b="b"/>
            <a:pathLst>
              <a:path w="2635250" h="571500">
                <a:moveTo>
                  <a:pt x="63499" y="0"/>
                </a:moveTo>
                <a:lnTo>
                  <a:pt x="2571751" y="0"/>
                </a:lnTo>
                <a:cubicBezTo>
                  <a:pt x="2606820" y="0"/>
                  <a:pt x="2635250" y="28430"/>
                  <a:pt x="2635250" y="63499"/>
                </a:cubicBezTo>
                <a:lnTo>
                  <a:pt x="2635250" y="508001"/>
                </a:lnTo>
                <a:cubicBezTo>
                  <a:pt x="2635250" y="543070"/>
                  <a:pt x="2606820" y="571500"/>
                  <a:pt x="2571751" y="571500"/>
                </a:cubicBezTo>
                <a:lnTo>
                  <a:pt x="63499" y="571500"/>
                </a:lnTo>
                <a:cubicBezTo>
                  <a:pt x="28430" y="571500"/>
                  <a:pt x="0" y="543070"/>
                  <a:pt x="0" y="508001"/>
                </a:cubicBezTo>
                <a:lnTo>
                  <a:pt x="0" y="63499"/>
                </a:lnTo>
                <a:cubicBezTo>
                  <a:pt x="0" y="28453"/>
                  <a:pt x="28453" y="0"/>
                  <a:pt x="63499" y="0"/>
                </a:cubicBezTo>
                <a:close/>
              </a:path>
            </a:pathLst>
          </a:custGeom>
          <a:solidFill>
            <a:srgbClr val="F8F9FA"/>
          </a:solidFill>
          <a:ln/>
        </p:spPr>
      </p:sp>
      <p:sp>
        <p:nvSpPr>
          <p:cNvPr id="55" name="Shape 53"/>
          <p:cNvSpPr/>
          <p:nvPr/>
        </p:nvSpPr>
        <p:spPr>
          <a:xfrm>
            <a:off x="6475016" y="3264297"/>
            <a:ext cx="138906" cy="158750"/>
          </a:xfrm>
          <a:custGeom>
            <a:avLst/>
            <a:gdLst/>
            <a:ahLst/>
            <a:cxnLst/>
            <a:rect l="l" t="t" r="r" b="b"/>
            <a:pathLst>
              <a:path w="138906" h="158750">
                <a:moveTo>
                  <a:pt x="114536" y="39688"/>
                </a:moveTo>
                <a:lnTo>
                  <a:pt x="103901" y="24805"/>
                </a:lnTo>
                <a:lnTo>
                  <a:pt x="35037" y="24805"/>
                </a:lnTo>
                <a:lnTo>
                  <a:pt x="24402" y="39688"/>
                </a:lnTo>
                <a:lnTo>
                  <a:pt x="114536" y="39688"/>
                </a:lnTo>
                <a:close/>
                <a:moveTo>
                  <a:pt x="0" y="46044"/>
                </a:moveTo>
                <a:cubicBezTo>
                  <a:pt x="0" y="41920"/>
                  <a:pt x="1302" y="37889"/>
                  <a:pt x="3690" y="34510"/>
                </a:cubicBezTo>
                <a:lnTo>
                  <a:pt x="18883" y="13271"/>
                </a:lnTo>
                <a:cubicBezTo>
                  <a:pt x="22603" y="8062"/>
                  <a:pt x="28618" y="4961"/>
                  <a:pt x="35006" y="4961"/>
                </a:cubicBezTo>
                <a:lnTo>
                  <a:pt x="103870" y="4961"/>
                </a:lnTo>
                <a:cubicBezTo>
                  <a:pt x="110288" y="4961"/>
                  <a:pt x="116303" y="8062"/>
                  <a:pt x="120024" y="13271"/>
                </a:cubicBezTo>
                <a:lnTo>
                  <a:pt x="135186" y="34510"/>
                </a:lnTo>
                <a:cubicBezTo>
                  <a:pt x="137604" y="37889"/>
                  <a:pt x="138875" y="41920"/>
                  <a:pt x="138875" y="46044"/>
                </a:cubicBezTo>
                <a:lnTo>
                  <a:pt x="138906" y="128984"/>
                </a:lnTo>
                <a:cubicBezTo>
                  <a:pt x="138906" y="139929"/>
                  <a:pt x="130008" y="148828"/>
                  <a:pt x="119062" y="148828"/>
                </a:cubicBezTo>
                <a:lnTo>
                  <a:pt x="19844" y="148828"/>
                </a:lnTo>
                <a:cubicBezTo>
                  <a:pt x="8899" y="148828"/>
                  <a:pt x="0" y="139929"/>
                  <a:pt x="0" y="128984"/>
                </a:cubicBezTo>
                <a:lnTo>
                  <a:pt x="0" y="46044"/>
                </a:lnTo>
                <a:close/>
              </a:path>
            </a:pathLst>
          </a:custGeom>
          <a:solidFill>
            <a:srgbClr val="2A9D8F"/>
          </a:solidFill>
          <a:ln/>
        </p:spPr>
      </p:sp>
      <p:sp>
        <p:nvSpPr>
          <p:cNvPr id="56" name="Text 54"/>
          <p:cNvSpPr/>
          <p:nvPr/>
        </p:nvSpPr>
        <p:spPr>
          <a:xfrm>
            <a:off x="6738938" y="3232547"/>
            <a:ext cx="1420813" cy="190500"/>
          </a:xfrm>
          <a:prstGeom prst="rect">
            <a:avLst/>
          </a:prstGeom>
          <a:noFill/>
          <a:ln/>
        </p:spPr>
        <p:txBody>
          <a:bodyPr wrap="square" lIns="0" tIns="0" rIns="0" bIns="0" rtlCol="0" anchor="ctr"/>
          <a:lstStyle/>
          <a:p>
            <a:pPr>
              <a:lnSpc>
                <a:spcPct val="130000"/>
              </a:lnSpc>
            </a:pPr>
            <a:r>
              <a:rPr lang="en-US" sz="1000" b="1" dirty="0">
                <a:solidFill>
                  <a:srgbClr val="1A3A5C"/>
                </a:solidFill>
                <a:latin typeface="Liter" pitchFamily="34" charset="0"/>
                <a:ea typeface="Liter" pitchFamily="34" charset="-122"/>
                <a:cs typeface="Liter" pitchFamily="34" charset="-120"/>
              </a:rPr>
              <a:t>Safe Deposit Lockers</a:t>
            </a:r>
            <a:endParaRPr lang="en-US" sz="1600" dirty="0"/>
          </a:p>
        </p:txBody>
      </p:sp>
      <p:sp>
        <p:nvSpPr>
          <p:cNvPr id="57" name="Text 55"/>
          <p:cNvSpPr/>
          <p:nvPr/>
        </p:nvSpPr>
        <p:spPr>
          <a:xfrm>
            <a:off x="6738938" y="3454797"/>
            <a:ext cx="1412875"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Secure storage for valuables</a:t>
            </a:r>
            <a:endParaRPr lang="en-US" sz="1600" dirty="0"/>
          </a:p>
        </p:txBody>
      </p:sp>
      <p:sp>
        <p:nvSpPr>
          <p:cNvPr id="58" name="Shape 56"/>
          <p:cNvSpPr/>
          <p:nvPr/>
        </p:nvSpPr>
        <p:spPr>
          <a:xfrm>
            <a:off x="9080500" y="3137297"/>
            <a:ext cx="2635250" cy="571500"/>
          </a:xfrm>
          <a:custGeom>
            <a:avLst/>
            <a:gdLst/>
            <a:ahLst/>
            <a:cxnLst/>
            <a:rect l="l" t="t" r="r" b="b"/>
            <a:pathLst>
              <a:path w="2635250" h="571500">
                <a:moveTo>
                  <a:pt x="63499" y="0"/>
                </a:moveTo>
                <a:lnTo>
                  <a:pt x="2571751" y="0"/>
                </a:lnTo>
                <a:cubicBezTo>
                  <a:pt x="2606820" y="0"/>
                  <a:pt x="2635250" y="28430"/>
                  <a:pt x="2635250" y="63499"/>
                </a:cubicBezTo>
                <a:lnTo>
                  <a:pt x="2635250" y="508001"/>
                </a:lnTo>
                <a:cubicBezTo>
                  <a:pt x="2635250" y="543070"/>
                  <a:pt x="2606820" y="571500"/>
                  <a:pt x="2571751" y="571500"/>
                </a:cubicBezTo>
                <a:lnTo>
                  <a:pt x="63499" y="571500"/>
                </a:lnTo>
                <a:cubicBezTo>
                  <a:pt x="28430" y="571500"/>
                  <a:pt x="0" y="543070"/>
                  <a:pt x="0" y="508001"/>
                </a:cubicBezTo>
                <a:lnTo>
                  <a:pt x="0" y="63499"/>
                </a:lnTo>
                <a:cubicBezTo>
                  <a:pt x="0" y="28453"/>
                  <a:pt x="28453" y="0"/>
                  <a:pt x="63499" y="0"/>
                </a:cubicBezTo>
                <a:close/>
              </a:path>
            </a:pathLst>
          </a:custGeom>
          <a:solidFill>
            <a:srgbClr val="F8F9FA"/>
          </a:solidFill>
          <a:ln/>
        </p:spPr>
      </p:sp>
      <p:sp>
        <p:nvSpPr>
          <p:cNvPr id="59" name="Shape 57"/>
          <p:cNvSpPr/>
          <p:nvPr/>
        </p:nvSpPr>
        <p:spPr>
          <a:xfrm>
            <a:off x="9195594" y="3264297"/>
            <a:ext cx="158750" cy="158750"/>
          </a:xfrm>
          <a:custGeom>
            <a:avLst/>
            <a:gdLst/>
            <a:ahLst/>
            <a:cxnLst/>
            <a:rect l="l" t="t" r="r" b="b"/>
            <a:pathLst>
              <a:path w="158750" h="158750">
                <a:moveTo>
                  <a:pt x="155835" y="46695"/>
                </a:moveTo>
                <a:lnTo>
                  <a:pt x="126070" y="76460"/>
                </a:lnTo>
                <a:cubicBezTo>
                  <a:pt x="123217" y="79313"/>
                  <a:pt x="118969" y="80150"/>
                  <a:pt x="115249" y="78600"/>
                </a:cubicBezTo>
                <a:cubicBezTo>
                  <a:pt x="111528" y="77050"/>
                  <a:pt x="109141" y="73453"/>
                  <a:pt x="109141" y="69453"/>
                </a:cubicBezTo>
                <a:lnTo>
                  <a:pt x="109141" y="49609"/>
                </a:lnTo>
                <a:lnTo>
                  <a:pt x="9922" y="49609"/>
                </a:lnTo>
                <a:cubicBezTo>
                  <a:pt x="4434" y="49609"/>
                  <a:pt x="0" y="45176"/>
                  <a:pt x="0" y="39688"/>
                </a:cubicBezTo>
                <a:cubicBezTo>
                  <a:pt x="0" y="34199"/>
                  <a:pt x="4434" y="29766"/>
                  <a:pt x="9922" y="29766"/>
                </a:cubicBezTo>
                <a:lnTo>
                  <a:pt x="109141" y="29766"/>
                </a:lnTo>
                <a:lnTo>
                  <a:pt x="109141" y="9922"/>
                </a:lnTo>
                <a:cubicBezTo>
                  <a:pt x="109141" y="5922"/>
                  <a:pt x="111559" y="2294"/>
                  <a:pt x="115280" y="744"/>
                </a:cubicBezTo>
                <a:cubicBezTo>
                  <a:pt x="119000" y="-806"/>
                  <a:pt x="123248" y="62"/>
                  <a:pt x="126101" y="2884"/>
                </a:cubicBezTo>
                <a:lnTo>
                  <a:pt x="155866" y="32649"/>
                </a:lnTo>
                <a:cubicBezTo>
                  <a:pt x="159742" y="36525"/>
                  <a:pt x="159742" y="42819"/>
                  <a:pt x="155866" y="46695"/>
                </a:cubicBezTo>
                <a:close/>
                <a:moveTo>
                  <a:pt x="32649" y="155835"/>
                </a:moveTo>
                <a:lnTo>
                  <a:pt x="2884" y="126070"/>
                </a:lnTo>
                <a:cubicBezTo>
                  <a:pt x="-992" y="122194"/>
                  <a:pt x="-992" y="115900"/>
                  <a:pt x="2884" y="112024"/>
                </a:cubicBezTo>
                <a:lnTo>
                  <a:pt x="32649" y="82259"/>
                </a:lnTo>
                <a:cubicBezTo>
                  <a:pt x="35502" y="79406"/>
                  <a:pt x="39750" y="78569"/>
                  <a:pt x="43470" y="80119"/>
                </a:cubicBezTo>
                <a:cubicBezTo>
                  <a:pt x="47191" y="81669"/>
                  <a:pt x="49609" y="85297"/>
                  <a:pt x="49609" y="89297"/>
                </a:cubicBezTo>
                <a:lnTo>
                  <a:pt x="49609" y="109141"/>
                </a:lnTo>
                <a:lnTo>
                  <a:pt x="148828" y="109141"/>
                </a:lnTo>
                <a:cubicBezTo>
                  <a:pt x="154316" y="109141"/>
                  <a:pt x="158750" y="113574"/>
                  <a:pt x="158750" y="119062"/>
                </a:cubicBezTo>
                <a:cubicBezTo>
                  <a:pt x="158750" y="124551"/>
                  <a:pt x="154316" y="128984"/>
                  <a:pt x="148828" y="128984"/>
                </a:cubicBezTo>
                <a:lnTo>
                  <a:pt x="49609" y="128984"/>
                </a:lnTo>
                <a:lnTo>
                  <a:pt x="49609" y="148828"/>
                </a:lnTo>
                <a:cubicBezTo>
                  <a:pt x="49609" y="152828"/>
                  <a:pt x="47191" y="156456"/>
                  <a:pt x="43470" y="158006"/>
                </a:cubicBezTo>
                <a:cubicBezTo>
                  <a:pt x="39750" y="159556"/>
                  <a:pt x="35502" y="158688"/>
                  <a:pt x="32649" y="155866"/>
                </a:cubicBezTo>
                <a:close/>
              </a:path>
            </a:pathLst>
          </a:custGeom>
          <a:solidFill>
            <a:srgbClr val="2A9D8F"/>
          </a:solidFill>
          <a:ln/>
        </p:spPr>
      </p:sp>
      <p:sp>
        <p:nvSpPr>
          <p:cNvPr id="60" name="Text 58"/>
          <p:cNvSpPr/>
          <p:nvPr/>
        </p:nvSpPr>
        <p:spPr>
          <a:xfrm>
            <a:off x="9469438" y="3232547"/>
            <a:ext cx="1484313" cy="190500"/>
          </a:xfrm>
          <a:prstGeom prst="rect">
            <a:avLst/>
          </a:prstGeom>
          <a:noFill/>
          <a:ln/>
        </p:spPr>
        <p:txBody>
          <a:bodyPr wrap="square" lIns="0" tIns="0" rIns="0" bIns="0" rtlCol="0" anchor="ctr"/>
          <a:lstStyle/>
          <a:p>
            <a:pPr>
              <a:lnSpc>
                <a:spcPct val="130000"/>
              </a:lnSpc>
            </a:pPr>
            <a:r>
              <a:rPr lang="en-US" sz="1000" b="1" dirty="0">
                <a:solidFill>
                  <a:srgbClr val="1A3A5C"/>
                </a:solidFill>
                <a:latin typeface="Liter" pitchFamily="34" charset="0"/>
                <a:ea typeface="Liter" pitchFamily="34" charset="-122"/>
                <a:cs typeface="Liter" pitchFamily="34" charset="-120"/>
              </a:rPr>
              <a:t>Foreign Exchange</a:t>
            </a:r>
            <a:endParaRPr lang="en-US" sz="1600" dirty="0"/>
          </a:p>
        </p:txBody>
      </p:sp>
      <p:sp>
        <p:nvSpPr>
          <p:cNvPr id="61" name="Text 59"/>
          <p:cNvSpPr/>
          <p:nvPr/>
        </p:nvSpPr>
        <p:spPr>
          <a:xfrm>
            <a:off x="9469438" y="3454797"/>
            <a:ext cx="1476375"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Currency conversion services</a:t>
            </a:r>
            <a:endParaRPr lang="en-US" sz="1600" dirty="0"/>
          </a:p>
        </p:txBody>
      </p:sp>
      <p:sp>
        <p:nvSpPr>
          <p:cNvPr id="62" name="Shape 60"/>
          <p:cNvSpPr/>
          <p:nvPr/>
        </p:nvSpPr>
        <p:spPr>
          <a:xfrm>
            <a:off x="6350000" y="3804047"/>
            <a:ext cx="2635250" cy="571500"/>
          </a:xfrm>
          <a:custGeom>
            <a:avLst/>
            <a:gdLst/>
            <a:ahLst/>
            <a:cxnLst/>
            <a:rect l="l" t="t" r="r" b="b"/>
            <a:pathLst>
              <a:path w="2635250" h="571500">
                <a:moveTo>
                  <a:pt x="63499" y="0"/>
                </a:moveTo>
                <a:lnTo>
                  <a:pt x="2571751" y="0"/>
                </a:lnTo>
                <a:cubicBezTo>
                  <a:pt x="2606820" y="0"/>
                  <a:pt x="2635250" y="28430"/>
                  <a:pt x="2635250" y="63499"/>
                </a:cubicBezTo>
                <a:lnTo>
                  <a:pt x="2635250" y="508001"/>
                </a:lnTo>
                <a:cubicBezTo>
                  <a:pt x="2635250" y="543070"/>
                  <a:pt x="2606820" y="571500"/>
                  <a:pt x="2571751" y="571500"/>
                </a:cubicBezTo>
                <a:lnTo>
                  <a:pt x="63499" y="571500"/>
                </a:lnTo>
                <a:cubicBezTo>
                  <a:pt x="28430" y="571500"/>
                  <a:pt x="0" y="543070"/>
                  <a:pt x="0" y="508001"/>
                </a:cubicBezTo>
                <a:lnTo>
                  <a:pt x="0" y="63499"/>
                </a:lnTo>
                <a:cubicBezTo>
                  <a:pt x="0" y="28453"/>
                  <a:pt x="28453" y="0"/>
                  <a:pt x="63499" y="0"/>
                </a:cubicBezTo>
                <a:close/>
              </a:path>
            </a:pathLst>
          </a:custGeom>
          <a:solidFill>
            <a:srgbClr val="F8F9FA"/>
          </a:solidFill>
          <a:ln/>
        </p:spPr>
      </p:sp>
      <p:sp>
        <p:nvSpPr>
          <p:cNvPr id="63" name="Shape 61"/>
          <p:cNvSpPr/>
          <p:nvPr/>
        </p:nvSpPr>
        <p:spPr>
          <a:xfrm>
            <a:off x="6445250" y="3931047"/>
            <a:ext cx="198438" cy="158750"/>
          </a:xfrm>
          <a:custGeom>
            <a:avLst/>
            <a:gdLst/>
            <a:ahLst/>
            <a:cxnLst/>
            <a:rect l="l" t="t" r="r" b="b"/>
            <a:pathLst>
              <a:path w="198438" h="158750">
                <a:moveTo>
                  <a:pt x="19875" y="19844"/>
                </a:moveTo>
                <a:cubicBezTo>
                  <a:pt x="19875" y="8899"/>
                  <a:pt x="28773" y="0"/>
                  <a:pt x="39719" y="0"/>
                </a:cubicBezTo>
                <a:lnTo>
                  <a:pt x="86072" y="0"/>
                </a:lnTo>
                <a:cubicBezTo>
                  <a:pt x="91343" y="0"/>
                  <a:pt x="96397" y="2077"/>
                  <a:pt x="100118" y="5798"/>
                </a:cubicBezTo>
                <a:lnTo>
                  <a:pt x="133108" y="38850"/>
                </a:lnTo>
                <a:cubicBezTo>
                  <a:pt x="136829" y="42571"/>
                  <a:pt x="138906" y="47625"/>
                  <a:pt x="138906" y="52896"/>
                </a:cubicBezTo>
                <a:lnTo>
                  <a:pt x="138906" y="83127"/>
                </a:lnTo>
                <a:lnTo>
                  <a:pt x="97979" y="124054"/>
                </a:lnTo>
                <a:lnTo>
                  <a:pt x="84925" y="124054"/>
                </a:lnTo>
                <a:lnTo>
                  <a:pt x="79933" y="107435"/>
                </a:lnTo>
                <a:cubicBezTo>
                  <a:pt x="78476" y="102567"/>
                  <a:pt x="74011" y="99250"/>
                  <a:pt x="68926" y="99250"/>
                </a:cubicBezTo>
                <a:cubicBezTo>
                  <a:pt x="65422" y="99250"/>
                  <a:pt x="62136" y="100831"/>
                  <a:pt x="59965" y="103560"/>
                </a:cubicBezTo>
                <a:lnTo>
                  <a:pt x="41331" y="126814"/>
                </a:lnTo>
                <a:cubicBezTo>
                  <a:pt x="38757" y="130008"/>
                  <a:pt x="39284" y="134720"/>
                  <a:pt x="42478" y="137263"/>
                </a:cubicBezTo>
                <a:cubicBezTo>
                  <a:pt x="45672" y="139805"/>
                  <a:pt x="50385" y="139309"/>
                  <a:pt x="52927" y="136085"/>
                </a:cubicBezTo>
                <a:lnTo>
                  <a:pt x="67531" y="117853"/>
                </a:lnTo>
                <a:lnTo>
                  <a:pt x="72244" y="133573"/>
                </a:lnTo>
                <a:cubicBezTo>
                  <a:pt x="73174" y="136736"/>
                  <a:pt x="76088" y="138875"/>
                  <a:pt x="79375" y="138875"/>
                </a:cubicBezTo>
                <a:lnTo>
                  <a:pt x="89142" y="138875"/>
                </a:lnTo>
                <a:cubicBezTo>
                  <a:pt x="88863" y="139836"/>
                  <a:pt x="88615" y="140829"/>
                  <a:pt x="88429" y="141821"/>
                </a:cubicBezTo>
                <a:lnTo>
                  <a:pt x="85049" y="158719"/>
                </a:lnTo>
                <a:lnTo>
                  <a:pt x="39719" y="158719"/>
                </a:lnTo>
                <a:cubicBezTo>
                  <a:pt x="28773" y="158719"/>
                  <a:pt x="19875" y="149820"/>
                  <a:pt x="19875" y="138875"/>
                </a:cubicBezTo>
                <a:lnTo>
                  <a:pt x="19875" y="19813"/>
                </a:lnTo>
                <a:close/>
                <a:moveTo>
                  <a:pt x="84367" y="18138"/>
                </a:moveTo>
                <a:lnTo>
                  <a:pt x="84367" y="47129"/>
                </a:lnTo>
                <a:cubicBezTo>
                  <a:pt x="84367" y="51253"/>
                  <a:pt x="87685" y="54570"/>
                  <a:pt x="91808" y="54570"/>
                </a:cubicBezTo>
                <a:lnTo>
                  <a:pt x="120799" y="54570"/>
                </a:lnTo>
                <a:lnTo>
                  <a:pt x="84367" y="18138"/>
                </a:lnTo>
                <a:close/>
                <a:moveTo>
                  <a:pt x="103032" y="144766"/>
                </a:moveTo>
                <a:cubicBezTo>
                  <a:pt x="103808" y="140922"/>
                  <a:pt x="105699" y="137387"/>
                  <a:pt x="108458" y="134627"/>
                </a:cubicBezTo>
                <a:lnTo>
                  <a:pt x="145324" y="97761"/>
                </a:lnTo>
                <a:lnTo>
                  <a:pt x="170129" y="122566"/>
                </a:lnTo>
                <a:lnTo>
                  <a:pt x="133263" y="159432"/>
                </a:lnTo>
                <a:cubicBezTo>
                  <a:pt x="130504" y="162192"/>
                  <a:pt x="126969" y="164083"/>
                  <a:pt x="123124" y="164858"/>
                </a:cubicBezTo>
                <a:lnTo>
                  <a:pt x="104645" y="168548"/>
                </a:lnTo>
                <a:cubicBezTo>
                  <a:pt x="104366" y="168610"/>
                  <a:pt x="104056" y="168641"/>
                  <a:pt x="103746" y="168641"/>
                </a:cubicBezTo>
                <a:cubicBezTo>
                  <a:pt x="101265" y="168641"/>
                  <a:pt x="99219" y="166625"/>
                  <a:pt x="99219" y="164114"/>
                </a:cubicBezTo>
                <a:cubicBezTo>
                  <a:pt x="99219" y="163804"/>
                  <a:pt x="99250" y="163525"/>
                  <a:pt x="99312" y="163215"/>
                </a:cubicBezTo>
                <a:lnTo>
                  <a:pt x="103001" y="144735"/>
                </a:lnTo>
                <a:close/>
                <a:moveTo>
                  <a:pt x="186066" y="106629"/>
                </a:moveTo>
                <a:lnTo>
                  <a:pt x="177136" y="115559"/>
                </a:lnTo>
                <a:lnTo>
                  <a:pt x="152332" y="90754"/>
                </a:lnTo>
                <a:lnTo>
                  <a:pt x="161261" y="81824"/>
                </a:lnTo>
                <a:cubicBezTo>
                  <a:pt x="168114" y="74972"/>
                  <a:pt x="179214" y="74972"/>
                  <a:pt x="186066" y="81824"/>
                </a:cubicBezTo>
                <a:cubicBezTo>
                  <a:pt x="192918" y="88677"/>
                  <a:pt x="192918" y="99777"/>
                  <a:pt x="186066" y="106629"/>
                </a:cubicBezTo>
                <a:close/>
              </a:path>
            </a:pathLst>
          </a:custGeom>
          <a:solidFill>
            <a:srgbClr val="2A9D8F"/>
          </a:solidFill>
          <a:ln/>
        </p:spPr>
      </p:sp>
      <p:sp>
        <p:nvSpPr>
          <p:cNvPr id="64" name="Text 62"/>
          <p:cNvSpPr/>
          <p:nvPr/>
        </p:nvSpPr>
        <p:spPr>
          <a:xfrm>
            <a:off x="6738938" y="3899297"/>
            <a:ext cx="1325563" cy="190500"/>
          </a:xfrm>
          <a:prstGeom prst="rect">
            <a:avLst/>
          </a:prstGeom>
          <a:noFill/>
          <a:ln/>
        </p:spPr>
        <p:txBody>
          <a:bodyPr wrap="square" lIns="0" tIns="0" rIns="0" bIns="0" rtlCol="0" anchor="ctr"/>
          <a:lstStyle/>
          <a:p>
            <a:pPr>
              <a:lnSpc>
                <a:spcPct val="130000"/>
              </a:lnSpc>
            </a:pPr>
            <a:r>
              <a:rPr lang="en-US" sz="1000" b="1" dirty="0">
                <a:solidFill>
                  <a:srgbClr val="1A3A5C"/>
                </a:solidFill>
                <a:latin typeface="Liter" pitchFamily="34" charset="0"/>
                <a:ea typeface="Liter" pitchFamily="34" charset="-122"/>
                <a:cs typeface="Liter" pitchFamily="34" charset="-120"/>
              </a:rPr>
              <a:t>Bill Discounting</a:t>
            </a:r>
            <a:endParaRPr lang="en-US" sz="1600" dirty="0"/>
          </a:p>
        </p:txBody>
      </p:sp>
      <p:sp>
        <p:nvSpPr>
          <p:cNvPr id="65" name="Text 63"/>
          <p:cNvSpPr/>
          <p:nvPr/>
        </p:nvSpPr>
        <p:spPr>
          <a:xfrm>
            <a:off x="6738938" y="4121547"/>
            <a:ext cx="1317625"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Early payment on invoices</a:t>
            </a:r>
            <a:endParaRPr lang="en-US" sz="1600" dirty="0"/>
          </a:p>
        </p:txBody>
      </p:sp>
      <p:sp>
        <p:nvSpPr>
          <p:cNvPr id="66" name="Shape 64"/>
          <p:cNvSpPr/>
          <p:nvPr/>
        </p:nvSpPr>
        <p:spPr>
          <a:xfrm>
            <a:off x="9080500" y="3804047"/>
            <a:ext cx="2635250" cy="571500"/>
          </a:xfrm>
          <a:custGeom>
            <a:avLst/>
            <a:gdLst/>
            <a:ahLst/>
            <a:cxnLst/>
            <a:rect l="l" t="t" r="r" b="b"/>
            <a:pathLst>
              <a:path w="2635250" h="571500">
                <a:moveTo>
                  <a:pt x="63499" y="0"/>
                </a:moveTo>
                <a:lnTo>
                  <a:pt x="2571751" y="0"/>
                </a:lnTo>
                <a:cubicBezTo>
                  <a:pt x="2606820" y="0"/>
                  <a:pt x="2635250" y="28430"/>
                  <a:pt x="2635250" y="63499"/>
                </a:cubicBezTo>
                <a:lnTo>
                  <a:pt x="2635250" y="508001"/>
                </a:lnTo>
                <a:cubicBezTo>
                  <a:pt x="2635250" y="543070"/>
                  <a:pt x="2606820" y="571500"/>
                  <a:pt x="2571751" y="571500"/>
                </a:cubicBezTo>
                <a:lnTo>
                  <a:pt x="63499" y="571500"/>
                </a:lnTo>
                <a:cubicBezTo>
                  <a:pt x="28430" y="571500"/>
                  <a:pt x="0" y="543070"/>
                  <a:pt x="0" y="508001"/>
                </a:cubicBezTo>
                <a:lnTo>
                  <a:pt x="0" y="63499"/>
                </a:lnTo>
                <a:cubicBezTo>
                  <a:pt x="0" y="28453"/>
                  <a:pt x="28453" y="0"/>
                  <a:pt x="63499" y="0"/>
                </a:cubicBezTo>
                <a:close/>
              </a:path>
            </a:pathLst>
          </a:custGeom>
          <a:solidFill>
            <a:srgbClr val="F8F9FA"/>
          </a:solidFill>
          <a:ln/>
        </p:spPr>
      </p:sp>
      <p:sp>
        <p:nvSpPr>
          <p:cNvPr id="67" name="Shape 65"/>
          <p:cNvSpPr/>
          <p:nvPr/>
        </p:nvSpPr>
        <p:spPr>
          <a:xfrm>
            <a:off x="9215438" y="3931047"/>
            <a:ext cx="119063" cy="158750"/>
          </a:xfrm>
          <a:custGeom>
            <a:avLst/>
            <a:gdLst/>
            <a:ahLst/>
            <a:cxnLst/>
            <a:rect l="l" t="t" r="r" b="b"/>
            <a:pathLst>
              <a:path w="119063" h="158750">
                <a:moveTo>
                  <a:pt x="0" y="19844"/>
                </a:moveTo>
                <a:cubicBezTo>
                  <a:pt x="0" y="8899"/>
                  <a:pt x="8899" y="0"/>
                  <a:pt x="19844" y="0"/>
                </a:cubicBezTo>
                <a:lnTo>
                  <a:pt x="66198" y="0"/>
                </a:lnTo>
                <a:cubicBezTo>
                  <a:pt x="71469" y="0"/>
                  <a:pt x="76522" y="2077"/>
                  <a:pt x="80243" y="5798"/>
                </a:cubicBezTo>
                <a:lnTo>
                  <a:pt x="113264" y="38850"/>
                </a:lnTo>
                <a:cubicBezTo>
                  <a:pt x="116985" y="42571"/>
                  <a:pt x="119062" y="47625"/>
                  <a:pt x="119062" y="52896"/>
                </a:cubicBezTo>
                <a:lnTo>
                  <a:pt x="119062" y="138906"/>
                </a:lnTo>
                <a:cubicBezTo>
                  <a:pt x="119062" y="149851"/>
                  <a:pt x="110164" y="158750"/>
                  <a:pt x="99219" y="158750"/>
                </a:cubicBezTo>
                <a:lnTo>
                  <a:pt x="19844" y="158750"/>
                </a:lnTo>
                <a:cubicBezTo>
                  <a:pt x="8899" y="158750"/>
                  <a:pt x="0" y="149851"/>
                  <a:pt x="0" y="138906"/>
                </a:cubicBezTo>
                <a:lnTo>
                  <a:pt x="0" y="19844"/>
                </a:lnTo>
                <a:close/>
                <a:moveTo>
                  <a:pt x="64492" y="18138"/>
                </a:moveTo>
                <a:lnTo>
                  <a:pt x="64492" y="47129"/>
                </a:lnTo>
                <a:cubicBezTo>
                  <a:pt x="64492" y="51253"/>
                  <a:pt x="67810" y="54570"/>
                  <a:pt x="71934" y="54570"/>
                </a:cubicBezTo>
                <a:lnTo>
                  <a:pt x="100924" y="54570"/>
                </a:lnTo>
                <a:lnTo>
                  <a:pt x="64492" y="18138"/>
                </a:lnTo>
                <a:close/>
                <a:moveTo>
                  <a:pt x="27285" y="19844"/>
                </a:moveTo>
                <a:cubicBezTo>
                  <a:pt x="23161" y="19844"/>
                  <a:pt x="19844" y="23161"/>
                  <a:pt x="19844" y="27285"/>
                </a:cubicBezTo>
                <a:cubicBezTo>
                  <a:pt x="19844" y="31409"/>
                  <a:pt x="23161" y="34727"/>
                  <a:pt x="27285" y="34727"/>
                </a:cubicBezTo>
                <a:lnTo>
                  <a:pt x="42168" y="34727"/>
                </a:lnTo>
                <a:cubicBezTo>
                  <a:pt x="46292" y="34727"/>
                  <a:pt x="49609" y="31409"/>
                  <a:pt x="49609" y="27285"/>
                </a:cubicBezTo>
                <a:cubicBezTo>
                  <a:pt x="49609" y="23161"/>
                  <a:pt x="46292" y="19844"/>
                  <a:pt x="42168" y="19844"/>
                </a:cubicBezTo>
                <a:lnTo>
                  <a:pt x="27285" y="19844"/>
                </a:lnTo>
                <a:close/>
                <a:moveTo>
                  <a:pt x="27285" y="49609"/>
                </a:moveTo>
                <a:cubicBezTo>
                  <a:pt x="23161" y="49609"/>
                  <a:pt x="19844" y="52927"/>
                  <a:pt x="19844" y="57051"/>
                </a:cubicBezTo>
                <a:cubicBezTo>
                  <a:pt x="19844" y="61175"/>
                  <a:pt x="23161" y="64492"/>
                  <a:pt x="27285" y="64492"/>
                </a:cubicBezTo>
                <a:lnTo>
                  <a:pt x="42168" y="64492"/>
                </a:lnTo>
                <a:cubicBezTo>
                  <a:pt x="46292" y="64492"/>
                  <a:pt x="49609" y="61175"/>
                  <a:pt x="49609" y="57051"/>
                </a:cubicBezTo>
                <a:cubicBezTo>
                  <a:pt x="49609" y="52927"/>
                  <a:pt x="46292" y="49609"/>
                  <a:pt x="42168" y="49609"/>
                </a:cubicBezTo>
                <a:lnTo>
                  <a:pt x="27285" y="49609"/>
                </a:lnTo>
                <a:close/>
                <a:moveTo>
                  <a:pt x="49082" y="99219"/>
                </a:moveTo>
                <a:cubicBezTo>
                  <a:pt x="45579" y="99219"/>
                  <a:pt x="42292" y="100800"/>
                  <a:pt x="40122" y="103529"/>
                </a:cubicBezTo>
                <a:lnTo>
                  <a:pt x="21487" y="126814"/>
                </a:lnTo>
                <a:cubicBezTo>
                  <a:pt x="18914" y="130008"/>
                  <a:pt x="19441" y="134720"/>
                  <a:pt x="22634" y="137263"/>
                </a:cubicBezTo>
                <a:cubicBezTo>
                  <a:pt x="25828" y="139805"/>
                  <a:pt x="30541" y="139309"/>
                  <a:pt x="33083" y="136085"/>
                </a:cubicBezTo>
                <a:lnTo>
                  <a:pt x="47687" y="117853"/>
                </a:lnTo>
                <a:lnTo>
                  <a:pt x="52400" y="133573"/>
                </a:lnTo>
                <a:cubicBezTo>
                  <a:pt x="53330" y="136736"/>
                  <a:pt x="56245" y="138875"/>
                  <a:pt x="59531" y="138875"/>
                </a:cubicBezTo>
                <a:lnTo>
                  <a:pt x="91777" y="138875"/>
                </a:lnTo>
                <a:cubicBezTo>
                  <a:pt x="95901" y="138875"/>
                  <a:pt x="99219" y="135558"/>
                  <a:pt x="99219" y="131434"/>
                </a:cubicBezTo>
                <a:cubicBezTo>
                  <a:pt x="99219" y="127310"/>
                  <a:pt x="95901" y="123992"/>
                  <a:pt x="91777" y="123992"/>
                </a:cubicBezTo>
                <a:lnTo>
                  <a:pt x="65081" y="123992"/>
                </a:lnTo>
                <a:lnTo>
                  <a:pt x="60089" y="107373"/>
                </a:lnTo>
                <a:cubicBezTo>
                  <a:pt x="58632" y="102505"/>
                  <a:pt x="54167" y="99188"/>
                  <a:pt x="49082" y="99188"/>
                </a:cubicBezTo>
                <a:close/>
              </a:path>
            </a:pathLst>
          </a:custGeom>
          <a:solidFill>
            <a:srgbClr val="2A9D8F"/>
          </a:solidFill>
          <a:ln/>
        </p:spPr>
      </p:sp>
      <p:sp>
        <p:nvSpPr>
          <p:cNvPr id="68" name="Text 66"/>
          <p:cNvSpPr/>
          <p:nvPr/>
        </p:nvSpPr>
        <p:spPr>
          <a:xfrm>
            <a:off x="9469438" y="3899297"/>
            <a:ext cx="1627188" cy="190500"/>
          </a:xfrm>
          <a:prstGeom prst="rect">
            <a:avLst/>
          </a:prstGeom>
          <a:noFill/>
          <a:ln/>
        </p:spPr>
        <p:txBody>
          <a:bodyPr wrap="square" lIns="0" tIns="0" rIns="0" bIns="0" rtlCol="0" anchor="ctr"/>
          <a:lstStyle/>
          <a:p>
            <a:pPr>
              <a:lnSpc>
                <a:spcPct val="130000"/>
              </a:lnSpc>
            </a:pPr>
            <a:r>
              <a:rPr lang="en-US" sz="1000" b="1" dirty="0">
                <a:solidFill>
                  <a:srgbClr val="1A3A5C"/>
                </a:solidFill>
                <a:latin typeface="Liter" pitchFamily="34" charset="0"/>
                <a:ea typeface="Liter" pitchFamily="34" charset="-122"/>
                <a:cs typeface="Liter" pitchFamily="34" charset="-120"/>
              </a:rPr>
              <a:t>Letter of Credit</a:t>
            </a:r>
            <a:endParaRPr lang="en-US" sz="1600" dirty="0"/>
          </a:p>
        </p:txBody>
      </p:sp>
      <p:sp>
        <p:nvSpPr>
          <p:cNvPr id="69" name="Text 67"/>
          <p:cNvSpPr/>
          <p:nvPr/>
        </p:nvSpPr>
        <p:spPr>
          <a:xfrm>
            <a:off x="9469438" y="4121547"/>
            <a:ext cx="1619250"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Guarantee for international trade</a:t>
            </a:r>
            <a:endParaRPr lang="en-US" sz="1600" dirty="0"/>
          </a:p>
        </p:txBody>
      </p:sp>
      <p:sp>
        <p:nvSpPr>
          <p:cNvPr id="70" name="Shape 68"/>
          <p:cNvSpPr/>
          <p:nvPr/>
        </p:nvSpPr>
        <p:spPr>
          <a:xfrm>
            <a:off x="6350000" y="4470797"/>
            <a:ext cx="2635250" cy="571500"/>
          </a:xfrm>
          <a:custGeom>
            <a:avLst/>
            <a:gdLst/>
            <a:ahLst/>
            <a:cxnLst/>
            <a:rect l="l" t="t" r="r" b="b"/>
            <a:pathLst>
              <a:path w="2635250" h="571500">
                <a:moveTo>
                  <a:pt x="63499" y="0"/>
                </a:moveTo>
                <a:lnTo>
                  <a:pt x="2571751" y="0"/>
                </a:lnTo>
                <a:cubicBezTo>
                  <a:pt x="2606820" y="0"/>
                  <a:pt x="2635250" y="28430"/>
                  <a:pt x="2635250" y="63499"/>
                </a:cubicBezTo>
                <a:lnTo>
                  <a:pt x="2635250" y="508001"/>
                </a:lnTo>
                <a:cubicBezTo>
                  <a:pt x="2635250" y="543070"/>
                  <a:pt x="2606820" y="571500"/>
                  <a:pt x="2571751" y="571500"/>
                </a:cubicBezTo>
                <a:lnTo>
                  <a:pt x="63499" y="571500"/>
                </a:lnTo>
                <a:cubicBezTo>
                  <a:pt x="28430" y="571500"/>
                  <a:pt x="0" y="543070"/>
                  <a:pt x="0" y="508001"/>
                </a:cubicBezTo>
                <a:lnTo>
                  <a:pt x="0" y="63499"/>
                </a:lnTo>
                <a:cubicBezTo>
                  <a:pt x="0" y="28453"/>
                  <a:pt x="28453" y="0"/>
                  <a:pt x="63499" y="0"/>
                </a:cubicBezTo>
                <a:close/>
              </a:path>
            </a:pathLst>
          </a:custGeom>
          <a:solidFill>
            <a:srgbClr val="F8F9FA"/>
          </a:solidFill>
          <a:ln/>
        </p:spPr>
      </p:sp>
      <p:sp>
        <p:nvSpPr>
          <p:cNvPr id="71" name="Shape 69"/>
          <p:cNvSpPr/>
          <p:nvPr/>
        </p:nvSpPr>
        <p:spPr>
          <a:xfrm>
            <a:off x="6455172" y="4597797"/>
            <a:ext cx="178594" cy="158750"/>
          </a:xfrm>
          <a:custGeom>
            <a:avLst/>
            <a:gdLst/>
            <a:ahLst/>
            <a:cxnLst/>
            <a:rect l="l" t="t" r="r" b="b"/>
            <a:pathLst>
              <a:path w="178594" h="158750">
                <a:moveTo>
                  <a:pt x="158874" y="74414"/>
                </a:moveTo>
                <a:lnTo>
                  <a:pt x="104304" y="74414"/>
                </a:lnTo>
                <a:cubicBezTo>
                  <a:pt x="98816" y="74414"/>
                  <a:pt x="94382" y="69980"/>
                  <a:pt x="94382" y="64492"/>
                </a:cubicBezTo>
                <a:lnTo>
                  <a:pt x="94382" y="9922"/>
                </a:lnTo>
                <a:cubicBezTo>
                  <a:pt x="94382" y="4434"/>
                  <a:pt x="98847" y="-62"/>
                  <a:pt x="104273" y="651"/>
                </a:cubicBezTo>
                <a:cubicBezTo>
                  <a:pt x="137449" y="5054"/>
                  <a:pt x="163742" y="31347"/>
                  <a:pt x="168145" y="64523"/>
                </a:cubicBezTo>
                <a:cubicBezTo>
                  <a:pt x="168858" y="69949"/>
                  <a:pt x="164362" y="74414"/>
                  <a:pt x="158874" y="74414"/>
                </a:cubicBezTo>
                <a:close/>
                <a:moveTo>
                  <a:pt x="69019" y="11534"/>
                </a:moveTo>
                <a:cubicBezTo>
                  <a:pt x="74631" y="10356"/>
                  <a:pt x="79499" y="14945"/>
                  <a:pt x="79499" y="20681"/>
                </a:cubicBezTo>
                <a:lnTo>
                  <a:pt x="79499" y="81855"/>
                </a:lnTo>
                <a:cubicBezTo>
                  <a:pt x="79499" y="83592"/>
                  <a:pt x="80119" y="85266"/>
                  <a:pt x="81204" y="86599"/>
                </a:cubicBezTo>
                <a:lnTo>
                  <a:pt x="122163" y="136023"/>
                </a:lnTo>
                <a:cubicBezTo>
                  <a:pt x="125791" y="140395"/>
                  <a:pt x="125016" y="146999"/>
                  <a:pt x="120024" y="149696"/>
                </a:cubicBezTo>
                <a:cubicBezTo>
                  <a:pt x="109451" y="155463"/>
                  <a:pt x="97327" y="158750"/>
                  <a:pt x="84460" y="158750"/>
                </a:cubicBezTo>
                <a:cubicBezTo>
                  <a:pt x="43377" y="158750"/>
                  <a:pt x="10046" y="125419"/>
                  <a:pt x="10046" y="84336"/>
                </a:cubicBezTo>
                <a:cubicBezTo>
                  <a:pt x="10046" y="48524"/>
                  <a:pt x="35316" y="18635"/>
                  <a:pt x="69019" y="11534"/>
                </a:cubicBezTo>
                <a:close/>
                <a:moveTo>
                  <a:pt x="148146" y="89297"/>
                </a:moveTo>
                <a:lnTo>
                  <a:pt x="167990" y="89297"/>
                </a:lnTo>
                <a:cubicBezTo>
                  <a:pt x="173726" y="89297"/>
                  <a:pt x="178315" y="94165"/>
                  <a:pt x="177136" y="99777"/>
                </a:cubicBezTo>
                <a:cubicBezTo>
                  <a:pt x="173974" y="114784"/>
                  <a:pt x="166284" y="128116"/>
                  <a:pt x="155556" y="138286"/>
                </a:cubicBezTo>
                <a:cubicBezTo>
                  <a:pt x="151743" y="141914"/>
                  <a:pt x="145759" y="141139"/>
                  <a:pt x="142410" y="137077"/>
                </a:cubicBezTo>
                <a:lnTo>
                  <a:pt x="116241" y="105544"/>
                </a:lnTo>
                <a:cubicBezTo>
                  <a:pt x="110877" y="99064"/>
                  <a:pt x="115497" y="89297"/>
                  <a:pt x="123868" y="89297"/>
                </a:cubicBezTo>
                <a:lnTo>
                  <a:pt x="148115" y="89297"/>
                </a:lnTo>
                <a:close/>
              </a:path>
            </a:pathLst>
          </a:custGeom>
          <a:solidFill>
            <a:srgbClr val="2A9D8F"/>
          </a:solidFill>
          <a:ln/>
        </p:spPr>
      </p:sp>
      <p:sp>
        <p:nvSpPr>
          <p:cNvPr id="72" name="Text 70"/>
          <p:cNvSpPr/>
          <p:nvPr/>
        </p:nvSpPr>
        <p:spPr>
          <a:xfrm>
            <a:off x="6738938" y="4566047"/>
            <a:ext cx="1373188" cy="190500"/>
          </a:xfrm>
          <a:prstGeom prst="rect">
            <a:avLst/>
          </a:prstGeom>
          <a:noFill/>
          <a:ln/>
        </p:spPr>
        <p:txBody>
          <a:bodyPr wrap="square" lIns="0" tIns="0" rIns="0" bIns="0" rtlCol="0" anchor="ctr"/>
          <a:lstStyle/>
          <a:p>
            <a:pPr>
              <a:lnSpc>
                <a:spcPct val="130000"/>
              </a:lnSpc>
            </a:pPr>
            <a:r>
              <a:rPr lang="en-US" sz="1000" b="1" dirty="0">
                <a:solidFill>
                  <a:srgbClr val="1A3A5C"/>
                </a:solidFill>
                <a:latin typeface="Liter" pitchFamily="34" charset="0"/>
                <a:ea typeface="Liter" pitchFamily="34" charset="-122"/>
                <a:cs typeface="Liter" pitchFamily="34" charset="-120"/>
              </a:rPr>
              <a:t>Underwriting</a:t>
            </a:r>
            <a:endParaRPr lang="en-US" sz="1600" dirty="0"/>
          </a:p>
        </p:txBody>
      </p:sp>
      <p:sp>
        <p:nvSpPr>
          <p:cNvPr id="73" name="Text 71"/>
          <p:cNvSpPr/>
          <p:nvPr/>
        </p:nvSpPr>
        <p:spPr>
          <a:xfrm>
            <a:off x="6738938" y="4788297"/>
            <a:ext cx="1365250"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Securities issuance support</a:t>
            </a:r>
            <a:endParaRPr lang="en-US" sz="1600" dirty="0"/>
          </a:p>
        </p:txBody>
      </p:sp>
      <p:sp>
        <p:nvSpPr>
          <p:cNvPr id="74" name="Shape 72"/>
          <p:cNvSpPr/>
          <p:nvPr/>
        </p:nvSpPr>
        <p:spPr>
          <a:xfrm>
            <a:off x="9080500" y="4470797"/>
            <a:ext cx="2635250" cy="571500"/>
          </a:xfrm>
          <a:custGeom>
            <a:avLst/>
            <a:gdLst/>
            <a:ahLst/>
            <a:cxnLst/>
            <a:rect l="l" t="t" r="r" b="b"/>
            <a:pathLst>
              <a:path w="2635250" h="571500">
                <a:moveTo>
                  <a:pt x="63499" y="0"/>
                </a:moveTo>
                <a:lnTo>
                  <a:pt x="2571751" y="0"/>
                </a:lnTo>
                <a:cubicBezTo>
                  <a:pt x="2606820" y="0"/>
                  <a:pt x="2635250" y="28430"/>
                  <a:pt x="2635250" y="63499"/>
                </a:cubicBezTo>
                <a:lnTo>
                  <a:pt x="2635250" y="508001"/>
                </a:lnTo>
                <a:cubicBezTo>
                  <a:pt x="2635250" y="543070"/>
                  <a:pt x="2606820" y="571500"/>
                  <a:pt x="2571751" y="571500"/>
                </a:cubicBezTo>
                <a:lnTo>
                  <a:pt x="63499" y="571500"/>
                </a:lnTo>
                <a:cubicBezTo>
                  <a:pt x="28430" y="571500"/>
                  <a:pt x="0" y="543070"/>
                  <a:pt x="0" y="508001"/>
                </a:cubicBezTo>
                <a:lnTo>
                  <a:pt x="0" y="63499"/>
                </a:lnTo>
                <a:cubicBezTo>
                  <a:pt x="0" y="28453"/>
                  <a:pt x="28453" y="0"/>
                  <a:pt x="63499" y="0"/>
                </a:cubicBezTo>
                <a:close/>
              </a:path>
            </a:pathLst>
          </a:custGeom>
          <a:solidFill>
            <a:srgbClr val="F8F9FA"/>
          </a:solidFill>
          <a:ln/>
        </p:spPr>
      </p:sp>
      <p:sp>
        <p:nvSpPr>
          <p:cNvPr id="75" name="Shape 73"/>
          <p:cNvSpPr/>
          <p:nvPr/>
        </p:nvSpPr>
        <p:spPr>
          <a:xfrm>
            <a:off x="9195594" y="4597797"/>
            <a:ext cx="158750" cy="158750"/>
          </a:xfrm>
          <a:custGeom>
            <a:avLst/>
            <a:gdLst/>
            <a:ahLst/>
            <a:cxnLst/>
            <a:rect l="l" t="t" r="r" b="b"/>
            <a:pathLst>
              <a:path w="158750" h="158750">
                <a:moveTo>
                  <a:pt x="9922" y="9922"/>
                </a:moveTo>
                <a:cubicBezTo>
                  <a:pt x="15410" y="9922"/>
                  <a:pt x="19844" y="14356"/>
                  <a:pt x="19844" y="19844"/>
                </a:cubicBezTo>
                <a:lnTo>
                  <a:pt x="19844" y="124023"/>
                </a:lnTo>
                <a:cubicBezTo>
                  <a:pt x="19844" y="126752"/>
                  <a:pt x="22076" y="128984"/>
                  <a:pt x="24805" y="128984"/>
                </a:cubicBezTo>
                <a:lnTo>
                  <a:pt x="148828" y="128984"/>
                </a:lnTo>
                <a:cubicBezTo>
                  <a:pt x="154316" y="128984"/>
                  <a:pt x="158750" y="133418"/>
                  <a:pt x="158750" y="138906"/>
                </a:cubicBezTo>
                <a:cubicBezTo>
                  <a:pt x="158750" y="144394"/>
                  <a:pt x="154316" y="148828"/>
                  <a:pt x="148828" y="148828"/>
                </a:cubicBezTo>
                <a:lnTo>
                  <a:pt x="24805" y="148828"/>
                </a:lnTo>
                <a:cubicBezTo>
                  <a:pt x="11100" y="148828"/>
                  <a:pt x="0" y="137728"/>
                  <a:pt x="0" y="124023"/>
                </a:cubicBezTo>
                <a:lnTo>
                  <a:pt x="0" y="19844"/>
                </a:lnTo>
                <a:cubicBezTo>
                  <a:pt x="0" y="14356"/>
                  <a:pt x="4434" y="9922"/>
                  <a:pt x="9922" y="9922"/>
                </a:cubicBezTo>
                <a:close/>
                <a:moveTo>
                  <a:pt x="39688" y="29766"/>
                </a:moveTo>
                <a:cubicBezTo>
                  <a:pt x="39688" y="24278"/>
                  <a:pt x="44121" y="19844"/>
                  <a:pt x="49609" y="19844"/>
                </a:cubicBezTo>
                <a:lnTo>
                  <a:pt x="109141" y="19844"/>
                </a:lnTo>
                <a:cubicBezTo>
                  <a:pt x="114629" y="19844"/>
                  <a:pt x="119062" y="24278"/>
                  <a:pt x="119062" y="29766"/>
                </a:cubicBezTo>
                <a:cubicBezTo>
                  <a:pt x="119062" y="35254"/>
                  <a:pt x="114629" y="39688"/>
                  <a:pt x="109141" y="39688"/>
                </a:cubicBezTo>
                <a:lnTo>
                  <a:pt x="49609" y="39688"/>
                </a:lnTo>
                <a:cubicBezTo>
                  <a:pt x="44121" y="39688"/>
                  <a:pt x="39688" y="35254"/>
                  <a:pt x="39688" y="29766"/>
                </a:cubicBezTo>
                <a:close/>
                <a:moveTo>
                  <a:pt x="49609" y="54570"/>
                </a:moveTo>
                <a:lnTo>
                  <a:pt x="89297" y="54570"/>
                </a:lnTo>
                <a:cubicBezTo>
                  <a:pt x="94785" y="54570"/>
                  <a:pt x="99219" y="59004"/>
                  <a:pt x="99219" y="64492"/>
                </a:cubicBezTo>
                <a:cubicBezTo>
                  <a:pt x="99219" y="69980"/>
                  <a:pt x="94785" y="74414"/>
                  <a:pt x="89297" y="74414"/>
                </a:cubicBezTo>
                <a:lnTo>
                  <a:pt x="49609" y="74414"/>
                </a:lnTo>
                <a:cubicBezTo>
                  <a:pt x="44121" y="74414"/>
                  <a:pt x="39688" y="69980"/>
                  <a:pt x="39688" y="64492"/>
                </a:cubicBezTo>
                <a:cubicBezTo>
                  <a:pt x="39688" y="59004"/>
                  <a:pt x="44121" y="54570"/>
                  <a:pt x="49609" y="54570"/>
                </a:cubicBezTo>
                <a:close/>
                <a:moveTo>
                  <a:pt x="49609" y="89297"/>
                </a:moveTo>
                <a:lnTo>
                  <a:pt x="128984" y="89297"/>
                </a:lnTo>
                <a:cubicBezTo>
                  <a:pt x="134472" y="89297"/>
                  <a:pt x="138906" y="93731"/>
                  <a:pt x="138906" y="99219"/>
                </a:cubicBezTo>
                <a:cubicBezTo>
                  <a:pt x="138906" y="104707"/>
                  <a:pt x="134472" y="109141"/>
                  <a:pt x="128984" y="109141"/>
                </a:cubicBezTo>
                <a:lnTo>
                  <a:pt x="49609" y="109141"/>
                </a:lnTo>
                <a:cubicBezTo>
                  <a:pt x="44121" y="109141"/>
                  <a:pt x="39688" y="104707"/>
                  <a:pt x="39688" y="99219"/>
                </a:cubicBezTo>
                <a:cubicBezTo>
                  <a:pt x="39688" y="93731"/>
                  <a:pt x="44121" y="89297"/>
                  <a:pt x="49609" y="89297"/>
                </a:cubicBezTo>
                <a:close/>
              </a:path>
            </a:pathLst>
          </a:custGeom>
          <a:solidFill>
            <a:srgbClr val="2A9D8F"/>
          </a:solidFill>
          <a:ln/>
        </p:spPr>
      </p:sp>
      <p:sp>
        <p:nvSpPr>
          <p:cNvPr id="76" name="Text 74"/>
          <p:cNvSpPr/>
          <p:nvPr/>
        </p:nvSpPr>
        <p:spPr>
          <a:xfrm>
            <a:off x="9469438" y="4566047"/>
            <a:ext cx="1397000" cy="190500"/>
          </a:xfrm>
          <a:prstGeom prst="rect">
            <a:avLst/>
          </a:prstGeom>
          <a:noFill/>
          <a:ln/>
        </p:spPr>
        <p:txBody>
          <a:bodyPr wrap="square" lIns="0" tIns="0" rIns="0" bIns="0" rtlCol="0" anchor="ctr"/>
          <a:lstStyle/>
          <a:p>
            <a:pPr>
              <a:lnSpc>
                <a:spcPct val="130000"/>
              </a:lnSpc>
            </a:pPr>
            <a:r>
              <a:rPr lang="en-US" sz="1000" b="1" dirty="0">
                <a:solidFill>
                  <a:srgbClr val="1A3A5C"/>
                </a:solidFill>
                <a:latin typeface="Liter" pitchFamily="34" charset="0"/>
                <a:ea typeface="Liter" pitchFamily="34" charset="-122"/>
                <a:cs typeface="Liter" pitchFamily="34" charset="-120"/>
              </a:rPr>
              <a:t>Financial Advice</a:t>
            </a:r>
            <a:endParaRPr lang="en-US" sz="1600" dirty="0"/>
          </a:p>
        </p:txBody>
      </p:sp>
      <p:sp>
        <p:nvSpPr>
          <p:cNvPr id="77" name="Text 75"/>
          <p:cNvSpPr/>
          <p:nvPr/>
        </p:nvSpPr>
        <p:spPr>
          <a:xfrm>
            <a:off x="9469438" y="4788297"/>
            <a:ext cx="138906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Investment &amp; tax consulting</a:t>
            </a:r>
            <a:endParaRPr lang="en-US" sz="1600" dirty="0"/>
          </a:p>
        </p:txBody>
      </p:sp>
      <p:sp>
        <p:nvSpPr>
          <p:cNvPr id="78" name="Shape 76"/>
          <p:cNvSpPr/>
          <p:nvPr/>
        </p:nvSpPr>
        <p:spPr>
          <a:xfrm>
            <a:off x="6199188" y="6139656"/>
            <a:ext cx="5667375" cy="1095375"/>
          </a:xfrm>
          <a:custGeom>
            <a:avLst/>
            <a:gdLst/>
            <a:ahLst/>
            <a:cxnLst/>
            <a:rect l="l" t="t" r="r" b="b"/>
            <a:pathLst>
              <a:path w="5667375" h="1095375">
                <a:moveTo>
                  <a:pt x="95254" y="0"/>
                </a:moveTo>
                <a:lnTo>
                  <a:pt x="5572121" y="0"/>
                </a:lnTo>
                <a:cubicBezTo>
                  <a:pt x="5624728" y="0"/>
                  <a:pt x="5667375" y="42647"/>
                  <a:pt x="5667375" y="95254"/>
                </a:cubicBezTo>
                <a:lnTo>
                  <a:pt x="5667375" y="1000121"/>
                </a:lnTo>
                <a:cubicBezTo>
                  <a:pt x="5667375" y="1052728"/>
                  <a:pt x="5624728" y="1095375"/>
                  <a:pt x="5572121" y="1095375"/>
                </a:cubicBezTo>
                <a:lnTo>
                  <a:pt x="95254" y="1095375"/>
                </a:lnTo>
                <a:cubicBezTo>
                  <a:pt x="42647" y="1095375"/>
                  <a:pt x="0" y="1052728"/>
                  <a:pt x="0" y="1000121"/>
                </a:cubicBezTo>
                <a:lnTo>
                  <a:pt x="0" y="95254"/>
                </a:lnTo>
                <a:cubicBezTo>
                  <a:pt x="0" y="42682"/>
                  <a:pt x="42682" y="0"/>
                  <a:pt x="95254" y="0"/>
                </a:cubicBezTo>
                <a:close/>
              </a:path>
            </a:pathLst>
          </a:custGeom>
          <a:solidFill>
            <a:srgbClr val="2A9D8F">
              <a:alpha val="10196"/>
            </a:srgbClr>
          </a:solidFill>
          <a:ln w="25400">
            <a:solidFill>
              <a:srgbClr val="2A9D8F">
                <a:alpha val="30196"/>
              </a:srgbClr>
            </a:solidFill>
            <a:prstDash val="solid"/>
          </a:ln>
        </p:spPr>
      </p:sp>
      <p:sp>
        <p:nvSpPr>
          <p:cNvPr id="79" name="Shape 77"/>
          <p:cNvSpPr/>
          <p:nvPr/>
        </p:nvSpPr>
        <p:spPr>
          <a:xfrm>
            <a:off x="6397625" y="6314281"/>
            <a:ext cx="238125" cy="238125"/>
          </a:xfrm>
          <a:custGeom>
            <a:avLst/>
            <a:gdLst/>
            <a:ahLst/>
            <a:cxnLst/>
            <a:rect l="l" t="t" r="r" b="b"/>
            <a:pathLst>
              <a:path w="238125" h="238125">
                <a:moveTo>
                  <a:pt x="185338" y="5674"/>
                </a:moveTo>
                <a:lnTo>
                  <a:pt x="144317" y="46695"/>
                </a:lnTo>
                <a:lnTo>
                  <a:pt x="191430" y="93808"/>
                </a:lnTo>
                <a:lnTo>
                  <a:pt x="232451" y="52787"/>
                </a:lnTo>
                <a:cubicBezTo>
                  <a:pt x="236079" y="49113"/>
                  <a:pt x="238125" y="44183"/>
                  <a:pt x="238125" y="39067"/>
                </a:cubicBezTo>
                <a:cubicBezTo>
                  <a:pt x="238125" y="33951"/>
                  <a:pt x="236079" y="29021"/>
                  <a:pt x="232451" y="25347"/>
                </a:cubicBezTo>
                <a:lnTo>
                  <a:pt x="212778" y="5674"/>
                </a:lnTo>
                <a:cubicBezTo>
                  <a:pt x="209104" y="2046"/>
                  <a:pt x="204174" y="0"/>
                  <a:pt x="199058" y="0"/>
                </a:cubicBezTo>
                <a:cubicBezTo>
                  <a:pt x="193942" y="0"/>
                  <a:pt x="189012" y="2046"/>
                  <a:pt x="185338" y="5674"/>
                </a:cubicBezTo>
                <a:close/>
                <a:moveTo>
                  <a:pt x="128550" y="62461"/>
                </a:moveTo>
                <a:lnTo>
                  <a:pt x="5674" y="185338"/>
                </a:lnTo>
                <a:cubicBezTo>
                  <a:pt x="2046" y="189012"/>
                  <a:pt x="0" y="193942"/>
                  <a:pt x="0" y="199058"/>
                </a:cubicBezTo>
                <a:cubicBezTo>
                  <a:pt x="0" y="204174"/>
                  <a:pt x="2046" y="209104"/>
                  <a:pt x="5674" y="212778"/>
                </a:cubicBezTo>
                <a:lnTo>
                  <a:pt x="25347" y="232451"/>
                </a:lnTo>
                <a:cubicBezTo>
                  <a:pt x="29021" y="236079"/>
                  <a:pt x="33951" y="238125"/>
                  <a:pt x="39067" y="238125"/>
                </a:cubicBezTo>
                <a:cubicBezTo>
                  <a:pt x="44183" y="238125"/>
                  <a:pt x="49113" y="236079"/>
                  <a:pt x="52787" y="232451"/>
                </a:cubicBezTo>
                <a:lnTo>
                  <a:pt x="175664" y="109575"/>
                </a:lnTo>
                <a:lnTo>
                  <a:pt x="128550" y="62461"/>
                </a:lnTo>
                <a:close/>
              </a:path>
            </a:pathLst>
          </a:custGeom>
          <a:solidFill>
            <a:srgbClr val="2A9D8F"/>
          </a:solidFill>
          <a:ln/>
        </p:spPr>
      </p:sp>
      <p:sp>
        <p:nvSpPr>
          <p:cNvPr id="80" name="Text 78"/>
          <p:cNvSpPr/>
          <p:nvPr/>
        </p:nvSpPr>
        <p:spPr>
          <a:xfrm>
            <a:off x="6758781" y="6306344"/>
            <a:ext cx="1373188"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Credit Creation</a:t>
            </a:r>
            <a:endParaRPr lang="en-US" sz="1600" dirty="0"/>
          </a:p>
        </p:txBody>
      </p:sp>
      <p:sp>
        <p:nvSpPr>
          <p:cNvPr id="81" name="Text 79"/>
          <p:cNvSpPr/>
          <p:nvPr/>
        </p:nvSpPr>
        <p:spPr>
          <a:xfrm>
            <a:off x="6365875" y="6655594"/>
            <a:ext cx="539750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Banks create money by lending more than their deposits through the </a:t>
            </a:r>
            <a:pPr>
              <a:lnSpc>
                <a:spcPct val="140000"/>
              </a:lnSpc>
            </a:pPr>
            <a:r>
              <a:rPr lang="en-US" sz="1000" b="1" dirty="0">
                <a:solidFill>
                  <a:srgbClr val="2B2D42"/>
                </a:solidFill>
                <a:highlight>
                  <a:srgbClr val="2A9D8F">
                    <a:alpha val="30000"/>
                  </a:srgbClr>
                </a:highlight>
                <a:latin typeface="Quattrocento Sans" pitchFamily="34" charset="0"/>
                <a:ea typeface="Quattrocento Sans" pitchFamily="34" charset="-122"/>
                <a:cs typeface="Quattrocento Sans" pitchFamily="34" charset="-120"/>
              </a:rPr>
              <a:t>fractional reserve system </a:t>
            </a:r>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 This multiplies the money supply and fuels economic growth.</a:t>
            </a:r>
            <a:endParaRPr lang="en-US" sz="1600" dirty="0"/>
          </a:p>
        </p:txBody>
      </p:sp>
      <p:sp>
        <p:nvSpPr>
          <p:cNvPr id="82" name="Shape 80"/>
          <p:cNvSpPr/>
          <p:nvPr/>
        </p:nvSpPr>
        <p:spPr>
          <a:xfrm>
            <a:off x="333375" y="7369969"/>
            <a:ext cx="11541125" cy="666750"/>
          </a:xfrm>
          <a:custGeom>
            <a:avLst/>
            <a:gdLst/>
            <a:ahLst/>
            <a:cxnLst/>
            <a:rect l="l" t="t" r="r" b="b"/>
            <a:pathLst>
              <a:path w="11541125" h="666750">
                <a:moveTo>
                  <a:pt x="31750" y="0"/>
                </a:moveTo>
                <a:lnTo>
                  <a:pt x="11477624" y="0"/>
                </a:lnTo>
                <a:cubicBezTo>
                  <a:pt x="11512695" y="0"/>
                  <a:pt x="11541125" y="28430"/>
                  <a:pt x="11541125" y="63501"/>
                </a:cubicBezTo>
                <a:lnTo>
                  <a:pt x="11541125" y="603249"/>
                </a:lnTo>
                <a:cubicBezTo>
                  <a:pt x="11541125" y="638320"/>
                  <a:pt x="11512695" y="666750"/>
                  <a:pt x="11477624" y="666750"/>
                </a:cubicBezTo>
                <a:lnTo>
                  <a:pt x="31750" y="666750"/>
                </a:lnTo>
                <a:cubicBezTo>
                  <a:pt x="14215" y="666750"/>
                  <a:pt x="0" y="652535"/>
                  <a:pt x="0" y="635000"/>
                </a:cubicBezTo>
                <a:lnTo>
                  <a:pt x="0" y="31750"/>
                </a:lnTo>
                <a:cubicBezTo>
                  <a:pt x="0" y="14227"/>
                  <a:pt x="14227" y="0"/>
                  <a:pt x="31750" y="0"/>
                </a:cubicBezTo>
                <a:close/>
              </a:path>
            </a:pathLst>
          </a:custGeom>
          <a:solidFill>
            <a:srgbClr val="1A3A5C">
              <a:alpha val="5098"/>
            </a:srgbClr>
          </a:solidFill>
          <a:ln/>
        </p:spPr>
      </p:sp>
      <p:sp>
        <p:nvSpPr>
          <p:cNvPr id="83" name="Shape 81"/>
          <p:cNvSpPr/>
          <p:nvPr/>
        </p:nvSpPr>
        <p:spPr>
          <a:xfrm>
            <a:off x="333375" y="7369969"/>
            <a:ext cx="31750" cy="666750"/>
          </a:xfrm>
          <a:custGeom>
            <a:avLst/>
            <a:gdLst/>
            <a:ahLst/>
            <a:cxnLst/>
            <a:rect l="l" t="t" r="r" b="b"/>
            <a:pathLst>
              <a:path w="31750" h="666750">
                <a:moveTo>
                  <a:pt x="31750" y="0"/>
                </a:moveTo>
                <a:lnTo>
                  <a:pt x="31750" y="0"/>
                </a:lnTo>
                <a:lnTo>
                  <a:pt x="31750" y="666750"/>
                </a:lnTo>
                <a:lnTo>
                  <a:pt x="31750" y="666750"/>
                </a:lnTo>
                <a:cubicBezTo>
                  <a:pt x="14227" y="666750"/>
                  <a:pt x="0" y="652523"/>
                  <a:pt x="0" y="635000"/>
                </a:cubicBezTo>
                <a:lnTo>
                  <a:pt x="0" y="31750"/>
                </a:lnTo>
                <a:cubicBezTo>
                  <a:pt x="0" y="14227"/>
                  <a:pt x="14227" y="0"/>
                  <a:pt x="31750" y="0"/>
                </a:cubicBezTo>
                <a:close/>
              </a:path>
            </a:pathLst>
          </a:custGeom>
          <a:solidFill>
            <a:srgbClr val="1A3A5C"/>
          </a:solidFill>
          <a:ln/>
        </p:spPr>
      </p:sp>
      <p:sp>
        <p:nvSpPr>
          <p:cNvPr id="84" name="Shape 82"/>
          <p:cNvSpPr/>
          <p:nvPr/>
        </p:nvSpPr>
        <p:spPr>
          <a:xfrm>
            <a:off x="500063" y="7532687"/>
            <a:ext cx="111125" cy="127000"/>
          </a:xfrm>
          <a:custGeom>
            <a:avLst/>
            <a:gdLst/>
            <a:ahLst/>
            <a:cxnLst/>
            <a:rect l="l" t="t" r="r" b="b"/>
            <a:pathLst>
              <a:path w="111125" h="127000">
                <a:moveTo>
                  <a:pt x="0" y="53578"/>
                </a:moveTo>
                <a:cubicBezTo>
                  <a:pt x="0" y="37133"/>
                  <a:pt x="13320" y="23812"/>
                  <a:pt x="29766" y="23812"/>
                </a:cubicBezTo>
                <a:lnTo>
                  <a:pt x="31750" y="23812"/>
                </a:lnTo>
                <a:cubicBezTo>
                  <a:pt x="36140" y="23812"/>
                  <a:pt x="39688" y="27360"/>
                  <a:pt x="39688" y="31750"/>
                </a:cubicBezTo>
                <a:cubicBezTo>
                  <a:pt x="39688" y="36140"/>
                  <a:pt x="36140" y="39688"/>
                  <a:pt x="31750" y="39688"/>
                </a:cubicBezTo>
                <a:lnTo>
                  <a:pt x="29766" y="39688"/>
                </a:lnTo>
                <a:cubicBezTo>
                  <a:pt x="22101" y="39688"/>
                  <a:pt x="15875" y="45913"/>
                  <a:pt x="15875" y="53578"/>
                </a:cubicBezTo>
                <a:lnTo>
                  <a:pt x="15875" y="55563"/>
                </a:lnTo>
                <a:lnTo>
                  <a:pt x="31750" y="55563"/>
                </a:lnTo>
                <a:cubicBezTo>
                  <a:pt x="40506" y="55563"/>
                  <a:pt x="47625" y="62681"/>
                  <a:pt x="47625" y="71438"/>
                </a:cubicBezTo>
                <a:lnTo>
                  <a:pt x="47625" y="87313"/>
                </a:lnTo>
                <a:cubicBezTo>
                  <a:pt x="47625" y="96069"/>
                  <a:pt x="40506" y="103188"/>
                  <a:pt x="31750" y="103188"/>
                </a:cubicBezTo>
                <a:lnTo>
                  <a:pt x="15875" y="103188"/>
                </a:lnTo>
                <a:cubicBezTo>
                  <a:pt x="7119" y="103188"/>
                  <a:pt x="0" y="96069"/>
                  <a:pt x="0" y="87313"/>
                </a:cubicBezTo>
                <a:lnTo>
                  <a:pt x="0" y="53578"/>
                </a:lnTo>
                <a:close/>
                <a:moveTo>
                  <a:pt x="63500" y="53578"/>
                </a:moveTo>
                <a:cubicBezTo>
                  <a:pt x="63500" y="37133"/>
                  <a:pt x="76820" y="23812"/>
                  <a:pt x="93266" y="23812"/>
                </a:cubicBezTo>
                <a:lnTo>
                  <a:pt x="95250" y="23812"/>
                </a:lnTo>
                <a:cubicBezTo>
                  <a:pt x="99640" y="23812"/>
                  <a:pt x="103188" y="27360"/>
                  <a:pt x="103188" y="31750"/>
                </a:cubicBezTo>
                <a:cubicBezTo>
                  <a:pt x="103188" y="36140"/>
                  <a:pt x="99640" y="39688"/>
                  <a:pt x="95250" y="39688"/>
                </a:cubicBezTo>
                <a:lnTo>
                  <a:pt x="93266" y="39688"/>
                </a:lnTo>
                <a:cubicBezTo>
                  <a:pt x="85601" y="39688"/>
                  <a:pt x="79375" y="45913"/>
                  <a:pt x="79375" y="53578"/>
                </a:cubicBezTo>
                <a:lnTo>
                  <a:pt x="79375" y="55563"/>
                </a:lnTo>
                <a:lnTo>
                  <a:pt x="95250" y="55563"/>
                </a:lnTo>
                <a:cubicBezTo>
                  <a:pt x="104006" y="55563"/>
                  <a:pt x="111125" y="62681"/>
                  <a:pt x="111125" y="71438"/>
                </a:cubicBezTo>
                <a:lnTo>
                  <a:pt x="111125" y="87313"/>
                </a:lnTo>
                <a:cubicBezTo>
                  <a:pt x="111125" y="96069"/>
                  <a:pt x="104006" y="103188"/>
                  <a:pt x="95250" y="103188"/>
                </a:cubicBezTo>
                <a:lnTo>
                  <a:pt x="79375" y="103188"/>
                </a:lnTo>
                <a:cubicBezTo>
                  <a:pt x="70619" y="103188"/>
                  <a:pt x="63500" y="96069"/>
                  <a:pt x="63500" y="87313"/>
                </a:cubicBezTo>
                <a:lnTo>
                  <a:pt x="63500" y="53578"/>
                </a:lnTo>
                <a:close/>
              </a:path>
            </a:pathLst>
          </a:custGeom>
          <a:solidFill>
            <a:srgbClr val="2A9D8F"/>
          </a:solidFill>
          <a:ln/>
        </p:spPr>
      </p:sp>
      <p:sp>
        <p:nvSpPr>
          <p:cNvPr id="85" name="Text 83"/>
          <p:cNvSpPr/>
          <p:nvPr/>
        </p:nvSpPr>
        <p:spPr>
          <a:xfrm>
            <a:off x="674688" y="7496969"/>
            <a:ext cx="11136313" cy="412750"/>
          </a:xfrm>
          <a:prstGeom prst="rect">
            <a:avLst/>
          </a:prstGeom>
          <a:noFill/>
          <a:ln/>
        </p:spPr>
        <p:txBody>
          <a:bodyPr wrap="square" lIns="0" tIns="0" rIns="0" bIns="0" rtlCol="0" anchor="ctr"/>
          <a:lstStyle/>
          <a:p>
            <a:pPr>
              <a:lnSpc>
                <a:spcPct val="140000"/>
              </a:lnSpc>
            </a:pPr>
            <a:r>
              <a:rPr lang="en-US" sz="1000" b="1" dirty="0">
                <a:solidFill>
                  <a:srgbClr val="2B2D42"/>
                </a:solidFill>
                <a:latin typeface="Quattrocento Sans" pitchFamily="34" charset="0"/>
                <a:ea typeface="Quattrocento Sans" pitchFamily="34" charset="-122"/>
                <a:cs typeface="Quattrocento Sans" pitchFamily="34" charset="-120"/>
              </a:rPr>
              <a:t>Speaker Note:</a:t>
            </a:r>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 Explain the "spread" concept—banks pay 2% on deposits but charge 7% on loans, earning 5% as profit. Emphasize credit creation: when a bank lends $900 from $1,000 deposit, that $900 becomes a deposit elsewhere, allowing more lending. This is how banks multiply money in the economy.</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2A9D8F"/>
                </a:solidFill>
                <a:latin typeface="Liter" pitchFamily="34" charset="0"/>
                <a:ea typeface="Liter" pitchFamily="34" charset="-122"/>
                <a:cs typeface="Liter" pitchFamily="34" charset="-120"/>
              </a:rPr>
              <a:t>CHAPTER 05</a:t>
            </a:r>
            <a:endParaRPr lang="en-US" sz="1600" dirty="0"/>
          </a:p>
        </p:txBody>
      </p:sp>
      <p:sp>
        <p:nvSpPr>
          <p:cNvPr id="3" name="Text 1"/>
          <p:cNvSpPr/>
          <p:nvPr/>
        </p:nvSpPr>
        <p:spPr>
          <a:xfrm>
            <a:off x="317500" y="539750"/>
            <a:ext cx="11747500" cy="476250"/>
          </a:xfrm>
          <a:prstGeom prst="rect">
            <a:avLst/>
          </a:prstGeom>
          <a:noFill/>
          <a:ln/>
        </p:spPr>
        <p:txBody>
          <a:bodyPr wrap="square" lIns="0" tIns="0" rIns="0" bIns="0" rtlCol="0" anchor="ctr"/>
          <a:lstStyle/>
          <a:p>
            <a:pPr>
              <a:lnSpc>
                <a:spcPct val="100000"/>
              </a:lnSpc>
            </a:pPr>
            <a:r>
              <a:rPr lang="en-US" sz="3000" b="1" dirty="0">
                <a:solidFill>
                  <a:srgbClr val="1A3A5C"/>
                </a:solidFill>
                <a:latin typeface="Oranienbaum" pitchFamily="34" charset="0"/>
                <a:ea typeface="Oranienbaum" pitchFamily="34" charset="-122"/>
                <a:cs typeface="Oranienbaum" pitchFamily="34" charset="-120"/>
              </a:rPr>
              <a:t>How Banks Work: The Banking Flow</a:t>
            </a:r>
            <a:endParaRPr lang="en-US" sz="1600" dirty="0"/>
          </a:p>
        </p:txBody>
      </p:sp>
      <p:sp>
        <p:nvSpPr>
          <p:cNvPr id="4" name="Shape 2"/>
          <p:cNvSpPr/>
          <p:nvPr/>
        </p:nvSpPr>
        <p:spPr>
          <a:xfrm>
            <a:off x="317500" y="1111250"/>
            <a:ext cx="762000" cy="47625"/>
          </a:xfrm>
          <a:custGeom>
            <a:avLst/>
            <a:gdLst/>
            <a:ahLst/>
            <a:cxnLst/>
            <a:rect l="l" t="t" r="r" b="b"/>
            <a:pathLst>
              <a:path w="762000" h="47625">
                <a:moveTo>
                  <a:pt x="0" y="0"/>
                </a:moveTo>
                <a:lnTo>
                  <a:pt x="762000" y="0"/>
                </a:lnTo>
                <a:lnTo>
                  <a:pt x="762000" y="47625"/>
                </a:lnTo>
                <a:lnTo>
                  <a:pt x="0" y="47625"/>
                </a:lnTo>
                <a:lnTo>
                  <a:pt x="0" y="0"/>
                </a:lnTo>
                <a:close/>
              </a:path>
            </a:pathLst>
          </a:custGeom>
          <a:solidFill>
            <a:srgbClr val="2A9D8F"/>
          </a:solidFill>
          <a:ln/>
        </p:spPr>
      </p:sp>
      <p:sp>
        <p:nvSpPr>
          <p:cNvPr id="5" name="Shape 3"/>
          <p:cNvSpPr/>
          <p:nvPr/>
        </p:nvSpPr>
        <p:spPr>
          <a:xfrm>
            <a:off x="317500" y="1285875"/>
            <a:ext cx="6254750" cy="2508250"/>
          </a:xfrm>
          <a:custGeom>
            <a:avLst/>
            <a:gdLst/>
            <a:ahLst/>
            <a:cxnLst/>
            <a:rect l="l" t="t" r="r" b="b"/>
            <a:pathLst>
              <a:path w="6254750" h="2508250">
                <a:moveTo>
                  <a:pt x="95238" y="0"/>
                </a:moveTo>
                <a:lnTo>
                  <a:pt x="6159512" y="0"/>
                </a:lnTo>
                <a:cubicBezTo>
                  <a:pt x="6212110" y="0"/>
                  <a:pt x="6254750" y="42640"/>
                  <a:pt x="6254750" y="95238"/>
                </a:cubicBezTo>
                <a:lnTo>
                  <a:pt x="6254750" y="2413012"/>
                </a:lnTo>
                <a:cubicBezTo>
                  <a:pt x="6254750" y="2465610"/>
                  <a:pt x="6212110" y="2508250"/>
                  <a:pt x="6159512" y="2508250"/>
                </a:cubicBezTo>
                <a:lnTo>
                  <a:pt x="95238" y="2508250"/>
                </a:lnTo>
                <a:cubicBezTo>
                  <a:pt x="42640" y="2508250"/>
                  <a:pt x="0" y="2465610"/>
                  <a:pt x="0" y="2413012"/>
                </a:cubicBezTo>
                <a:lnTo>
                  <a:pt x="0" y="95238"/>
                </a:lnTo>
                <a:cubicBezTo>
                  <a:pt x="0" y="42675"/>
                  <a:pt x="42675" y="0"/>
                  <a:pt x="95238"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6" name="Shape 4"/>
          <p:cNvSpPr/>
          <p:nvPr/>
        </p:nvSpPr>
        <p:spPr>
          <a:xfrm>
            <a:off x="468313" y="1444625"/>
            <a:ext cx="190500" cy="190500"/>
          </a:xfrm>
          <a:custGeom>
            <a:avLst/>
            <a:gdLst/>
            <a:ahLst/>
            <a:cxnLst/>
            <a:rect l="l" t="t" r="r" b="b"/>
            <a:pathLst>
              <a:path w="190500" h="190500">
                <a:moveTo>
                  <a:pt x="71438" y="23812"/>
                </a:moveTo>
                <a:cubicBezTo>
                  <a:pt x="71438" y="17227"/>
                  <a:pt x="76758" y="11906"/>
                  <a:pt x="83344" y="11906"/>
                </a:cubicBezTo>
                <a:lnTo>
                  <a:pt x="107156" y="11906"/>
                </a:lnTo>
                <a:cubicBezTo>
                  <a:pt x="113742" y="11906"/>
                  <a:pt x="119063" y="17227"/>
                  <a:pt x="119063" y="23812"/>
                </a:cubicBezTo>
                <a:lnTo>
                  <a:pt x="119063" y="47625"/>
                </a:lnTo>
                <a:cubicBezTo>
                  <a:pt x="119063" y="54211"/>
                  <a:pt x="113742" y="59531"/>
                  <a:pt x="107156" y="59531"/>
                </a:cubicBezTo>
                <a:lnTo>
                  <a:pt x="104180" y="59531"/>
                </a:lnTo>
                <a:lnTo>
                  <a:pt x="104180" y="83344"/>
                </a:lnTo>
                <a:lnTo>
                  <a:pt x="148828" y="83344"/>
                </a:lnTo>
                <a:cubicBezTo>
                  <a:pt x="163637" y="83344"/>
                  <a:pt x="175617" y="95324"/>
                  <a:pt x="175617" y="110133"/>
                </a:cubicBezTo>
                <a:lnTo>
                  <a:pt x="175617" y="130969"/>
                </a:lnTo>
                <a:lnTo>
                  <a:pt x="178594" y="130969"/>
                </a:lnTo>
                <a:cubicBezTo>
                  <a:pt x="185179" y="130969"/>
                  <a:pt x="190500" y="136289"/>
                  <a:pt x="190500" y="142875"/>
                </a:cubicBezTo>
                <a:lnTo>
                  <a:pt x="190500" y="166688"/>
                </a:lnTo>
                <a:cubicBezTo>
                  <a:pt x="190500" y="173273"/>
                  <a:pt x="185179" y="178594"/>
                  <a:pt x="178594" y="178594"/>
                </a:cubicBezTo>
                <a:lnTo>
                  <a:pt x="154781" y="178594"/>
                </a:lnTo>
                <a:cubicBezTo>
                  <a:pt x="148196" y="178594"/>
                  <a:pt x="142875" y="173273"/>
                  <a:pt x="142875" y="166688"/>
                </a:cubicBezTo>
                <a:lnTo>
                  <a:pt x="142875" y="142875"/>
                </a:lnTo>
                <a:cubicBezTo>
                  <a:pt x="142875" y="136289"/>
                  <a:pt x="148196" y="130969"/>
                  <a:pt x="154781" y="130969"/>
                </a:cubicBezTo>
                <a:lnTo>
                  <a:pt x="157758" y="130969"/>
                </a:lnTo>
                <a:lnTo>
                  <a:pt x="157758" y="110133"/>
                </a:lnTo>
                <a:cubicBezTo>
                  <a:pt x="157758" y="105184"/>
                  <a:pt x="153777" y="101203"/>
                  <a:pt x="148828" y="101203"/>
                </a:cubicBezTo>
                <a:lnTo>
                  <a:pt x="104180" y="101203"/>
                </a:lnTo>
                <a:lnTo>
                  <a:pt x="104180" y="130969"/>
                </a:lnTo>
                <a:lnTo>
                  <a:pt x="107156" y="130969"/>
                </a:lnTo>
                <a:cubicBezTo>
                  <a:pt x="113742" y="130969"/>
                  <a:pt x="119063" y="136289"/>
                  <a:pt x="119063" y="142875"/>
                </a:cubicBezTo>
                <a:lnTo>
                  <a:pt x="119063" y="166688"/>
                </a:lnTo>
                <a:cubicBezTo>
                  <a:pt x="119063" y="173273"/>
                  <a:pt x="113742" y="178594"/>
                  <a:pt x="107156" y="178594"/>
                </a:cubicBezTo>
                <a:lnTo>
                  <a:pt x="83344" y="178594"/>
                </a:lnTo>
                <a:cubicBezTo>
                  <a:pt x="76758" y="178594"/>
                  <a:pt x="71438" y="173273"/>
                  <a:pt x="71438" y="166688"/>
                </a:cubicBezTo>
                <a:lnTo>
                  <a:pt x="71438" y="142875"/>
                </a:lnTo>
                <a:cubicBezTo>
                  <a:pt x="71438" y="136289"/>
                  <a:pt x="76758" y="130969"/>
                  <a:pt x="83344" y="130969"/>
                </a:cubicBezTo>
                <a:lnTo>
                  <a:pt x="86320" y="130969"/>
                </a:lnTo>
                <a:lnTo>
                  <a:pt x="86320" y="101203"/>
                </a:lnTo>
                <a:lnTo>
                  <a:pt x="41672" y="101203"/>
                </a:lnTo>
                <a:cubicBezTo>
                  <a:pt x="36723" y="101203"/>
                  <a:pt x="32742" y="105184"/>
                  <a:pt x="32742" y="110133"/>
                </a:cubicBezTo>
                <a:lnTo>
                  <a:pt x="32742" y="130969"/>
                </a:lnTo>
                <a:lnTo>
                  <a:pt x="35719" y="130969"/>
                </a:lnTo>
                <a:cubicBezTo>
                  <a:pt x="42304" y="130969"/>
                  <a:pt x="47625" y="136289"/>
                  <a:pt x="47625" y="142875"/>
                </a:cubicBezTo>
                <a:lnTo>
                  <a:pt x="47625" y="166688"/>
                </a:lnTo>
                <a:cubicBezTo>
                  <a:pt x="47625" y="173273"/>
                  <a:pt x="42304" y="178594"/>
                  <a:pt x="35719" y="178594"/>
                </a:cubicBezTo>
                <a:lnTo>
                  <a:pt x="11906" y="178594"/>
                </a:lnTo>
                <a:cubicBezTo>
                  <a:pt x="5321" y="178594"/>
                  <a:pt x="0" y="173273"/>
                  <a:pt x="0" y="166688"/>
                </a:cubicBezTo>
                <a:lnTo>
                  <a:pt x="0" y="142875"/>
                </a:lnTo>
                <a:cubicBezTo>
                  <a:pt x="0" y="136289"/>
                  <a:pt x="5321" y="130969"/>
                  <a:pt x="11906" y="130969"/>
                </a:cubicBezTo>
                <a:lnTo>
                  <a:pt x="14883" y="130969"/>
                </a:lnTo>
                <a:lnTo>
                  <a:pt x="14883" y="110133"/>
                </a:lnTo>
                <a:cubicBezTo>
                  <a:pt x="14883" y="95324"/>
                  <a:pt x="26863" y="83344"/>
                  <a:pt x="41672" y="83344"/>
                </a:cubicBezTo>
                <a:lnTo>
                  <a:pt x="86320" y="83344"/>
                </a:lnTo>
                <a:lnTo>
                  <a:pt x="86320" y="59531"/>
                </a:lnTo>
                <a:lnTo>
                  <a:pt x="83344" y="59531"/>
                </a:lnTo>
                <a:cubicBezTo>
                  <a:pt x="76758" y="59531"/>
                  <a:pt x="71438" y="54211"/>
                  <a:pt x="71438" y="47625"/>
                </a:cubicBezTo>
                <a:lnTo>
                  <a:pt x="71438" y="23812"/>
                </a:lnTo>
                <a:close/>
              </a:path>
            </a:pathLst>
          </a:custGeom>
          <a:solidFill>
            <a:srgbClr val="2A9D8F"/>
          </a:solidFill>
          <a:ln/>
        </p:spPr>
      </p:sp>
      <p:sp>
        <p:nvSpPr>
          <p:cNvPr id="7" name="Text 5"/>
          <p:cNvSpPr/>
          <p:nvPr/>
        </p:nvSpPr>
        <p:spPr>
          <a:xfrm>
            <a:off x="682625" y="1412875"/>
            <a:ext cx="5857875"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Fractional Reserve Banking Process</a:t>
            </a:r>
            <a:endParaRPr lang="en-US" sz="1600" dirty="0"/>
          </a:p>
        </p:txBody>
      </p:sp>
      <p:pic>
        <p:nvPicPr>
          <p:cNvPr id="8" name="Image 0" descr="https://kimi-img.moonshot.cn/pub/slides/26-04-12-01:55:24-d7d8m34n9072l8ei7veg.png">    </p:cNvPr>
          <p:cNvPicPr>
            <a:picLocks noChangeAspect="1"/>
          </p:cNvPicPr>
          <p:nvPr/>
        </p:nvPicPr>
        <p:blipFill>
          <a:blip r:embed="rId1"/>
          <a:srcRect l="0" r="0" t="0" b="0"/>
          <a:stretch/>
        </p:blipFill>
        <p:spPr>
          <a:xfrm>
            <a:off x="444500" y="1762125"/>
            <a:ext cx="4881563" cy="1905000"/>
          </a:xfrm>
          <a:prstGeom prst="roundRect">
            <a:avLst>
              <a:gd name="adj" fmla="val 0"/>
            </a:avLst>
          </a:prstGeom>
        </p:spPr>
      </p:pic>
      <p:sp>
        <p:nvSpPr>
          <p:cNvPr id="9" name="Shape 6"/>
          <p:cNvSpPr/>
          <p:nvPr/>
        </p:nvSpPr>
        <p:spPr>
          <a:xfrm>
            <a:off x="317500" y="3921125"/>
            <a:ext cx="6254750" cy="3270250"/>
          </a:xfrm>
          <a:custGeom>
            <a:avLst/>
            <a:gdLst/>
            <a:ahLst/>
            <a:cxnLst/>
            <a:rect l="l" t="t" r="r" b="b"/>
            <a:pathLst>
              <a:path w="6254750" h="3270250">
                <a:moveTo>
                  <a:pt x="95262" y="0"/>
                </a:moveTo>
                <a:lnTo>
                  <a:pt x="6159488" y="0"/>
                </a:lnTo>
                <a:cubicBezTo>
                  <a:pt x="6212100" y="0"/>
                  <a:pt x="6254750" y="42650"/>
                  <a:pt x="6254750" y="95262"/>
                </a:cubicBezTo>
                <a:lnTo>
                  <a:pt x="6254750" y="3174988"/>
                </a:lnTo>
                <a:cubicBezTo>
                  <a:pt x="6254750" y="3227600"/>
                  <a:pt x="6212100" y="3270250"/>
                  <a:pt x="6159488" y="3270250"/>
                </a:cubicBezTo>
                <a:lnTo>
                  <a:pt x="95262" y="3270250"/>
                </a:lnTo>
                <a:cubicBezTo>
                  <a:pt x="42650" y="3270250"/>
                  <a:pt x="0" y="3227600"/>
                  <a:pt x="0" y="3174988"/>
                </a:cubicBezTo>
                <a:lnTo>
                  <a:pt x="0" y="95262"/>
                </a:lnTo>
                <a:cubicBezTo>
                  <a:pt x="0" y="42650"/>
                  <a:pt x="42650" y="0"/>
                  <a:pt x="95262" y="0"/>
                </a:cubicBezTo>
                <a:close/>
              </a:path>
            </a:pathLst>
          </a:custGeom>
          <a:gradFill rotWithShape="1" flip="none">
            <a:gsLst>
              <a:gs pos="0">
                <a:srgbClr val="1A3A5C"/>
              </a:gs>
              <a:gs pos="100000">
                <a:srgbClr val="2A9D8F"/>
              </a:gs>
            </a:gsLst>
            <a:lin ang="0" scaled="1"/>
          </a:gradFill>
          <a:ln/>
          <a:effectLst>
            <a:outerShdw sx="100000" sy="100000" kx="0" ky="0" algn="bl" rotWithShape="0" blurRad="119063" dist="79375" dir="5400000">
              <a:srgbClr val="000000">
                <a:alpha val="10196"/>
              </a:srgbClr>
            </a:outerShdw>
          </a:effectLst>
        </p:spPr>
      </p:sp>
      <p:sp>
        <p:nvSpPr>
          <p:cNvPr id="10" name="Shape 7"/>
          <p:cNvSpPr/>
          <p:nvPr/>
        </p:nvSpPr>
        <p:spPr>
          <a:xfrm>
            <a:off x="492125" y="4278313"/>
            <a:ext cx="142875" cy="190500"/>
          </a:xfrm>
          <a:custGeom>
            <a:avLst/>
            <a:gdLst/>
            <a:ahLst/>
            <a:cxnLst/>
            <a:rect l="l" t="t" r="r" b="b"/>
            <a:pathLst>
              <a:path w="142875" h="190500">
                <a:moveTo>
                  <a:pt x="23812" y="0"/>
                </a:moveTo>
                <a:cubicBezTo>
                  <a:pt x="10678" y="0"/>
                  <a:pt x="0" y="10678"/>
                  <a:pt x="0" y="23812"/>
                </a:cubicBezTo>
                <a:lnTo>
                  <a:pt x="0" y="166688"/>
                </a:lnTo>
                <a:cubicBezTo>
                  <a:pt x="0" y="179822"/>
                  <a:pt x="10678" y="190500"/>
                  <a:pt x="23812" y="190500"/>
                </a:cubicBezTo>
                <a:lnTo>
                  <a:pt x="119063" y="190500"/>
                </a:lnTo>
                <a:cubicBezTo>
                  <a:pt x="132197" y="190500"/>
                  <a:pt x="142875" y="179822"/>
                  <a:pt x="142875" y="166688"/>
                </a:cubicBezTo>
                <a:lnTo>
                  <a:pt x="142875" y="23812"/>
                </a:lnTo>
                <a:cubicBezTo>
                  <a:pt x="142875" y="10678"/>
                  <a:pt x="132197" y="0"/>
                  <a:pt x="119063" y="0"/>
                </a:cubicBezTo>
                <a:lnTo>
                  <a:pt x="23812" y="0"/>
                </a:lnTo>
                <a:close/>
                <a:moveTo>
                  <a:pt x="35719" y="23812"/>
                </a:moveTo>
                <a:lnTo>
                  <a:pt x="107156" y="23812"/>
                </a:lnTo>
                <a:cubicBezTo>
                  <a:pt x="113742" y="23812"/>
                  <a:pt x="119063" y="29133"/>
                  <a:pt x="119063" y="35719"/>
                </a:cubicBezTo>
                <a:lnTo>
                  <a:pt x="119063" y="47625"/>
                </a:lnTo>
                <a:cubicBezTo>
                  <a:pt x="119063" y="54211"/>
                  <a:pt x="113742" y="59531"/>
                  <a:pt x="107156" y="59531"/>
                </a:cubicBezTo>
                <a:lnTo>
                  <a:pt x="35719" y="59531"/>
                </a:lnTo>
                <a:cubicBezTo>
                  <a:pt x="29133" y="59531"/>
                  <a:pt x="23812" y="54211"/>
                  <a:pt x="23812" y="47625"/>
                </a:cubicBezTo>
                <a:lnTo>
                  <a:pt x="23812" y="35719"/>
                </a:lnTo>
                <a:cubicBezTo>
                  <a:pt x="23812" y="29133"/>
                  <a:pt x="29133" y="23812"/>
                  <a:pt x="35719" y="23812"/>
                </a:cubicBezTo>
                <a:close/>
                <a:moveTo>
                  <a:pt x="41672" y="86320"/>
                </a:moveTo>
                <a:cubicBezTo>
                  <a:pt x="41672" y="91249"/>
                  <a:pt x="37671" y="95250"/>
                  <a:pt x="32742" y="95250"/>
                </a:cubicBezTo>
                <a:cubicBezTo>
                  <a:pt x="27814" y="95250"/>
                  <a:pt x="23812" y="91249"/>
                  <a:pt x="23812" y="86320"/>
                </a:cubicBezTo>
                <a:cubicBezTo>
                  <a:pt x="23812" y="81392"/>
                  <a:pt x="27814" y="77391"/>
                  <a:pt x="32742" y="77391"/>
                </a:cubicBezTo>
                <a:cubicBezTo>
                  <a:pt x="37671" y="77391"/>
                  <a:pt x="41672" y="81392"/>
                  <a:pt x="41672" y="86320"/>
                </a:cubicBezTo>
                <a:close/>
                <a:moveTo>
                  <a:pt x="71438" y="95250"/>
                </a:moveTo>
                <a:cubicBezTo>
                  <a:pt x="66509" y="95250"/>
                  <a:pt x="62508" y="91249"/>
                  <a:pt x="62508" y="86320"/>
                </a:cubicBezTo>
                <a:cubicBezTo>
                  <a:pt x="62508" y="81392"/>
                  <a:pt x="66509" y="77391"/>
                  <a:pt x="71438" y="77391"/>
                </a:cubicBezTo>
                <a:cubicBezTo>
                  <a:pt x="76366" y="77391"/>
                  <a:pt x="80367" y="81392"/>
                  <a:pt x="80367" y="86320"/>
                </a:cubicBezTo>
                <a:cubicBezTo>
                  <a:pt x="80367" y="91249"/>
                  <a:pt x="76366" y="95250"/>
                  <a:pt x="71438" y="95250"/>
                </a:cubicBezTo>
                <a:close/>
                <a:moveTo>
                  <a:pt x="119063" y="86320"/>
                </a:moveTo>
                <a:cubicBezTo>
                  <a:pt x="119063" y="91249"/>
                  <a:pt x="115061" y="95250"/>
                  <a:pt x="110133" y="95250"/>
                </a:cubicBezTo>
                <a:cubicBezTo>
                  <a:pt x="105204" y="95250"/>
                  <a:pt x="101203" y="91249"/>
                  <a:pt x="101203" y="86320"/>
                </a:cubicBezTo>
                <a:cubicBezTo>
                  <a:pt x="101203" y="81392"/>
                  <a:pt x="105204" y="77391"/>
                  <a:pt x="110133" y="77391"/>
                </a:cubicBezTo>
                <a:cubicBezTo>
                  <a:pt x="115061" y="77391"/>
                  <a:pt x="119063" y="81392"/>
                  <a:pt x="119063" y="86320"/>
                </a:cubicBezTo>
                <a:close/>
                <a:moveTo>
                  <a:pt x="32742" y="130969"/>
                </a:moveTo>
                <a:cubicBezTo>
                  <a:pt x="27814" y="130969"/>
                  <a:pt x="23812" y="126967"/>
                  <a:pt x="23812" y="122039"/>
                </a:cubicBezTo>
                <a:cubicBezTo>
                  <a:pt x="23812" y="117111"/>
                  <a:pt x="27814" y="113109"/>
                  <a:pt x="32742" y="113109"/>
                </a:cubicBezTo>
                <a:cubicBezTo>
                  <a:pt x="37671" y="113109"/>
                  <a:pt x="41672" y="117111"/>
                  <a:pt x="41672" y="122039"/>
                </a:cubicBezTo>
                <a:cubicBezTo>
                  <a:pt x="41672" y="126967"/>
                  <a:pt x="37671" y="130969"/>
                  <a:pt x="32742" y="130969"/>
                </a:cubicBezTo>
                <a:close/>
                <a:moveTo>
                  <a:pt x="80367" y="122039"/>
                </a:moveTo>
                <a:cubicBezTo>
                  <a:pt x="80367" y="126967"/>
                  <a:pt x="76366" y="130969"/>
                  <a:pt x="71438" y="130969"/>
                </a:cubicBezTo>
                <a:cubicBezTo>
                  <a:pt x="66509" y="130969"/>
                  <a:pt x="62508" y="126967"/>
                  <a:pt x="62508" y="122039"/>
                </a:cubicBezTo>
                <a:cubicBezTo>
                  <a:pt x="62508" y="117111"/>
                  <a:pt x="66509" y="113109"/>
                  <a:pt x="71438" y="113109"/>
                </a:cubicBezTo>
                <a:cubicBezTo>
                  <a:pt x="76366" y="113109"/>
                  <a:pt x="80367" y="117111"/>
                  <a:pt x="80367" y="122039"/>
                </a:cubicBezTo>
                <a:close/>
                <a:moveTo>
                  <a:pt x="110133" y="130969"/>
                </a:moveTo>
                <a:cubicBezTo>
                  <a:pt x="105204" y="130969"/>
                  <a:pt x="101203" y="126967"/>
                  <a:pt x="101203" y="122039"/>
                </a:cubicBezTo>
                <a:cubicBezTo>
                  <a:pt x="101203" y="117111"/>
                  <a:pt x="105204" y="113109"/>
                  <a:pt x="110133" y="113109"/>
                </a:cubicBezTo>
                <a:cubicBezTo>
                  <a:pt x="115061" y="113109"/>
                  <a:pt x="119063" y="117111"/>
                  <a:pt x="119063" y="122039"/>
                </a:cubicBezTo>
                <a:cubicBezTo>
                  <a:pt x="119063" y="126967"/>
                  <a:pt x="115061" y="130969"/>
                  <a:pt x="110133" y="130969"/>
                </a:cubicBezTo>
                <a:close/>
                <a:moveTo>
                  <a:pt x="23812" y="157758"/>
                </a:moveTo>
                <a:cubicBezTo>
                  <a:pt x="23812" y="152809"/>
                  <a:pt x="27794" y="148828"/>
                  <a:pt x="32742" y="148828"/>
                </a:cubicBezTo>
                <a:lnTo>
                  <a:pt x="74414" y="148828"/>
                </a:lnTo>
                <a:cubicBezTo>
                  <a:pt x="79363" y="148828"/>
                  <a:pt x="83344" y="152809"/>
                  <a:pt x="83344" y="157758"/>
                </a:cubicBezTo>
                <a:cubicBezTo>
                  <a:pt x="83344" y="162706"/>
                  <a:pt x="79363" y="166688"/>
                  <a:pt x="74414" y="166688"/>
                </a:cubicBezTo>
                <a:lnTo>
                  <a:pt x="32742" y="166688"/>
                </a:lnTo>
                <a:cubicBezTo>
                  <a:pt x="27794" y="166688"/>
                  <a:pt x="23812" y="162706"/>
                  <a:pt x="23812" y="157758"/>
                </a:cubicBezTo>
                <a:close/>
                <a:moveTo>
                  <a:pt x="110133" y="148828"/>
                </a:moveTo>
                <a:cubicBezTo>
                  <a:pt x="115081" y="148828"/>
                  <a:pt x="119063" y="152809"/>
                  <a:pt x="119063" y="157758"/>
                </a:cubicBezTo>
                <a:cubicBezTo>
                  <a:pt x="119063" y="162706"/>
                  <a:pt x="115081" y="166688"/>
                  <a:pt x="110133" y="166688"/>
                </a:cubicBezTo>
                <a:cubicBezTo>
                  <a:pt x="105184" y="166688"/>
                  <a:pt x="101203" y="162706"/>
                  <a:pt x="101203" y="157758"/>
                </a:cubicBezTo>
                <a:cubicBezTo>
                  <a:pt x="101203" y="152809"/>
                  <a:pt x="105184" y="148828"/>
                  <a:pt x="110133" y="148828"/>
                </a:cubicBezTo>
                <a:close/>
              </a:path>
            </a:pathLst>
          </a:custGeom>
          <a:solidFill>
            <a:srgbClr val="FFFFFF"/>
          </a:solidFill>
          <a:ln/>
        </p:spPr>
      </p:sp>
      <p:sp>
        <p:nvSpPr>
          <p:cNvPr id="11" name="Text 8"/>
          <p:cNvSpPr/>
          <p:nvPr/>
        </p:nvSpPr>
        <p:spPr>
          <a:xfrm>
            <a:off x="682625" y="4246563"/>
            <a:ext cx="5857875" cy="254000"/>
          </a:xfrm>
          <a:prstGeom prst="rect">
            <a:avLst/>
          </a:prstGeom>
          <a:noFill/>
          <a:ln/>
        </p:spPr>
        <p:txBody>
          <a:bodyPr wrap="square" lIns="0" tIns="0" rIns="0" bIns="0" rtlCol="0" anchor="ctr"/>
          <a:lstStyle/>
          <a:p>
            <a:pPr>
              <a:lnSpc>
                <a:spcPct val="110000"/>
              </a:lnSpc>
            </a:pPr>
            <a:r>
              <a:rPr lang="en-US" sz="1500" b="1" dirty="0">
                <a:solidFill>
                  <a:srgbClr val="FFFFFF"/>
                </a:solidFill>
                <a:latin typeface="Liter" pitchFamily="34" charset="0"/>
                <a:ea typeface="Liter" pitchFamily="34" charset="-122"/>
                <a:cs typeface="Liter" pitchFamily="34" charset="-120"/>
              </a:rPr>
              <a:t>Money Multiplier Example</a:t>
            </a:r>
            <a:endParaRPr lang="en-US" sz="1600" dirty="0"/>
          </a:p>
        </p:txBody>
      </p:sp>
      <p:sp>
        <p:nvSpPr>
          <p:cNvPr id="12" name="Shape 9"/>
          <p:cNvSpPr/>
          <p:nvPr/>
        </p:nvSpPr>
        <p:spPr>
          <a:xfrm>
            <a:off x="444500" y="4595813"/>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FFFFFF">
              <a:alpha val="20000"/>
            </a:srgbClr>
          </a:solidFill>
          <a:ln/>
        </p:spPr>
      </p:sp>
      <p:sp>
        <p:nvSpPr>
          <p:cNvPr id="13" name="Text 10"/>
          <p:cNvSpPr/>
          <p:nvPr/>
        </p:nvSpPr>
        <p:spPr>
          <a:xfrm>
            <a:off x="396875" y="4595813"/>
            <a:ext cx="476250" cy="381000"/>
          </a:xfrm>
          <a:prstGeom prst="rect">
            <a:avLst/>
          </a:prstGeom>
          <a:noFill/>
          <a:ln/>
        </p:spPr>
        <p:txBody>
          <a:bodyPr wrap="square" lIns="0" tIns="0" rIns="0" bIns="0" rtlCol="0" anchor="ctr"/>
          <a:lstStyle/>
          <a:p>
            <a:pPr algn="ctr">
              <a:lnSpc>
                <a:spcPct val="110000"/>
              </a:lnSpc>
            </a:pPr>
            <a:r>
              <a:rPr lang="en-US" sz="1500"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14" name="Text 11"/>
          <p:cNvSpPr/>
          <p:nvPr/>
        </p:nvSpPr>
        <p:spPr>
          <a:xfrm>
            <a:off x="952500" y="4699000"/>
            <a:ext cx="5556250" cy="174625"/>
          </a:xfrm>
          <a:prstGeom prst="rect">
            <a:avLst/>
          </a:prstGeom>
          <a:noFill/>
          <a:ln/>
        </p:spPr>
        <p:txBody>
          <a:bodyPr wrap="square" lIns="0" tIns="0" rIns="0" bIns="0" rtlCol="0" anchor="ctr"/>
          <a:lstStyle/>
          <a:p>
            <a:pPr>
              <a:lnSpc>
                <a:spcPct val="110000"/>
              </a:lnSpc>
            </a:pPr>
            <a:r>
              <a:rPr lang="en-US" sz="1000" b="1" dirty="0">
                <a:solidFill>
                  <a:srgbClr val="FFFFFF"/>
                </a:solidFill>
                <a:latin typeface="Quattrocento Sans" pitchFamily="34" charset="0"/>
                <a:ea typeface="Quattrocento Sans" pitchFamily="34" charset="-122"/>
                <a:cs typeface="Quattrocento Sans" pitchFamily="34" charset="-120"/>
              </a:rPr>
              <a:t>You deposit:</a:t>
            </a:r>
            <a:pPr>
              <a:lnSpc>
                <a:spcPct val="110000"/>
              </a:lnSpc>
            </a:pPr>
            <a:r>
              <a:rPr lang="en-US" sz="1000" dirty="0">
                <a:solidFill>
                  <a:srgbClr val="FFFFFF"/>
                </a:solidFill>
                <a:latin typeface="Quattrocento Sans" pitchFamily="34" charset="0"/>
                <a:ea typeface="Quattrocento Sans" pitchFamily="34" charset="-122"/>
                <a:cs typeface="Quattrocento Sans" pitchFamily="34" charset="-120"/>
              </a:rPr>
              <a:t> $1,000</a:t>
            </a:r>
            <a:endParaRPr lang="en-US" sz="1600" dirty="0"/>
          </a:p>
        </p:txBody>
      </p:sp>
      <p:sp>
        <p:nvSpPr>
          <p:cNvPr id="15" name="Shape 12"/>
          <p:cNvSpPr/>
          <p:nvPr/>
        </p:nvSpPr>
        <p:spPr>
          <a:xfrm>
            <a:off x="444500" y="5072063"/>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FFFFFF">
              <a:alpha val="20000"/>
            </a:srgbClr>
          </a:solidFill>
          <a:ln/>
        </p:spPr>
      </p:sp>
      <p:sp>
        <p:nvSpPr>
          <p:cNvPr id="16" name="Text 13"/>
          <p:cNvSpPr/>
          <p:nvPr/>
        </p:nvSpPr>
        <p:spPr>
          <a:xfrm>
            <a:off x="396875" y="5072063"/>
            <a:ext cx="476250" cy="381000"/>
          </a:xfrm>
          <a:prstGeom prst="rect">
            <a:avLst/>
          </a:prstGeom>
          <a:noFill/>
          <a:ln/>
        </p:spPr>
        <p:txBody>
          <a:bodyPr wrap="square" lIns="0" tIns="0" rIns="0" bIns="0" rtlCol="0" anchor="ctr"/>
          <a:lstStyle/>
          <a:p>
            <a:pPr algn="ctr">
              <a:lnSpc>
                <a:spcPct val="110000"/>
              </a:lnSpc>
            </a:pPr>
            <a:r>
              <a:rPr lang="en-US" sz="1500"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17" name="Text 14"/>
          <p:cNvSpPr/>
          <p:nvPr/>
        </p:nvSpPr>
        <p:spPr>
          <a:xfrm>
            <a:off x="952500" y="5175250"/>
            <a:ext cx="5556250" cy="174625"/>
          </a:xfrm>
          <a:prstGeom prst="rect">
            <a:avLst/>
          </a:prstGeom>
          <a:noFill/>
          <a:ln/>
        </p:spPr>
        <p:txBody>
          <a:bodyPr wrap="square" lIns="0" tIns="0" rIns="0" bIns="0" rtlCol="0" anchor="ctr"/>
          <a:lstStyle/>
          <a:p>
            <a:pPr>
              <a:lnSpc>
                <a:spcPct val="110000"/>
              </a:lnSpc>
            </a:pPr>
            <a:r>
              <a:rPr lang="en-US" sz="1000" b="1" dirty="0">
                <a:solidFill>
                  <a:srgbClr val="FFFFFF"/>
                </a:solidFill>
                <a:latin typeface="Quattrocento Sans" pitchFamily="34" charset="0"/>
                <a:ea typeface="Quattrocento Sans" pitchFamily="34" charset="-122"/>
                <a:cs typeface="Quattrocento Sans" pitchFamily="34" charset="-120"/>
              </a:rPr>
              <a:t>Bank keeps 10% reserve:</a:t>
            </a:r>
            <a:pPr>
              <a:lnSpc>
                <a:spcPct val="110000"/>
              </a:lnSpc>
            </a:pPr>
            <a:r>
              <a:rPr lang="en-US" sz="1000" dirty="0">
                <a:solidFill>
                  <a:srgbClr val="FFFFFF"/>
                </a:solidFill>
                <a:latin typeface="Quattrocento Sans" pitchFamily="34" charset="0"/>
                <a:ea typeface="Quattrocento Sans" pitchFamily="34" charset="-122"/>
                <a:cs typeface="Quattrocento Sans" pitchFamily="34" charset="-120"/>
              </a:rPr>
              <a:t> $100</a:t>
            </a:r>
            <a:endParaRPr lang="en-US" sz="1600" dirty="0"/>
          </a:p>
        </p:txBody>
      </p:sp>
      <p:sp>
        <p:nvSpPr>
          <p:cNvPr id="18" name="Shape 15"/>
          <p:cNvSpPr/>
          <p:nvPr/>
        </p:nvSpPr>
        <p:spPr>
          <a:xfrm>
            <a:off x="444500" y="5548313"/>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FFFFFF">
              <a:alpha val="20000"/>
            </a:srgbClr>
          </a:solidFill>
          <a:ln/>
        </p:spPr>
      </p:sp>
      <p:sp>
        <p:nvSpPr>
          <p:cNvPr id="19" name="Text 16"/>
          <p:cNvSpPr/>
          <p:nvPr/>
        </p:nvSpPr>
        <p:spPr>
          <a:xfrm>
            <a:off x="396875" y="5548313"/>
            <a:ext cx="476250" cy="381000"/>
          </a:xfrm>
          <a:prstGeom prst="rect">
            <a:avLst/>
          </a:prstGeom>
          <a:noFill/>
          <a:ln/>
        </p:spPr>
        <p:txBody>
          <a:bodyPr wrap="square" lIns="0" tIns="0" rIns="0" bIns="0" rtlCol="0" anchor="ctr"/>
          <a:lstStyle/>
          <a:p>
            <a:pPr algn="ctr">
              <a:lnSpc>
                <a:spcPct val="110000"/>
              </a:lnSpc>
            </a:pPr>
            <a:r>
              <a:rPr lang="en-US" sz="1500" b="1"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20" name="Text 17"/>
          <p:cNvSpPr/>
          <p:nvPr/>
        </p:nvSpPr>
        <p:spPr>
          <a:xfrm>
            <a:off x="952500" y="5651500"/>
            <a:ext cx="5556250" cy="174625"/>
          </a:xfrm>
          <a:prstGeom prst="rect">
            <a:avLst/>
          </a:prstGeom>
          <a:noFill/>
          <a:ln/>
        </p:spPr>
        <p:txBody>
          <a:bodyPr wrap="square" lIns="0" tIns="0" rIns="0" bIns="0" rtlCol="0" anchor="ctr"/>
          <a:lstStyle/>
          <a:p>
            <a:pPr>
              <a:lnSpc>
                <a:spcPct val="110000"/>
              </a:lnSpc>
            </a:pPr>
            <a:r>
              <a:rPr lang="en-US" sz="1000" b="1" dirty="0">
                <a:solidFill>
                  <a:srgbClr val="FFFFFF"/>
                </a:solidFill>
                <a:latin typeface="Quattrocento Sans" pitchFamily="34" charset="0"/>
                <a:ea typeface="Quattrocento Sans" pitchFamily="34" charset="-122"/>
                <a:cs typeface="Quattrocento Sans" pitchFamily="34" charset="-120"/>
              </a:rPr>
              <a:t>Bank lends out:</a:t>
            </a:r>
            <a:pPr>
              <a:lnSpc>
                <a:spcPct val="110000"/>
              </a:lnSpc>
            </a:pPr>
            <a:r>
              <a:rPr lang="en-US" sz="1000" dirty="0">
                <a:solidFill>
                  <a:srgbClr val="FFFFFF"/>
                </a:solidFill>
                <a:latin typeface="Quattrocento Sans" pitchFamily="34" charset="0"/>
                <a:ea typeface="Quattrocento Sans" pitchFamily="34" charset="-122"/>
                <a:cs typeface="Quattrocento Sans" pitchFamily="34" charset="-120"/>
              </a:rPr>
              <a:t> $900</a:t>
            </a:r>
            <a:endParaRPr lang="en-US" sz="1600" dirty="0"/>
          </a:p>
        </p:txBody>
      </p:sp>
      <p:sp>
        <p:nvSpPr>
          <p:cNvPr id="21" name="Shape 18"/>
          <p:cNvSpPr/>
          <p:nvPr/>
        </p:nvSpPr>
        <p:spPr>
          <a:xfrm>
            <a:off x="444500" y="6024563"/>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FFFFFF">
              <a:alpha val="20000"/>
            </a:srgbClr>
          </a:solidFill>
          <a:ln/>
        </p:spPr>
      </p:sp>
      <p:sp>
        <p:nvSpPr>
          <p:cNvPr id="22" name="Text 19"/>
          <p:cNvSpPr/>
          <p:nvPr/>
        </p:nvSpPr>
        <p:spPr>
          <a:xfrm>
            <a:off x="396875" y="6024563"/>
            <a:ext cx="476250" cy="381000"/>
          </a:xfrm>
          <a:prstGeom prst="rect">
            <a:avLst/>
          </a:prstGeom>
          <a:noFill/>
          <a:ln/>
        </p:spPr>
        <p:txBody>
          <a:bodyPr wrap="square" lIns="0" tIns="0" rIns="0" bIns="0" rtlCol="0" anchor="ctr"/>
          <a:lstStyle/>
          <a:p>
            <a:pPr algn="ctr">
              <a:lnSpc>
                <a:spcPct val="110000"/>
              </a:lnSpc>
            </a:pPr>
            <a:r>
              <a:rPr lang="en-US" sz="1500" b="1"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
        <p:nvSpPr>
          <p:cNvPr id="23" name="Text 20"/>
          <p:cNvSpPr/>
          <p:nvPr/>
        </p:nvSpPr>
        <p:spPr>
          <a:xfrm>
            <a:off x="952500" y="6127750"/>
            <a:ext cx="5556250" cy="174625"/>
          </a:xfrm>
          <a:prstGeom prst="rect">
            <a:avLst/>
          </a:prstGeom>
          <a:noFill/>
          <a:ln/>
        </p:spPr>
        <p:txBody>
          <a:bodyPr wrap="square" lIns="0" tIns="0" rIns="0" bIns="0" rtlCol="0" anchor="ctr"/>
          <a:lstStyle/>
          <a:p>
            <a:pPr>
              <a:lnSpc>
                <a:spcPct val="110000"/>
              </a:lnSpc>
            </a:pPr>
            <a:r>
              <a:rPr lang="en-US" sz="1000" b="1" dirty="0">
                <a:solidFill>
                  <a:srgbClr val="FFFFFF"/>
                </a:solidFill>
                <a:latin typeface="Quattrocento Sans" pitchFamily="34" charset="0"/>
                <a:ea typeface="Quattrocento Sans" pitchFamily="34" charset="-122"/>
                <a:cs typeface="Quattrocento Sans" pitchFamily="34" charset="-120"/>
              </a:rPr>
              <a:t>Borrower deposits $900 elsewhere →</a:t>
            </a:r>
            <a:pPr>
              <a:lnSpc>
                <a:spcPct val="110000"/>
              </a:lnSpc>
            </a:pPr>
            <a:r>
              <a:rPr lang="en-US" sz="1000" dirty="0">
                <a:solidFill>
                  <a:srgbClr val="FFFFFF"/>
                </a:solidFill>
                <a:latin typeface="Quattrocento Sans" pitchFamily="34" charset="0"/>
                <a:ea typeface="Quattrocento Sans" pitchFamily="34" charset="-122"/>
                <a:cs typeface="Quattrocento Sans" pitchFamily="34" charset="-120"/>
              </a:rPr>
              <a:t> New loan: $810</a:t>
            </a:r>
            <a:endParaRPr lang="en-US" sz="1600" dirty="0"/>
          </a:p>
        </p:txBody>
      </p:sp>
      <p:sp>
        <p:nvSpPr>
          <p:cNvPr id="24" name="Shape 21"/>
          <p:cNvSpPr/>
          <p:nvPr/>
        </p:nvSpPr>
        <p:spPr>
          <a:xfrm>
            <a:off x="444500" y="6500813"/>
            <a:ext cx="6000750" cy="365125"/>
          </a:xfrm>
          <a:custGeom>
            <a:avLst/>
            <a:gdLst/>
            <a:ahLst/>
            <a:cxnLst/>
            <a:rect l="l" t="t" r="r" b="b"/>
            <a:pathLst>
              <a:path w="6000750" h="365125">
                <a:moveTo>
                  <a:pt x="63499" y="0"/>
                </a:moveTo>
                <a:lnTo>
                  <a:pt x="5937251" y="0"/>
                </a:lnTo>
                <a:cubicBezTo>
                  <a:pt x="5972321" y="0"/>
                  <a:pt x="6000750" y="28429"/>
                  <a:pt x="6000750" y="63499"/>
                </a:cubicBezTo>
                <a:lnTo>
                  <a:pt x="6000750" y="301626"/>
                </a:lnTo>
                <a:cubicBezTo>
                  <a:pt x="6000750" y="336696"/>
                  <a:pt x="5972321" y="365125"/>
                  <a:pt x="5937251" y="365125"/>
                </a:cubicBezTo>
                <a:lnTo>
                  <a:pt x="63499" y="365125"/>
                </a:lnTo>
                <a:cubicBezTo>
                  <a:pt x="28429" y="365125"/>
                  <a:pt x="0" y="336696"/>
                  <a:pt x="0" y="301626"/>
                </a:cubicBezTo>
                <a:lnTo>
                  <a:pt x="0" y="63499"/>
                </a:lnTo>
                <a:cubicBezTo>
                  <a:pt x="0" y="28453"/>
                  <a:pt x="28453" y="0"/>
                  <a:pt x="63499" y="0"/>
                </a:cubicBezTo>
                <a:close/>
              </a:path>
            </a:pathLst>
          </a:custGeom>
          <a:solidFill>
            <a:srgbClr val="FFFFFF">
              <a:alpha val="10196"/>
            </a:srgbClr>
          </a:solidFill>
          <a:ln/>
        </p:spPr>
      </p:sp>
      <p:sp>
        <p:nvSpPr>
          <p:cNvPr id="25" name="Text 22"/>
          <p:cNvSpPr/>
          <p:nvPr/>
        </p:nvSpPr>
        <p:spPr>
          <a:xfrm>
            <a:off x="539750" y="6596063"/>
            <a:ext cx="5873750" cy="174625"/>
          </a:xfrm>
          <a:prstGeom prst="rect">
            <a:avLst/>
          </a:prstGeom>
          <a:noFill/>
          <a:ln/>
        </p:spPr>
        <p:txBody>
          <a:bodyPr wrap="square" lIns="0" tIns="0" rIns="0" bIns="0" rtlCol="0" anchor="ctr"/>
          <a:lstStyle/>
          <a:p>
            <a:pPr>
              <a:lnSpc>
                <a:spcPct val="110000"/>
              </a:lnSpc>
            </a:pPr>
            <a:r>
              <a:rPr lang="en-US" sz="1000" b="1" dirty="0">
                <a:solidFill>
                  <a:srgbClr val="FFFFFF"/>
                </a:solidFill>
                <a:latin typeface="Quattrocento Sans" pitchFamily="34" charset="0"/>
                <a:ea typeface="Quattrocento Sans" pitchFamily="34" charset="-122"/>
                <a:cs typeface="Quattrocento Sans" pitchFamily="34" charset="-120"/>
              </a:rPr>
              <a:t>Result:</a:t>
            </a:r>
            <a:pPr>
              <a:lnSpc>
                <a:spcPct val="110000"/>
              </a:lnSpc>
            </a:pPr>
            <a:r>
              <a:rPr lang="en-US" sz="1000" dirty="0">
                <a:solidFill>
                  <a:srgbClr val="FFFFFF"/>
                </a:solidFill>
                <a:latin typeface="Quattrocento Sans" pitchFamily="34" charset="0"/>
                <a:ea typeface="Quattrocento Sans" pitchFamily="34" charset="-122"/>
                <a:cs typeface="Quattrocento Sans" pitchFamily="34" charset="-120"/>
              </a:rPr>
              <a:t> Original $1,000 can create up to </a:t>
            </a:r>
            <a:pPr>
              <a:lnSpc>
                <a:spcPct val="110000"/>
              </a:lnSpc>
            </a:pPr>
            <a:r>
              <a:rPr lang="en-US" sz="1000" b="1" dirty="0">
                <a:solidFill>
                  <a:srgbClr val="FFFFFF"/>
                </a:solidFill>
                <a:highlight>
                  <a:srgbClr val="FFFFFF">
                    <a:alpha val="30000"/>
                  </a:srgbClr>
                </a:highlight>
                <a:latin typeface="Quattrocento Sans" pitchFamily="34" charset="0"/>
                <a:ea typeface="Quattrocento Sans" pitchFamily="34" charset="-122"/>
                <a:cs typeface="Quattrocento Sans" pitchFamily="34" charset="-120"/>
              </a:rPr>
              <a:t>$10,000 </a:t>
            </a:r>
            <a:pPr>
              <a:lnSpc>
                <a:spcPct val="110000"/>
              </a:lnSpc>
            </a:pPr>
            <a:r>
              <a:rPr lang="en-US" sz="1000" dirty="0">
                <a:solidFill>
                  <a:srgbClr val="FFFFFF"/>
                </a:solidFill>
                <a:latin typeface="Quattrocento Sans" pitchFamily="34" charset="0"/>
                <a:ea typeface="Quattrocento Sans" pitchFamily="34" charset="-122"/>
                <a:cs typeface="Quattrocento Sans" pitchFamily="34" charset="-120"/>
              </a:rPr>
              <a:t>in the economy!</a:t>
            </a:r>
            <a:endParaRPr lang="en-US" sz="1600" dirty="0"/>
          </a:p>
        </p:txBody>
      </p:sp>
      <p:sp>
        <p:nvSpPr>
          <p:cNvPr id="26" name="Shape 23"/>
          <p:cNvSpPr/>
          <p:nvPr/>
        </p:nvSpPr>
        <p:spPr>
          <a:xfrm>
            <a:off x="6759587" y="1301750"/>
            <a:ext cx="5111750" cy="3381375"/>
          </a:xfrm>
          <a:custGeom>
            <a:avLst/>
            <a:gdLst/>
            <a:ahLst/>
            <a:cxnLst/>
            <a:rect l="l" t="t" r="r" b="b"/>
            <a:pathLst>
              <a:path w="5111750" h="3381375">
                <a:moveTo>
                  <a:pt x="31750" y="0"/>
                </a:moveTo>
                <a:lnTo>
                  <a:pt x="5080000" y="0"/>
                </a:lnTo>
                <a:cubicBezTo>
                  <a:pt x="5097523" y="0"/>
                  <a:pt x="5111750" y="14227"/>
                  <a:pt x="5111750" y="31750"/>
                </a:cubicBezTo>
                <a:lnTo>
                  <a:pt x="5111750" y="3286122"/>
                </a:lnTo>
                <a:cubicBezTo>
                  <a:pt x="5111750" y="3338729"/>
                  <a:pt x="5069104" y="3381375"/>
                  <a:pt x="5016497" y="3381375"/>
                </a:cubicBezTo>
                <a:lnTo>
                  <a:pt x="95253" y="3381375"/>
                </a:lnTo>
                <a:cubicBezTo>
                  <a:pt x="42646" y="3381375"/>
                  <a:pt x="0" y="3338729"/>
                  <a:pt x="0" y="3286122"/>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27" name="Shape 24"/>
          <p:cNvSpPr/>
          <p:nvPr/>
        </p:nvSpPr>
        <p:spPr>
          <a:xfrm>
            <a:off x="6759587" y="1301750"/>
            <a:ext cx="5111750" cy="31750"/>
          </a:xfrm>
          <a:custGeom>
            <a:avLst/>
            <a:gdLst/>
            <a:ahLst/>
            <a:cxnLst/>
            <a:rect l="l" t="t" r="r" b="b"/>
            <a:pathLst>
              <a:path w="5111750" h="31750">
                <a:moveTo>
                  <a:pt x="31750" y="0"/>
                </a:moveTo>
                <a:lnTo>
                  <a:pt x="5080000" y="0"/>
                </a:lnTo>
                <a:cubicBezTo>
                  <a:pt x="5097523" y="0"/>
                  <a:pt x="5111750" y="14227"/>
                  <a:pt x="5111750" y="31750"/>
                </a:cubicBezTo>
                <a:lnTo>
                  <a:pt x="5111750" y="31750"/>
                </a:lnTo>
                <a:lnTo>
                  <a:pt x="0" y="31750"/>
                </a:lnTo>
                <a:lnTo>
                  <a:pt x="0" y="31750"/>
                </a:lnTo>
                <a:cubicBezTo>
                  <a:pt x="0" y="14227"/>
                  <a:pt x="14227" y="0"/>
                  <a:pt x="31750" y="0"/>
                </a:cubicBezTo>
                <a:close/>
              </a:path>
            </a:pathLst>
          </a:custGeom>
          <a:solidFill>
            <a:srgbClr val="1A3A5C"/>
          </a:solidFill>
          <a:ln/>
        </p:spPr>
      </p:sp>
      <p:sp>
        <p:nvSpPr>
          <p:cNvPr id="28" name="Shape 25"/>
          <p:cNvSpPr/>
          <p:nvPr/>
        </p:nvSpPr>
        <p:spPr>
          <a:xfrm>
            <a:off x="6910400" y="1476375"/>
            <a:ext cx="190500" cy="190500"/>
          </a:xfrm>
          <a:custGeom>
            <a:avLst/>
            <a:gdLst/>
            <a:ahLst/>
            <a:cxnLst/>
            <a:rect l="l" t="t" r="r" b="b"/>
            <a:pathLst>
              <a:path w="190500" h="190500">
                <a:moveTo>
                  <a:pt x="72591" y="3535"/>
                </a:moveTo>
                <a:cubicBezTo>
                  <a:pt x="73707" y="-1972"/>
                  <a:pt x="78581" y="-5953"/>
                  <a:pt x="84237" y="-5953"/>
                </a:cubicBezTo>
                <a:lnTo>
                  <a:pt x="106487" y="-5953"/>
                </a:lnTo>
                <a:cubicBezTo>
                  <a:pt x="112142" y="-5953"/>
                  <a:pt x="117016" y="-1972"/>
                  <a:pt x="118132" y="3535"/>
                </a:cubicBezTo>
                <a:lnTo>
                  <a:pt x="123527" y="29580"/>
                </a:lnTo>
                <a:cubicBezTo>
                  <a:pt x="128774" y="31812"/>
                  <a:pt x="133685" y="34677"/>
                  <a:pt x="138150" y="38063"/>
                </a:cubicBezTo>
                <a:lnTo>
                  <a:pt x="163376" y="29691"/>
                </a:lnTo>
                <a:cubicBezTo>
                  <a:pt x="168734" y="27905"/>
                  <a:pt x="174613" y="30138"/>
                  <a:pt x="177440" y="35049"/>
                </a:cubicBezTo>
                <a:lnTo>
                  <a:pt x="188565" y="54322"/>
                </a:lnTo>
                <a:cubicBezTo>
                  <a:pt x="191393" y="59234"/>
                  <a:pt x="190388" y="65410"/>
                  <a:pt x="186147" y="69168"/>
                </a:cubicBezTo>
                <a:lnTo>
                  <a:pt x="166315" y="86804"/>
                </a:lnTo>
                <a:cubicBezTo>
                  <a:pt x="166650" y="89557"/>
                  <a:pt x="166799" y="92385"/>
                  <a:pt x="166799" y="95250"/>
                </a:cubicBezTo>
                <a:cubicBezTo>
                  <a:pt x="166799" y="98115"/>
                  <a:pt x="166613" y="100943"/>
                  <a:pt x="166315" y="103696"/>
                </a:cubicBezTo>
                <a:lnTo>
                  <a:pt x="186184" y="121369"/>
                </a:lnTo>
                <a:cubicBezTo>
                  <a:pt x="190426" y="125127"/>
                  <a:pt x="191393" y="131341"/>
                  <a:pt x="188602" y="136215"/>
                </a:cubicBezTo>
                <a:lnTo>
                  <a:pt x="177478" y="155488"/>
                </a:lnTo>
                <a:cubicBezTo>
                  <a:pt x="174650" y="160362"/>
                  <a:pt x="168771" y="162632"/>
                  <a:pt x="163413" y="160846"/>
                </a:cubicBezTo>
                <a:lnTo>
                  <a:pt x="138187" y="152474"/>
                </a:lnTo>
                <a:cubicBezTo>
                  <a:pt x="133685" y="155860"/>
                  <a:pt x="128774" y="158688"/>
                  <a:pt x="123565" y="160958"/>
                </a:cubicBezTo>
                <a:lnTo>
                  <a:pt x="118207" y="186965"/>
                </a:lnTo>
                <a:cubicBezTo>
                  <a:pt x="117053" y="192509"/>
                  <a:pt x="112179" y="196453"/>
                  <a:pt x="106561" y="196453"/>
                </a:cubicBezTo>
                <a:lnTo>
                  <a:pt x="84311" y="196453"/>
                </a:lnTo>
                <a:cubicBezTo>
                  <a:pt x="78656" y="196453"/>
                  <a:pt x="73782" y="192472"/>
                  <a:pt x="72665" y="186965"/>
                </a:cubicBezTo>
                <a:lnTo>
                  <a:pt x="67308" y="160958"/>
                </a:lnTo>
                <a:cubicBezTo>
                  <a:pt x="62061" y="158725"/>
                  <a:pt x="57187" y="155860"/>
                  <a:pt x="52685" y="152474"/>
                </a:cubicBezTo>
                <a:lnTo>
                  <a:pt x="27347" y="160846"/>
                </a:lnTo>
                <a:cubicBezTo>
                  <a:pt x="21989" y="162632"/>
                  <a:pt x="16111" y="160400"/>
                  <a:pt x="13283" y="155488"/>
                </a:cubicBezTo>
                <a:lnTo>
                  <a:pt x="2158" y="136215"/>
                </a:lnTo>
                <a:cubicBezTo>
                  <a:pt x="-670" y="131304"/>
                  <a:pt x="335" y="125127"/>
                  <a:pt x="4576" y="121369"/>
                </a:cubicBezTo>
                <a:lnTo>
                  <a:pt x="24445" y="103696"/>
                </a:lnTo>
                <a:cubicBezTo>
                  <a:pt x="24110" y="100943"/>
                  <a:pt x="23961" y="98115"/>
                  <a:pt x="23961" y="95250"/>
                </a:cubicBezTo>
                <a:cubicBezTo>
                  <a:pt x="23961" y="92385"/>
                  <a:pt x="24147" y="89557"/>
                  <a:pt x="24445" y="86804"/>
                </a:cubicBezTo>
                <a:lnTo>
                  <a:pt x="4576" y="69131"/>
                </a:lnTo>
                <a:cubicBezTo>
                  <a:pt x="335" y="65373"/>
                  <a:pt x="-633" y="59159"/>
                  <a:pt x="2158" y="54285"/>
                </a:cubicBezTo>
                <a:lnTo>
                  <a:pt x="13283" y="35012"/>
                </a:lnTo>
                <a:cubicBezTo>
                  <a:pt x="16111" y="30100"/>
                  <a:pt x="21989" y="27868"/>
                  <a:pt x="27347" y="29654"/>
                </a:cubicBezTo>
                <a:lnTo>
                  <a:pt x="52574" y="38026"/>
                </a:lnTo>
                <a:cubicBezTo>
                  <a:pt x="57076" y="34640"/>
                  <a:pt x="61987" y="31812"/>
                  <a:pt x="67196" y="29542"/>
                </a:cubicBezTo>
                <a:lnTo>
                  <a:pt x="72591" y="3535"/>
                </a:lnTo>
                <a:close/>
                <a:moveTo>
                  <a:pt x="95362" y="125016"/>
                </a:moveTo>
                <a:cubicBezTo>
                  <a:pt x="105996" y="124976"/>
                  <a:pt x="115801" y="119266"/>
                  <a:pt x="121084" y="110036"/>
                </a:cubicBezTo>
                <a:cubicBezTo>
                  <a:pt x="126366" y="100807"/>
                  <a:pt x="126324" y="89460"/>
                  <a:pt x="120972" y="80271"/>
                </a:cubicBezTo>
                <a:cubicBezTo>
                  <a:pt x="115620" y="71081"/>
                  <a:pt x="105773" y="65444"/>
                  <a:pt x="95138" y="65484"/>
                </a:cubicBezTo>
                <a:cubicBezTo>
                  <a:pt x="84504" y="65524"/>
                  <a:pt x="74699" y="71234"/>
                  <a:pt x="69416" y="80464"/>
                </a:cubicBezTo>
                <a:cubicBezTo>
                  <a:pt x="64134" y="89693"/>
                  <a:pt x="64176" y="101040"/>
                  <a:pt x="69528" y="110229"/>
                </a:cubicBezTo>
                <a:cubicBezTo>
                  <a:pt x="74880" y="119419"/>
                  <a:pt x="84727" y="125056"/>
                  <a:pt x="95362" y="125016"/>
                </a:cubicBezTo>
                <a:close/>
              </a:path>
            </a:pathLst>
          </a:custGeom>
          <a:solidFill>
            <a:srgbClr val="2A9D8F"/>
          </a:solidFill>
          <a:ln/>
        </p:spPr>
      </p:sp>
      <p:sp>
        <p:nvSpPr>
          <p:cNvPr id="29" name="Text 26"/>
          <p:cNvSpPr/>
          <p:nvPr/>
        </p:nvSpPr>
        <p:spPr>
          <a:xfrm>
            <a:off x="7124712" y="1444625"/>
            <a:ext cx="4714875"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How It Works</a:t>
            </a:r>
            <a:endParaRPr lang="en-US" sz="1600" dirty="0"/>
          </a:p>
        </p:txBody>
      </p:sp>
      <p:sp>
        <p:nvSpPr>
          <p:cNvPr id="30" name="Shape 27"/>
          <p:cNvSpPr/>
          <p:nvPr/>
        </p:nvSpPr>
        <p:spPr>
          <a:xfrm>
            <a:off x="6886587" y="1793875"/>
            <a:ext cx="4857750" cy="619125"/>
          </a:xfrm>
          <a:custGeom>
            <a:avLst/>
            <a:gdLst/>
            <a:ahLst/>
            <a:cxnLst/>
            <a:rect l="l" t="t" r="r" b="b"/>
            <a:pathLst>
              <a:path w="4857750" h="619125">
                <a:moveTo>
                  <a:pt x="63497" y="0"/>
                </a:moveTo>
                <a:lnTo>
                  <a:pt x="4794253" y="0"/>
                </a:lnTo>
                <a:cubicBezTo>
                  <a:pt x="4829321" y="0"/>
                  <a:pt x="4857750" y="28429"/>
                  <a:pt x="4857750" y="63497"/>
                </a:cubicBezTo>
                <a:lnTo>
                  <a:pt x="4857750" y="555628"/>
                </a:lnTo>
                <a:cubicBezTo>
                  <a:pt x="4857750" y="590696"/>
                  <a:pt x="4829321" y="619125"/>
                  <a:pt x="4794253" y="619125"/>
                </a:cubicBezTo>
                <a:lnTo>
                  <a:pt x="63497" y="619125"/>
                </a:lnTo>
                <a:cubicBezTo>
                  <a:pt x="28429" y="619125"/>
                  <a:pt x="0" y="590696"/>
                  <a:pt x="0" y="555628"/>
                </a:cubicBezTo>
                <a:lnTo>
                  <a:pt x="0" y="63497"/>
                </a:lnTo>
                <a:cubicBezTo>
                  <a:pt x="0" y="28452"/>
                  <a:pt x="28452" y="0"/>
                  <a:pt x="63497" y="0"/>
                </a:cubicBezTo>
                <a:close/>
              </a:path>
            </a:pathLst>
          </a:custGeom>
          <a:solidFill>
            <a:srgbClr val="F8F9FA"/>
          </a:solidFill>
          <a:ln/>
        </p:spPr>
      </p:sp>
      <p:sp>
        <p:nvSpPr>
          <p:cNvPr id="31" name="Shape 28"/>
          <p:cNvSpPr/>
          <p:nvPr/>
        </p:nvSpPr>
        <p:spPr>
          <a:xfrm>
            <a:off x="6981837" y="1889125"/>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1A3A5C"/>
          </a:solidFill>
          <a:ln/>
        </p:spPr>
      </p:sp>
      <p:sp>
        <p:nvSpPr>
          <p:cNvPr id="32" name="Text 29"/>
          <p:cNvSpPr/>
          <p:nvPr/>
        </p:nvSpPr>
        <p:spPr>
          <a:xfrm>
            <a:off x="6946119" y="1889125"/>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33" name="Text 30"/>
          <p:cNvSpPr/>
          <p:nvPr/>
        </p:nvSpPr>
        <p:spPr>
          <a:xfrm>
            <a:off x="7394587" y="1889125"/>
            <a:ext cx="2516188"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Accept Deposits</a:t>
            </a:r>
            <a:endParaRPr lang="en-US" sz="1600" dirty="0"/>
          </a:p>
        </p:txBody>
      </p:sp>
      <p:sp>
        <p:nvSpPr>
          <p:cNvPr id="34" name="Text 31"/>
          <p:cNvSpPr/>
          <p:nvPr/>
        </p:nvSpPr>
        <p:spPr>
          <a:xfrm>
            <a:off x="7394587" y="2143125"/>
            <a:ext cx="2508250" cy="174625"/>
          </a:xfrm>
          <a:prstGeom prst="rect">
            <a:avLst/>
          </a:prstGeom>
          <a:noFill/>
          <a:ln/>
        </p:spPr>
        <p:txBody>
          <a:bodyPr wrap="square" lIns="0" tIns="0" rIns="0" bIns="0" rtlCol="0" anchor="ctr"/>
          <a:lstStyle/>
          <a:p>
            <a:pPr>
              <a:lnSpc>
                <a:spcPct val="110000"/>
              </a:lnSpc>
            </a:pPr>
            <a:r>
              <a:rPr lang="en-US" sz="1000" dirty="0">
                <a:solidFill>
                  <a:srgbClr val="8D99AE"/>
                </a:solidFill>
                <a:latin typeface="Quattrocento Sans" pitchFamily="34" charset="0"/>
                <a:ea typeface="Quattrocento Sans" pitchFamily="34" charset="-122"/>
                <a:cs typeface="Quattrocento Sans" pitchFamily="34" charset="-120"/>
              </a:rPr>
              <a:t>Customers deposit money, receiving interest</a:t>
            </a:r>
            <a:endParaRPr lang="en-US" sz="1600" dirty="0"/>
          </a:p>
        </p:txBody>
      </p:sp>
      <p:sp>
        <p:nvSpPr>
          <p:cNvPr id="35" name="Shape 32"/>
          <p:cNvSpPr/>
          <p:nvPr/>
        </p:nvSpPr>
        <p:spPr>
          <a:xfrm>
            <a:off x="6886587" y="2508250"/>
            <a:ext cx="4857750" cy="619125"/>
          </a:xfrm>
          <a:custGeom>
            <a:avLst/>
            <a:gdLst/>
            <a:ahLst/>
            <a:cxnLst/>
            <a:rect l="l" t="t" r="r" b="b"/>
            <a:pathLst>
              <a:path w="4857750" h="619125">
                <a:moveTo>
                  <a:pt x="63497" y="0"/>
                </a:moveTo>
                <a:lnTo>
                  <a:pt x="4794253" y="0"/>
                </a:lnTo>
                <a:cubicBezTo>
                  <a:pt x="4829321" y="0"/>
                  <a:pt x="4857750" y="28429"/>
                  <a:pt x="4857750" y="63497"/>
                </a:cubicBezTo>
                <a:lnTo>
                  <a:pt x="4857750" y="555628"/>
                </a:lnTo>
                <a:cubicBezTo>
                  <a:pt x="4857750" y="590696"/>
                  <a:pt x="4829321" y="619125"/>
                  <a:pt x="4794253" y="619125"/>
                </a:cubicBezTo>
                <a:lnTo>
                  <a:pt x="63497" y="619125"/>
                </a:lnTo>
                <a:cubicBezTo>
                  <a:pt x="28429" y="619125"/>
                  <a:pt x="0" y="590696"/>
                  <a:pt x="0" y="555628"/>
                </a:cubicBezTo>
                <a:lnTo>
                  <a:pt x="0" y="63497"/>
                </a:lnTo>
                <a:cubicBezTo>
                  <a:pt x="0" y="28452"/>
                  <a:pt x="28452" y="0"/>
                  <a:pt x="63497" y="0"/>
                </a:cubicBezTo>
                <a:close/>
              </a:path>
            </a:pathLst>
          </a:custGeom>
          <a:solidFill>
            <a:srgbClr val="F8F9FA"/>
          </a:solidFill>
          <a:ln/>
        </p:spPr>
      </p:sp>
      <p:sp>
        <p:nvSpPr>
          <p:cNvPr id="36" name="Shape 33"/>
          <p:cNvSpPr/>
          <p:nvPr/>
        </p:nvSpPr>
        <p:spPr>
          <a:xfrm>
            <a:off x="6981837" y="2603500"/>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2A9D8F"/>
          </a:solidFill>
          <a:ln/>
        </p:spPr>
      </p:sp>
      <p:sp>
        <p:nvSpPr>
          <p:cNvPr id="37" name="Text 34"/>
          <p:cNvSpPr/>
          <p:nvPr/>
        </p:nvSpPr>
        <p:spPr>
          <a:xfrm>
            <a:off x="6946119" y="2603500"/>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38" name="Text 35"/>
          <p:cNvSpPr/>
          <p:nvPr/>
        </p:nvSpPr>
        <p:spPr>
          <a:xfrm>
            <a:off x="7394587" y="2603500"/>
            <a:ext cx="2714625"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Maintain Reserves</a:t>
            </a:r>
            <a:endParaRPr lang="en-US" sz="1600" dirty="0"/>
          </a:p>
        </p:txBody>
      </p:sp>
      <p:sp>
        <p:nvSpPr>
          <p:cNvPr id="39" name="Text 36"/>
          <p:cNvSpPr/>
          <p:nvPr/>
        </p:nvSpPr>
        <p:spPr>
          <a:xfrm>
            <a:off x="7394587" y="2857500"/>
            <a:ext cx="2706688" cy="174625"/>
          </a:xfrm>
          <a:prstGeom prst="rect">
            <a:avLst/>
          </a:prstGeom>
          <a:noFill/>
          <a:ln/>
        </p:spPr>
        <p:txBody>
          <a:bodyPr wrap="square" lIns="0" tIns="0" rIns="0" bIns="0" rtlCol="0" anchor="ctr"/>
          <a:lstStyle/>
          <a:p>
            <a:pPr>
              <a:lnSpc>
                <a:spcPct val="110000"/>
              </a:lnSpc>
            </a:pPr>
            <a:r>
              <a:rPr lang="en-US" sz="1000" dirty="0">
                <a:solidFill>
                  <a:srgbClr val="8D99AE"/>
                </a:solidFill>
                <a:latin typeface="Quattrocento Sans" pitchFamily="34" charset="0"/>
                <a:ea typeface="Quattrocento Sans" pitchFamily="34" charset="-122"/>
                <a:cs typeface="Quattrocento Sans" pitchFamily="34" charset="-120"/>
              </a:rPr>
              <a:t>Bank keeps a fraction (e.g., 10%) for withdrawals</a:t>
            </a:r>
            <a:endParaRPr lang="en-US" sz="1600" dirty="0"/>
          </a:p>
        </p:txBody>
      </p:sp>
      <p:sp>
        <p:nvSpPr>
          <p:cNvPr id="40" name="Shape 37"/>
          <p:cNvSpPr/>
          <p:nvPr/>
        </p:nvSpPr>
        <p:spPr>
          <a:xfrm>
            <a:off x="6886587" y="3222625"/>
            <a:ext cx="4857750" cy="619125"/>
          </a:xfrm>
          <a:custGeom>
            <a:avLst/>
            <a:gdLst/>
            <a:ahLst/>
            <a:cxnLst/>
            <a:rect l="l" t="t" r="r" b="b"/>
            <a:pathLst>
              <a:path w="4857750" h="619125">
                <a:moveTo>
                  <a:pt x="63497" y="0"/>
                </a:moveTo>
                <a:lnTo>
                  <a:pt x="4794253" y="0"/>
                </a:lnTo>
                <a:cubicBezTo>
                  <a:pt x="4829321" y="0"/>
                  <a:pt x="4857750" y="28429"/>
                  <a:pt x="4857750" y="63497"/>
                </a:cubicBezTo>
                <a:lnTo>
                  <a:pt x="4857750" y="555628"/>
                </a:lnTo>
                <a:cubicBezTo>
                  <a:pt x="4857750" y="590696"/>
                  <a:pt x="4829321" y="619125"/>
                  <a:pt x="4794253" y="619125"/>
                </a:cubicBezTo>
                <a:lnTo>
                  <a:pt x="63497" y="619125"/>
                </a:lnTo>
                <a:cubicBezTo>
                  <a:pt x="28429" y="619125"/>
                  <a:pt x="0" y="590696"/>
                  <a:pt x="0" y="555628"/>
                </a:cubicBezTo>
                <a:lnTo>
                  <a:pt x="0" y="63497"/>
                </a:lnTo>
                <a:cubicBezTo>
                  <a:pt x="0" y="28452"/>
                  <a:pt x="28452" y="0"/>
                  <a:pt x="63497" y="0"/>
                </a:cubicBezTo>
                <a:close/>
              </a:path>
            </a:pathLst>
          </a:custGeom>
          <a:solidFill>
            <a:srgbClr val="F8F9FA"/>
          </a:solidFill>
          <a:ln/>
        </p:spPr>
      </p:sp>
      <p:sp>
        <p:nvSpPr>
          <p:cNvPr id="41" name="Shape 38"/>
          <p:cNvSpPr/>
          <p:nvPr/>
        </p:nvSpPr>
        <p:spPr>
          <a:xfrm>
            <a:off x="6981837" y="3317875"/>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1A3A5C"/>
          </a:solidFill>
          <a:ln/>
        </p:spPr>
      </p:sp>
      <p:sp>
        <p:nvSpPr>
          <p:cNvPr id="42" name="Text 39"/>
          <p:cNvSpPr/>
          <p:nvPr/>
        </p:nvSpPr>
        <p:spPr>
          <a:xfrm>
            <a:off x="6946119" y="3317875"/>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43" name="Text 40"/>
          <p:cNvSpPr/>
          <p:nvPr/>
        </p:nvSpPr>
        <p:spPr>
          <a:xfrm>
            <a:off x="7394587" y="3317875"/>
            <a:ext cx="2698750"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Lend to Borrowers</a:t>
            </a:r>
            <a:endParaRPr lang="en-US" sz="1600" dirty="0"/>
          </a:p>
        </p:txBody>
      </p:sp>
      <p:sp>
        <p:nvSpPr>
          <p:cNvPr id="44" name="Text 41"/>
          <p:cNvSpPr/>
          <p:nvPr/>
        </p:nvSpPr>
        <p:spPr>
          <a:xfrm>
            <a:off x="7394587" y="3571875"/>
            <a:ext cx="2690813" cy="174625"/>
          </a:xfrm>
          <a:prstGeom prst="rect">
            <a:avLst/>
          </a:prstGeom>
          <a:noFill/>
          <a:ln/>
        </p:spPr>
        <p:txBody>
          <a:bodyPr wrap="square" lIns="0" tIns="0" rIns="0" bIns="0" rtlCol="0" anchor="ctr"/>
          <a:lstStyle/>
          <a:p>
            <a:pPr>
              <a:lnSpc>
                <a:spcPct val="110000"/>
              </a:lnSpc>
            </a:pPr>
            <a:r>
              <a:rPr lang="en-US" sz="1000" dirty="0">
                <a:solidFill>
                  <a:srgbClr val="8D99AE"/>
                </a:solidFill>
                <a:latin typeface="Quattrocento Sans" pitchFamily="34" charset="0"/>
                <a:ea typeface="Quattrocento Sans" pitchFamily="34" charset="-122"/>
                <a:cs typeface="Quattrocento Sans" pitchFamily="34" charset="-120"/>
              </a:rPr>
              <a:t>Remaining 90% is loaned at higher interest rates</a:t>
            </a:r>
            <a:endParaRPr lang="en-US" sz="1600" dirty="0"/>
          </a:p>
        </p:txBody>
      </p:sp>
      <p:sp>
        <p:nvSpPr>
          <p:cNvPr id="45" name="Shape 42"/>
          <p:cNvSpPr/>
          <p:nvPr/>
        </p:nvSpPr>
        <p:spPr>
          <a:xfrm>
            <a:off x="6886587" y="3937000"/>
            <a:ext cx="4857750" cy="619125"/>
          </a:xfrm>
          <a:custGeom>
            <a:avLst/>
            <a:gdLst/>
            <a:ahLst/>
            <a:cxnLst/>
            <a:rect l="l" t="t" r="r" b="b"/>
            <a:pathLst>
              <a:path w="4857750" h="619125">
                <a:moveTo>
                  <a:pt x="63497" y="0"/>
                </a:moveTo>
                <a:lnTo>
                  <a:pt x="4794253" y="0"/>
                </a:lnTo>
                <a:cubicBezTo>
                  <a:pt x="4829321" y="0"/>
                  <a:pt x="4857750" y="28429"/>
                  <a:pt x="4857750" y="63497"/>
                </a:cubicBezTo>
                <a:lnTo>
                  <a:pt x="4857750" y="555628"/>
                </a:lnTo>
                <a:cubicBezTo>
                  <a:pt x="4857750" y="590696"/>
                  <a:pt x="4829321" y="619125"/>
                  <a:pt x="4794253" y="619125"/>
                </a:cubicBezTo>
                <a:lnTo>
                  <a:pt x="63497" y="619125"/>
                </a:lnTo>
                <a:cubicBezTo>
                  <a:pt x="28429" y="619125"/>
                  <a:pt x="0" y="590696"/>
                  <a:pt x="0" y="555628"/>
                </a:cubicBezTo>
                <a:lnTo>
                  <a:pt x="0" y="63497"/>
                </a:lnTo>
                <a:cubicBezTo>
                  <a:pt x="0" y="28452"/>
                  <a:pt x="28452" y="0"/>
                  <a:pt x="63497" y="0"/>
                </a:cubicBezTo>
                <a:close/>
              </a:path>
            </a:pathLst>
          </a:custGeom>
          <a:solidFill>
            <a:srgbClr val="F8F9FA"/>
          </a:solidFill>
          <a:ln/>
        </p:spPr>
      </p:sp>
      <p:sp>
        <p:nvSpPr>
          <p:cNvPr id="46" name="Shape 43"/>
          <p:cNvSpPr/>
          <p:nvPr/>
        </p:nvSpPr>
        <p:spPr>
          <a:xfrm>
            <a:off x="6981837" y="4032250"/>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2A9D8F"/>
          </a:solidFill>
          <a:ln/>
        </p:spPr>
      </p:sp>
      <p:sp>
        <p:nvSpPr>
          <p:cNvPr id="47" name="Text 44"/>
          <p:cNvSpPr/>
          <p:nvPr/>
        </p:nvSpPr>
        <p:spPr>
          <a:xfrm>
            <a:off x="6946119" y="4032250"/>
            <a:ext cx="388938" cy="317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
        <p:nvSpPr>
          <p:cNvPr id="48" name="Text 45"/>
          <p:cNvSpPr/>
          <p:nvPr/>
        </p:nvSpPr>
        <p:spPr>
          <a:xfrm>
            <a:off x="7394587" y="4032250"/>
            <a:ext cx="3119438"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Create Money</a:t>
            </a:r>
            <a:endParaRPr lang="en-US" sz="1600" dirty="0"/>
          </a:p>
        </p:txBody>
      </p:sp>
      <p:sp>
        <p:nvSpPr>
          <p:cNvPr id="49" name="Text 46"/>
          <p:cNvSpPr/>
          <p:nvPr/>
        </p:nvSpPr>
        <p:spPr>
          <a:xfrm>
            <a:off x="7394587" y="4286250"/>
            <a:ext cx="3111500" cy="174625"/>
          </a:xfrm>
          <a:prstGeom prst="rect">
            <a:avLst/>
          </a:prstGeom>
          <a:noFill/>
          <a:ln/>
        </p:spPr>
        <p:txBody>
          <a:bodyPr wrap="square" lIns="0" tIns="0" rIns="0" bIns="0" rtlCol="0" anchor="ctr"/>
          <a:lstStyle/>
          <a:p>
            <a:pPr>
              <a:lnSpc>
                <a:spcPct val="110000"/>
              </a:lnSpc>
            </a:pPr>
            <a:r>
              <a:rPr lang="en-US" sz="1000" dirty="0">
                <a:solidFill>
                  <a:srgbClr val="8D99AE"/>
                </a:solidFill>
                <a:latin typeface="Quattrocento Sans" pitchFamily="34" charset="0"/>
                <a:ea typeface="Quattrocento Sans" pitchFamily="34" charset="-122"/>
                <a:cs typeface="Quattrocento Sans" pitchFamily="34" charset="-120"/>
              </a:rPr>
              <a:t>Loans become new deposits, multiplying money supply</a:t>
            </a:r>
            <a:endParaRPr lang="en-US" sz="1600" dirty="0"/>
          </a:p>
        </p:txBody>
      </p:sp>
      <p:sp>
        <p:nvSpPr>
          <p:cNvPr id="50" name="Shape 47"/>
          <p:cNvSpPr/>
          <p:nvPr/>
        </p:nvSpPr>
        <p:spPr>
          <a:xfrm>
            <a:off x="6759587" y="4810125"/>
            <a:ext cx="5111750" cy="2381250"/>
          </a:xfrm>
          <a:custGeom>
            <a:avLst/>
            <a:gdLst/>
            <a:ahLst/>
            <a:cxnLst/>
            <a:rect l="l" t="t" r="r" b="b"/>
            <a:pathLst>
              <a:path w="5111750" h="2381250">
                <a:moveTo>
                  <a:pt x="95250" y="0"/>
                </a:moveTo>
                <a:lnTo>
                  <a:pt x="5016500" y="0"/>
                </a:lnTo>
                <a:cubicBezTo>
                  <a:pt x="5069070" y="0"/>
                  <a:pt x="5111750" y="42680"/>
                  <a:pt x="5111750" y="95250"/>
                </a:cubicBezTo>
                <a:lnTo>
                  <a:pt x="5111750" y="2286000"/>
                </a:lnTo>
                <a:cubicBezTo>
                  <a:pt x="5111750" y="2338570"/>
                  <a:pt x="5069070" y="2381250"/>
                  <a:pt x="5016500" y="2381250"/>
                </a:cubicBezTo>
                <a:lnTo>
                  <a:pt x="95250" y="2381250"/>
                </a:lnTo>
                <a:cubicBezTo>
                  <a:pt x="42680" y="2381250"/>
                  <a:pt x="0" y="2338570"/>
                  <a:pt x="0" y="2286000"/>
                </a:cubicBezTo>
                <a:lnTo>
                  <a:pt x="0" y="95250"/>
                </a:lnTo>
                <a:cubicBezTo>
                  <a:pt x="0" y="42680"/>
                  <a:pt x="42680" y="0"/>
                  <a:pt x="952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51" name="Shape 48"/>
          <p:cNvSpPr/>
          <p:nvPr/>
        </p:nvSpPr>
        <p:spPr>
          <a:xfrm>
            <a:off x="6906431" y="4968875"/>
            <a:ext cx="158750" cy="158750"/>
          </a:xfrm>
          <a:custGeom>
            <a:avLst/>
            <a:gdLst/>
            <a:ahLst/>
            <a:cxnLst/>
            <a:rect l="l" t="t" r="r" b="b"/>
            <a:pathLst>
              <a:path w="158750" h="158750">
                <a:moveTo>
                  <a:pt x="79375" y="0"/>
                </a:moveTo>
                <a:cubicBezTo>
                  <a:pt x="80801" y="0"/>
                  <a:pt x="82228" y="310"/>
                  <a:pt x="83530" y="899"/>
                </a:cubicBezTo>
                <a:lnTo>
                  <a:pt x="141945" y="25673"/>
                </a:lnTo>
                <a:cubicBezTo>
                  <a:pt x="148766" y="28556"/>
                  <a:pt x="153851" y="35285"/>
                  <a:pt x="153820" y="43408"/>
                </a:cubicBezTo>
                <a:cubicBezTo>
                  <a:pt x="153665" y="74166"/>
                  <a:pt x="141015" y="130442"/>
                  <a:pt x="87592" y="156021"/>
                </a:cubicBezTo>
                <a:cubicBezTo>
                  <a:pt x="82414" y="158502"/>
                  <a:pt x="76398" y="158502"/>
                  <a:pt x="71220" y="156021"/>
                </a:cubicBezTo>
                <a:cubicBezTo>
                  <a:pt x="17766" y="130442"/>
                  <a:pt x="5147" y="74166"/>
                  <a:pt x="4992" y="43408"/>
                </a:cubicBezTo>
                <a:cubicBezTo>
                  <a:pt x="4961" y="35285"/>
                  <a:pt x="10046" y="28556"/>
                  <a:pt x="16867" y="25673"/>
                </a:cubicBezTo>
                <a:lnTo>
                  <a:pt x="75251" y="899"/>
                </a:lnTo>
                <a:cubicBezTo>
                  <a:pt x="76553" y="310"/>
                  <a:pt x="77949" y="0"/>
                  <a:pt x="79375" y="0"/>
                </a:cubicBezTo>
                <a:close/>
                <a:moveTo>
                  <a:pt x="79375" y="20712"/>
                </a:moveTo>
                <a:lnTo>
                  <a:pt x="79375" y="137945"/>
                </a:lnTo>
                <a:cubicBezTo>
                  <a:pt x="122163" y="117233"/>
                  <a:pt x="133666" y="71344"/>
                  <a:pt x="133945" y="43873"/>
                </a:cubicBezTo>
                <a:lnTo>
                  <a:pt x="79375" y="20743"/>
                </a:lnTo>
                <a:lnTo>
                  <a:pt x="79375" y="20743"/>
                </a:lnTo>
                <a:close/>
              </a:path>
            </a:pathLst>
          </a:custGeom>
          <a:solidFill>
            <a:srgbClr val="2A9D8F"/>
          </a:solidFill>
          <a:ln/>
        </p:spPr>
      </p:sp>
      <p:sp>
        <p:nvSpPr>
          <p:cNvPr id="52" name="Text 49"/>
          <p:cNvSpPr/>
          <p:nvPr/>
        </p:nvSpPr>
        <p:spPr>
          <a:xfrm>
            <a:off x="7085025" y="4937125"/>
            <a:ext cx="4738688" cy="222250"/>
          </a:xfrm>
          <a:prstGeom prst="rect">
            <a:avLst/>
          </a:prstGeom>
          <a:noFill/>
          <a:ln/>
        </p:spPr>
        <p:txBody>
          <a:bodyPr wrap="square" lIns="0" tIns="0" rIns="0" bIns="0" rtlCol="0" anchor="ctr"/>
          <a:lstStyle/>
          <a:p>
            <a:pPr>
              <a:lnSpc>
                <a:spcPct val="120000"/>
              </a:lnSpc>
            </a:pPr>
            <a:r>
              <a:rPr lang="en-US" sz="1250" b="1" dirty="0">
                <a:solidFill>
                  <a:srgbClr val="1A3A5C"/>
                </a:solidFill>
                <a:latin typeface="Liter" pitchFamily="34" charset="0"/>
                <a:ea typeface="Liter" pitchFamily="34" charset="-122"/>
                <a:cs typeface="Liter" pitchFamily="34" charset="-120"/>
              </a:rPr>
              <a:t>Safety Mechanisms</a:t>
            </a:r>
            <a:endParaRPr lang="en-US" sz="1600" dirty="0"/>
          </a:p>
        </p:txBody>
      </p:sp>
      <p:sp>
        <p:nvSpPr>
          <p:cNvPr id="53" name="Shape 50"/>
          <p:cNvSpPr/>
          <p:nvPr/>
        </p:nvSpPr>
        <p:spPr>
          <a:xfrm>
            <a:off x="6886587" y="5254625"/>
            <a:ext cx="4857750" cy="539750"/>
          </a:xfrm>
          <a:custGeom>
            <a:avLst/>
            <a:gdLst/>
            <a:ahLst/>
            <a:cxnLst/>
            <a:rect l="l" t="t" r="r" b="b"/>
            <a:pathLst>
              <a:path w="4857750" h="539750">
                <a:moveTo>
                  <a:pt x="63502" y="0"/>
                </a:moveTo>
                <a:lnTo>
                  <a:pt x="4794248" y="0"/>
                </a:lnTo>
                <a:cubicBezTo>
                  <a:pt x="4829319" y="0"/>
                  <a:pt x="4857750" y="28431"/>
                  <a:pt x="4857750" y="63502"/>
                </a:cubicBezTo>
                <a:lnTo>
                  <a:pt x="4857750" y="476248"/>
                </a:lnTo>
                <a:cubicBezTo>
                  <a:pt x="4857750" y="511319"/>
                  <a:pt x="4829319" y="539750"/>
                  <a:pt x="4794248" y="539750"/>
                </a:cubicBezTo>
                <a:lnTo>
                  <a:pt x="63502" y="539750"/>
                </a:lnTo>
                <a:cubicBezTo>
                  <a:pt x="28431" y="539750"/>
                  <a:pt x="0" y="511319"/>
                  <a:pt x="0" y="476248"/>
                </a:cubicBezTo>
                <a:lnTo>
                  <a:pt x="0" y="63502"/>
                </a:lnTo>
                <a:cubicBezTo>
                  <a:pt x="0" y="28454"/>
                  <a:pt x="28454" y="0"/>
                  <a:pt x="63502" y="0"/>
                </a:cubicBezTo>
                <a:close/>
              </a:path>
            </a:pathLst>
          </a:custGeom>
          <a:solidFill>
            <a:srgbClr val="F8F9FA"/>
          </a:solidFill>
          <a:ln/>
        </p:spPr>
      </p:sp>
      <p:sp>
        <p:nvSpPr>
          <p:cNvPr id="54" name="Shape 51"/>
          <p:cNvSpPr/>
          <p:nvPr/>
        </p:nvSpPr>
        <p:spPr>
          <a:xfrm>
            <a:off x="7001681" y="5445125"/>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solidFill>
            <a:srgbClr val="2A9D8F"/>
          </a:solidFill>
          <a:ln/>
        </p:spPr>
      </p:sp>
      <p:sp>
        <p:nvSpPr>
          <p:cNvPr id="55" name="Text 52"/>
          <p:cNvSpPr/>
          <p:nvPr/>
        </p:nvSpPr>
        <p:spPr>
          <a:xfrm>
            <a:off x="7275525" y="5349875"/>
            <a:ext cx="2039938" cy="190500"/>
          </a:xfrm>
          <a:prstGeom prst="rect">
            <a:avLst/>
          </a:prstGeom>
          <a:noFill/>
          <a:ln/>
        </p:spPr>
        <p:txBody>
          <a:bodyPr wrap="square" lIns="0" tIns="0" rIns="0" bIns="0" rtlCol="0" anchor="ctr"/>
          <a:lstStyle/>
          <a:p>
            <a:pPr>
              <a:lnSpc>
                <a:spcPct val="130000"/>
              </a:lnSpc>
            </a:pPr>
            <a:r>
              <a:rPr lang="en-US" sz="1000" b="1" dirty="0">
                <a:solidFill>
                  <a:srgbClr val="1A3A5C"/>
                </a:solidFill>
                <a:latin typeface="Liter" pitchFamily="34" charset="0"/>
                <a:ea typeface="Liter" pitchFamily="34" charset="-122"/>
                <a:cs typeface="Liter" pitchFamily="34" charset="-120"/>
              </a:rPr>
              <a:t>Deposit Insurance</a:t>
            </a:r>
            <a:endParaRPr lang="en-US" sz="1600" dirty="0"/>
          </a:p>
        </p:txBody>
      </p:sp>
      <p:sp>
        <p:nvSpPr>
          <p:cNvPr id="56" name="Text 53"/>
          <p:cNvSpPr/>
          <p:nvPr/>
        </p:nvSpPr>
        <p:spPr>
          <a:xfrm>
            <a:off x="7275525" y="5540375"/>
            <a:ext cx="2032000"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FDIC covers up to $250,000 per account</a:t>
            </a:r>
            <a:endParaRPr lang="en-US" sz="1600" dirty="0"/>
          </a:p>
        </p:txBody>
      </p:sp>
      <p:sp>
        <p:nvSpPr>
          <p:cNvPr id="57" name="Shape 54"/>
          <p:cNvSpPr/>
          <p:nvPr/>
        </p:nvSpPr>
        <p:spPr>
          <a:xfrm>
            <a:off x="6886587" y="5889625"/>
            <a:ext cx="4857750" cy="539750"/>
          </a:xfrm>
          <a:custGeom>
            <a:avLst/>
            <a:gdLst/>
            <a:ahLst/>
            <a:cxnLst/>
            <a:rect l="l" t="t" r="r" b="b"/>
            <a:pathLst>
              <a:path w="4857750" h="539750">
                <a:moveTo>
                  <a:pt x="63502" y="0"/>
                </a:moveTo>
                <a:lnTo>
                  <a:pt x="4794248" y="0"/>
                </a:lnTo>
                <a:cubicBezTo>
                  <a:pt x="4829319" y="0"/>
                  <a:pt x="4857750" y="28431"/>
                  <a:pt x="4857750" y="63502"/>
                </a:cubicBezTo>
                <a:lnTo>
                  <a:pt x="4857750" y="476248"/>
                </a:lnTo>
                <a:cubicBezTo>
                  <a:pt x="4857750" y="511319"/>
                  <a:pt x="4829319" y="539750"/>
                  <a:pt x="4794248" y="539750"/>
                </a:cubicBezTo>
                <a:lnTo>
                  <a:pt x="63502" y="539750"/>
                </a:lnTo>
                <a:cubicBezTo>
                  <a:pt x="28431" y="539750"/>
                  <a:pt x="0" y="511319"/>
                  <a:pt x="0" y="476248"/>
                </a:cubicBezTo>
                <a:lnTo>
                  <a:pt x="0" y="63502"/>
                </a:lnTo>
                <a:cubicBezTo>
                  <a:pt x="0" y="28454"/>
                  <a:pt x="28454" y="0"/>
                  <a:pt x="63502" y="0"/>
                </a:cubicBezTo>
                <a:close/>
              </a:path>
            </a:pathLst>
          </a:custGeom>
          <a:solidFill>
            <a:srgbClr val="F8F9FA"/>
          </a:solidFill>
          <a:ln/>
        </p:spPr>
      </p:sp>
      <p:sp>
        <p:nvSpPr>
          <p:cNvPr id="58" name="Shape 55"/>
          <p:cNvSpPr/>
          <p:nvPr/>
        </p:nvSpPr>
        <p:spPr>
          <a:xfrm>
            <a:off x="7001681" y="6080125"/>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solidFill>
            <a:srgbClr val="2A9D8F"/>
          </a:solidFill>
          <a:ln/>
        </p:spPr>
      </p:sp>
      <p:sp>
        <p:nvSpPr>
          <p:cNvPr id="59" name="Text 56"/>
          <p:cNvSpPr/>
          <p:nvPr/>
        </p:nvSpPr>
        <p:spPr>
          <a:xfrm>
            <a:off x="7275525" y="5984875"/>
            <a:ext cx="2111375" cy="190500"/>
          </a:xfrm>
          <a:prstGeom prst="rect">
            <a:avLst/>
          </a:prstGeom>
          <a:noFill/>
          <a:ln/>
        </p:spPr>
        <p:txBody>
          <a:bodyPr wrap="square" lIns="0" tIns="0" rIns="0" bIns="0" rtlCol="0" anchor="ctr"/>
          <a:lstStyle/>
          <a:p>
            <a:pPr>
              <a:lnSpc>
                <a:spcPct val="130000"/>
              </a:lnSpc>
            </a:pPr>
            <a:r>
              <a:rPr lang="en-US" sz="1000" b="1" dirty="0">
                <a:solidFill>
                  <a:srgbClr val="1A3A5C"/>
                </a:solidFill>
                <a:latin typeface="Liter" pitchFamily="34" charset="0"/>
                <a:ea typeface="Liter" pitchFamily="34" charset="-122"/>
                <a:cs typeface="Liter" pitchFamily="34" charset="-120"/>
              </a:rPr>
              <a:t>Reserve Requirements</a:t>
            </a:r>
            <a:endParaRPr lang="en-US" sz="1600" dirty="0"/>
          </a:p>
        </p:txBody>
      </p:sp>
      <p:sp>
        <p:nvSpPr>
          <p:cNvPr id="60" name="Text 57"/>
          <p:cNvSpPr/>
          <p:nvPr/>
        </p:nvSpPr>
        <p:spPr>
          <a:xfrm>
            <a:off x="7275525" y="6175375"/>
            <a:ext cx="2103438"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Ensures liquidity for customer withdrawals</a:t>
            </a:r>
            <a:endParaRPr lang="en-US" sz="1600" dirty="0"/>
          </a:p>
        </p:txBody>
      </p:sp>
      <p:sp>
        <p:nvSpPr>
          <p:cNvPr id="61" name="Shape 58"/>
          <p:cNvSpPr/>
          <p:nvPr/>
        </p:nvSpPr>
        <p:spPr>
          <a:xfrm>
            <a:off x="6886587" y="6524625"/>
            <a:ext cx="4857750" cy="539750"/>
          </a:xfrm>
          <a:custGeom>
            <a:avLst/>
            <a:gdLst/>
            <a:ahLst/>
            <a:cxnLst/>
            <a:rect l="l" t="t" r="r" b="b"/>
            <a:pathLst>
              <a:path w="4857750" h="539750">
                <a:moveTo>
                  <a:pt x="63502" y="0"/>
                </a:moveTo>
                <a:lnTo>
                  <a:pt x="4794248" y="0"/>
                </a:lnTo>
                <a:cubicBezTo>
                  <a:pt x="4829319" y="0"/>
                  <a:pt x="4857750" y="28431"/>
                  <a:pt x="4857750" y="63502"/>
                </a:cubicBezTo>
                <a:lnTo>
                  <a:pt x="4857750" y="476248"/>
                </a:lnTo>
                <a:cubicBezTo>
                  <a:pt x="4857750" y="511319"/>
                  <a:pt x="4829319" y="539750"/>
                  <a:pt x="4794248" y="539750"/>
                </a:cubicBezTo>
                <a:lnTo>
                  <a:pt x="63502" y="539750"/>
                </a:lnTo>
                <a:cubicBezTo>
                  <a:pt x="28431" y="539750"/>
                  <a:pt x="0" y="511319"/>
                  <a:pt x="0" y="476248"/>
                </a:cubicBezTo>
                <a:lnTo>
                  <a:pt x="0" y="63502"/>
                </a:lnTo>
                <a:cubicBezTo>
                  <a:pt x="0" y="28454"/>
                  <a:pt x="28454" y="0"/>
                  <a:pt x="63502" y="0"/>
                </a:cubicBezTo>
                <a:close/>
              </a:path>
            </a:pathLst>
          </a:custGeom>
          <a:solidFill>
            <a:srgbClr val="F8F9FA"/>
          </a:solidFill>
          <a:ln/>
        </p:spPr>
      </p:sp>
      <p:sp>
        <p:nvSpPr>
          <p:cNvPr id="62" name="Shape 59"/>
          <p:cNvSpPr/>
          <p:nvPr/>
        </p:nvSpPr>
        <p:spPr>
          <a:xfrm>
            <a:off x="7001681" y="6715125"/>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solidFill>
            <a:srgbClr val="2A9D8F"/>
          </a:solidFill>
          <a:ln/>
        </p:spPr>
      </p:sp>
      <p:sp>
        <p:nvSpPr>
          <p:cNvPr id="63" name="Text 60"/>
          <p:cNvSpPr/>
          <p:nvPr/>
        </p:nvSpPr>
        <p:spPr>
          <a:xfrm>
            <a:off x="7275525" y="6619875"/>
            <a:ext cx="1857375" cy="190500"/>
          </a:xfrm>
          <a:prstGeom prst="rect">
            <a:avLst/>
          </a:prstGeom>
          <a:noFill/>
          <a:ln/>
        </p:spPr>
        <p:txBody>
          <a:bodyPr wrap="square" lIns="0" tIns="0" rIns="0" bIns="0" rtlCol="0" anchor="ctr"/>
          <a:lstStyle/>
          <a:p>
            <a:pPr>
              <a:lnSpc>
                <a:spcPct val="130000"/>
              </a:lnSpc>
            </a:pPr>
            <a:r>
              <a:rPr lang="en-US" sz="1000" b="1" dirty="0">
                <a:solidFill>
                  <a:srgbClr val="1A3A5C"/>
                </a:solidFill>
                <a:latin typeface="Liter" pitchFamily="34" charset="0"/>
                <a:ea typeface="Liter" pitchFamily="34" charset="-122"/>
                <a:cs typeface="Liter" pitchFamily="34" charset="-120"/>
              </a:rPr>
              <a:t>Central Bank Support</a:t>
            </a:r>
            <a:endParaRPr lang="en-US" sz="1600" dirty="0"/>
          </a:p>
        </p:txBody>
      </p:sp>
      <p:sp>
        <p:nvSpPr>
          <p:cNvPr id="64" name="Text 61"/>
          <p:cNvSpPr/>
          <p:nvPr/>
        </p:nvSpPr>
        <p:spPr>
          <a:xfrm>
            <a:off x="7275525" y="6810375"/>
            <a:ext cx="1849438"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Acts as "lender of last resort" in crises</a:t>
            </a:r>
            <a:endParaRPr lang="en-US" sz="1600" dirty="0"/>
          </a:p>
        </p:txBody>
      </p:sp>
      <p:sp>
        <p:nvSpPr>
          <p:cNvPr id="65" name="Shape 62"/>
          <p:cNvSpPr/>
          <p:nvPr/>
        </p:nvSpPr>
        <p:spPr>
          <a:xfrm>
            <a:off x="333375" y="7318375"/>
            <a:ext cx="11541125" cy="603250"/>
          </a:xfrm>
          <a:custGeom>
            <a:avLst/>
            <a:gdLst/>
            <a:ahLst/>
            <a:cxnLst/>
            <a:rect l="l" t="t" r="r" b="b"/>
            <a:pathLst>
              <a:path w="11541125" h="603250">
                <a:moveTo>
                  <a:pt x="31750" y="0"/>
                </a:moveTo>
                <a:lnTo>
                  <a:pt x="11477627" y="0"/>
                </a:lnTo>
                <a:cubicBezTo>
                  <a:pt x="11512696" y="0"/>
                  <a:pt x="11541125" y="28429"/>
                  <a:pt x="11541125" y="63498"/>
                </a:cubicBezTo>
                <a:lnTo>
                  <a:pt x="11541125" y="539752"/>
                </a:lnTo>
                <a:cubicBezTo>
                  <a:pt x="11541125" y="574821"/>
                  <a:pt x="11512696" y="603250"/>
                  <a:pt x="11477627" y="603250"/>
                </a:cubicBezTo>
                <a:lnTo>
                  <a:pt x="31750" y="603250"/>
                </a:lnTo>
                <a:cubicBezTo>
                  <a:pt x="14215" y="603250"/>
                  <a:pt x="0" y="589035"/>
                  <a:pt x="0" y="571500"/>
                </a:cubicBezTo>
                <a:lnTo>
                  <a:pt x="0" y="31750"/>
                </a:lnTo>
                <a:cubicBezTo>
                  <a:pt x="0" y="14227"/>
                  <a:pt x="14227" y="0"/>
                  <a:pt x="31750" y="0"/>
                </a:cubicBezTo>
                <a:close/>
              </a:path>
            </a:pathLst>
          </a:custGeom>
          <a:solidFill>
            <a:srgbClr val="1A3A5C">
              <a:alpha val="5098"/>
            </a:srgbClr>
          </a:solidFill>
          <a:ln/>
        </p:spPr>
      </p:sp>
      <p:sp>
        <p:nvSpPr>
          <p:cNvPr id="66" name="Shape 63"/>
          <p:cNvSpPr/>
          <p:nvPr/>
        </p:nvSpPr>
        <p:spPr>
          <a:xfrm>
            <a:off x="333375" y="7318375"/>
            <a:ext cx="31750" cy="603250"/>
          </a:xfrm>
          <a:custGeom>
            <a:avLst/>
            <a:gdLst/>
            <a:ahLst/>
            <a:cxnLst/>
            <a:rect l="l" t="t" r="r" b="b"/>
            <a:pathLst>
              <a:path w="31750" h="603250">
                <a:moveTo>
                  <a:pt x="31750" y="0"/>
                </a:moveTo>
                <a:lnTo>
                  <a:pt x="31750" y="0"/>
                </a:lnTo>
                <a:lnTo>
                  <a:pt x="31750" y="603250"/>
                </a:lnTo>
                <a:lnTo>
                  <a:pt x="31750" y="603250"/>
                </a:lnTo>
                <a:cubicBezTo>
                  <a:pt x="14227" y="603250"/>
                  <a:pt x="0" y="589023"/>
                  <a:pt x="0" y="571500"/>
                </a:cubicBezTo>
                <a:lnTo>
                  <a:pt x="0" y="31750"/>
                </a:lnTo>
                <a:cubicBezTo>
                  <a:pt x="0" y="14227"/>
                  <a:pt x="14227" y="0"/>
                  <a:pt x="31750" y="0"/>
                </a:cubicBezTo>
                <a:close/>
              </a:path>
            </a:pathLst>
          </a:custGeom>
          <a:solidFill>
            <a:srgbClr val="1A3A5C"/>
          </a:solidFill>
          <a:ln/>
        </p:spPr>
      </p:sp>
      <p:sp>
        <p:nvSpPr>
          <p:cNvPr id="67" name="Shape 64"/>
          <p:cNvSpPr/>
          <p:nvPr/>
        </p:nvSpPr>
        <p:spPr>
          <a:xfrm>
            <a:off x="500063" y="7465219"/>
            <a:ext cx="111125" cy="127000"/>
          </a:xfrm>
          <a:custGeom>
            <a:avLst/>
            <a:gdLst/>
            <a:ahLst/>
            <a:cxnLst/>
            <a:rect l="l" t="t" r="r" b="b"/>
            <a:pathLst>
              <a:path w="111125" h="127000">
                <a:moveTo>
                  <a:pt x="0" y="53578"/>
                </a:moveTo>
                <a:cubicBezTo>
                  <a:pt x="0" y="37133"/>
                  <a:pt x="13320" y="23812"/>
                  <a:pt x="29766" y="23812"/>
                </a:cubicBezTo>
                <a:lnTo>
                  <a:pt x="31750" y="23812"/>
                </a:lnTo>
                <a:cubicBezTo>
                  <a:pt x="36140" y="23812"/>
                  <a:pt x="39688" y="27360"/>
                  <a:pt x="39688" y="31750"/>
                </a:cubicBezTo>
                <a:cubicBezTo>
                  <a:pt x="39688" y="36140"/>
                  <a:pt x="36140" y="39688"/>
                  <a:pt x="31750" y="39688"/>
                </a:cubicBezTo>
                <a:lnTo>
                  <a:pt x="29766" y="39688"/>
                </a:lnTo>
                <a:cubicBezTo>
                  <a:pt x="22101" y="39688"/>
                  <a:pt x="15875" y="45913"/>
                  <a:pt x="15875" y="53578"/>
                </a:cubicBezTo>
                <a:lnTo>
                  <a:pt x="15875" y="55563"/>
                </a:lnTo>
                <a:lnTo>
                  <a:pt x="31750" y="55563"/>
                </a:lnTo>
                <a:cubicBezTo>
                  <a:pt x="40506" y="55563"/>
                  <a:pt x="47625" y="62681"/>
                  <a:pt x="47625" y="71438"/>
                </a:cubicBezTo>
                <a:lnTo>
                  <a:pt x="47625" y="87313"/>
                </a:lnTo>
                <a:cubicBezTo>
                  <a:pt x="47625" y="96069"/>
                  <a:pt x="40506" y="103188"/>
                  <a:pt x="31750" y="103188"/>
                </a:cubicBezTo>
                <a:lnTo>
                  <a:pt x="15875" y="103188"/>
                </a:lnTo>
                <a:cubicBezTo>
                  <a:pt x="7119" y="103188"/>
                  <a:pt x="0" y="96069"/>
                  <a:pt x="0" y="87313"/>
                </a:cubicBezTo>
                <a:lnTo>
                  <a:pt x="0" y="53578"/>
                </a:lnTo>
                <a:close/>
                <a:moveTo>
                  <a:pt x="63500" y="53578"/>
                </a:moveTo>
                <a:cubicBezTo>
                  <a:pt x="63500" y="37133"/>
                  <a:pt x="76820" y="23812"/>
                  <a:pt x="93266" y="23812"/>
                </a:cubicBezTo>
                <a:lnTo>
                  <a:pt x="95250" y="23812"/>
                </a:lnTo>
                <a:cubicBezTo>
                  <a:pt x="99640" y="23812"/>
                  <a:pt x="103188" y="27360"/>
                  <a:pt x="103188" y="31750"/>
                </a:cubicBezTo>
                <a:cubicBezTo>
                  <a:pt x="103188" y="36140"/>
                  <a:pt x="99640" y="39688"/>
                  <a:pt x="95250" y="39688"/>
                </a:cubicBezTo>
                <a:lnTo>
                  <a:pt x="93266" y="39688"/>
                </a:lnTo>
                <a:cubicBezTo>
                  <a:pt x="85601" y="39688"/>
                  <a:pt x="79375" y="45913"/>
                  <a:pt x="79375" y="53578"/>
                </a:cubicBezTo>
                <a:lnTo>
                  <a:pt x="79375" y="55563"/>
                </a:lnTo>
                <a:lnTo>
                  <a:pt x="95250" y="55563"/>
                </a:lnTo>
                <a:cubicBezTo>
                  <a:pt x="104006" y="55563"/>
                  <a:pt x="111125" y="62681"/>
                  <a:pt x="111125" y="71438"/>
                </a:cubicBezTo>
                <a:lnTo>
                  <a:pt x="111125" y="87313"/>
                </a:lnTo>
                <a:cubicBezTo>
                  <a:pt x="111125" y="96069"/>
                  <a:pt x="104006" y="103188"/>
                  <a:pt x="95250" y="103188"/>
                </a:cubicBezTo>
                <a:lnTo>
                  <a:pt x="79375" y="103188"/>
                </a:lnTo>
                <a:cubicBezTo>
                  <a:pt x="70619" y="103188"/>
                  <a:pt x="63500" y="96069"/>
                  <a:pt x="63500" y="87313"/>
                </a:cubicBezTo>
                <a:lnTo>
                  <a:pt x="63500" y="53578"/>
                </a:lnTo>
                <a:close/>
              </a:path>
            </a:pathLst>
          </a:custGeom>
          <a:solidFill>
            <a:srgbClr val="2A9D8F"/>
          </a:solidFill>
          <a:ln/>
        </p:spPr>
      </p:sp>
      <p:sp>
        <p:nvSpPr>
          <p:cNvPr id="68" name="Text 65"/>
          <p:cNvSpPr/>
          <p:nvPr/>
        </p:nvSpPr>
        <p:spPr>
          <a:xfrm>
            <a:off x="674688" y="7445375"/>
            <a:ext cx="11136313" cy="349250"/>
          </a:xfrm>
          <a:prstGeom prst="rect">
            <a:avLst/>
          </a:prstGeom>
          <a:noFill/>
          <a:ln/>
        </p:spPr>
        <p:txBody>
          <a:bodyPr wrap="square" lIns="0" tIns="0" rIns="0" bIns="0" rtlCol="0" anchor="ctr"/>
          <a:lstStyle/>
          <a:p>
            <a:pPr>
              <a:lnSpc>
                <a:spcPct val="110000"/>
              </a:lnSpc>
            </a:pPr>
            <a:r>
              <a:rPr lang="en-US" sz="1000" b="1" dirty="0">
                <a:solidFill>
                  <a:srgbClr val="2B2D42"/>
                </a:solidFill>
                <a:latin typeface="Quattrocento Sans" pitchFamily="34" charset="0"/>
                <a:ea typeface="Quattrocento Sans" pitchFamily="34" charset="-122"/>
                <a:cs typeface="Quattrocento Sans" pitchFamily="34" charset="-120"/>
              </a:rPr>
              <a:t>Speaker Note:</a:t>
            </a:r>
            <a:pPr>
              <a:lnSpc>
                <a:spcPct val="110000"/>
              </a:lnSpc>
            </a:pPr>
            <a:r>
              <a:rPr lang="en-US" sz="1000" dirty="0">
                <a:solidFill>
                  <a:srgbClr val="2B2D42"/>
                </a:solidFill>
                <a:latin typeface="Quattrocento Sans" pitchFamily="34" charset="0"/>
                <a:ea typeface="Quattrocento Sans" pitchFamily="34" charset="-122"/>
                <a:cs typeface="Quattrocento Sans" pitchFamily="34" charset="-120"/>
              </a:rPr>
              <a:t> Use the flowchart to visually explain how money moves through the banking system. Emphasize that banks don't just store money—they create it through lending. The money multiplier is a powerful concept: explain how $1,000 can become $10,000 through repeated lending and deposit cycles.</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2A9D8F"/>
                </a:solidFill>
                <a:latin typeface="Liter" pitchFamily="34" charset="0"/>
                <a:ea typeface="Liter" pitchFamily="34" charset="-122"/>
                <a:cs typeface="Liter" pitchFamily="34" charset="-120"/>
              </a:rPr>
              <a:t>CHAPTER 06</a:t>
            </a:r>
            <a:endParaRPr lang="en-US" sz="1600" dirty="0"/>
          </a:p>
        </p:txBody>
      </p:sp>
      <p:sp>
        <p:nvSpPr>
          <p:cNvPr id="3" name="Text 1"/>
          <p:cNvSpPr/>
          <p:nvPr/>
        </p:nvSpPr>
        <p:spPr>
          <a:xfrm>
            <a:off x="317500" y="571500"/>
            <a:ext cx="11747500" cy="476250"/>
          </a:xfrm>
          <a:prstGeom prst="rect">
            <a:avLst/>
          </a:prstGeom>
          <a:noFill/>
          <a:ln/>
        </p:spPr>
        <p:txBody>
          <a:bodyPr wrap="square" lIns="0" tIns="0" rIns="0" bIns="0" rtlCol="0" anchor="ctr"/>
          <a:lstStyle/>
          <a:p>
            <a:pPr>
              <a:lnSpc>
                <a:spcPct val="100000"/>
              </a:lnSpc>
            </a:pPr>
            <a:r>
              <a:rPr lang="en-US" sz="3000" b="1" dirty="0">
                <a:solidFill>
                  <a:srgbClr val="1A3A5C"/>
                </a:solidFill>
                <a:latin typeface="Oranienbaum" pitchFamily="34" charset="0"/>
                <a:ea typeface="Oranienbaum" pitchFamily="34" charset="-122"/>
                <a:cs typeface="Oranienbaum" pitchFamily="34" charset="-120"/>
              </a:rPr>
              <a:t>Digital Banking &amp; Online Services</a:t>
            </a:r>
            <a:endParaRPr lang="en-US" sz="1600" dirty="0"/>
          </a:p>
        </p:txBody>
      </p:sp>
      <p:sp>
        <p:nvSpPr>
          <p:cNvPr id="4" name="Shape 2"/>
          <p:cNvSpPr/>
          <p:nvPr/>
        </p:nvSpPr>
        <p:spPr>
          <a:xfrm>
            <a:off x="317500" y="1174750"/>
            <a:ext cx="762000" cy="47625"/>
          </a:xfrm>
          <a:custGeom>
            <a:avLst/>
            <a:gdLst/>
            <a:ahLst/>
            <a:cxnLst/>
            <a:rect l="l" t="t" r="r" b="b"/>
            <a:pathLst>
              <a:path w="762000" h="47625">
                <a:moveTo>
                  <a:pt x="0" y="0"/>
                </a:moveTo>
                <a:lnTo>
                  <a:pt x="762000" y="0"/>
                </a:lnTo>
                <a:lnTo>
                  <a:pt x="762000" y="47625"/>
                </a:lnTo>
                <a:lnTo>
                  <a:pt x="0" y="47625"/>
                </a:lnTo>
                <a:lnTo>
                  <a:pt x="0" y="0"/>
                </a:lnTo>
                <a:close/>
              </a:path>
            </a:pathLst>
          </a:custGeom>
          <a:solidFill>
            <a:srgbClr val="2A9D8F"/>
          </a:solidFill>
          <a:ln/>
        </p:spPr>
      </p:sp>
      <p:sp>
        <p:nvSpPr>
          <p:cNvPr id="5" name="Shape 3"/>
          <p:cNvSpPr/>
          <p:nvPr/>
        </p:nvSpPr>
        <p:spPr>
          <a:xfrm>
            <a:off x="317500" y="1349375"/>
            <a:ext cx="5683250" cy="2024062"/>
          </a:xfrm>
          <a:custGeom>
            <a:avLst/>
            <a:gdLst/>
            <a:ahLst/>
            <a:cxnLst/>
            <a:rect l="l" t="t" r="r" b="b"/>
            <a:pathLst>
              <a:path w="5683250" h="2024062">
                <a:moveTo>
                  <a:pt x="95252" y="0"/>
                </a:moveTo>
                <a:lnTo>
                  <a:pt x="5587998" y="0"/>
                </a:lnTo>
                <a:cubicBezTo>
                  <a:pt x="5640604" y="0"/>
                  <a:pt x="5683250" y="42646"/>
                  <a:pt x="5683250" y="95252"/>
                </a:cubicBezTo>
                <a:lnTo>
                  <a:pt x="5683250" y="1928810"/>
                </a:lnTo>
                <a:cubicBezTo>
                  <a:pt x="5683250" y="1981417"/>
                  <a:pt x="5640604" y="2024062"/>
                  <a:pt x="5587998" y="2024062"/>
                </a:cubicBezTo>
                <a:lnTo>
                  <a:pt x="95252" y="2024062"/>
                </a:lnTo>
                <a:cubicBezTo>
                  <a:pt x="42646" y="2024062"/>
                  <a:pt x="0" y="1981417"/>
                  <a:pt x="0" y="1928810"/>
                </a:cubicBezTo>
                <a:lnTo>
                  <a:pt x="0" y="95252"/>
                </a:lnTo>
                <a:cubicBezTo>
                  <a:pt x="0" y="42681"/>
                  <a:pt x="42681" y="0"/>
                  <a:pt x="95252" y="0"/>
                </a:cubicBezTo>
                <a:close/>
              </a:path>
            </a:pathLst>
          </a:custGeom>
          <a:gradFill rotWithShape="1" flip="none">
            <a:gsLst>
              <a:gs pos="0">
                <a:srgbClr val="1A3A5C"/>
              </a:gs>
              <a:gs pos="100000">
                <a:srgbClr val="2A9D8F"/>
              </a:gs>
            </a:gsLst>
            <a:lin ang="2700000" scaled="1"/>
          </a:gradFill>
          <a:ln/>
          <a:effectLst>
            <a:outerShdw sx="100000" sy="100000" kx="0" ky="0" algn="bl" rotWithShape="0" blurRad="119063" dist="79375" dir="5400000">
              <a:srgbClr val="000000">
                <a:alpha val="10196"/>
              </a:srgbClr>
            </a:outerShdw>
          </a:effectLst>
        </p:spPr>
      </p:sp>
      <p:sp>
        <p:nvSpPr>
          <p:cNvPr id="6" name="Shape 4"/>
          <p:cNvSpPr/>
          <p:nvPr/>
        </p:nvSpPr>
        <p:spPr>
          <a:xfrm>
            <a:off x="537766" y="1531938"/>
            <a:ext cx="178594" cy="238125"/>
          </a:xfrm>
          <a:custGeom>
            <a:avLst/>
            <a:gdLst/>
            <a:ahLst/>
            <a:cxnLst/>
            <a:rect l="l" t="t" r="r" b="b"/>
            <a:pathLst>
              <a:path w="178594" h="238125">
                <a:moveTo>
                  <a:pt x="7441" y="29766"/>
                </a:moveTo>
                <a:cubicBezTo>
                  <a:pt x="7441" y="13348"/>
                  <a:pt x="20789" y="0"/>
                  <a:pt x="37207" y="0"/>
                </a:cubicBezTo>
                <a:lnTo>
                  <a:pt x="141387" y="0"/>
                </a:lnTo>
                <a:cubicBezTo>
                  <a:pt x="157804" y="0"/>
                  <a:pt x="171152" y="13348"/>
                  <a:pt x="171152" y="29766"/>
                </a:cubicBezTo>
                <a:lnTo>
                  <a:pt x="171152" y="208359"/>
                </a:lnTo>
                <a:cubicBezTo>
                  <a:pt x="171152" y="224777"/>
                  <a:pt x="157804" y="238125"/>
                  <a:pt x="141387" y="238125"/>
                </a:cubicBezTo>
                <a:lnTo>
                  <a:pt x="37207" y="238125"/>
                </a:lnTo>
                <a:cubicBezTo>
                  <a:pt x="20789" y="238125"/>
                  <a:pt x="7441" y="224777"/>
                  <a:pt x="7441" y="208359"/>
                </a:cubicBezTo>
                <a:lnTo>
                  <a:pt x="7441" y="29766"/>
                </a:lnTo>
                <a:close/>
                <a:moveTo>
                  <a:pt x="37207" y="29766"/>
                </a:moveTo>
                <a:lnTo>
                  <a:pt x="37207" y="171152"/>
                </a:lnTo>
                <a:lnTo>
                  <a:pt x="141387" y="171152"/>
                </a:lnTo>
                <a:lnTo>
                  <a:pt x="141387" y="29766"/>
                </a:lnTo>
                <a:lnTo>
                  <a:pt x="37207" y="29766"/>
                </a:lnTo>
                <a:close/>
                <a:moveTo>
                  <a:pt x="89297" y="219521"/>
                </a:moveTo>
                <a:cubicBezTo>
                  <a:pt x="97529" y="219521"/>
                  <a:pt x="104180" y="212871"/>
                  <a:pt x="104180" y="204639"/>
                </a:cubicBezTo>
                <a:cubicBezTo>
                  <a:pt x="104180" y="196407"/>
                  <a:pt x="97529" y="189756"/>
                  <a:pt x="89297" y="189756"/>
                </a:cubicBezTo>
                <a:cubicBezTo>
                  <a:pt x="81065" y="189756"/>
                  <a:pt x="74414" y="196407"/>
                  <a:pt x="74414" y="204639"/>
                </a:cubicBezTo>
                <a:cubicBezTo>
                  <a:pt x="74414" y="212871"/>
                  <a:pt x="81065" y="219521"/>
                  <a:pt x="89297" y="219521"/>
                </a:cubicBezTo>
                <a:close/>
              </a:path>
            </a:pathLst>
          </a:custGeom>
          <a:solidFill>
            <a:srgbClr val="FFFFFF"/>
          </a:solidFill>
          <a:ln/>
        </p:spPr>
      </p:sp>
      <p:sp>
        <p:nvSpPr>
          <p:cNvPr id="7" name="Text 5"/>
          <p:cNvSpPr/>
          <p:nvPr/>
        </p:nvSpPr>
        <p:spPr>
          <a:xfrm>
            <a:off x="777875" y="1508125"/>
            <a:ext cx="5183188" cy="285750"/>
          </a:xfrm>
          <a:prstGeom prst="rect">
            <a:avLst/>
          </a:prstGeom>
          <a:noFill/>
          <a:ln/>
        </p:spPr>
        <p:txBody>
          <a:bodyPr wrap="square" lIns="0" tIns="0" rIns="0" bIns="0" rtlCol="0" anchor="ctr"/>
          <a:lstStyle/>
          <a:p>
            <a:pPr>
              <a:lnSpc>
                <a:spcPct val="100000"/>
              </a:lnSpc>
            </a:pPr>
            <a:r>
              <a:rPr lang="en-US" sz="1875" b="1" dirty="0">
                <a:solidFill>
                  <a:srgbClr val="FFFFFF"/>
                </a:solidFill>
                <a:latin typeface="Liter" pitchFamily="34" charset="0"/>
                <a:ea typeface="Liter" pitchFamily="34" charset="-122"/>
                <a:cs typeface="Liter" pitchFamily="34" charset="-120"/>
              </a:rPr>
              <a:t>The Digital Banking Revolution</a:t>
            </a:r>
            <a:endParaRPr lang="en-US" sz="1600" dirty="0"/>
          </a:p>
        </p:txBody>
      </p:sp>
      <p:sp>
        <p:nvSpPr>
          <p:cNvPr id="8" name="Text 6"/>
          <p:cNvSpPr/>
          <p:nvPr/>
        </p:nvSpPr>
        <p:spPr>
          <a:xfrm>
            <a:off x="476250" y="1889125"/>
            <a:ext cx="5437188" cy="468313"/>
          </a:xfrm>
          <a:prstGeom prst="rect">
            <a:avLst/>
          </a:prstGeom>
          <a:noFill/>
          <a:ln/>
        </p:spPr>
        <p:txBody>
          <a:bodyPr wrap="square" lIns="0" tIns="0" rIns="0" bIns="0" rtlCol="0" anchor="ctr"/>
          <a:lstStyle/>
          <a:p>
            <a:pPr>
              <a:lnSpc>
                <a:spcPct val="140000"/>
              </a:lnSpc>
            </a:pPr>
            <a:r>
              <a:rPr lang="en-US" sz="1125" dirty="0">
                <a:solidFill>
                  <a:srgbClr val="FFFFFF"/>
                </a:solidFill>
                <a:latin typeface="Quattrocento Sans" pitchFamily="34" charset="0"/>
                <a:ea typeface="Quattrocento Sans" pitchFamily="34" charset="-122"/>
                <a:cs typeface="Quattrocento Sans" pitchFamily="34" charset="-120"/>
              </a:rPr>
              <a:t>Banking has transformed from branch visits to 24/7 digital access. Mobile apps and online platforms now dominate how people manage money.</a:t>
            </a:r>
            <a:endParaRPr lang="en-US" sz="1600" dirty="0"/>
          </a:p>
        </p:txBody>
      </p:sp>
      <p:sp>
        <p:nvSpPr>
          <p:cNvPr id="9" name="Shape 7"/>
          <p:cNvSpPr/>
          <p:nvPr/>
        </p:nvSpPr>
        <p:spPr>
          <a:xfrm>
            <a:off x="476250" y="2480469"/>
            <a:ext cx="2635250" cy="730250"/>
          </a:xfrm>
          <a:custGeom>
            <a:avLst/>
            <a:gdLst/>
            <a:ahLst/>
            <a:cxnLst/>
            <a:rect l="l" t="t" r="r" b="b"/>
            <a:pathLst>
              <a:path w="2635250" h="730250">
                <a:moveTo>
                  <a:pt x="63503" y="0"/>
                </a:moveTo>
                <a:lnTo>
                  <a:pt x="2571747" y="0"/>
                </a:lnTo>
                <a:cubicBezTo>
                  <a:pt x="2606819" y="0"/>
                  <a:pt x="2635250" y="28431"/>
                  <a:pt x="2635250" y="63503"/>
                </a:cubicBezTo>
                <a:lnTo>
                  <a:pt x="2635250" y="666747"/>
                </a:lnTo>
                <a:cubicBezTo>
                  <a:pt x="2635250" y="701819"/>
                  <a:pt x="2606819" y="730250"/>
                  <a:pt x="2571747" y="730250"/>
                </a:cubicBezTo>
                <a:lnTo>
                  <a:pt x="63503" y="730250"/>
                </a:lnTo>
                <a:cubicBezTo>
                  <a:pt x="28431" y="730250"/>
                  <a:pt x="0" y="701819"/>
                  <a:pt x="0" y="666747"/>
                </a:cubicBezTo>
                <a:lnTo>
                  <a:pt x="0" y="63503"/>
                </a:lnTo>
                <a:cubicBezTo>
                  <a:pt x="0" y="28455"/>
                  <a:pt x="28455" y="0"/>
                  <a:pt x="63503" y="0"/>
                </a:cubicBezTo>
                <a:close/>
              </a:path>
            </a:pathLst>
          </a:custGeom>
          <a:solidFill>
            <a:srgbClr val="FFFFFF">
              <a:alpha val="10196"/>
            </a:srgbClr>
          </a:solidFill>
          <a:ln/>
        </p:spPr>
      </p:sp>
      <p:sp>
        <p:nvSpPr>
          <p:cNvPr id="10" name="Text 8"/>
          <p:cNvSpPr/>
          <p:nvPr/>
        </p:nvSpPr>
        <p:spPr>
          <a:xfrm>
            <a:off x="500063" y="2575719"/>
            <a:ext cx="2587625" cy="317500"/>
          </a:xfrm>
          <a:prstGeom prst="rect">
            <a:avLst/>
          </a:prstGeom>
          <a:noFill/>
          <a:ln/>
        </p:spPr>
        <p:txBody>
          <a:bodyPr wrap="square" lIns="0" tIns="0" rIns="0" bIns="0" rtlCol="0" anchor="ctr"/>
          <a:lstStyle/>
          <a:p>
            <a:pPr algn="ctr">
              <a:lnSpc>
                <a:spcPct val="90000"/>
              </a:lnSpc>
            </a:pPr>
            <a:r>
              <a:rPr lang="en-US" sz="2250" b="1" dirty="0">
                <a:solidFill>
                  <a:srgbClr val="FFFFFF"/>
                </a:solidFill>
                <a:latin typeface="Liter" pitchFamily="34" charset="0"/>
                <a:ea typeface="Liter" pitchFamily="34" charset="-122"/>
                <a:cs typeface="Liter" pitchFamily="34" charset="-120"/>
              </a:rPr>
              <a:t>3.2B</a:t>
            </a:r>
            <a:endParaRPr lang="en-US" sz="1600" dirty="0"/>
          </a:p>
        </p:txBody>
      </p:sp>
      <p:sp>
        <p:nvSpPr>
          <p:cNvPr id="11" name="Text 9"/>
          <p:cNvSpPr/>
          <p:nvPr/>
        </p:nvSpPr>
        <p:spPr>
          <a:xfrm>
            <a:off x="539750" y="2924969"/>
            <a:ext cx="2508250" cy="190500"/>
          </a:xfrm>
          <a:prstGeom prst="rect">
            <a:avLst/>
          </a:prstGeom>
          <a:noFill/>
          <a:ln/>
        </p:spPr>
        <p:txBody>
          <a:bodyPr wrap="square" lIns="0" tIns="0" rIns="0" bIns="0" rtlCol="0" anchor="ctr"/>
          <a:lstStyle/>
          <a:p>
            <a:pPr algn="ct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Mobile Banking Users (2024)</a:t>
            </a:r>
            <a:endParaRPr lang="en-US" sz="1600" dirty="0"/>
          </a:p>
        </p:txBody>
      </p:sp>
      <p:sp>
        <p:nvSpPr>
          <p:cNvPr id="12" name="Shape 10"/>
          <p:cNvSpPr/>
          <p:nvPr/>
        </p:nvSpPr>
        <p:spPr>
          <a:xfrm>
            <a:off x="3206750" y="2480469"/>
            <a:ext cx="2635250" cy="730250"/>
          </a:xfrm>
          <a:custGeom>
            <a:avLst/>
            <a:gdLst/>
            <a:ahLst/>
            <a:cxnLst/>
            <a:rect l="l" t="t" r="r" b="b"/>
            <a:pathLst>
              <a:path w="2635250" h="730250">
                <a:moveTo>
                  <a:pt x="63503" y="0"/>
                </a:moveTo>
                <a:lnTo>
                  <a:pt x="2571747" y="0"/>
                </a:lnTo>
                <a:cubicBezTo>
                  <a:pt x="2606819" y="0"/>
                  <a:pt x="2635250" y="28431"/>
                  <a:pt x="2635250" y="63503"/>
                </a:cubicBezTo>
                <a:lnTo>
                  <a:pt x="2635250" y="666747"/>
                </a:lnTo>
                <a:cubicBezTo>
                  <a:pt x="2635250" y="701819"/>
                  <a:pt x="2606819" y="730250"/>
                  <a:pt x="2571747" y="730250"/>
                </a:cubicBezTo>
                <a:lnTo>
                  <a:pt x="63503" y="730250"/>
                </a:lnTo>
                <a:cubicBezTo>
                  <a:pt x="28431" y="730250"/>
                  <a:pt x="0" y="701819"/>
                  <a:pt x="0" y="666747"/>
                </a:cubicBezTo>
                <a:lnTo>
                  <a:pt x="0" y="63503"/>
                </a:lnTo>
                <a:cubicBezTo>
                  <a:pt x="0" y="28455"/>
                  <a:pt x="28455" y="0"/>
                  <a:pt x="63503" y="0"/>
                </a:cubicBezTo>
                <a:close/>
              </a:path>
            </a:pathLst>
          </a:custGeom>
          <a:solidFill>
            <a:srgbClr val="FFFFFF">
              <a:alpha val="10196"/>
            </a:srgbClr>
          </a:solidFill>
          <a:ln/>
        </p:spPr>
      </p:sp>
      <p:sp>
        <p:nvSpPr>
          <p:cNvPr id="13" name="Text 11"/>
          <p:cNvSpPr/>
          <p:nvPr/>
        </p:nvSpPr>
        <p:spPr>
          <a:xfrm>
            <a:off x="3230563" y="2575719"/>
            <a:ext cx="2587625" cy="317500"/>
          </a:xfrm>
          <a:prstGeom prst="rect">
            <a:avLst/>
          </a:prstGeom>
          <a:noFill/>
          <a:ln/>
        </p:spPr>
        <p:txBody>
          <a:bodyPr wrap="square" lIns="0" tIns="0" rIns="0" bIns="0" rtlCol="0" anchor="ctr"/>
          <a:lstStyle/>
          <a:p>
            <a:pPr algn="ctr">
              <a:lnSpc>
                <a:spcPct val="90000"/>
              </a:lnSpc>
            </a:pPr>
            <a:r>
              <a:rPr lang="en-US" sz="2250" b="1" dirty="0">
                <a:solidFill>
                  <a:srgbClr val="FFFFFF"/>
                </a:solidFill>
                <a:latin typeface="Liter" pitchFamily="34" charset="0"/>
                <a:ea typeface="Liter" pitchFamily="34" charset="-122"/>
                <a:cs typeface="Liter" pitchFamily="34" charset="-120"/>
              </a:rPr>
              <a:t>89M</a:t>
            </a:r>
            <a:endParaRPr lang="en-US" sz="1600" dirty="0"/>
          </a:p>
        </p:txBody>
      </p:sp>
      <p:sp>
        <p:nvSpPr>
          <p:cNvPr id="14" name="Text 12"/>
          <p:cNvSpPr/>
          <p:nvPr/>
        </p:nvSpPr>
        <p:spPr>
          <a:xfrm>
            <a:off x="3270250" y="2924969"/>
            <a:ext cx="2508250" cy="190500"/>
          </a:xfrm>
          <a:prstGeom prst="rect">
            <a:avLst/>
          </a:prstGeom>
          <a:noFill/>
          <a:ln/>
        </p:spPr>
        <p:txBody>
          <a:bodyPr wrap="square" lIns="0" tIns="0" rIns="0" bIns="0" rtlCol="0" anchor="ctr"/>
          <a:lstStyle/>
          <a:p>
            <a:pPr algn="ct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Users in North America</a:t>
            </a:r>
            <a:endParaRPr lang="en-US" sz="1600" dirty="0"/>
          </a:p>
        </p:txBody>
      </p:sp>
      <p:sp>
        <p:nvSpPr>
          <p:cNvPr id="15" name="Shape 13"/>
          <p:cNvSpPr/>
          <p:nvPr/>
        </p:nvSpPr>
        <p:spPr>
          <a:xfrm>
            <a:off x="317500" y="3496469"/>
            <a:ext cx="5683250" cy="2508250"/>
          </a:xfrm>
          <a:custGeom>
            <a:avLst/>
            <a:gdLst/>
            <a:ahLst/>
            <a:cxnLst/>
            <a:rect l="l" t="t" r="r" b="b"/>
            <a:pathLst>
              <a:path w="5683250" h="2508250">
                <a:moveTo>
                  <a:pt x="95238" y="0"/>
                </a:moveTo>
                <a:lnTo>
                  <a:pt x="5588012" y="0"/>
                </a:lnTo>
                <a:cubicBezTo>
                  <a:pt x="5640610" y="0"/>
                  <a:pt x="5683250" y="42640"/>
                  <a:pt x="5683250" y="95238"/>
                </a:cubicBezTo>
                <a:lnTo>
                  <a:pt x="5683250" y="2413012"/>
                </a:lnTo>
                <a:cubicBezTo>
                  <a:pt x="5683250" y="2465610"/>
                  <a:pt x="5640610" y="2508250"/>
                  <a:pt x="5588012" y="2508250"/>
                </a:cubicBezTo>
                <a:lnTo>
                  <a:pt x="95238" y="2508250"/>
                </a:lnTo>
                <a:cubicBezTo>
                  <a:pt x="42640" y="2508250"/>
                  <a:pt x="0" y="2465610"/>
                  <a:pt x="0" y="2413012"/>
                </a:cubicBezTo>
                <a:lnTo>
                  <a:pt x="0" y="95238"/>
                </a:lnTo>
                <a:cubicBezTo>
                  <a:pt x="0" y="42675"/>
                  <a:pt x="42675" y="0"/>
                  <a:pt x="95238"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16" name="Shape 14"/>
          <p:cNvSpPr/>
          <p:nvPr/>
        </p:nvSpPr>
        <p:spPr>
          <a:xfrm>
            <a:off x="488156" y="3686969"/>
            <a:ext cx="214313" cy="190500"/>
          </a:xfrm>
          <a:custGeom>
            <a:avLst/>
            <a:gdLst/>
            <a:ahLst/>
            <a:cxnLst/>
            <a:rect l="l" t="t" r="r" b="b"/>
            <a:pathLst>
              <a:path w="214313" h="190500">
                <a:moveTo>
                  <a:pt x="115156" y="-7032"/>
                </a:moveTo>
                <a:cubicBezTo>
                  <a:pt x="113630" y="-10009"/>
                  <a:pt x="110542" y="-11906"/>
                  <a:pt x="107193" y="-11906"/>
                </a:cubicBezTo>
                <a:cubicBezTo>
                  <a:pt x="103845" y="-11906"/>
                  <a:pt x="100757" y="-10009"/>
                  <a:pt x="99231" y="-7032"/>
                </a:cubicBezTo>
                <a:lnTo>
                  <a:pt x="71847" y="46620"/>
                </a:lnTo>
                <a:lnTo>
                  <a:pt x="12353" y="56071"/>
                </a:lnTo>
                <a:cubicBezTo>
                  <a:pt x="9041" y="56592"/>
                  <a:pt x="6288" y="58936"/>
                  <a:pt x="5246" y="62136"/>
                </a:cubicBezTo>
                <a:cubicBezTo>
                  <a:pt x="4204" y="65336"/>
                  <a:pt x="5060" y="68833"/>
                  <a:pt x="7404" y="71214"/>
                </a:cubicBezTo>
                <a:lnTo>
                  <a:pt x="49969" y="113816"/>
                </a:lnTo>
                <a:lnTo>
                  <a:pt x="40593" y="173310"/>
                </a:lnTo>
                <a:cubicBezTo>
                  <a:pt x="40072" y="176622"/>
                  <a:pt x="41449" y="179970"/>
                  <a:pt x="44165" y="181942"/>
                </a:cubicBezTo>
                <a:cubicBezTo>
                  <a:pt x="46881" y="183914"/>
                  <a:pt x="50453" y="184212"/>
                  <a:pt x="53467" y="182687"/>
                </a:cubicBezTo>
                <a:lnTo>
                  <a:pt x="107193" y="155377"/>
                </a:lnTo>
                <a:lnTo>
                  <a:pt x="160883" y="182687"/>
                </a:lnTo>
                <a:cubicBezTo>
                  <a:pt x="163860" y="184212"/>
                  <a:pt x="167469" y="183914"/>
                  <a:pt x="170185" y="181942"/>
                </a:cubicBezTo>
                <a:cubicBezTo>
                  <a:pt x="172901" y="179970"/>
                  <a:pt x="174278" y="176659"/>
                  <a:pt x="173757" y="173310"/>
                </a:cubicBezTo>
                <a:lnTo>
                  <a:pt x="164343" y="113816"/>
                </a:lnTo>
                <a:lnTo>
                  <a:pt x="206908" y="71214"/>
                </a:lnTo>
                <a:cubicBezTo>
                  <a:pt x="209290" y="68833"/>
                  <a:pt x="210108" y="65336"/>
                  <a:pt x="209066" y="62136"/>
                </a:cubicBezTo>
                <a:cubicBezTo>
                  <a:pt x="208025" y="58936"/>
                  <a:pt x="205308" y="56592"/>
                  <a:pt x="201960" y="56071"/>
                </a:cubicBezTo>
                <a:lnTo>
                  <a:pt x="142503" y="46620"/>
                </a:lnTo>
                <a:lnTo>
                  <a:pt x="115156" y="-7032"/>
                </a:lnTo>
                <a:close/>
              </a:path>
            </a:pathLst>
          </a:custGeom>
          <a:solidFill>
            <a:srgbClr val="2A9D8F"/>
          </a:solidFill>
          <a:ln/>
        </p:spPr>
      </p:sp>
      <p:sp>
        <p:nvSpPr>
          <p:cNvPr id="17" name="Text 15"/>
          <p:cNvSpPr/>
          <p:nvPr/>
        </p:nvSpPr>
        <p:spPr>
          <a:xfrm>
            <a:off x="714375" y="3655219"/>
            <a:ext cx="5222875"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Key Features</a:t>
            </a:r>
            <a:endParaRPr lang="en-US" sz="1600" dirty="0"/>
          </a:p>
        </p:txBody>
      </p:sp>
      <p:sp>
        <p:nvSpPr>
          <p:cNvPr id="18" name="Shape 16"/>
          <p:cNvSpPr/>
          <p:nvPr/>
        </p:nvSpPr>
        <p:spPr>
          <a:xfrm>
            <a:off x="476250" y="4036219"/>
            <a:ext cx="2635250" cy="539750"/>
          </a:xfrm>
          <a:custGeom>
            <a:avLst/>
            <a:gdLst/>
            <a:ahLst/>
            <a:cxnLst/>
            <a:rect l="l" t="t" r="r" b="b"/>
            <a:pathLst>
              <a:path w="2635250" h="539750">
                <a:moveTo>
                  <a:pt x="63502" y="0"/>
                </a:moveTo>
                <a:lnTo>
                  <a:pt x="2571748" y="0"/>
                </a:lnTo>
                <a:cubicBezTo>
                  <a:pt x="2606819" y="0"/>
                  <a:pt x="2635250" y="28431"/>
                  <a:pt x="2635250" y="63502"/>
                </a:cubicBezTo>
                <a:lnTo>
                  <a:pt x="2635250" y="476248"/>
                </a:lnTo>
                <a:cubicBezTo>
                  <a:pt x="2635250" y="511319"/>
                  <a:pt x="2606819" y="539750"/>
                  <a:pt x="2571748" y="539750"/>
                </a:cubicBezTo>
                <a:lnTo>
                  <a:pt x="63502" y="539750"/>
                </a:lnTo>
                <a:cubicBezTo>
                  <a:pt x="28431" y="539750"/>
                  <a:pt x="0" y="511319"/>
                  <a:pt x="0" y="476248"/>
                </a:cubicBezTo>
                <a:lnTo>
                  <a:pt x="0" y="63502"/>
                </a:lnTo>
                <a:cubicBezTo>
                  <a:pt x="0" y="28454"/>
                  <a:pt x="28454" y="0"/>
                  <a:pt x="63502" y="0"/>
                </a:cubicBezTo>
                <a:close/>
              </a:path>
            </a:pathLst>
          </a:custGeom>
          <a:solidFill>
            <a:srgbClr val="F8F9FA"/>
          </a:solidFill>
          <a:ln/>
        </p:spPr>
      </p:sp>
      <p:sp>
        <p:nvSpPr>
          <p:cNvPr id="19" name="Shape 17"/>
          <p:cNvSpPr/>
          <p:nvPr/>
        </p:nvSpPr>
        <p:spPr>
          <a:xfrm>
            <a:off x="591344" y="4226719"/>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solidFill>
            <a:srgbClr val="2A9D8F"/>
          </a:solidFill>
          <a:ln/>
        </p:spPr>
      </p:sp>
      <p:sp>
        <p:nvSpPr>
          <p:cNvPr id="20" name="Text 18"/>
          <p:cNvSpPr/>
          <p:nvPr/>
        </p:nvSpPr>
        <p:spPr>
          <a:xfrm>
            <a:off x="865188" y="4131469"/>
            <a:ext cx="1254125" cy="190500"/>
          </a:xfrm>
          <a:prstGeom prst="rect">
            <a:avLst/>
          </a:prstGeom>
          <a:noFill/>
          <a:ln/>
        </p:spPr>
        <p:txBody>
          <a:bodyPr wrap="square" lIns="0" tIns="0" rIns="0" bIns="0" rtlCol="0" anchor="ctr"/>
          <a:lstStyle/>
          <a:p>
            <a:pPr>
              <a:lnSpc>
                <a:spcPct val="130000"/>
              </a:lnSpc>
            </a:pPr>
            <a:r>
              <a:rPr lang="en-US" sz="1000" b="1" dirty="0">
                <a:solidFill>
                  <a:srgbClr val="1A3A5C"/>
                </a:solidFill>
                <a:latin typeface="Liter" pitchFamily="34" charset="0"/>
                <a:ea typeface="Liter" pitchFamily="34" charset="-122"/>
                <a:cs typeface="Liter" pitchFamily="34" charset="-120"/>
              </a:rPr>
              <a:t>24/7 Account Access</a:t>
            </a:r>
            <a:endParaRPr lang="en-US" sz="1600" dirty="0"/>
          </a:p>
        </p:txBody>
      </p:sp>
      <p:sp>
        <p:nvSpPr>
          <p:cNvPr id="21" name="Text 19"/>
          <p:cNvSpPr/>
          <p:nvPr/>
        </p:nvSpPr>
        <p:spPr>
          <a:xfrm>
            <a:off x="865188" y="4321969"/>
            <a:ext cx="1246188"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Anytime, anywhere</a:t>
            </a:r>
            <a:endParaRPr lang="en-US" sz="1600" dirty="0"/>
          </a:p>
        </p:txBody>
      </p:sp>
      <p:sp>
        <p:nvSpPr>
          <p:cNvPr id="22" name="Shape 20"/>
          <p:cNvSpPr/>
          <p:nvPr/>
        </p:nvSpPr>
        <p:spPr>
          <a:xfrm>
            <a:off x="3206750" y="4036219"/>
            <a:ext cx="2635250" cy="539750"/>
          </a:xfrm>
          <a:custGeom>
            <a:avLst/>
            <a:gdLst/>
            <a:ahLst/>
            <a:cxnLst/>
            <a:rect l="l" t="t" r="r" b="b"/>
            <a:pathLst>
              <a:path w="2635250" h="539750">
                <a:moveTo>
                  <a:pt x="63502" y="0"/>
                </a:moveTo>
                <a:lnTo>
                  <a:pt x="2571748" y="0"/>
                </a:lnTo>
                <a:cubicBezTo>
                  <a:pt x="2606819" y="0"/>
                  <a:pt x="2635250" y="28431"/>
                  <a:pt x="2635250" y="63502"/>
                </a:cubicBezTo>
                <a:lnTo>
                  <a:pt x="2635250" y="476248"/>
                </a:lnTo>
                <a:cubicBezTo>
                  <a:pt x="2635250" y="511319"/>
                  <a:pt x="2606819" y="539750"/>
                  <a:pt x="2571748" y="539750"/>
                </a:cubicBezTo>
                <a:lnTo>
                  <a:pt x="63502" y="539750"/>
                </a:lnTo>
                <a:cubicBezTo>
                  <a:pt x="28431" y="539750"/>
                  <a:pt x="0" y="511319"/>
                  <a:pt x="0" y="476248"/>
                </a:cubicBezTo>
                <a:lnTo>
                  <a:pt x="0" y="63502"/>
                </a:lnTo>
                <a:cubicBezTo>
                  <a:pt x="0" y="28454"/>
                  <a:pt x="28454" y="0"/>
                  <a:pt x="63502" y="0"/>
                </a:cubicBezTo>
                <a:close/>
              </a:path>
            </a:pathLst>
          </a:custGeom>
          <a:solidFill>
            <a:srgbClr val="F8F9FA"/>
          </a:solidFill>
          <a:ln/>
        </p:spPr>
      </p:sp>
      <p:sp>
        <p:nvSpPr>
          <p:cNvPr id="23" name="Shape 21"/>
          <p:cNvSpPr/>
          <p:nvPr/>
        </p:nvSpPr>
        <p:spPr>
          <a:xfrm>
            <a:off x="3321844" y="4226719"/>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solidFill>
            <a:srgbClr val="2A9D8F"/>
          </a:solidFill>
          <a:ln/>
        </p:spPr>
      </p:sp>
      <p:sp>
        <p:nvSpPr>
          <p:cNvPr id="24" name="Text 22"/>
          <p:cNvSpPr/>
          <p:nvPr/>
        </p:nvSpPr>
        <p:spPr>
          <a:xfrm>
            <a:off x="3595688" y="4131469"/>
            <a:ext cx="1039812" cy="190500"/>
          </a:xfrm>
          <a:prstGeom prst="rect">
            <a:avLst/>
          </a:prstGeom>
          <a:noFill/>
          <a:ln/>
        </p:spPr>
        <p:txBody>
          <a:bodyPr wrap="square" lIns="0" tIns="0" rIns="0" bIns="0" rtlCol="0" anchor="ctr"/>
          <a:lstStyle/>
          <a:p>
            <a:pPr>
              <a:lnSpc>
                <a:spcPct val="130000"/>
              </a:lnSpc>
            </a:pPr>
            <a:r>
              <a:rPr lang="en-US" sz="1000" b="1" dirty="0">
                <a:solidFill>
                  <a:srgbClr val="1A3A5C"/>
                </a:solidFill>
                <a:latin typeface="Liter" pitchFamily="34" charset="0"/>
                <a:ea typeface="Liter" pitchFamily="34" charset="-122"/>
                <a:cs typeface="Liter" pitchFamily="34" charset="-120"/>
              </a:rPr>
              <a:t>Instant Transfers</a:t>
            </a:r>
            <a:endParaRPr lang="en-US" sz="1600" dirty="0"/>
          </a:p>
        </p:txBody>
      </p:sp>
      <p:sp>
        <p:nvSpPr>
          <p:cNvPr id="25" name="Text 23"/>
          <p:cNvSpPr/>
          <p:nvPr/>
        </p:nvSpPr>
        <p:spPr>
          <a:xfrm>
            <a:off x="3595688" y="4321969"/>
            <a:ext cx="1031875"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Real-time payments</a:t>
            </a:r>
            <a:endParaRPr lang="en-US" sz="1600" dirty="0"/>
          </a:p>
        </p:txBody>
      </p:sp>
      <p:sp>
        <p:nvSpPr>
          <p:cNvPr id="26" name="Shape 24"/>
          <p:cNvSpPr/>
          <p:nvPr/>
        </p:nvSpPr>
        <p:spPr>
          <a:xfrm>
            <a:off x="476250" y="4671219"/>
            <a:ext cx="2635250" cy="539750"/>
          </a:xfrm>
          <a:custGeom>
            <a:avLst/>
            <a:gdLst/>
            <a:ahLst/>
            <a:cxnLst/>
            <a:rect l="l" t="t" r="r" b="b"/>
            <a:pathLst>
              <a:path w="2635250" h="539750">
                <a:moveTo>
                  <a:pt x="63502" y="0"/>
                </a:moveTo>
                <a:lnTo>
                  <a:pt x="2571748" y="0"/>
                </a:lnTo>
                <a:cubicBezTo>
                  <a:pt x="2606819" y="0"/>
                  <a:pt x="2635250" y="28431"/>
                  <a:pt x="2635250" y="63502"/>
                </a:cubicBezTo>
                <a:lnTo>
                  <a:pt x="2635250" y="476248"/>
                </a:lnTo>
                <a:cubicBezTo>
                  <a:pt x="2635250" y="511319"/>
                  <a:pt x="2606819" y="539750"/>
                  <a:pt x="2571748" y="539750"/>
                </a:cubicBezTo>
                <a:lnTo>
                  <a:pt x="63502" y="539750"/>
                </a:lnTo>
                <a:cubicBezTo>
                  <a:pt x="28431" y="539750"/>
                  <a:pt x="0" y="511319"/>
                  <a:pt x="0" y="476248"/>
                </a:cubicBezTo>
                <a:lnTo>
                  <a:pt x="0" y="63502"/>
                </a:lnTo>
                <a:cubicBezTo>
                  <a:pt x="0" y="28454"/>
                  <a:pt x="28454" y="0"/>
                  <a:pt x="63502" y="0"/>
                </a:cubicBezTo>
                <a:close/>
              </a:path>
            </a:pathLst>
          </a:custGeom>
          <a:solidFill>
            <a:srgbClr val="F8F9FA"/>
          </a:solidFill>
          <a:ln/>
        </p:spPr>
      </p:sp>
      <p:sp>
        <p:nvSpPr>
          <p:cNvPr id="27" name="Shape 25"/>
          <p:cNvSpPr/>
          <p:nvPr/>
        </p:nvSpPr>
        <p:spPr>
          <a:xfrm>
            <a:off x="591344" y="4861719"/>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solidFill>
            <a:srgbClr val="2A9D8F"/>
          </a:solidFill>
          <a:ln/>
        </p:spPr>
      </p:sp>
      <p:sp>
        <p:nvSpPr>
          <p:cNvPr id="28" name="Text 26"/>
          <p:cNvSpPr/>
          <p:nvPr/>
        </p:nvSpPr>
        <p:spPr>
          <a:xfrm>
            <a:off x="865188" y="4766469"/>
            <a:ext cx="1143000" cy="190500"/>
          </a:xfrm>
          <a:prstGeom prst="rect">
            <a:avLst/>
          </a:prstGeom>
          <a:noFill/>
          <a:ln/>
        </p:spPr>
        <p:txBody>
          <a:bodyPr wrap="square" lIns="0" tIns="0" rIns="0" bIns="0" rtlCol="0" anchor="ctr"/>
          <a:lstStyle/>
          <a:p>
            <a:pPr>
              <a:lnSpc>
                <a:spcPct val="130000"/>
              </a:lnSpc>
            </a:pPr>
            <a:r>
              <a:rPr lang="en-US" sz="1000" b="1" dirty="0">
                <a:solidFill>
                  <a:srgbClr val="1A3A5C"/>
                </a:solidFill>
                <a:latin typeface="Liter" pitchFamily="34" charset="0"/>
                <a:ea typeface="Liter" pitchFamily="34" charset="-122"/>
                <a:cs typeface="Liter" pitchFamily="34" charset="-120"/>
              </a:rPr>
              <a:t>Bill Payments</a:t>
            </a:r>
            <a:endParaRPr lang="en-US" sz="1600" dirty="0"/>
          </a:p>
        </p:txBody>
      </p:sp>
      <p:sp>
        <p:nvSpPr>
          <p:cNvPr id="29" name="Text 27"/>
          <p:cNvSpPr/>
          <p:nvPr/>
        </p:nvSpPr>
        <p:spPr>
          <a:xfrm>
            <a:off x="865188" y="4956969"/>
            <a:ext cx="113506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Automated scheduling</a:t>
            </a:r>
            <a:endParaRPr lang="en-US" sz="1600" dirty="0"/>
          </a:p>
        </p:txBody>
      </p:sp>
      <p:sp>
        <p:nvSpPr>
          <p:cNvPr id="30" name="Shape 28"/>
          <p:cNvSpPr/>
          <p:nvPr/>
        </p:nvSpPr>
        <p:spPr>
          <a:xfrm>
            <a:off x="3206750" y="4671219"/>
            <a:ext cx="2635250" cy="539750"/>
          </a:xfrm>
          <a:custGeom>
            <a:avLst/>
            <a:gdLst/>
            <a:ahLst/>
            <a:cxnLst/>
            <a:rect l="l" t="t" r="r" b="b"/>
            <a:pathLst>
              <a:path w="2635250" h="539750">
                <a:moveTo>
                  <a:pt x="63502" y="0"/>
                </a:moveTo>
                <a:lnTo>
                  <a:pt x="2571748" y="0"/>
                </a:lnTo>
                <a:cubicBezTo>
                  <a:pt x="2606819" y="0"/>
                  <a:pt x="2635250" y="28431"/>
                  <a:pt x="2635250" y="63502"/>
                </a:cubicBezTo>
                <a:lnTo>
                  <a:pt x="2635250" y="476248"/>
                </a:lnTo>
                <a:cubicBezTo>
                  <a:pt x="2635250" y="511319"/>
                  <a:pt x="2606819" y="539750"/>
                  <a:pt x="2571748" y="539750"/>
                </a:cubicBezTo>
                <a:lnTo>
                  <a:pt x="63502" y="539750"/>
                </a:lnTo>
                <a:cubicBezTo>
                  <a:pt x="28431" y="539750"/>
                  <a:pt x="0" y="511319"/>
                  <a:pt x="0" y="476248"/>
                </a:cubicBezTo>
                <a:lnTo>
                  <a:pt x="0" y="63502"/>
                </a:lnTo>
                <a:cubicBezTo>
                  <a:pt x="0" y="28454"/>
                  <a:pt x="28454" y="0"/>
                  <a:pt x="63502" y="0"/>
                </a:cubicBezTo>
                <a:close/>
              </a:path>
            </a:pathLst>
          </a:custGeom>
          <a:solidFill>
            <a:srgbClr val="F8F9FA"/>
          </a:solidFill>
          <a:ln/>
        </p:spPr>
      </p:sp>
      <p:sp>
        <p:nvSpPr>
          <p:cNvPr id="31" name="Shape 29"/>
          <p:cNvSpPr/>
          <p:nvPr/>
        </p:nvSpPr>
        <p:spPr>
          <a:xfrm>
            <a:off x="3321844" y="4861719"/>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solidFill>
            <a:srgbClr val="2A9D8F"/>
          </a:solidFill>
          <a:ln/>
        </p:spPr>
      </p:sp>
      <p:sp>
        <p:nvSpPr>
          <p:cNvPr id="32" name="Text 30"/>
          <p:cNvSpPr/>
          <p:nvPr/>
        </p:nvSpPr>
        <p:spPr>
          <a:xfrm>
            <a:off x="3595688" y="4766469"/>
            <a:ext cx="1293813" cy="190500"/>
          </a:xfrm>
          <a:prstGeom prst="rect">
            <a:avLst/>
          </a:prstGeom>
          <a:noFill/>
          <a:ln/>
        </p:spPr>
        <p:txBody>
          <a:bodyPr wrap="square" lIns="0" tIns="0" rIns="0" bIns="0" rtlCol="0" anchor="ctr"/>
          <a:lstStyle/>
          <a:p>
            <a:pPr>
              <a:lnSpc>
                <a:spcPct val="130000"/>
              </a:lnSpc>
            </a:pPr>
            <a:r>
              <a:rPr lang="en-US" sz="1000" b="1" dirty="0">
                <a:solidFill>
                  <a:srgbClr val="1A3A5C"/>
                </a:solidFill>
                <a:latin typeface="Liter" pitchFamily="34" charset="0"/>
                <a:ea typeface="Liter" pitchFamily="34" charset="-122"/>
                <a:cs typeface="Liter" pitchFamily="34" charset="-120"/>
              </a:rPr>
              <a:t>Mobile Check Deposit</a:t>
            </a:r>
            <a:endParaRPr lang="en-US" sz="1600" dirty="0"/>
          </a:p>
        </p:txBody>
      </p:sp>
      <p:sp>
        <p:nvSpPr>
          <p:cNvPr id="33" name="Text 31"/>
          <p:cNvSpPr/>
          <p:nvPr/>
        </p:nvSpPr>
        <p:spPr>
          <a:xfrm>
            <a:off x="3595688" y="4956969"/>
            <a:ext cx="1285875"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Snap and deposit</a:t>
            </a:r>
            <a:endParaRPr lang="en-US" sz="1600" dirty="0"/>
          </a:p>
        </p:txBody>
      </p:sp>
      <p:sp>
        <p:nvSpPr>
          <p:cNvPr id="34" name="Shape 32"/>
          <p:cNvSpPr/>
          <p:nvPr/>
        </p:nvSpPr>
        <p:spPr>
          <a:xfrm>
            <a:off x="476250" y="5306219"/>
            <a:ext cx="2635250" cy="539750"/>
          </a:xfrm>
          <a:custGeom>
            <a:avLst/>
            <a:gdLst/>
            <a:ahLst/>
            <a:cxnLst/>
            <a:rect l="l" t="t" r="r" b="b"/>
            <a:pathLst>
              <a:path w="2635250" h="539750">
                <a:moveTo>
                  <a:pt x="63502" y="0"/>
                </a:moveTo>
                <a:lnTo>
                  <a:pt x="2571748" y="0"/>
                </a:lnTo>
                <a:cubicBezTo>
                  <a:pt x="2606819" y="0"/>
                  <a:pt x="2635250" y="28431"/>
                  <a:pt x="2635250" y="63502"/>
                </a:cubicBezTo>
                <a:lnTo>
                  <a:pt x="2635250" y="476248"/>
                </a:lnTo>
                <a:cubicBezTo>
                  <a:pt x="2635250" y="511319"/>
                  <a:pt x="2606819" y="539750"/>
                  <a:pt x="2571748" y="539750"/>
                </a:cubicBezTo>
                <a:lnTo>
                  <a:pt x="63502" y="539750"/>
                </a:lnTo>
                <a:cubicBezTo>
                  <a:pt x="28431" y="539750"/>
                  <a:pt x="0" y="511319"/>
                  <a:pt x="0" y="476248"/>
                </a:cubicBezTo>
                <a:lnTo>
                  <a:pt x="0" y="63502"/>
                </a:lnTo>
                <a:cubicBezTo>
                  <a:pt x="0" y="28454"/>
                  <a:pt x="28454" y="0"/>
                  <a:pt x="63502" y="0"/>
                </a:cubicBezTo>
                <a:close/>
              </a:path>
            </a:pathLst>
          </a:custGeom>
          <a:solidFill>
            <a:srgbClr val="F8F9FA"/>
          </a:solidFill>
          <a:ln/>
        </p:spPr>
      </p:sp>
      <p:sp>
        <p:nvSpPr>
          <p:cNvPr id="35" name="Shape 33"/>
          <p:cNvSpPr/>
          <p:nvPr/>
        </p:nvSpPr>
        <p:spPr>
          <a:xfrm>
            <a:off x="591344" y="5496719"/>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solidFill>
            <a:srgbClr val="2A9D8F"/>
          </a:solidFill>
          <a:ln/>
        </p:spPr>
      </p:sp>
      <p:sp>
        <p:nvSpPr>
          <p:cNvPr id="36" name="Text 34"/>
          <p:cNvSpPr/>
          <p:nvPr/>
        </p:nvSpPr>
        <p:spPr>
          <a:xfrm>
            <a:off x="865188" y="5401469"/>
            <a:ext cx="976312" cy="190500"/>
          </a:xfrm>
          <a:prstGeom prst="rect">
            <a:avLst/>
          </a:prstGeom>
          <a:noFill/>
          <a:ln/>
        </p:spPr>
        <p:txBody>
          <a:bodyPr wrap="square" lIns="0" tIns="0" rIns="0" bIns="0" rtlCol="0" anchor="ctr"/>
          <a:lstStyle/>
          <a:p>
            <a:pPr>
              <a:lnSpc>
                <a:spcPct val="130000"/>
              </a:lnSpc>
            </a:pPr>
            <a:r>
              <a:rPr lang="en-US" sz="1000" b="1" dirty="0">
                <a:solidFill>
                  <a:srgbClr val="1A3A5C"/>
                </a:solidFill>
                <a:latin typeface="Liter" pitchFamily="34" charset="0"/>
                <a:ea typeface="Liter" pitchFamily="34" charset="-122"/>
                <a:cs typeface="Liter" pitchFamily="34" charset="-120"/>
              </a:rPr>
              <a:t>Budgeting Tools</a:t>
            </a:r>
            <a:endParaRPr lang="en-US" sz="1600" dirty="0"/>
          </a:p>
        </p:txBody>
      </p:sp>
      <p:sp>
        <p:nvSpPr>
          <p:cNvPr id="37" name="Text 35"/>
          <p:cNvSpPr/>
          <p:nvPr/>
        </p:nvSpPr>
        <p:spPr>
          <a:xfrm>
            <a:off x="865188" y="5591969"/>
            <a:ext cx="968375"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Spending analytics</a:t>
            </a:r>
            <a:endParaRPr lang="en-US" sz="1600" dirty="0"/>
          </a:p>
        </p:txBody>
      </p:sp>
      <p:sp>
        <p:nvSpPr>
          <p:cNvPr id="38" name="Shape 36"/>
          <p:cNvSpPr/>
          <p:nvPr/>
        </p:nvSpPr>
        <p:spPr>
          <a:xfrm>
            <a:off x="3206750" y="5306219"/>
            <a:ext cx="2635250" cy="539750"/>
          </a:xfrm>
          <a:custGeom>
            <a:avLst/>
            <a:gdLst/>
            <a:ahLst/>
            <a:cxnLst/>
            <a:rect l="l" t="t" r="r" b="b"/>
            <a:pathLst>
              <a:path w="2635250" h="539750">
                <a:moveTo>
                  <a:pt x="63502" y="0"/>
                </a:moveTo>
                <a:lnTo>
                  <a:pt x="2571748" y="0"/>
                </a:lnTo>
                <a:cubicBezTo>
                  <a:pt x="2606819" y="0"/>
                  <a:pt x="2635250" y="28431"/>
                  <a:pt x="2635250" y="63502"/>
                </a:cubicBezTo>
                <a:lnTo>
                  <a:pt x="2635250" y="476248"/>
                </a:lnTo>
                <a:cubicBezTo>
                  <a:pt x="2635250" y="511319"/>
                  <a:pt x="2606819" y="539750"/>
                  <a:pt x="2571748" y="539750"/>
                </a:cubicBezTo>
                <a:lnTo>
                  <a:pt x="63502" y="539750"/>
                </a:lnTo>
                <a:cubicBezTo>
                  <a:pt x="28431" y="539750"/>
                  <a:pt x="0" y="511319"/>
                  <a:pt x="0" y="476248"/>
                </a:cubicBezTo>
                <a:lnTo>
                  <a:pt x="0" y="63502"/>
                </a:lnTo>
                <a:cubicBezTo>
                  <a:pt x="0" y="28454"/>
                  <a:pt x="28454" y="0"/>
                  <a:pt x="63502" y="0"/>
                </a:cubicBezTo>
                <a:close/>
              </a:path>
            </a:pathLst>
          </a:custGeom>
          <a:solidFill>
            <a:srgbClr val="F8F9FA"/>
          </a:solidFill>
          <a:ln/>
        </p:spPr>
      </p:sp>
      <p:sp>
        <p:nvSpPr>
          <p:cNvPr id="39" name="Shape 37"/>
          <p:cNvSpPr/>
          <p:nvPr/>
        </p:nvSpPr>
        <p:spPr>
          <a:xfrm>
            <a:off x="3321844" y="5496719"/>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solidFill>
            <a:srgbClr val="2A9D8F"/>
          </a:solidFill>
          <a:ln/>
        </p:spPr>
      </p:sp>
      <p:sp>
        <p:nvSpPr>
          <p:cNvPr id="40" name="Text 38"/>
          <p:cNvSpPr/>
          <p:nvPr/>
        </p:nvSpPr>
        <p:spPr>
          <a:xfrm>
            <a:off x="3595688" y="5401469"/>
            <a:ext cx="1095375" cy="190500"/>
          </a:xfrm>
          <a:prstGeom prst="rect">
            <a:avLst/>
          </a:prstGeom>
          <a:noFill/>
          <a:ln/>
        </p:spPr>
        <p:txBody>
          <a:bodyPr wrap="square" lIns="0" tIns="0" rIns="0" bIns="0" rtlCol="0" anchor="ctr"/>
          <a:lstStyle/>
          <a:p>
            <a:pPr>
              <a:lnSpc>
                <a:spcPct val="130000"/>
              </a:lnSpc>
            </a:pPr>
            <a:r>
              <a:rPr lang="en-US" sz="1000" b="1" dirty="0">
                <a:solidFill>
                  <a:srgbClr val="1A3A5C"/>
                </a:solidFill>
                <a:latin typeface="Liter" pitchFamily="34" charset="0"/>
                <a:ea typeface="Liter" pitchFamily="34" charset="-122"/>
                <a:cs typeface="Liter" pitchFamily="34" charset="-120"/>
              </a:rPr>
              <a:t>Biometric Security</a:t>
            </a:r>
            <a:endParaRPr lang="en-US" sz="1600" dirty="0"/>
          </a:p>
        </p:txBody>
      </p:sp>
      <p:sp>
        <p:nvSpPr>
          <p:cNvPr id="41" name="Text 39"/>
          <p:cNvSpPr/>
          <p:nvPr/>
        </p:nvSpPr>
        <p:spPr>
          <a:xfrm>
            <a:off x="3595688" y="5591969"/>
            <a:ext cx="1087438"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Fingerprint/Face ID</a:t>
            </a:r>
            <a:endParaRPr lang="en-US" sz="1600" dirty="0"/>
          </a:p>
        </p:txBody>
      </p:sp>
      <p:sp>
        <p:nvSpPr>
          <p:cNvPr id="42" name="Shape 40"/>
          <p:cNvSpPr/>
          <p:nvPr/>
        </p:nvSpPr>
        <p:spPr>
          <a:xfrm>
            <a:off x="6191250" y="1365250"/>
            <a:ext cx="5683250" cy="3190875"/>
          </a:xfrm>
          <a:custGeom>
            <a:avLst/>
            <a:gdLst/>
            <a:ahLst/>
            <a:cxnLst/>
            <a:rect l="l" t="t" r="r" b="b"/>
            <a:pathLst>
              <a:path w="5683250" h="3190875">
                <a:moveTo>
                  <a:pt x="31750" y="0"/>
                </a:moveTo>
                <a:lnTo>
                  <a:pt x="5651500" y="0"/>
                </a:lnTo>
                <a:cubicBezTo>
                  <a:pt x="5669035" y="0"/>
                  <a:pt x="5683250" y="14215"/>
                  <a:pt x="5683250" y="31750"/>
                </a:cubicBezTo>
                <a:lnTo>
                  <a:pt x="5683250" y="3095627"/>
                </a:lnTo>
                <a:cubicBezTo>
                  <a:pt x="5683250" y="3148231"/>
                  <a:pt x="5640606" y="3190875"/>
                  <a:pt x="5588002" y="3190875"/>
                </a:cubicBezTo>
                <a:lnTo>
                  <a:pt x="95248" y="3190875"/>
                </a:lnTo>
                <a:cubicBezTo>
                  <a:pt x="42644" y="3190875"/>
                  <a:pt x="0" y="3148231"/>
                  <a:pt x="0" y="3095627"/>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43" name="Shape 41"/>
          <p:cNvSpPr/>
          <p:nvPr/>
        </p:nvSpPr>
        <p:spPr>
          <a:xfrm>
            <a:off x="6191250" y="1365250"/>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2A9D8F"/>
          </a:solidFill>
          <a:ln/>
        </p:spPr>
      </p:sp>
      <p:sp>
        <p:nvSpPr>
          <p:cNvPr id="44" name="Shape 42"/>
          <p:cNvSpPr/>
          <p:nvPr/>
        </p:nvSpPr>
        <p:spPr>
          <a:xfrm>
            <a:off x="6373813" y="1571625"/>
            <a:ext cx="190500" cy="190500"/>
          </a:xfrm>
          <a:custGeom>
            <a:avLst/>
            <a:gdLst/>
            <a:ahLst/>
            <a:cxnLst/>
            <a:rect l="l" t="t" r="r" b="b"/>
            <a:pathLst>
              <a:path w="190500" h="190500">
                <a:moveTo>
                  <a:pt x="130932" y="104180"/>
                </a:moveTo>
                <a:lnTo>
                  <a:pt x="59903" y="104180"/>
                </a:lnTo>
                <a:cubicBezTo>
                  <a:pt x="60982" y="128178"/>
                  <a:pt x="66303" y="150279"/>
                  <a:pt x="73856" y="166464"/>
                </a:cubicBezTo>
                <a:cubicBezTo>
                  <a:pt x="78098" y="175580"/>
                  <a:pt x="82674" y="182017"/>
                  <a:pt x="86916" y="185961"/>
                </a:cubicBezTo>
                <a:cubicBezTo>
                  <a:pt x="91083" y="189867"/>
                  <a:pt x="93948" y="190500"/>
                  <a:pt x="95436" y="190500"/>
                </a:cubicBezTo>
                <a:cubicBezTo>
                  <a:pt x="96924" y="190500"/>
                  <a:pt x="99789" y="189867"/>
                  <a:pt x="103956" y="185961"/>
                </a:cubicBezTo>
                <a:cubicBezTo>
                  <a:pt x="108198" y="182017"/>
                  <a:pt x="112775" y="175543"/>
                  <a:pt x="117016" y="166464"/>
                </a:cubicBezTo>
                <a:cubicBezTo>
                  <a:pt x="124569" y="150279"/>
                  <a:pt x="129890" y="128178"/>
                  <a:pt x="130969" y="104180"/>
                </a:cubicBezTo>
                <a:close/>
                <a:moveTo>
                  <a:pt x="59866" y="86320"/>
                </a:moveTo>
                <a:lnTo>
                  <a:pt x="130894" y="86320"/>
                </a:lnTo>
                <a:cubicBezTo>
                  <a:pt x="129853" y="62322"/>
                  <a:pt x="124532" y="40221"/>
                  <a:pt x="116979" y="24036"/>
                </a:cubicBezTo>
                <a:cubicBezTo>
                  <a:pt x="112737" y="14957"/>
                  <a:pt x="108161" y="8483"/>
                  <a:pt x="103919" y="4539"/>
                </a:cubicBezTo>
                <a:cubicBezTo>
                  <a:pt x="99752" y="633"/>
                  <a:pt x="96887" y="0"/>
                  <a:pt x="95399" y="0"/>
                </a:cubicBezTo>
                <a:cubicBezTo>
                  <a:pt x="93911" y="0"/>
                  <a:pt x="91046" y="633"/>
                  <a:pt x="86878" y="4539"/>
                </a:cubicBezTo>
                <a:cubicBezTo>
                  <a:pt x="82637" y="8483"/>
                  <a:pt x="78060" y="14957"/>
                  <a:pt x="73819" y="24036"/>
                </a:cubicBezTo>
                <a:cubicBezTo>
                  <a:pt x="66266" y="40221"/>
                  <a:pt x="60945" y="62322"/>
                  <a:pt x="59866" y="86320"/>
                </a:cubicBezTo>
                <a:close/>
                <a:moveTo>
                  <a:pt x="42007" y="86320"/>
                </a:moveTo>
                <a:cubicBezTo>
                  <a:pt x="43309" y="54471"/>
                  <a:pt x="51532" y="24892"/>
                  <a:pt x="63550" y="5469"/>
                </a:cubicBezTo>
                <a:cubicBezTo>
                  <a:pt x="29282" y="17599"/>
                  <a:pt x="4056" y="48816"/>
                  <a:pt x="558" y="86320"/>
                </a:cubicBezTo>
                <a:lnTo>
                  <a:pt x="42007" y="86320"/>
                </a:lnTo>
                <a:close/>
                <a:moveTo>
                  <a:pt x="558" y="104180"/>
                </a:moveTo>
                <a:cubicBezTo>
                  <a:pt x="4056" y="141684"/>
                  <a:pt x="29282" y="172901"/>
                  <a:pt x="63550" y="185031"/>
                </a:cubicBezTo>
                <a:cubicBezTo>
                  <a:pt x="51532" y="165608"/>
                  <a:pt x="43309" y="136029"/>
                  <a:pt x="42007" y="104180"/>
                </a:cubicBezTo>
                <a:lnTo>
                  <a:pt x="558" y="104180"/>
                </a:lnTo>
                <a:close/>
                <a:moveTo>
                  <a:pt x="148791" y="104180"/>
                </a:moveTo>
                <a:cubicBezTo>
                  <a:pt x="147489" y="136029"/>
                  <a:pt x="139266" y="165608"/>
                  <a:pt x="127248" y="185031"/>
                </a:cubicBezTo>
                <a:cubicBezTo>
                  <a:pt x="161516" y="172864"/>
                  <a:pt x="186742" y="141684"/>
                  <a:pt x="190240" y="104180"/>
                </a:cubicBezTo>
                <a:lnTo>
                  <a:pt x="148791" y="104180"/>
                </a:lnTo>
                <a:close/>
                <a:moveTo>
                  <a:pt x="190240" y="86320"/>
                </a:moveTo>
                <a:cubicBezTo>
                  <a:pt x="186742" y="48816"/>
                  <a:pt x="161516" y="17599"/>
                  <a:pt x="127248" y="5469"/>
                </a:cubicBezTo>
                <a:cubicBezTo>
                  <a:pt x="139266" y="24892"/>
                  <a:pt x="147489" y="54471"/>
                  <a:pt x="148791" y="86320"/>
                </a:cubicBezTo>
                <a:lnTo>
                  <a:pt x="190240" y="86320"/>
                </a:lnTo>
                <a:close/>
              </a:path>
            </a:pathLst>
          </a:custGeom>
          <a:solidFill>
            <a:srgbClr val="2A9D8F"/>
          </a:solidFill>
          <a:ln/>
        </p:spPr>
      </p:sp>
      <p:sp>
        <p:nvSpPr>
          <p:cNvPr id="45" name="Text 43"/>
          <p:cNvSpPr/>
          <p:nvPr/>
        </p:nvSpPr>
        <p:spPr>
          <a:xfrm>
            <a:off x="6588125" y="1539875"/>
            <a:ext cx="5222875"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Global Digital Banking Stats</a:t>
            </a:r>
            <a:endParaRPr lang="en-US" sz="1600" dirty="0"/>
          </a:p>
        </p:txBody>
      </p:sp>
      <p:sp>
        <p:nvSpPr>
          <p:cNvPr id="46" name="Shape 44"/>
          <p:cNvSpPr/>
          <p:nvPr/>
        </p:nvSpPr>
        <p:spPr>
          <a:xfrm>
            <a:off x="6350000" y="1920875"/>
            <a:ext cx="5365750" cy="762000"/>
          </a:xfrm>
          <a:custGeom>
            <a:avLst/>
            <a:gdLst/>
            <a:ahLst/>
            <a:cxnLst/>
            <a:rect l="l" t="t" r="r" b="b"/>
            <a:pathLst>
              <a:path w="5365750" h="762000">
                <a:moveTo>
                  <a:pt x="63497" y="0"/>
                </a:moveTo>
                <a:lnTo>
                  <a:pt x="5302253" y="0"/>
                </a:lnTo>
                <a:cubicBezTo>
                  <a:pt x="5337321" y="0"/>
                  <a:pt x="5365750" y="28429"/>
                  <a:pt x="5365750" y="63497"/>
                </a:cubicBezTo>
                <a:lnTo>
                  <a:pt x="5365750" y="698503"/>
                </a:lnTo>
                <a:cubicBezTo>
                  <a:pt x="5365750" y="733571"/>
                  <a:pt x="5337321" y="762000"/>
                  <a:pt x="5302253" y="762000"/>
                </a:cubicBezTo>
                <a:lnTo>
                  <a:pt x="63497" y="762000"/>
                </a:lnTo>
                <a:cubicBezTo>
                  <a:pt x="28429" y="762000"/>
                  <a:pt x="0" y="733571"/>
                  <a:pt x="0" y="698503"/>
                </a:cubicBezTo>
                <a:lnTo>
                  <a:pt x="0" y="63497"/>
                </a:lnTo>
                <a:cubicBezTo>
                  <a:pt x="0" y="28452"/>
                  <a:pt x="28452" y="0"/>
                  <a:pt x="63497" y="0"/>
                </a:cubicBezTo>
                <a:close/>
              </a:path>
            </a:pathLst>
          </a:custGeom>
          <a:solidFill>
            <a:srgbClr val="F8F9FA"/>
          </a:solidFill>
          <a:ln/>
        </p:spPr>
      </p:sp>
      <p:sp>
        <p:nvSpPr>
          <p:cNvPr id="47" name="Text 45"/>
          <p:cNvSpPr/>
          <p:nvPr/>
        </p:nvSpPr>
        <p:spPr>
          <a:xfrm>
            <a:off x="6477000" y="2063750"/>
            <a:ext cx="1563688"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India - UPI Transactions</a:t>
            </a:r>
            <a:endParaRPr lang="en-US" sz="1600" dirty="0"/>
          </a:p>
        </p:txBody>
      </p:sp>
      <p:sp>
        <p:nvSpPr>
          <p:cNvPr id="48" name="Text 46"/>
          <p:cNvSpPr/>
          <p:nvPr/>
        </p:nvSpPr>
        <p:spPr>
          <a:xfrm>
            <a:off x="11201797" y="2047875"/>
            <a:ext cx="484187" cy="254000"/>
          </a:xfrm>
          <a:prstGeom prst="rect">
            <a:avLst/>
          </a:prstGeom>
          <a:noFill/>
          <a:ln/>
        </p:spPr>
        <p:txBody>
          <a:bodyPr wrap="square" lIns="0" tIns="0" rIns="0" bIns="0" rtlCol="0" anchor="ctr"/>
          <a:lstStyle/>
          <a:p>
            <a:pPr>
              <a:lnSpc>
                <a:spcPct val="110000"/>
              </a:lnSpc>
            </a:pPr>
            <a:r>
              <a:rPr lang="en-US" sz="1500" b="1" dirty="0">
                <a:solidFill>
                  <a:srgbClr val="2A9D8F"/>
                </a:solidFill>
                <a:latin typeface="Liter" pitchFamily="34" charset="0"/>
                <a:ea typeface="Liter" pitchFamily="34" charset="-122"/>
                <a:cs typeface="Liter" pitchFamily="34" charset="-120"/>
              </a:rPr>
              <a:t>9.2B</a:t>
            </a:r>
            <a:endParaRPr lang="en-US" sz="1600" dirty="0"/>
          </a:p>
        </p:txBody>
      </p:sp>
      <p:sp>
        <p:nvSpPr>
          <p:cNvPr id="49" name="Text 47"/>
          <p:cNvSpPr/>
          <p:nvPr/>
        </p:nvSpPr>
        <p:spPr>
          <a:xfrm>
            <a:off x="6477000" y="2365375"/>
            <a:ext cx="517525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Monthly transactions in 2024</a:t>
            </a:r>
            <a:endParaRPr lang="en-US" sz="1600" dirty="0"/>
          </a:p>
        </p:txBody>
      </p:sp>
      <p:sp>
        <p:nvSpPr>
          <p:cNvPr id="50" name="Shape 48"/>
          <p:cNvSpPr/>
          <p:nvPr/>
        </p:nvSpPr>
        <p:spPr>
          <a:xfrm>
            <a:off x="6350000" y="2778125"/>
            <a:ext cx="5365750" cy="762000"/>
          </a:xfrm>
          <a:custGeom>
            <a:avLst/>
            <a:gdLst/>
            <a:ahLst/>
            <a:cxnLst/>
            <a:rect l="l" t="t" r="r" b="b"/>
            <a:pathLst>
              <a:path w="5365750" h="762000">
                <a:moveTo>
                  <a:pt x="63497" y="0"/>
                </a:moveTo>
                <a:lnTo>
                  <a:pt x="5302253" y="0"/>
                </a:lnTo>
                <a:cubicBezTo>
                  <a:pt x="5337321" y="0"/>
                  <a:pt x="5365750" y="28429"/>
                  <a:pt x="5365750" y="63497"/>
                </a:cubicBezTo>
                <a:lnTo>
                  <a:pt x="5365750" y="698503"/>
                </a:lnTo>
                <a:cubicBezTo>
                  <a:pt x="5365750" y="733571"/>
                  <a:pt x="5337321" y="762000"/>
                  <a:pt x="5302253" y="762000"/>
                </a:cubicBezTo>
                <a:lnTo>
                  <a:pt x="63497" y="762000"/>
                </a:lnTo>
                <a:cubicBezTo>
                  <a:pt x="28429" y="762000"/>
                  <a:pt x="0" y="733571"/>
                  <a:pt x="0" y="698503"/>
                </a:cubicBezTo>
                <a:lnTo>
                  <a:pt x="0" y="63497"/>
                </a:lnTo>
                <a:cubicBezTo>
                  <a:pt x="0" y="28452"/>
                  <a:pt x="28452" y="0"/>
                  <a:pt x="63497" y="0"/>
                </a:cubicBezTo>
                <a:close/>
              </a:path>
            </a:pathLst>
          </a:custGeom>
          <a:solidFill>
            <a:srgbClr val="F8F9FA"/>
          </a:solidFill>
          <a:ln/>
        </p:spPr>
      </p:sp>
      <p:sp>
        <p:nvSpPr>
          <p:cNvPr id="51" name="Text 49"/>
          <p:cNvSpPr/>
          <p:nvPr/>
        </p:nvSpPr>
        <p:spPr>
          <a:xfrm>
            <a:off x="6477000" y="2921000"/>
            <a:ext cx="1063625"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Kenya - M-Pesa</a:t>
            </a:r>
            <a:endParaRPr lang="en-US" sz="1600" dirty="0"/>
          </a:p>
        </p:txBody>
      </p:sp>
      <p:sp>
        <p:nvSpPr>
          <p:cNvPr id="52" name="Text 50"/>
          <p:cNvSpPr/>
          <p:nvPr/>
        </p:nvSpPr>
        <p:spPr>
          <a:xfrm>
            <a:off x="11130173" y="2905125"/>
            <a:ext cx="555625" cy="254000"/>
          </a:xfrm>
          <a:prstGeom prst="rect">
            <a:avLst/>
          </a:prstGeom>
          <a:noFill/>
          <a:ln/>
        </p:spPr>
        <p:txBody>
          <a:bodyPr wrap="square" lIns="0" tIns="0" rIns="0" bIns="0" rtlCol="0" anchor="ctr"/>
          <a:lstStyle/>
          <a:p>
            <a:pPr>
              <a:lnSpc>
                <a:spcPct val="110000"/>
              </a:lnSpc>
            </a:pPr>
            <a:r>
              <a:rPr lang="en-US" sz="1500" b="1" dirty="0">
                <a:solidFill>
                  <a:srgbClr val="2A9D8F"/>
                </a:solidFill>
                <a:latin typeface="Liter" pitchFamily="34" charset="0"/>
                <a:ea typeface="Liter" pitchFamily="34" charset="-122"/>
                <a:cs typeface="Liter" pitchFamily="34" charset="-120"/>
              </a:rPr>
              <a:t>$45B</a:t>
            </a:r>
            <a:endParaRPr lang="en-US" sz="1600" dirty="0"/>
          </a:p>
        </p:txBody>
      </p:sp>
      <p:sp>
        <p:nvSpPr>
          <p:cNvPr id="53" name="Text 51"/>
          <p:cNvSpPr/>
          <p:nvPr/>
        </p:nvSpPr>
        <p:spPr>
          <a:xfrm>
            <a:off x="6477000" y="3222625"/>
            <a:ext cx="517525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Annual mobile transaction value</a:t>
            </a:r>
            <a:endParaRPr lang="en-US" sz="1600" dirty="0"/>
          </a:p>
        </p:txBody>
      </p:sp>
      <p:sp>
        <p:nvSpPr>
          <p:cNvPr id="54" name="Shape 52"/>
          <p:cNvSpPr/>
          <p:nvPr/>
        </p:nvSpPr>
        <p:spPr>
          <a:xfrm>
            <a:off x="6350000" y="3635375"/>
            <a:ext cx="5365750" cy="762000"/>
          </a:xfrm>
          <a:custGeom>
            <a:avLst/>
            <a:gdLst/>
            <a:ahLst/>
            <a:cxnLst/>
            <a:rect l="l" t="t" r="r" b="b"/>
            <a:pathLst>
              <a:path w="5365750" h="762000">
                <a:moveTo>
                  <a:pt x="63497" y="0"/>
                </a:moveTo>
                <a:lnTo>
                  <a:pt x="5302253" y="0"/>
                </a:lnTo>
                <a:cubicBezTo>
                  <a:pt x="5337321" y="0"/>
                  <a:pt x="5365750" y="28429"/>
                  <a:pt x="5365750" y="63497"/>
                </a:cubicBezTo>
                <a:lnTo>
                  <a:pt x="5365750" y="698503"/>
                </a:lnTo>
                <a:cubicBezTo>
                  <a:pt x="5365750" y="733571"/>
                  <a:pt x="5337321" y="762000"/>
                  <a:pt x="5302253" y="762000"/>
                </a:cubicBezTo>
                <a:lnTo>
                  <a:pt x="63497" y="762000"/>
                </a:lnTo>
                <a:cubicBezTo>
                  <a:pt x="28429" y="762000"/>
                  <a:pt x="0" y="733571"/>
                  <a:pt x="0" y="698503"/>
                </a:cubicBezTo>
                <a:lnTo>
                  <a:pt x="0" y="63497"/>
                </a:lnTo>
                <a:cubicBezTo>
                  <a:pt x="0" y="28452"/>
                  <a:pt x="28452" y="0"/>
                  <a:pt x="63497" y="0"/>
                </a:cubicBezTo>
                <a:close/>
              </a:path>
            </a:pathLst>
          </a:custGeom>
          <a:solidFill>
            <a:srgbClr val="F8F9FA"/>
          </a:solidFill>
          <a:ln/>
        </p:spPr>
      </p:sp>
      <p:sp>
        <p:nvSpPr>
          <p:cNvPr id="55" name="Text 53"/>
          <p:cNvSpPr/>
          <p:nvPr/>
        </p:nvSpPr>
        <p:spPr>
          <a:xfrm>
            <a:off x="6477000" y="3778250"/>
            <a:ext cx="976312"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SME Adoption</a:t>
            </a:r>
            <a:endParaRPr lang="en-US" sz="1600" dirty="0"/>
          </a:p>
        </p:txBody>
      </p:sp>
      <p:sp>
        <p:nvSpPr>
          <p:cNvPr id="56" name="Text 54"/>
          <p:cNvSpPr/>
          <p:nvPr/>
        </p:nvSpPr>
        <p:spPr>
          <a:xfrm>
            <a:off x="11082548" y="3762375"/>
            <a:ext cx="603250" cy="254000"/>
          </a:xfrm>
          <a:prstGeom prst="rect">
            <a:avLst/>
          </a:prstGeom>
          <a:noFill/>
          <a:ln/>
        </p:spPr>
        <p:txBody>
          <a:bodyPr wrap="square" lIns="0" tIns="0" rIns="0" bIns="0" rtlCol="0" anchor="ctr"/>
          <a:lstStyle/>
          <a:p>
            <a:pPr>
              <a:lnSpc>
                <a:spcPct val="110000"/>
              </a:lnSpc>
            </a:pPr>
            <a:r>
              <a:rPr lang="en-US" sz="1500" b="1" dirty="0">
                <a:solidFill>
                  <a:srgbClr val="2A9D8F"/>
                </a:solidFill>
                <a:latin typeface="Liter" pitchFamily="34" charset="0"/>
                <a:ea typeface="Liter" pitchFamily="34" charset="-122"/>
                <a:cs typeface="Liter" pitchFamily="34" charset="-120"/>
              </a:rPr>
              <a:t>1.2M+</a:t>
            </a:r>
            <a:endParaRPr lang="en-US" sz="1600" dirty="0"/>
          </a:p>
        </p:txBody>
      </p:sp>
      <p:sp>
        <p:nvSpPr>
          <p:cNvPr id="57" name="Text 55"/>
          <p:cNvSpPr/>
          <p:nvPr/>
        </p:nvSpPr>
        <p:spPr>
          <a:xfrm>
            <a:off x="6477000" y="4079875"/>
            <a:ext cx="517525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Small businesses using mobile banking</a:t>
            </a:r>
            <a:endParaRPr lang="en-US" sz="1600" dirty="0"/>
          </a:p>
        </p:txBody>
      </p:sp>
      <p:sp>
        <p:nvSpPr>
          <p:cNvPr id="58" name="Shape 56"/>
          <p:cNvSpPr/>
          <p:nvPr/>
        </p:nvSpPr>
        <p:spPr>
          <a:xfrm>
            <a:off x="6191250" y="4683125"/>
            <a:ext cx="5683250" cy="2111375"/>
          </a:xfrm>
          <a:custGeom>
            <a:avLst/>
            <a:gdLst/>
            <a:ahLst/>
            <a:cxnLst/>
            <a:rect l="l" t="t" r="r" b="b"/>
            <a:pathLst>
              <a:path w="5683250" h="2111375">
                <a:moveTo>
                  <a:pt x="95244" y="0"/>
                </a:moveTo>
                <a:lnTo>
                  <a:pt x="5588006" y="0"/>
                </a:lnTo>
                <a:cubicBezTo>
                  <a:pt x="5640608" y="0"/>
                  <a:pt x="5683250" y="42642"/>
                  <a:pt x="5683250" y="95244"/>
                </a:cubicBezTo>
                <a:lnTo>
                  <a:pt x="5683250" y="2016131"/>
                </a:lnTo>
                <a:cubicBezTo>
                  <a:pt x="5683250" y="2068733"/>
                  <a:pt x="5640608" y="2111375"/>
                  <a:pt x="5588006" y="2111375"/>
                </a:cubicBezTo>
                <a:lnTo>
                  <a:pt x="95244" y="2111375"/>
                </a:lnTo>
                <a:cubicBezTo>
                  <a:pt x="42642" y="2111375"/>
                  <a:pt x="0" y="2068733"/>
                  <a:pt x="0" y="2016131"/>
                </a:cubicBezTo>
                <a:lnTo>
                  <a:pt x="0" y="95244"/>
                </a:lnTo>
                <a:cubicBezTo>
                  <a:pt x="0" y="42677"/>
                  <a:pt x="42677" y="0"/>
                  <a:pt x="95244"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59" name="Shape 57"/>
          <p:cNvSpPr/>
          <p:nvPr/>
        </p:nvSpPr>
        <p:spPr>
          <a:xfrm>
            <a:off x="6373813" y="4873625"/>
            <a:ext cx="190500" cy="190500"/>
          </a:xfrm>
          <a:custGeom>
            <a:avLst/>
            <a:gdLst/>
            <a:ahLst/>
            <a:cxnLst/>
            <a:rect l="l" t="t" r="r" b="b"/>
            <a:pathLst>
              <a:path w="190500" h="190500">
                <a:moveTo>
                  <a:pt x="47625" y="119063"/>
                </a:moveTo>
                <a:lnTo>
                  <a:pt x="9116" y="119063"/>
                </a:lnTo>
                <a:cubicBezTo>
                  <a:pt x="-149" y="119063"/>
                  <a:pt x="-5842" y="108979"/>
                  <a:pt x="-1079" y="101017"/>
                </a:cubicBezTo>
                <a:lnTo>
                  <a:pt x="18604" y="68200"/>
                </a:lnTo>
                <a:cubicBezTo>
                  <a:pt x="21841" y="62805"/>
                  <a:pt x="27645" y="59531"/>
                  <a:pt x="33933" y="59531"/>
                </a:cubicBezTo>
                <a:lnTo>
                  <a:pt x="69279" y="59531"/>
                </a:lnTo>
                <a:cubicBezTo>
                  <a:pt x="97594" y="11571"/>
                  <a:pt x="139824" y="9153"/>
                  <a:pt x="168064" y="13283"/>
                </a:cubicBezTo>
                <a:cubicBezTo>
                  <a:pt x="172827" y="13990"/>
                  <a:pt x="176547" y="17711"/>
                  <a:pt x="177217" y="22436"/>
                </a:cubicBezTo>
                <a:cubicBezTo>
                  <a:pt x="181347" y="50676"/>
                  <a:pt x="178929" y="92906"/>
                  <a:pt x="130969" y="121221"/>
                </a:cubicBezTo>
                <a:lnTo>
                  <a:pt x="130969" y="156567"/>
                </a:lnTo>
                <a:cubicBezTo>
                  <a:pt x="130969" y="162855"/>
                  <a:pt x="127695" y="168659"/>
                  <a:pt x="122300" y="171896"/>
                </a:cubicBezTo>
                <a:lnTo>
                  <a:pt x="89483" y="191579"/>
                </a:lnTo>
                <a:cubicBezTo>
                  <a:pt x="81558" y="196342"/>
                  <a:pt x="71438" y="190612"/>
                  <a:pt x="71438" y="181384"/>
                </a:cubicBezTo>
                <a:lnTo>
                  <a:pt x="71438" y="142875"/>
                </a:lnTo>
                <a:cubicBezTo>
                  <a:pt x="71438" y="129741"/>
                  <a:pt x="60759" y="119063"/>
                  <a:pt x="47625" y="119063"/>
                </a:cubicBezTo>
                <a:lnTo>
                  <a:pt x="47588" y="119063"/>
                </a:lnTo>
                <a:close/>
                <a:moveTo>
                  <a:pt x="148828" y="59531"/>
                </a:moveTo>
                <a:cubicBezTo>
                  <a:pt x="148828" y="49674"/>
                  <a:pt x="140826" y="41672"/>
                  <a:pt x="130969" y="41672"/>
                </a:cubicBezTo>
                <a:cubicBezTo>
                  <a:pt x="121112" y="41672"/>
                  <a:pt x="113109" y="49674"/>
                  <a:pt x="113109" y="59531"/>
                </a:cubicBezTo>
                <a:cubicBezTo>
                  <a:pt x="113109" y="69388"/>
                  <a:pt x="121112" y="77391"/>
                  <a:pt x="130969" y="77391"/>
                </a:cubicBezTo>
                <a:cubicBezTo>
                  <a:pt x="140826" y="77391"/>
                  <a:pt x="148828" y="69388"/>
                  <a:pt x="148828" y="59531"/>
                </a:cubicBezTo>
                <a:close/>
              </a:path>
            </a:pathLst>
          </a:custGeom>
          <a:solidFill>
            <a:srgbClr val="2A9D8F"/>
          </a:solidFill>
          <a:ln/>
        </p:spPr>
      </p:sp>
      <p:sp>
        <p:nvSpPr>
          <p:cNvPr id="60" name="Text 58"/>
          <p:cNvSpPr/>
          <p:nvPr/>
        </p:nvSpPr>
        <p:spPr>
          <a:xfrm>
            <a:off x="6588125" y="4841875"/>
            <a:ext cx="5222875"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Rise of Neobanks</a:t>
            </a:r>
            <a:endParaRPr lang="en-US" sz="1600" dirty="0"/>
          </a:p>
        </p:txBody>
      </p:sp>
      <p:sp>
        <p:nvSpPr>
          <p:cNvPr id="61" name="Text 59"/>
          <p:cNvSpPr/>
          <p:nvPr/>
        </p:nvSpPr>
        <p:spPr>
          <a:xfrm>
            <a:off x="6350000" y="5222875"/>
            <a:ext cx="5429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Digital-only banks without physical branches offer lower fees, better user experience, and innovative features.</a:t>
            </a:r>
            <a:endParaRPr lang="en-US" sz="1600" dirty="0"/>
          </a:p>
        </p:txBody>
      </p:sp>
      <p:sp>
        <p:nvSpPr>
          <p:cNvPr id="62" name="Shape 60"/>
          <p:cNvSpPr/>
          <p:nvPr/>
        </p:nvSpPr>
        <p:spPr>
          <a:xfrm>
            <a:off x="6350000" y="5762625"/>
            <a:ext cx="1722438" cy="873125"/>
          </a:xfrm>
          <a:custGeom>
            <a:avLst/>
            <a:gdLst/>
            <a:ahLst/>
            <a:cxnLst/>
            <a:rect l="l" t="t" r="r" b="b"/>
            <a:pathLst>
              <a:path w="1722438" h="873125">
                <a:moveTo>
                  <a:pt x="63502" y="0"/>
                </a:moveTo>
                <a:lnTo>
                  <a:pt x="1658935" y="0"/>
                </a:lnTo>
                <a:cubicBezTo>
                  <a:pt x="1694007" y="0"/>
                  <a:pt x="1722438" y="28431"/>
                  <a:pt x="1722438" y="63502"/>
                </a:cubicBezTo>
                <a:lnTo>
                  <a:pt x="1722438" y="809623"/>
                </a:lnTo>
                <a:cubicBezTo>
                  <a:pt x="1722438" y="844694"/>
                  <a:pt x="1694007" y="873125"/>
                  <a:pt x="1658935" y="873125"/>
                </a:cubicBezTo>
                <a:lnTo>
                  <a:pt x="63502" y="873125"/>
                </a:lnTo>
                <a:cubicBezTo>
                  <a:pt x="28431" y="873125"/>
                  <a:pt x="0" y="844694"/>
                  <a:pt x="0" y="809623"/>
                </a:cubicBezTo>
                <a:lnTo>
                  <a:pt x="0" y="63502"/>
                </a:lnTo>
                <a:cubicBezTo>
                  <a:pt x="0" y="28454"/>
                  <a:pt x="28454" y="0"/>
                  <a:pt x="63502" y="0"/>
                </a:cubicBezTo>
                <a:close/>
              </a:path>
            </a:pathLst>
          </a:custGeom>
          <a:solidFill>
            <a:srgbClr val="F8F9FA"/>
          </a:solidFill>
          <a:ln/>
        </p:spPr>
      </p:sp>
      <p:sp>
        <p:nvSpPr>
          <p:cNvPr id="63" name="Shape 61"/>
          <p:cNvSpPr/>
          <p:nvPr/>
        </p:nvSpPr>
        <p:spPr>
          <a:xfrm>
            <a:off x="7095443" y="5857875"/>
            <a:ext cx="238125" cy="238125"/>
          </a:xfrm>
          <a:custGeom>
            <a:avLst/>
            <a:gdLst/>
            <a:ahLst/>
            <a:cxnLst/>
            <a:rect l="l" t="t" r="r" b="b"/>
            <a:pathLst>
              <a:path w="238125" h="238125">
                <a:moveTo>
                  <a:pt x="126457" y="9395"/>
                </a:moveTo>
                <a:cubicBezTo>
                  <a:pt x="121900" y="6790"/>
                  <a:pt x="116272" y="6790"/>
                  <a:pt x="111668" y="9395"/>
                </a:cubicBezTo>
                <a:lnTo>
                  <a:pt x="7488" y="68926"/>
                </a:lnTo>
                <a:cubicBezTo>
                  <a:pt x="1628" y="72275"/>
                  <a:pt x="-1256" y="79158"/>
                  <a:pt x="465" y="85669"/>
                </a:cubicBezTo>
                <a:cubicBezTo>
                  <a:pt x="2186" y="92180"/>
                  <a:pt x="8139" y="96738"/>
                  <a:pt x="14883" y="96738"/>
                </a:cubicBezTo>
                <a:lnTo>
                  <a:pt x="29766" y="96738"/>
                </a:lnTo>
                <a:lnTo>
                  <a:pt x="29766" y="193477"/>
                </a:lnTo>
                <a:lnTo>
                  <a:pt x="29766" y="193477"/>
                </a:lnTo>
                <a:lnTo>
                  <a:pt x="5953" y="211336"/>
                </a:lnTo>
                <a:cubicBezTo>
                  <a:pt x="2186" y="214126"/>
                  <a:pt x="0" y="218545"/>
                  <a:pt x="0" y="223242"/>
                </a:cubicBezTo>
                <a:cubicBezTo>
                  <a:pt x="0" y="231474"/>
                  <a:pt x="6651" y="238125"/>
                  <a:pt x="14883" y="238125"/>
                </a:cubicBezTo>
                <a:lnTo>
                  <a:pt x="223242" y="238125"/>
                </a:lnTo>
                <a:cubicBezTo>
                  <a:pt x="231474" y="238125"/>
                  <a:pt x="238125" y="231474"/>
                  <a:pt x="238125" y="223242"/>
                </a:cubicBezTo>
                <a:cubicBezTo>
                  <a:pt x="238125" y="218545"/>
                  <a:pt x="235939" y="214126"/>
                  <a:pt x="232172" y="211336"/>
                </a:cubicBezTo>
                <a:lnTo>
                  <a:pt x="208359" y="193477"/>
                </a:lnTo>
                <a:lnTo>
                  <a:pt x="208359" y="96738"/>
                </a:lnTo>
                <a:lnTo>
                  <a:pt x="223242" y="96738"/>
                </a:lnTo>
                <a:cubicBezTo>
                  <a:pt x="229986" y="96738"/>
                  <a:pt x="235893" y="92180"/>
                  <a:pt x="237613" y="85669"/>
                </a:cubicBezTo>
                <a:cubicBezTo>
                  <a:pt x="239334" y="79158"/>
                  <a:pt x="236451" y="72275"/>
                  <a:pt x="230591" y="68926"/>
                </a:cubicBezTo>
                <a:lnTo>
                  <a:pt x="126411" y="9395"/>
                </a:lnTo>
                <a:close/>
                <a:moveTo>
                  <a:pt x="186035" y="96738"/>
                </a:moveTo>
                <a:lnTo>
                  <a:pt x="186035" y="193477"/>
                </a:lnTo>
                <a:lnTo>
                  <a:pt x="156270" y="193477"/>
                </a:lnTo>
                <a:lnTo>
                  <a:pt x="156270" y="96738"/>
                </a:lnTo>
                <a:lnTo>
                  <a:pt x="186035" y="96738"/>
                </a:lnTo>
                <a:close/>
                <a:moveTo>
                  <a:pt x="133945" y="96738"/>
                </a:moveTo>
                <a:lnTo>
                  <a:pt x="133945" y="193477"/>
                </a:lnTo>
                <a:lnTo>
                  <a:pt x="104180" y="193477"/>
                </a:lnTo>
                <a:lnTo>
                  <a:pt x="104180" y="96738"/>
                </a:lnTo>
                <a:lnTo>
                  <a:pt x="133945" y="96738"/>
                </a:lnTo>
                <a:close/>
                <a:moveTo>
                  <a:pt x="81855" y="96738"/>
                </a:moveTo>
                <a:lnTo>
                  <a:pt x="81855" y="193477"/>
                </a:lnTo>
                <a:lnTo>
                  <a:pt x="52090" y="193477"/>
                </a:lnTo>
                <a:lnTo>
                  <a:pt x="52090" y="96738"/>
                </a:lnTo>
                <a:lnTo>
                  <a:pt x="81855" y="96738"/>
                </a:lnTo>
                <a:close/>
                <a:moveTo>
                  <a:pt x="119062" y="44648"/>
                </a:moveTo>
                <a:cubicBezTo>
                  <a:pt x="127277" y="44648"/>
                  <a:pt x="133945" y="51317"/>
                  <a:pt x="133945" y="59531"/>
                </a:cubicBezTo>
                <a:cubicBezTo>
                  <a:pt x="133945" y="67745"/>
                  <a:pt x="127277" y="74414"/>
                  <a:pt x="119062" y="74414"/>
                </a:cubicBezTo>
                <a:cubicBezTo>
                  <a:pt x="110848" y="74414"/>
                  <a:pt x="104180" y="67745"/>
                  <a:pt x="104180" y="59531"/>
                </a:cubicBezTo>
                <a:cubicBezTo>
                  <a:pt x="104180" y="51317"/>
                  <a:pt x="110848" y="44648"/>
                  <a:pt x="119062" y="44648"/>
                </a:cubicBezTo>
                <a:close/>
              </a:path>
            </a:pathLst>
          </a:custGeom>
          <a:solidFill>
            <a:srgbClr val="2A9D8F"/>
          </a:solidFill>
          <a:ln/>
        </p:spPr>
      </p:sp>
      <p:sp>
        <p:nvSpPr>
          <p:cNvPr id="64" name="Text 62"/>
          <p:cNvSpPr/>
          <p:nvPr/>
        </p:nvSpPr>
        <p:spPr>
          <a:xfrm>
            <a:off x="6413500" y="6159500"/>
            <a:ext cx="1595438" cy="190500"/>
          </a:xfrm>
          <a:prstGeom prst="rect">
            <a:avLst/>
          </a:prstGeom>
          <a:noFill/>
          <a:ln/>
        </p:spPr>
        <p:txBody>
          <a:bodyPr wrap="square" lIns="0" tIns="0" rIns="0" bIns="0" rtlCol="0" anchor="ctr"/>
          <a:lstStyle/>
          <a:p>
            <a:pPr algn="ctr">
              <a:lnSpc>
                <a:spcPct val="130000"/>
              </a:lnSpc>
            </a:pPr>
            <a:r>
              <a:rPr lang="en-US" sz="1000" b="1" dirty="0">
                <a:solidFill>
                  <a:srgbClr val="1A3A5C"/>
                </a:solidFill>
                <a:latin typeface="Liter" pitchFamily="34" charset="0"/>
                <a:ea typeface="Liter" pitchFamily="34" charset="-122"/>
                <a:cs typeface="Liter" pitchFamily="34" charset="-120"/>
              </a:rPr>
              <a:t>Chime</a:t>
            </a:r>
            <a:endParaRPr lang="en-US" sz="1600" dirty="0"/>
          </a:p>
        </p:txBody>
      </p:sp>
      <p:sp>
        <p:nvSpPr>
          <p:cNvPr id="65" name="Text 63"/>
          <p:cNvSpPr/>
          <p:nvPr/>
        </p:nvSpPr>
        <p:spPr>
          <a:xfrm>
            <a:off x="6417469" y="6381750"/>
            <a:ext cx="1587500" cy="158750"/>
          </a:xfrm>
          <a:prstGeom prst="rect">
            <a:avLst/>
          </a:prstGeom>
          <a:noFill/>
          <a:ln/>
        </p:spPr>
        <p:txBody>
          <a:bodyPr wrap="square" lIns="0" tIns="0" rIns="0" bIns="0" rtlCol="0" anchor="ctr"/>
          <a:lstStyle/>
          <a:p>
            <a:pPr algn="ct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US</a:t>
            </a:r>
            <a:endParaRPr lang="en-US" sz="1600" dirty="0"/>
          </a:p>
        </p:txBody>
      </p:sp>
      <p:sp>
        <p:nvSpPr>
          <p:cNvPr id="66" name="Shape 64"/>
          <p:cNvSpPr/>
          <p:nvPr/>
        </p:nvSpPr>
        <p:spPr>
          <a:xfrm>
            <a:off x="8170292" y="5762625"/>
            <a:ext cx="1722438" cy="873125"/>
          </a:xfrm>
          <a:custGeom>
            <a:avLst/>
            <a:gdLst/>
            <a:ahLst/>
            <a:cxnLst/>
            <a:rect l="l" t="t" r="r" b="b"/>
            <a:pathLst>
              <a:path w="1722438" h="873125">
                <a:moveTo>
                  <a:pt x="63502" y="0"/>
                </a:moveTo>
                <a:lnTo>
                  <a:pt x="1658935" y="0"/>
                </a:lnTo>
                <a:cubicBezTo>
                  <a:pt x="1694007" y="0"/>
                  <a:pt x="1722438" y="28431"/>
                  <a:pt x="1722438" y="63502"/>
                </a:cubicBezTo>
                <a:lnTo>
                  <a:pt x="1722438" y="809623"/>
                </a:lnTo>
                <a:cubicBezTo>
                  <a:pt x="1722438" y="844694"/>
                  <a:pt x="1694007" y="873125"/>
                  <a:pt x="1658935" y="873125"/>
                </a:cubicBezTo>
                <a:lnTo>
                  <a:pt x="63502" y="873125"/>
                </a:lnTo>
                <a:cubicBezTo>
                  <a:pt x="28431" y="873125"/>
                  <a:pt x="0" y="844694"/>
                  <a:pt x="0" y="809623"/>
                </a:cubicBezTo>
                <a:lnTo>
                  <a:pt x="0" y="63502"/>
                </a:lnTo>
                <a:cubicBezTo>
                  <a:pt x="0" y="28454"/>
                  <a:pt x="28454" y="0"/>
                  <a:pt x="63502" y="0"/>
                </a:cubicBezTo>
                <a:close/>
              </a:path>
            </a:pathLst>
          </a:custGeom>
          <a:solidFill>
            <a:srgbClr val="F8F9FA"/>
          </a:solidFill>
          <a:ln/>
        </p:spPr>
      </p:sp>
      <p:sp>
        <p:nvSpPr>
          <p:cNvPr id="67" name="Shape 65"/>
          <p:cNvSpPr/>
          <p:nvPr/>
        </p:nvSpPr>
        <p:spPr>
          <a:xfrm>
            <a:off x="8915735" y="5857875"/>
            <a:ext cx="238125" cy="238125"/>
          </a:xfrm>
          <a:custGeom>
            <a:avLst/>
            <a:gdLst/>
            <a:ahLst/>
            <a:cxnLst/>
            <a:rect l="l" t="t" r="r" b="b"/>
            <a:pathLst>
              <a:path w="238125" h="238125">
                <a:moveTo>
                  <a:pt x="126457" y="9395"/>
                </a:moveTo>
                <a:cubicBezTo>
                  <a:pt x="121900" y="6790"/>
                  <a:pt x="116272" y="6790"/>
                  <a:pt x="111668" y="9395"/>
                </a:cubicBezTo>
                <a:lnTo>
                  <a:pt x="7488" y="68926"/>
                </a:lnTo>
                <a:cubicBezTo>
                  <a:pt x="1628" y="72275"/>
                  <a:pt x="-1256" y="79158"/>
                  <a:pt x="465" y="85669"/>
                </a:cubicBezTo>
                <a:cubicBezTo>
                  <a:pt x="2186" y="92180"/>
                  <a:pt x="8139" y="96738"/>
                  <a:pt x="14883" y="96738"/>
                </a:cubicBezTo>
                <a:lnTo>
                  <a:pt x="29766" y="96738"/>
                </a:lnTo>
                <a:lnTo>
                  <a:pt x="29766" y="193477"/>
                </a:lnTo>
                <a:lnTo>
                  <a:pt x="29766" y="193477"/>
                </a:lnTo>
                <a:lnTo>
                  <a:pt x="5953" y="211336"/>
                </a:lnTo>
                <a:cubicBezTo>
                  <a:pt x="2186" y="214126"/>
                  <a:pt x="0" y="218545"/>
                  <a:pt x="0" y="223242"/>
                </a:cubicBezTo>
                <a:cubicBezTo>
                  <a:pt x="0" y="231474"/>
                  <a:pt x="6651" y="238125"/>
                  <a:pt x="14883" y="238125"/>
                </a:cubicBezTo>
                <a:lnTo>
                  <a:pt x="223242" y="238125"/>
                </a:lnTo>
                <a:cubicBezTo>
                  <a:pt x="231474" y="238125"/>
                  <a:pt x="238125" y="231474"/>
                  <a:pt x="238125" y="223242"/>
                </a:cubicBezTo>
                <a:cubicBezTo>
                  <a:pt x="238125" y="218545"/>
                  <a:pt x="235939" y="214126"/>
                  <a:pt x="232172" y="211336"/>
                </a:cubicBezTo>
                <a:lnTo>
                  <a:pt x="208359" y="193477"/>
                </a:lnTo>
                <a:lnTo>
                  <a:pt x="208359" y="96738"/>
                </a:lnTo>
                <a:lnTo>
                  <a:pt x="223242" y="96738"/>
                </a:lnTo>
                <a:cubicBezTo>
                  <a:pt x="229986" y="96738"/>
                  <a:pt x="235893" y="92180"/>
                  <a:pt x="237613" y="85669"/>
                </a:cubicBezTo>
                <a:cubicBezTo>
                  <a:pt x="239334" y="79158"/>
                  <a:pt x="236451" y="72275"/>
                  <a:pt x="230591" y="68926"/>
                </a:cubicBezTo>
                <a:lnTo>
                  <a:pt x="126411" y="9395"/>
                </a:lnTo>
                <a:close/>
                <a:moveTo>
                  <a:pt x="186035" y="96738"/>
                </a:moveTo>
                <a:lnTo>
                  <a:pt x="186035" y="193477"/>
                </a:lnTo>
                <a:lnTo>
                  <a:pt x="156270" y="193477"/>
                </a:lnTo>
                <a:lnTo>
                  <a:pt x="156270" y="96738"/>
                </a:lnTo>
                <a:lnTo>
                  <a:pt x="186035" y="96738"/>
                </a:lnTo>
                <a:close/>
                <a:moveTo>
                  <a:pt x="133945" y="96738"/>
                </a:moveTo>
                <a:lnTo>
                  <a:pt x="133945" y="193477"/>
                </a:lnTo>
                <a:lnTo>
                  <a:pt x="104180" y="193477"/>
                </a:lnTo>
                <a:lnTo>
                  <a:pt x="104180" y="96738"/>
                </a:lnTo>
                <a:lnTo>
                  <a:pt x="133945" y="96738"/>
                </a:lnTo>
                <a:close/>
                <a:moveTo>
                  <a:pt x="81855" y="96738"/>
                </a:moveTo>
                <a:lnTo>
                  <a:pt x="81855" y="193477"/>
                </a:lnTo>
                <a:lnTo>
                  <a:pt x="52090" y="193477"/>
                </a:lnTo>
                <a:lnTo>
                  <a:pt x="52090" y="96738"/>
                </a:lnTo>
                <a:lnTo>
                  <a:pt x="81855" y="96738"/>
                </a:lnTo>
                <a:close/>
                <a:moveTo>
                  <a:pt x="119062" y="44648"/>
                </a:moveTo>
                <a:cubicBezTo>
                  <a:pt x="127277" y="44648"/>
                  <a:pt x="133945" y="51317"/>
                  <a:pt x="133945" y="59531"/>
                </a:cubicBezTo>
                <a:cubicBezTo>
                  <a:pt x="133945" y="67745"/>
                  <a:pt x="127277" y="74414"/>
                  <a:pt x="119062" y="74414"/>
                </a:cubicBezTo>
                <a:cubicBezTo>
                  <a:pt x="110848" y="74414"/>
                  <a:pt x="104180" y="67745"/>
                  <a:pt x="104180" y="59531"/>
                </a:cubicBezTo>
                <a:cubicBezTo>
                  <a:pt x="104180" y="51317"/>
                  <a:pt x="110848" y="44648"/>
                  <a:pt x="119062" y="44648"/>
                </a:cubicBezTo>
                <a:close/>
              </a:path>
            </a:pathLst>
          </a:custGeom>
          <a:solidFill>
            <a:srgbClr val="2A9D8F"/>
          </a:solidFill>
          <a:ln/>
        </p:spPr>
      </p:sp>
      <p:sp>
        <p:nvSpPr>
          <p:cNvPr id="68" name="Text 66"/>
          <p:cNvSpPr/>
          <p:nvPr/>
        </p:nvSpPr>
        <p:spPr>
          <a:xfrm>
            <a:off x="8233792" y="6159500"/>
            <a:ext cx="1595438" cy="190500"/>
          </a:xfrm>
          <a:prstGeom prst="rect">
            <a:avLst/>
          </a:prstGeom>
          <a:noFill/>
          <a:ln/>
        </p:spPr>
        <p:txBody>
          <a:bodyPr wrap="square" lIns="0" tIns="0" rIns="0" bIns="0" rtlCol="0" anchor="ctr"/>
          <a:lstStyle/>
          <a:p>
            <a:pPr algn="ctr">
              <a:lnSpc>
                <a:spcPct val="130000"/>
              </a:lnSpc>
            </a:pPr>
            <a:r>
              <a:rPr lang="en-US" sz="1000" b="1" dirty="0">
                <a:solidFill>
                  <a:srgbClr val="1A3A5C"/>
                </a:solidFill>
                <a:latin typeface="Liter" pitchFamily="34" charset="0"/>
                <a:ea typeface="Liter" pitchFamily="34" charset="-122"/>
                <a:cs typeface="Liter" pitchFamily="34" charset="-120"/>
              </a:rPr>
              <a:t>Revolut</a:t>
            </a:r>
            <a:endParaRPr lang="en-US" sz="1600" dirty="0"/>
          </a:p>
        </p:txBody>
      </p:sp>
      <p:sp>
        <p:nvSpPr>
          <p:cNvPr id="69" name="Text 67"/>
          <p:cNvSpPr/>
          <p:nvPr/>
        </p:nvSpPr>
        <p:spPr>
          <a:xfrm>
            <a:off x="8237761" y="6381750"/>
            <a:ext cx="1587500" cy="158750"/>
          </a:xfrm>
          <a:prstGeom prst="rect">
            <a:avLst/>
          </a:prstGeom>
          <a:noFill/>
          <a:ln/>
        </p:spPr>
        <p:txBody>
          <a:bodyPr wrap="square" lIns="0" tIns="0" rIns="0" bIns="0" rtlCol="0" anchor="ctr"/>
          <a:lstStyle/>
          <a:p>
            <a:pPr algn="ct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UK/EU</a:t>
            </a:r>
            <a:endParaRPr lang="en-US" sz="1600" dirty="0"/>
          </a:p>
        </p:txBody>
      </p:sp>
      <p:sp>
        <p:nvSpPr>
          <p:cNvPr id="70" name="Shape 68"/>
          <p:cNvSpPr/>
          <p:nvPr/>
        </p:nvSpPr>
        <p:spPr>
          <a:xfrm>
            <a:off x="9990646" y="5762625"/>
            <a:ext cx="1722438" cy="873125"/>
          </a:xfrm>
          <a:custGeom>
            <a:avLst/>
            <a:gdLst/>
            <a:ahLst/>
            <a:cxnLst/>
            <a:rect l="l" t="t" r="r" b="b"/>
            <a:pathLst>
              <a:path w="1722438" h="873125">
                <a:moveTo>
                  <a:pt x="63502" y="0"/>
                </a:moveTo>
                <a:lnTo>
                  <a:pt x="1658935" y="0"/>
                </a:lnTo>
                <a:cubicBezTo>
                  <a:pt x="1694007" y="0"/>
                  <a:pt x="1722438" y="28431"/>
                  <a:pt x="1722438" y="63502"/>
                </a:cubicBezTo>
                <a:lnTo>
                  <a:pt x="1722438" y="809623"/>
                </a:lnTo>
                <a:cubicBezTo>
                  <a:pt x="1722438" y="844694"/>
                  <a:pt x="1694007" y="873125"/>
                  <a:pt x="1658935" y="873125"/>
                </a:cubicBezTo>
                <a:lnTo>
                  <a:pt x="63502" y="873125"/>
                </a:lnTo>
                <a:cubicBezTo>
                  <a:pt x="28431" y="873125"/>
                  <a:pt x="0" y="844694"/>
                  <a:pt x="0" y="809623"/>
                </a:cubicBezTo>
                <a:lnTo>
                  <a:pt x="0" y="63502"/>
                </a:lnTo>
                <a:cubicBezTo>
                  <a:pt x="0" y="28454"/>
                  <a:pt x="28454" y="0"/>
                  <a:pt x="63502" y="0"/>
                </a:cubicBezTo>
                <a:close/>
              </a:path>
            </a:pathLst>
          </a:custGeom>
          <a:solidFill>
            <a:srgbClr val="F8F9FA"/>
          </a:solidFill>
          <a:ln/>
        </p:spPr>
      </p:sp>
      <p:sp>
        <p:nvSpPr>
          <p:cNvPr id="71" name="Shape 69"/>
          <p:cNvSpPr/>
          <p:nvPr/>
        </p:nvSpPr>
        <p:spPr>
          <a:xfrm>
            <a:off x="10736089" y="5857875"/>
            <a:ext cx="238125" cy="238125"/>
          </a:xfrm>
          <a:custGeom>
            <a:avLst/>
            <a:gdLst/>
            <a:ahLst/>
            <a:cxnLst/>
            <a:rect l="l" t="t" r="r" b="b"/>
            <a:pathLst>
              <a:path w="238125" h="238125">
                <a:moveTo>
                  <a:pt x="126457" y="9395"/>
                </a:moveTo>
                <a:cubicBezTo>
                  <a:pt x="121900" y="6790"/>
                  <a:pt x="116272" y="6790"/>
                  <a:pt x="111668" y="9395"/>
                </a:cubicBezTo>
                <a:lnTo>
                  <a:pt x="7488" y="68926"/>
                </a:lnTo>
                <a:cubicBezTo>
                  <a:pt x="1628" y="72275"/>
                  <a:pt x="-1256" y="79158"/>
                  <a:pt x="465" y="85669"/>
                </a:cubicBezTo>
                <a:cubicBezTo>
                  <a:pt x="2186" y="92180"/>
                  <a:pt x="8139" y="96738"/>
                  <a:pt x="14883" y="96738"/>
                </a:cubicBezTo>
                <a:lnTo>
                  <a:pt x="29766" y="96738"/>
                </a:lnTo>
                <a:lnTo>
                  <a:pt x="29766" y="193477"/>
                </a:lnTo>
                <a:lnTo>
                  <a:pt x="29766" y="193477"/>
                </a:lnTo>
                <a:lnTo>
                  <a:pt x="5953" y="211336"/>
                </a:lnTo>
                <a:cubicBezTo>
                  <a:pt x="2186" y="214126"/>
                  <a:pt x="0" y="218545"/>
                  <a:pt x="0" y="223242"/>
                </a:cubicBezTo>
                <a:cubicBezTo>
                  <a:pt x="0" y="231474"/>
                  <a:pt x="6651" y="238125"/>
                  <a:pt x="14883" y="238125"/>
                </a:cubicBezTo>
                <a:lnTo>
                  <a:pt x="223242" y="238125"/>
                </a:lnTo>
                <a:cubicBezTo>
                  <a:pt x="231474" y="238125"/>
                  <a:pt x="238125" y="231474"/>
                  <a:pt x="238125" y="223242"/>
                </a:cubicBezTo>
                <a:cubicBezTo>
                  <a:pt x="238125" y="218545"/>
                  <a:pt x="235939" y="214126"/>
                  <a:pt x="232172" y="211336"/>
                </a:cubicBezTo>
                <a:lnTo>
                  <a:pt x="208359" y="193477"/>
                </a:lnTo>
                <a:lnTo>
                  <a:pt x="208359" y="96738"/>
                </a:lnTo>
                <a:lnTo>
                  <a:pt x="223242" y="96738"/>
                </a:lnTo>
                <a:cubicBezTo>
                  <a:pt x="229986" y="96738"/>
                  <a:pt x="235893" y="92180"/>
                  <a:pt x="237613" y="85669"/>
                </a:cubicBezTo>
                <a:cubicBezTo>
                  <a:pt x="239334" y="79158"/>
                  <a:pt x="236451" y="72275"/>
                  <a:pt x="230591" y="68926"/>
                </a:cubicBezTo>
                <a:lnTo>
                  <a:pt x="126411" y="9395"/>
                </a:lnTo>
                <a:close/>
                <a:moveTo>
                  <a:pt x="186035" y="96738"/>
                </a:moveTo>
                <a:lnTo>
                  <a:pt x="186035" y="193477"/>
                </a:lnTo>
                <a:lnTo>
                  <a:pt x="156270" y="193477"/>
                </a:lnTo>
                <a:lnTo>
                  <a:pt x="156270" y="96738"/>
                </a:lnTo>
                <a:lnTo>
                  <a:pt x="186035" y="96738"/>
                </a:lnTo>
                <a:close/>
                <a:moveTo>
                  <a:pt x="133945" y="96738"/>
                </a:moveTo>
                <a:lnTo>
                  <a:pt x="133945" y="193477"/>
                </a:lnTo>
                <a:lnTo>
                  <a:pt x="104180" y="193477"/>
                </a:lnTo>
                <a:lnTo>
                  <a:pt x="104180" y="96738"/>
                </a:lnTo>
                <a:lnTo>
                  <a:pt x="133945" y="96738"/>
                </a:lnTo>
                <a:close/>
                <a:moveTo>
                  <a:pt x="81855" y="96738"/>
                </a:moveTo>
                <a:lnTo>
                  <a:pt x="81855" y="193477"/>
                </a:lnTo>
                <a:lnTo>
                  <a:pt x="52090" y="193477"/>
                </a:lnTo>
                <a:lnTo>
                  <a:pt x="52090" y="96738"/>
                </a:lnTo>
                <a:lnTo>
                  <a:pt x="81855" y="96738"/>
                </a:lnTo>
                <a:close/>
                <a:moveTo>
                  <a:pt x="119062" y="44648"/>
                </a:moveTo>
                <a:cubicBezTo>
                  <a:pt x="127277" y="44648"/>
                  <a:pt x="133945" y="51317"/>
                  <a:pt x="133945" y="59531"/>
                </a:cubicBezTo>
                <a:cubicBezTo>
                  <a:pt x="133945" y="67745"/>
                  <a:pt x="127277" y="74414"/>
                  <a:pt x="119062" y="74414"/>
                </a:cubicBezTo>
                <a:cubicBezTo>
                  <a:pt x="110848" y="74414"/>
                  <a:pt x="104180" y="67745"/>
                  <a:pt x="104180" y="59531"/>
                </a:cubicBezTo>
                <a:cubicBezTo>
                  <a:pt x="104180" y="51317"/>
                  <a:pt x="110848" y="44648"/>
                  <a:pt x="119062" y="44648"/>
                </a:cubicBezTo>
                <a:close/>
              </a:path>
            </a:pathLst>
          </a:custGeom>
          <a:solidFill>
            <a:srgbClr val="2A9D8F"/>
          </a:solidFill>
          <a:ln/>
        </p:spPr>
      </p:sp>
      <p:sp>
        <p:nvSpPr>
          <p:cNvPr id="72" name="Text 70"/>
          <p:cNvSpPr/>
          <p:nvPr/>
        </p:nvSpPr>
        <p:spPr>
          <a:xfrm>
            <a:off x="10054146" y="6159500"/>
            <a:ext cx="1595438" cy="190500"/>
          </a:xfrm>
          <a:prstGeom prst="rect">
            <a:avLst/>
          </a:prstGeom>
          <a:noFill/>
          <a:ln/>
        </p:spPr>
        <p:txBody>
          <a:bodyPr wrap="square" lIns="0" tIns="0" rIns="0" bIns="0" rtlCol="0" anchor="ctr"/>
          <a:lstStyle/>
          <a:p>
            <a:pPr algn="ctr">
              <a:lnSpc>
                <a:spcPct val="130000"/>
              </a:lnSpc>
            </a:pPr>
            <a:r>
              <a:rPr lang="en-US" sz="1000" b="1" dirty="0">
                <a:solidFill>
                  <a:srgbClr val="1A3A5C"/>
                </a:solidFill>
                <a:latin typeface="Liter" pitchFamily="34" charset="0"/>
                <a:ea typeface="Liter" pitchFamily="34" charset="-122"/>
                <a:cs typeface="Liter" pitchFamily="34" charset="-120"/>
              </a:rPr>
              <a:t>Nubank</a:t>
            </a:r>
            <a:endParaRPr lang="en-US" sz="1600" dirty="0"/>
          </a:p>
        </p:txBody>
      </p:sp>
      <p:sp>
        <p:nvSpPr>
          <p:cNvPr id="73" name="Text 71"/>
          <p:cNvSpPr/>
          <p:nvPr/>
        </p:nvSpPr>
        <p:spPr>
          <a:xfrm>
            <a:off x="10058115" y="6381750"/>
            <a:ext cx="1587500" cy="158750"/>
          </a:xfrm>
          <a:prstGeom prst="rect">
            <a:avLst/>
          </a:prstGeom>
          <a:noFill/>
          <a:ln/>
        </p:spPr>
        <p:txBody>
          <a:bodyPr wrap="square" lIns="0" tIns="0" rIns="0" bIns="0" rtlCol="0" anchor="ctr"/>
          <a:lstStyle/>
          <a:p>
            <a:pPr algn="ct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Brazil</a:t>
            </a:r>
            <a:endParaRPr lang="en-US" sz="1600" dirty="0"/>
          </a:p>
        </p:txBody>
      </p:sp>
      <p:sp>
        <p:nvSpPr>
          <p:cNvPr id="74" name="Shape 72"/>
          <p:cNvSpPr/>
          <p:nvPr/>
        </p:nvSpPr>
        <p:spPr>
          <a:xfrm>
            <a:off x="6199188" y="6929438"/>
            <a:ext cx="5667375" cy="682625"/>
          </a:xfrm>
          <a:custGeom>
            <a:avLst/>
            <a:gdLst/>
            <a:ahLst/>
            <a:cxnLst/>
            <a:rect l="l" t="t" r="r" b="b"/>
            <a:pathLst>
              <a:path w="5667375" h="682625">
                <a:moveTo>
                  <a:pt x="95247" y="0"/>
                </a:moveTo>
                <a:lnTo>
                  <a:pt x="5572128" y="0"/>
                </a:lnTo>
                <a:cubicBezTo>
                  <a:pt x="5624732" y="0"/>
                  <a:pt x="5667375" y="42643"/>
                  <a:pt x="5667375" y="95247"/>
                </a:cubicBezTo>
                <a:lnTo>
                  <a:pt x="5667375" y="587378"/>
                </a:lnTo>
                <a:cubicBezTo>
                  <a:pt x="5667375" y="639982"/>
                  <a:pt x="5624732" y="682625"/>
                  <a:pt x="5572128" y="682625"/>
                </a:cubicBezTo>
                <a:lnTo>
                  <a:pt x="95247" y="682625"/>
                </a:lnTo>
                <a:cubicBezTo>
                  <a:pt x="42643" y="682625"/>
                  <a:pt x="0" y="639982"/>
                  <a:pt x="0" y="587378"/>
                </a:cubicBezTo>
                <a:lnTo>
                  <a:pt x="0" y="95247"/>
                </a:lnTo>
                <a:cubicBezTo>
                  <a:pt x="0" y="42679"/>
                  <a:pt x="42679" y="0"/>
                  <a:pt x="95247" y="0"/>
                </a:cubicBezTo>
                <a:close/>
              </a:path>
            </a:pathLst>
          </a:custGeom>
          <a:solidFill>
            <a:srgbClr val="2A9D8F">
              <a:alpha val="10196"/>
            </a:srgbClr>
          </a:solidFill>
          <a:ln w="25400">
            <a:solidFill>
              <a:srgbClr val="2A9D8F">
                <a:alpha val="30196"/>
              </a:srgbClr>
            </a:solidFill>
            <a:prstDash val="solid"/>
          </a:ln>
        </p:spPr>
      </p:sp>
      <p:sp>
        <p:nvSpPr>
          <p:cNvPr id="75" name="Shape 73"/>
          <p:cNvSpPr/>
          <p:nvPr/>
        </p:nvSpPr>
        <p:spPr>
          <a:xfrm>
            <a:off x="6379766" y="7151688"/>
            <a:ext cx="178594" cy="238125"/>
          </a:xfrm>
          <a:custGeom>
            <a:avLst/>
            <a:gdLst/>
            <a:ahLst/>
            <a:cxnLst/>
            <a:rect l="l" t="t" r="r" b="b"/>
            <a:pathLst>
              <a:path w="178594" h="238125">
                <a:moveTo>
                  <a:pt x="136224" y="178594"/>
                </a:moveTo>
                <a:cubicBezTo>
                  <a:pt x="139619" y="168222"/>
                  <a:pt x="146410" y="158828"/>
                  <a:pt x="154084" y="150735"/>
                </a:cubicBezTo>
                <a:cubicBezTo>
                  <a:pt x="169292" y="134736"/>
                  <a:pt x="178594" y="113109"/>
                  <a:pt x="178594" y="89297"/>
                </a:cubicBezTo>
                <a:cubicBezTo>
                  <a:pt x="178594" y="39998"/>
                  <a:pt x="138596" y="0"/>
                  <a:pt x="89297" y="0"/>
                </a:cubicBezTo>
                <a:cubicBezTo>
                  <a:pt x="39998" y="0"/>
                  <a:pt x="0" y="39998"/>
                  <a:pt x="0" y="89297"/>
                </a:cubicBezTo>
                <a:cubicBezTo>
                  <a:pt x="0" y="113109"/>
                  <a:pt x="9302" y="134736"/>
                  <a:pt x="24510" y="150735"/>
                </a:cubicBezTo>
                <a:cubicBezTo>
                  <a:pt x="32184" y="158828"/>
                  <a:pt x="39021" y="168222"/>
                  <a:pt x="42370" y="178594"/>
                </a:cubicBezTo>
                <a:lnTo>
                  <a:pt x="136178" y="178594"/>
                </a:lnTo>
                <a:close/>
                <a:moveTo>
                  <a:pt x="133945" y="200918"/>
                </a:moveTo>
                <a:lnTo>
                  <a:pt x="44648" y="200918"/>
                </a:lnTo>
                <a:lnTo>
                  <a:pt x="44648" y="208359"/>
                </a:lnTo>
                <a:cubicBezTo>
                  <a:pt x="44648" y="228916"/>
                  <a:pt x="61299" y="245566"/>
                  <a:pt x="81855" y="245566"/>
                </a:cubicBezTo>
                <a:lnTo>
                  <a:pt x="96738" y="245566"/>
                </a:lnTo>
                <a:cubicBezTo>
                  <a:pt x="117295" y="245566"/>
                  <a:pt x="133945" y="228916"/>
                  <a:pt x="133945" y="208359"/>
                </a:cubicBezTo>
                <a:lnTo>
                  <a:pt x="133945" y="200918"/>
                </a:lnTo>
                <a:close/>
                <a:moveTo>
                  <a:pt x="85576" y="52090"/>
                </a:moveTo>
                <a:cubicBezTo>
                  <a:pt x="67066" y="52090"/>
                  <a:pt x="52090" y="67066"/>
                  <a:pt x="52090" y="85576"/>
                </a:cubicBezTo>
                <a:cubicBezTo>
                  <a:pt x="52090" y="91762"/>
                  <a:pt x="47113" y="96738"/>
                  <a:pt x="40928" y="96738"/>
                </a:cubicBezTo>
                <a:cubicBezTo>
                  <a:pt x="34742" y="96738"/>
                  <a:pt x="29766" y="91762"/>
                  <a:pt x="29766" y="85576"/>
                </a:cubicBezTo>
                <a:cubicBezTo>
                  <a:pt x="29766" y="54741"/>
                  <a:pt x="54741" y="29766"/>
                  <a:pt x="85576" y="29766"/>
                </a:cubicBezTo>
                <a:cubicBezTo>
                  <a:pt x="91762" y="29766"/>
                  <a:pt x="96738" y="34742"/>
                  <a:pt x="96738" y="40928"/>
                </a:cubicBezTo>
                <a:cubicBezTo>
                  <a:pt x="96738" y="47113"/>
                  <a:pt x="91762" y="52090"/>
                  <a:pt x="85576" y="52090"/>
                </a:cubicBezTo>
                <a:close/>
              </a:path>
            </a:pathLst>
          </a:custGeom>
          <a:solidFill>
            <a:srgbClr val="2A9D8F"/>
          </a:solidFill>
          <a:ln/>
        </p:spPr>
      </p:sp>
      <p:sp>
        <p:nvSpPr>
          <p:cNvPr id="76" name="Text 74"/>
          <p:cNvSpPr/>
          <p:nvPr/>
        </p:nvSpPr>
        <p:spPr>
          <a:xfrm>
            <a:off x="6703157" y="7064375"/>
            <a:ext cx="5095875" cy="412750"/>
          </a:xfrm>
          <a:prstGeom prst="rect">
            <a:avLst/>
          </a:prstGeom>
          <a:noFill/>
          <a:ln/>
        </p:spPr>
        <p:txBody>
          <a:bodyPr wrap="square" lIns="0" tIns="0" rIns="0" bIns="0" rtlCol="0" anchor="ctr"/>
          <a:lstStyle/>
          <a:p>
            <a:pPr>
              <a:lnSpc>
                <a:spcPct val="140000"/>
              </a:lnSpc>
            </a:pPr>
            <a:r>
              <a:rPr lang="en-US" sz="1000" b="1" dirty="0">
                <a:solidFill>
                  <a:srgbClr val="2B2D42"/>
                </a:solidFill>
                <a:latin typeface="Quattrocento Sans" pitchFamily="34" charset="0"/>
                <a:ea typeface="Quattrocento Sans" pitchFamily="34" charset="-122"/>
                <a:cs typeface="Quattrocento Sans" pitchFamily="34" charset="-120"/>
              </a:rPr>
              <a:t>Key Trend:</a:t>
            </a:r>
            <a:pPr>
              <a:lnSpc>
                <a:spcPct val="140000"/>
              </a:lnSpc>
            </a:pPr>
            <a:r>
              <a:rPr lang="en-US" sz="1000" b="1" dirty="0">
                <a:solidFill>
                  <a:srgbClr val="2B2D42"/>
                </a:solidFill>
                <a:highlight>
                  <a:srgbClr val="2A9D8F">
                    <a:alpha val="30000"/>
                  </a:srgbClr>
                </a:highlight>
                <a:latin typeface="Quattrocento Sans" pitchFamily="34" charset="0"/>
                <a:ea typeface="Quattrocento Sans" pitchFamily="34" charset="-122"/>
                <a:cs typeface="Quattrocento Sans" pitchFamily="34" charset="-120"/>
              </a:rPr>
              <a:t> 22% of new banking apps </a:t>
            </a:r>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now feature AI assistants, voice banking, and crypto trading.</a:t>
            </a:r>
            <a:endParaRPr lang="en-US" sz="1600" dirty="0"/>
          </a:p>
        </p:txBody>
      </p:sp>
      <p:sp>
        <p:nvSpPr>
          <p:cNvPr id="77" name="Shape 75"/>
          <p:cNvSpPr/>
          <p:nvPr/>
        </p:nvSpPr>
        <p:spPr>
          <a:xfrm>
            <a:off x="333375" y="7747000"/>
            <a:ext cx="11541125" cy="666750"/>
          </a:xfrm>
          <a:custGeom>
            <a:avLst/>
            <a:gdLst/>
            <a:ahLst/>
            <a:cxnLst/>
            <a:rect l="l" t="t" r="r" b="b"/>
            <a:pathLst>
              <a:path w="11541125" h="666750">
                <a:moveTo>
                  <a:pt x="31750" y="0"/>
                </a:moveTo>
                <a:lnTo>
                  <a:pt x="11477624" y="0"/>
                </a:lnTo>
                <a:cubicBezTo>
                  <a:pt x="11512695" y="0"/>
                  <a:pt x="11541125" y="28430"/>
                  <a:pt x="11541125" y="63501"/>
                </a:cubicBezTo>
                <a:lnTo>
                  <a:pt x="11541125" y="603249"/>
                </a:lnTo>
                <a:cubicBezTo>
                  <a:pt x="11541125" y="638320"/>
                  <a:pt x="11512695" y="666750"/>
                  <a:pt x="11477624" y="666750"/>
                </a:cubicBezTo>
                <a:lnTo>
                  <a:pt x="31750" y="666750"/>
                </a:lnTo>
                <a:cubicBezTo>
                  <a:pt x="14215" y="666750"/>
                  <a:pt x="0" y="652535"/>
                  <a:pt x="0" y="635000"/>
                </a:cubicBezTo>
                <a:lnTo>
                  <a:pt x="0" y="31750"/>
                </a:lnTo>
                <a:cubicBezTo>
                  <a:pt x="0" y="14227"/>
                  <a:pt x="14227" y="0"/>
                  <a:pt x="31750" y="0"/>
                </a:cubicBezTo>
                <a:close/>
              </a:path>
            </a:pathLst>
          </a:custGeom>
          <a:solidFill>
            <a:srgbClr val="1A3A5C">
              <a:alpha val="5098"/>
            </a:srgbClr>
          </a:solidFill>
          <a:ln/>
        </p:spPr>
      </p:sp>
      <p:sp>
        <p:nvSpPr>
          <p:cNvPr id="78" name="Shape 76"/>
          <p:cNvSpPr/>
          <p:nvPr/>
        </p:nvSpPr>
        <p:spPr>
          <a:xfrm>
            <a:off x="333375" y="7747000"/>
            <a:ext cx="31750" cy="666750"/>
          </a:xfrm>
          <a:custGeom>
            <a:avLst/>
            <a:gdLst/>
            <a:ahLst/>
            <a:cxnLst/>
            <a:rect l="l" t="t" r="r" b="b"/>
            <a:pathLst>
              <a:path w="31750" h="666750">
                <a:moveTo>
                  <a:pt x="31750" y="0"/>
                </a:moveTo>
                <a:lnTo>
                  <a:pt x="31750" y="0"/>
                </a:lnTo>
                <a:lnTo>
                  <a:pt x="31750" y="666750"/>
                </a:lnTo>
                <a:lnTo>
                  <a:pt x="31750" y="666750"/>
                </a:lnTo>
                <a:cubicBezTo>
                  <a:pt x="14227" y="666750"/>
                  <a:pt x="0" y="652523"/>
                  <a:pt x="0" y="635000"/>
                </a:cubicBezTo>
                <a:lnTo>
                  <a:pt x="0" y="31750"/>
                </a:lnTo>
                <a:cubicBezTo>
                  <a:pt x="0" y="14227"/>
                  <a:pt x="14227" y="0"/>
                  <a:pt x="31750" y="0"/>
                </a:cubicBezTo>
                <a:close/>
              </a:path>
            </a:pathLst>
          </a:custGeom>
          <a:solidFill>
            <a:srgbClr val="1A3A5C"/>
          </a:solidFill>
          <a:ln/>
        </p:spPr>
      </p:sp>
      <p:sp>
        <p:nvSpPr>
          <p:cNvPr id="79" name="Shape 77"/>
          <p:cNvSpPr/>
          <p:nvPr/>
        </p:nvSpPr>
        <p:spPr>
          <a:xfrm>
            <a:off x="500063" y="7909719"/>
            <a:ext cx="111125" cy="127000"/>
          </a:xfrm>
          <a:custGeom>
            <a:avLst/>
            <a:gdLst/>
            <a:ahLst/>
            <a:cxnLst/>
            <a:rect l="l" t="t" r="r" b="b"/>
            <a:pathLst>
              <a:path w="111125" h="127000">
                <a:moveTo>
                  <a:pt x="0" y="53578"/>
                </a:moveTo>
                <a:cubicBezTo>
                  <a:pt x="0" y="37133"/>
                  <a:pt x="13320" y="23812"/>
                  <a:pt x="29766" y="23812"/>
                </a:cubicBezTo>
                <a:lnTo>
                  <a:pt x="31750" y="23812"/>
                </a:lnTo>
                <a:cubicBezTo>
                  <a:pt x="36140" y="23812"/>
                  <a:pt x="39688" y="27360"/>
                  <a:pt x="39688" y="31750"/>
                </a:cubicBezTo>
                <a:cubicBezTo>
                  <a:pt x="39688" y="36140"/>
                  <a:pt x="36140" y="39688"/>
                  <a:pt x="31750" y="39688"/>
                </a:cubicBezTo>
                <a:lnTo>
                  <a:pt x="29766" y="39688"/>
                </a:lnTo>
                <a:cubicBezTo>
                  <a:pt x="22101" y="39688"/>
                  <a:pt x="15875" y="45913"/>
                  <a:pt x="15875" y="53578"/>
                </a:cubicBezTo>
                <a:lnTo>
                  <a:pt x="15875" y="55563"/>
                </a:lnTo>
                <a:lnTo>
                  <a:pt x="31750" y="55563"/>
                </a:lnTo>
                <a:cubicBezTo>
                  <a:pt x="40506" y="55563"/>
                  <a:pt x="47625" y="62681"/>
                  <a:pt x="47625" y="71438"/>
                </a:cubicBezTo>
                <a:lnTo>
                  <a:pt x="47625" y="87313"/>
                </a:lnTo>
                <a:cubicBezTo>
                  <a:pt x="47625" y="96069"/>
                  <a:pt x="40506" y="103188"/>
                  <a:pt x="31750" y="103188"/>
                </a:cubicBezTo>
                <a:lnTo>
                  <a:pt x="15875" y="103188"/>
                </a:lnTo>
                <a:cubicBezTo>
                  <a:pt x="7119" y="103188"/>
                  <a:pt x="0" y="96069"/>
                  <a:pt x="0" y="87313"/>
                </a:cubicBezTo>
                <a:lnTo>
                  <a:pt x="0" y="53578"/>
                </a:lnTo>
                <a:close/>
                <a:moveTo>
                  <a:pt x="63500" y="53578"/>
                </a:moveTo>
                <a:cubicBezTo>
                  <a:pt x="63500" y="37133"/>
                  <a:pt x="76820" y="23812"/>
                  <a:pt x="93266" y="23812"/>
                </a:cubicBezTo>
                <a:lnTo>
                  <a:pt x="95250" y="23812"/>
                </a:lnTo>
                <a:cubicBezTo>
                  <a:pt x="99640" y="23812"/>
                  <a:pt x="103188" y="27360"/>
                  <a:pt x="103188" y="31750"/>
                </a:cubicBezTo>
                <a:cubicBezTo>
                  <a:pt x="103188" y="36140"/>
                  <a:pt x="99640" y="39688"/>
                  <a:pt x="95250" y="39688"/>
                </a:cubicBezTo>
                <a:lnTo>
                  <a:pt x="93266" y="39688"/>
                </a:lnTo>
                <a:cubicBezTo>
                  <a:pt x="85601" y="39688"/>
                  <a:pt x="79375" y="45913"/>
                  <a:pt x="79375" y="53578"/>
                </a:cubicBezTo>
                <a:lnTo>
                  <a:pt x="79375" y="55563"/>
                </a:lnTo>
                <a:lnTo>
                  <a:pt x="95250" y="55563"/>
                </a:lnTo>
                <a:cubicBezTo>
                  <a:pt x="104006" y="55563"/>
                  <a:pt x="111125" y="62681"/>
                  <a:pt x="111125" y="71438"/>
                </a:cubicBezTo>
                <a:lnTo>
                  <a:pt x="111125" y="87313"/>
                </a:lnTo>
                <a:cubicBezTo>
                  <a:pt x="111125" y="96069"/>
                  <a:pt x="104006" y="103188"/>
                  <a:pt x="95250" y="103188"/>
                </a:cubicBezTo>
                <a:lnTo>
                  <a:pt x="79375" y="103188"/>
                </a:lnTo>
                <a:cubicBezTo>
                  <a:pt x="70619" y="103188"/>
                  <a:pt x="63500" y="96069"/>
                  <a:pt x="63500" y="87313"/>
                </a:cubicBezTo>
                <a:lnTo>
                  <a:pt x="63500" y="53578"/>
                </a:lnTo>
                <a:close/>
              </a:path>
            </a:pathLst>
          </a:custGeom>
          <a:solidFill>
            <a:srgbClr val="2A9D8F"/>
          </a:solidFill>
          <a:ln/>
        </p:spPr>
      </p:sp>
      <p:sp>
        <p:nvSpPr>
          <p:cNvPr id="80" name="Text 78"/>
          <p:cNvSpPr/>
          <p:nvPr/>
        </p:nvSpPr>
        <p:spPr>
          <a:xfrm>
            <a:off x="674688" y="7874000"/>
            <a:ext cx="11136313" cy="412750"/>
          </a:xfrm>
          <a:prstGeom prst="rect">
            <a:avLst/>
          </a:prstGeom>
          <a:noFill/>
          <a:ln/>
        </p:spPr>
        <p:txBody>
          <a:bodyPr wrap="square" lIns="0" tIns="0" rIns="0" bIns="0" rtlCol="0" anchor="ctr"/>
          <a:lstStyle/>
          <a:p>
            <a:pPr>
              <a:lnSpc>
                <a:spcPct val="140000"/>
              </a:lnSpc>
            </a:pPr>
            <a:r>
              <a:rPr lang="en-US" sz="1000" b="1" dirty="0">
                <a:solidFill>
                  <a:srgbClr val="2B2D42"/>
                </a:solidFill>
                <a:latin typeface="Quattrocento Sans" pitchFamily="34" charset="0"/>
                <a:ea typeface="Quattrocento Sans" pitchFamily="34" charset="-122"/>
                <a:cs typeface="Quattrocento Sans" pitchFamily="34" charset="-120"/>
              </a:rPr>
              <a:t>Speaker Note:</a:t>
            </a:r>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 Ask students when they last visited a physical bank branch. Highlight how UPI in India revolutionized payments—9.2 billion transactions monthly! Mention M-Pesa in Kenya as a model for financial inclusion. Emphasize that digital banking isn't just convenient—it's democratizing financial services globally.</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2A9D8F"/>
                </a:solidFill>
                <a:latin typeface="Liter" pitchFamily="34" charset="0"/>
                <a:ea typeface="Liter" pitchFamily="34" charset="-122"/>
                <a:cs typeface="Liter" pitchFamily="34" charset="-120"/>
              </a:rPr>
              <a:t>CHAPTER 07</a:t>
            </a:r>
            <a:endParaRPr lang="en-US" sz="1600" dirty="0"/>
          </a:p>
        </p:txBody>
      </p:sp>
      <p:sp>
        <p:nvSpPr>
          <p:cNvPr id="3" name="Text 1"/>
          <p:cNvSpPr/>
          <p:nvPr/>
        </p:nvSpPr>
        <p:spPr>
          <a:xfrm>
            <a:off x="317500" y="571500"/>
            <a:ext cx="11747500" cy="476250"/>
          </a:xfrm>
          <a:prstGeom prst="rect">
            <a:avLst/>
          </a:prstGeom>
          <a:noFill/>
          <a:ln/>
        </p:spPr>
        <p:txBody>
          <a:bodyPr wrap="square" lIns="0" tIns="0" rIns="0" bIns="0" rtlCol="0" anchor="ctr"/>
          <a:lstStyle/>
          <a:p>
            <a:pPr>
              <a:lnSpc>
                <a:spcPct val="100000"/>
              </a:lnSpc>
            </a:pPr>
            <a:r>
              <a:rPr lang="en-US" sz="3000" b="1" dirty="0">
                <a:solidFill>
                  <a:srgbClr val="1A3A5C"/>
                </a:solidFill>
                <a:latin typeface="Oranienbaum" pitchFamily="34" charset="0"/>
                <a:ea typeface="Oranienbaum" pitchFamily="34" charset="-122"/>
                <a:cs typeface="Oranienbaum" pitchFamily="34" charset="-120"/>
              </a:rPr>
              <a:t>Role of Central Banks</a:t>
            </a:r>
            <a:endParaRPr lang="en-US" sz="1600" dirty="0"/>
          </a:p>
        </p:txBody>
      </p:sp>
      <p:sp>
        <p:nvSpPr>
          <p:cNvPr id="4" name="Shape 2"/>
          <p:cNvSpPr/>
          <p:nvPr/>
        </p:nvSpPr>
        <p:spPr>
          <a:xfrm>
            <a:off x="317500" y="1174750"/>
            <a:ext cx="762000" cy="47625"/>
          </a:xfrm>
          <a:custGeom>
            <a:avLst/>
            <a:gdLst/>
            <a:ahLst/>
            <a:cxnLst/>
            <a:rect l="l" t="t" r="r" b="b"/>
            <a:pathLst>
              <a:path w="762000" h="47625">
                <a:moveTo>
                  <a:pt x="0" y="0"/>
                </a:moveTo>
                <a:lnTo>
                  <a:pt x="762000" y="0"/>
                </a:lnTo>
                <a:lnTo>
                  <a:pt x="762000" y="47625"/>
                </a:lnTo>
                <a:lnTo>
                  <a:pt x="0" y="47625"/>
                </a:lnTo>
                <a:lnTo>
                  <a:pt x="0" y="0"/>
                </a:lnTo>
                <a:close/>
              </a:path>
            </a:pathLst>
          </a:custGeom>
          <a:solidFill>
            <a:srgbClr val="2A9D8F"/>
          </a:solidFill>
          <a:ln/>
        </p:spPr>
      </p:sp>
      <p:sp>
        <p:nvSpPr>
          <p:cNvPr id="5" name="Shape 3"/>
          <p:cNvSpPr/>
          <p:nvPr/>
        </p:nvSpPr>
        <p:spPr>
          <a:xfrm>
            <a:off x="317500" y="1349375"/>
            <a:ext cx="5111750" cy="1166813"/>
          </a:xfrm>
          <a:custGeom>
            <a:avLst/>
            <a:gdLst/>
            <a:ahLst/>
            <a:cxnLst/>
            <a:rect l="l" t="t" r="r" b="b"/>
            <a:pathLst>
              <a:path w="5111750" h="1166813">
                <a:moveTo>
                  <a:pt x="95247" y="0"/>
                </a:moveTo>
                <a:lnTo>
                  <a:pt x="5016503" y="0"/>
                </a:lnTo>
                <a:cubicBezTo>
                  <a:pt x="5069107" y="0"/>
                  <a:pt x="5111750" y="42643"/>
                  <a:pt x="5111750" y="95247"/>
                </a:cubicBezTo>
                <a:lnTo>
                  <a:pt x="5111750" y="1071566"/>
                </a:lnTo>
                <a:cubicBezTo>
                  <a:pt x="5111750" y="1124169"/>
                  <a:pt x="5069107" y="1166813"/>
                  <a:pt x="5016503" y="1166813"/>
                </a:cubicBezTo>
                <a:lnTo>
                  <a:pt x="95247" y="1166813"/>
                </a:lnTo>
                <a:cubicBezTo>
                  <a:pt x="42643" y="1166813"/>
                  <a:pt x="0" y="1124169"/>
                  <a:pt x="0" y="1071566"/>
                </a:cubicBezTo>
                <a:lnTo>
                  <a:pt x="0" y="95247"/>
                </a:lnTo>
                <a:cubicBezTo>
                  <a:pt x="0" y="42643"/>
                  <a:pt x="42643" y="0"/>
                  <a:pt x="95247" y="0"/>
                </a:cubicBezTo>
                <a:close/>
              </a:path>
            </a:pathLst>
          </a:custGeom>
          <a:gradFill rotWithShape="1" flip="none">
            <a:gsLst>
              <a:gs pos="0">
                <a:srgbClr val="1A3A5C"/>
              </a:gs>
              <a:gs pos="100000">
                <a:srgbClr val="2A9D8F"/>
              </a:gs>
            </a:gsLst>
            <a:lin ang="2700000" scaled="1"/>
          </a:gradFill>
          <a:ln/>
          <a:effectLst>
            <a:outerShdw sx="100000" sy="100000" kx="0" ky="0" algn="bl" rotWithShape="0" blurRad="119063" dist="79375" dir="5400000">
              <a:srgbClr val="000000">
                <a:alpha val="10196"/>
              </a:srgbClr>
            </a:outerShdw>
          </a:effectLst>
        </p:spPr>
      </p:sp>
      <p:sp>
        <p:nvSpPr>
          <p:cNvPr id="6" name="Shape 4"/>
          <p:cNvSpPr/>
          <p:nvPr/>
        </p:nvSpPr>
        <p:spPr>
          <a:xfrm>
            <a:off x="508000" y="1531938"/>
            <a:ext cx="238125" cy="238125"/>
          </a:xfrm>
          <a:custGeom>
            <a:avLst/>
            <a:gdLst/>
            <a:ahLst/>
            <a:cxnLst/>
            <a:rect l="l" t="t" r="r" b="b"/>
            <a:pathLst>
              <a:path w="238125" h="238125">
                <a:moveTo>
                  <a:pt x="111016" y="2372"/>
                </a:moveTo>
                <a:cubicBezTo>
                  <a:pt x="115900" y="-791"/>
                  <a:pt x="122225" y="-791"/>
                  <a:pt x="127109" y="2372"/>
                </a:cubicBezTo>
                <a:lnTo>
                  <a:pt x="231288" y="69345"/>
                </a:lnTo>
                <a:cubicBezTo>
                  <a:pt x="236823" y="72926"/>
                  <a:pt x="239381" y="79716"/>
                  <a:pt x="237520" y="86041"/>
                </a:cubicBezTo>
                <a:cubicBezTo>
                  <a:pt x="235660" y="92366"/>
                  <a:pt x="229846" y="96738"/>
                  <a:pt x="223242" y="96738"/>
                </a:cubicBezTo>
                <a:lnTo>
                  <a:pt x="208359" y="96738"/>
                </a:lnTo>
                <a:lnTo>
                  <a:pt x="208359" y="193477"/>
                </a:lnTo>
                <a:lnTo>
                  <a:pt x="232172" y="211336"/>
                </a:lnTo>
                <a:cubicBezTo>
                  <a:pt x="235939" y="214126"/>
                  <a:pt x="238125" y="218545"/>
                  <a:pt x="238125" y="223242"/>
                </a:cubicBezTo>
                <a:cubicBezTo>
                  <a:pt x="238125" y="231474"/>
                  <a:pt x="231474" y="238125"/>
                  <a:pt x="223242" y="238125"/>
                </a:cubicBezTo>
                <a:lnTo>
                  <a:pt x="14883" y="238125"/>
                </a:lnTo>
                <a:cubicBezTo>
                  <a:pt x="6651" y="238125"/>
                  <a:pt x="0" y="231474"/>
                  <a:pt x="0" y="223242"/>
                </a:cubicBezTo>
                <a:cubicBezTo>
                  <a:pt x="0" y="218545"/>
                  <a:pt x="2186" y="214126"/>
                  <a:pt x="5953" y="211336"/>
                </a:cubicBezTo>
                <a:lnTo>
                  <a:pt x="29766" y="193477"/>
                </a:lnTo>
                <a:lnTo>
                  <a:pt x="29766" y="193477"/>
                </a:lnTo>
                <a:lnTo>
                  <a:pt x="29766" y="96738"/>
                </a:lnTo>
                <a:lnTo>
                  <a:pt x="14883" y="96738"/>
                </a:lnTo>
                <a:cubicBezTo>
                  <a:pt x="8279" y="96738"/>
                  <a:pt x="2465" y="92366"/>
                  <a:pt x="605" y="86041"/>
                </a:cubicBezTo>
                <a:cubicBezTo>
                  <a:pt x="-1256" y="79716"/>
                  <a:pt x="1302" y="72879"/>
                  <a:pt x="6837" y="69345"/>
                </a:cubicBezTo>
                <a:lnTo>
                  <a:pt x="111016" y="2372"/>
                </a:lnTo>
                <a:close/>
                <a:moveTo>
                  <a:pt x="156270" y="96738"/>
                </a:moveTo>
                <a:lnTo>
                  <a:pt x="156270" y="193477"/>
                </a:lnTo>
                <a:lnTo>
                  <a:pt x="186035" y="193477"/>
                </a:lnTo>
                <a:lnTo>
                  <a:pt x="186035" y="96738"/>
                </a:lnTo>
                <a:lnTo>
                  <a:pt x="156270" y="96738"/>
                </a:lnTo>
                <a:close/>
                <a:moveTo>
                  <a:pt x="104180" y="193477"/>
                </a:moveTo>
                <a:lnTo>
                  <a:pt x="133945" y="193477"/>
                </a:lnTo>
                <a:lnTo>
                  <a:pt x="133945" y="96738"/>
                </a:lnTo>
                <a:lnTo>
                  <a:pt x="104180" y="96738"/>
                </a:lnTo>
                <a:lnTo>
                  <a:pt x="104180" y="193477"/>
                </a:lnTo>
                <a:close/>
                <a:moveTo>
                  <a:pt x="52090" y="96738"/>
                </a:moveTo>
                <a:lnTo>
                  <a:pt x="52090" y="193477"/>
                </a:lnTo>
                <a:lnTo>
                  <a:pt x="81855" y="193477"/>
                </a:lnTo>
                <a:lnTo>
                  <a:pt x="81855" y="96738"/>
                </a:lnTo>
                <a:lnTo>
                  <a:pt x="52090" y="96738"/>
                </a:lnTo>
                <a:close/>
              </a:path>
            </a:pathLst>
          </a:custGeom>
          <a:solidFill>
            <a:srgbClr val="FFFFFF"/>
          </a:solidFill>
          <a:ln/>
        </p:spPr>
      </p:sp>
      <p:sp>
        <p:nvSpPr>
          <p:cNvPr id="7" name="Text 5"/>
          <p:cNvSpPr/>
          <p:nvPr/>
        </p:nvSpPr>
        <p:spPr>
          <a:xfrm>
            <a:off x="777875" y="1508125"/>
            <a:ext cx="4611688" cy="285750"/>
          </a:xfrm>
          <a:prstGeom prst="rect">
            <a:avLst/>
          </a:prstGeom>
          <a:noFill/>
          <a:ln/>
        </p:spPr>
        <p:txBody>
          <a:bodyPr wrap="square" lIns="0" tIns="0" rIns="0" bIns="0" rtlCol="0" anchor="ctr"/>
          <a:lstStyle/>
          <a:p>
            <a:pPr>
              <a:lnSpc>
                <a:spcPct val="100000"/>
              </a:lnSpc>
            </a:pPr>
            <a:r>
              <a:rPr lang="en-US" sz="1875" b="1" dirty="0">
                <a:solidFill>
                  <a:srgbClr val="FFFFFF"/>
                </a:solidFill>
                <a:latin typeface="Liter" pitchFamily="34" charset="0"/>
                <a:ea typeface="Liter" pitchFamily="34" charset="-122"/>
                <a:cs typeface="Liter" pitchFamily="34" charset="-120"/>
              </a:rPr>
              <a:t>What Are Central Banks?</a:t>
            </a:r>
            <a:endParaRPr lang="en-US" sz="1600" dirty="0"/>
          </a:p>
        </p:txBody>
      </p:sp>
      <p:sp>
        <p:nvSpPr>
          <p:cNvPr id="8" name="Text 6"/>
          <p:cNvSpPr/>
          <p:nvPr/>
        </p:nvSpPr>
        <p:spPr>
          <a:xfrm>
            <a:off x="476250" y="1889125"/>
            <a:ext cx="4865688" cy="468313"/>
          </a:xfrm>
          <a:prstGeom prst="rect">
            <a:avLst/>
          </a:prstGeom>
          <a:noFill/>
          <a:ln/>
        </p:spPr>
        <p:txBody>
          <a:bodyPr wrap="square" lIns="0" tIns="0" rIns="0" bIns="0" rtlCol="0" anchor="ctr"/>
          <a:lstStyle/>
          <a:p>
            <a:pPr>
              <a:lnSpc>
                <a:spcPct val="140000"/>
              </a:lnSpc>
            </a:pPr>
            <a:r>
              <a:rPr lang="en-US" sz="1125" dirty="0">
                <a:solidFill>
                  <a:srgbClr val="FFFFFF"/>
                </a:solidFill>
                <a:latin typeface="Quattrocento Sans" pitchFamily="34" charset="0"/>
                <a:ea typeface="Quattrocento Sans" pitchFamily="34" charset="-122"/>
                <a:cs typeface="Quattrocento Sans" pitchFamily="34" charset="-120"/>
              </a:rPr>
              <a:t>Government institutions that oversee a nation's monetary system, manage money supply, set interest rates, and ensure financial stability.</a:t>
            </a:r>
            <a:endParaRPr lang="en-US" sz="1600" dirty="0"/>
          </a:p>
        </p:txBody>
      </p:sp>
      <p:sp>
        <p:nvSpPr>
          <p:cNvPr id="9" name="Shape 7"/>
          <p:cNvSpPr/>
          <p:nvPr/>
        </p:nvSpPr>
        <p:spPr>
          <a:xfrm>
            <a:off x="317500" y="2655094"/>
            <a:ext cx="5111750" cy="3540125"/>
          </a:xfrm>
          <a:custGeom>
            <a:avLst/>
            <a:gdLst/>
            <a:ahLst/>
            <a:cxnLst/>
            <a:rect l="l" t="t" r="r" b="b"/>
            <a:pathLst>
              <a:path w="5111750" h="3540125">
                <a:moveTo>
                  <a:pt x="31750" y="0"/>
                </a:moveTo>
                <a:lnTo>
                  <a:pt x="5080000" y="0"/>
                </a:lnTo>
                <a:cubicBezTo>
                  <a:pt x="5097523" y="0"/>
                  <a:pt x="5111750" y="14227"/>
                  <a:pt x="5111750" y="31750"/>
                </a:cubicBezTo>
                <a:lnTo>
                  <a:pt x="5111750" y="3444860"/>
                </a:lnTo>
                <a:cubicBezTo>
                  <a:pt x="5111750" y="3497474"/>
                  <a:pt x="5069099" y="3540125"/>
                  <a:pt x="5016485" y="3540125"/>
                </a:cubicBezTo>
                <a:lnTo>
                  <a:pt x="95265" y="3540125"/>
                </a:lnTo>
                <a:cubicBezTo>
                  <a:pt x="42651" y="3540125"/>
                  <a:pt x="0" y="3497474"/>
                  <a:pt x="0" y="344486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10" name="Shape 8"/>
          <p:cNvSpPr/>
          <p:nvPr/>
        </p:nvSpPr>
        <p:spPr>
          <a:xfrm>
            <a:off x="317500" y="2655094"/>
            <a:ext cx="5111750" cy="31750"/>
          </a:xfrm>
          <a:custGeom>
            <a:avLst/>
            <a:gdLst/>
            <a:ahLst/>
            <a:cxnLst/>
            <a:rect l="l" t="t" r="r" b="b"/>
            <a:pathLst>
              <a:path w="5111750" h="31750">
                <a:moveTo>
                  <a:pt x="31750" y="0"/>
                </a:moveTo>
                <a:lnTo>
                  <a:pt x="5080000" y="0"/>
                </a:lnTo>
                <a:cubicBezTo>
                  <a:pt x="5097523" y="0"/>
                  <a:pt x="5111750" y="14227"/>
                  <a:pt x="5111750" y="31750"/>
                </a:cubicBezTo>
                <a:lnTo>
                  <a:pt x="5111750" y="31750"/>
                </a:lnTo>
                <a:lnTo>
                  <a:pt x="0" y="31750"/>
                </a:lnTo>
                <a:lnTo>
                  <a:pt x="0" y="31750"/>
                </a:lnTo>
                <a:cubicBezTo>
                  <a:pt x="0" y="14227"/>
                  <a:pt x="14227" y="0"/>
                  <a:pt x="31750" y="0"/>
                </a:cubicBezTo>
                <a:close/>
              </a:path>
            </a:pathLst>
          </a:custGeom>
          <a:solidFill>
            <a:srgbClr val="1A3A5C"/>
          </a:solidFill>
          <a:ln/>
        </p:spPr>
      </p:sp>
      <p:sp>
        <p:nvSpPr>
          <p:cNvPr id="11" name="Shape 9"/>
          <p:cNvSpPr/>
          <p:nvPr/>
        </p:nvSpPr>
        <p:spPr>
          <a:xfrm>
            <a:off x="500063" y="2861469"/>
            <a:ext cx="190500" cy="190500"/>
          </a:xfrm>
          <a:custGeom>
            <a:avLst/>
            <a:gdLst/>
            <a:ahLst/>
            <a:cxnLst/>
            <a:rect l="l" t="t" r="r" b="b"/>
            <a:pathLst>
              <a:path w="190500" h="190500">
                <a:moveTo>
                  <a:pt x="20724" y="74302"/>
                </a:moveTo>
                <a:lnTo>
                  <a:pt x="32221" y="85799"/>
                </a:lnTo>
                <a:cubicBezTo>
                  <a:pt x="34454" y="88032"/>
                  <a:pt x="37467" y="89297"/>
                  <a:pt x="40630" y="89297"/>
                </a:cubicBezTo>
                <a:lnTo>
                  <a:pt x="48630" y="89297"/>
                </a:lnTo>
                <a:cubicBezTo>
                  <a:pt x="51792" y="89297"/>
                  <a:pt x="54806" y="90562"/>
                  <a:pt x="57038" y="92794"/>
                </a:cubicBezTo>
                <a:lnTo>
                  <a:pt x="67940" y="103696"/>
                </a:lnTo>
                <a:cubicBezTo>
                  <a:pt x="70172" y="105928"/>
                  <a:pt x="71438" y="108942"/>
                  <a:pt x="71438" y="112105"/>
                </a:cubicBezTo>
                <a:lnTo>
                  <a:pt x="71438" y="126057"/>
                </a:lnTo>
                <a:cubicBezTo>
                  <a:pt x="71438" y="129220"/>
                  <a:pt x="72703" y="132234"/>
                  <a:pt x="74935" y="134466"/>
                </a:cubicBezTo>
                <a:lnTo>
                  <a:pt x="79883" y="139415"/>
                </a:lnTo>
                <a:cubicBezTo>
                  <a:pt x="82116" y="141647"/>
                  <a:pt x="83381" y="144661"/>
                  <a:pt x="83381" y="147824"/>
                </a:cubicBezTo>
                <a:lnTo>
                  <a:pt x="83381" y="154781"/>
                </a:lnTo>
                <a:cubicBezTo>
                  <a:pt x="83381" y="161367"/>
                  <a:pt x="88702" y="166688"/>
                  <a:pt x="95287" y="166688"/>
                </a:cubicBezTo>
                <a:cubicBezTo>
                  <a:pt x="101873" y="166688"/>
                  <a:pt x="107193" y="161367"/>
                  <a:pt x="107193" y="154781"/>
                </a:cubicBezTo>
                <a:lnTo>
                  <a:pt x="107193" y="153777"/>
                </a:lnTo>
                <a:cubicBezTo>
                  <a:pt x="107193" y="150614"/>
                  <a:pt x="108458" y="147600"/>
                  <a:pt x="110691" y="145368"/>
                </a:cubicBezTo>
                <a:lnTo>
                  <a:pt x="127546" y="128513"/>
                </a:lnTo>
                <a:cubicBezTo>
                  <a:pt x="129778" y="126281"/>
                  <a:pt x="131043" y="123267"/>
                  <a:pt x="131043" y="120104"/>
                </a:cubicBezTo>
                <a:lnTo>
                  <a:pt x="131043" y="107193"/>
                </a:lnTo>
                <a:cubicBezTo>
                  <a:pt x="131043" y="100608"/>
                  <a:pt x="125723" y="95287"/>
                  <a:pt x="119137" y="95287"/>
                </a:cubicBezTo>
                <a:lnTo>
                  <a:pt x="88367" y="95287"/>
                </a:lnTo>
                <a:cubicBezTo>
                  <a:pt x="85204" y="95287"/>
                  <a:pt x="82190" y="94022"/>
                  <a:pt x="79958" y="91790"/>
                </a:cubicBezTo>
                <a:lnTo>
                  <a:pt x="74005" y="85837"/>
                </a:lnTo>
                <a:cubicBezTo>
                  <a:pt x="72442" y="84274"/>
                  <a:pt x="71549" y="82116"/>
                  <a:pt x="71549" y="79883"/>
                </a:cubicBezTo>
                <a:cubicBezTo>
                  <a:pt x="71549" y="75233"/>
                  <a:pt x="75307" y="71475"/>
                  <a:pt x="79958" y="71475"/>
                </a:cubicBezTo>
                <a:lnTo>
                  <a:pt x="92869" y="71475"/>
                </a:lnTo>
                <a:cubicBezTo>
                  <a:pt x="97520" y="71475"/>
                  <a:pt x="101278" y="67717"/>
                  <a:pt x="101278" y="63066"/>
                </a:cubicBezTo>
                <a:cubicBezTo>
                  <a:pt x="101278" y="60833"/>
                  <a:pt x="100385" y="58675"/>
                  <a:pt x="98822" y="57113"/>
                </a:cubicBezTo>
                <a:lnTo>
                  <a:pt x="91492" y="49783"/>
                </a:lnTo>
                <a:cubicBezTo>
                  <a:pt x="90041" y="48369"/>
                  <a:pt x="89297" y="46546"/>
                  <a:pt x="89297" y="44648"/>
                </a:cubicBezTo>
                <a:cubicBezTo>
                  <a:pt x="89297" y="42751"/>
                  <a:pt x="90041" y="40928"/>
                  <a:pt x="91418" y="39551"/>
                </a:cubicBezTo>
                <a:lnTo>
                  <a:pt x="97854" y="33114"/>
                </a:lnTo>
                <a:cubicBezTo>
                  <a:pt x="100013" y="30956"/>
                  <a:pt x="101240" y="28017"/>
                  <a:pt x="101240" y="24966"/>
                </a:cubicBezTo>
                <a:cubicBezTo>
                  <a:pt x="101240" y="22287"/>
                  <a:pt x="100347" y="19869"/>
                  <a:pt x="98859" y="17934"/>
                </a:cubicBezTo>
                <a:cubicBezTo>
                  <a:pt x="97668" y="17897"/>
                  <a:pt x="96478" y="17859"/>
                  <a:pt x="95287" y="17859"/>
                </a:cubicBezTo>
                <a:cubicBezTo>
                  <a:pt x="59792" y="17859"/>
                  <a:pt x="29914" y="41746"/>
                  <a:pt x="20762" y="74302"/>
                </a:cubicBezTo>
                <a:close/>
                <a:moveTo>
                  <a:pt x="172641" y="95250"/>
                </a:moveTo>
                <a:cubicBezTo>
                  <a:pt x="172641" y="82376"/>
                  <a:pt x="169515" y="70247"/>
                  <a:pt x="163934" y="59606"/>
                </a:cubicBezTo>
                <a:cubicBezTo>
                  <a:pt x="161553" y="59941"/>
                  <a:pt x="159209" y="61057"/>
                  <a:pt x="157274" y="62992"/>
                </a:cubicBezTo>
                <a:lnTo>
                  <a:pt x="152288" y="67977"/>
                </a:lnTo>
                <a:cubicBezTo>
                  <a:pt x="150056" y="70210"/>
                  <a:pt x="148791" y="73223"/>
                  <a:pt x="148791" y="76386"/>
                </a:cubicBezTo>
                <a:lnTo>
                  <a:pt x="148791" y="89297"/>
                </a:lnTo>
                <a:cubicBezTo>
                  <a:pt x="148791" y="95883"/>
                  <a:pt x="154112" y="101203"/>
                  <a:pt x="160697" y="101203"/>
                </a:cubicBezTo>
                <a:lnTo>
                  <a:pt x="169664" y="101203"/>
                </a:lnTo>
                <a:cubicBezTo>
                  <a:pt x="170594" y="101203"/>
                  <a:pt x="171524" y="101092"/>
                  <a:pt x="172380" y="100905"/>
                </a:cubicBezTo>
                <a:cubicBezTo>
                  <a:pt x="172529" y="99045"/>
                  <a:pt x="172566" y="97148"/>
                  <a:pt x="172566"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path>
            </a:pathLst>
          </a:custGeom>
          <a:solidFill>
            <a:srgbClr val="2A9D8F"/>
          </a:solidFill>
          <a:ln/>
        </p:spPr>
      </p:sp>
      <p:sp>
        <p:nvSpPr>
          <p:cNvPr id="12" name="Text 10"/>
          <p:cNvSpPr/>
          <p:nvPr/>
        </p:nvSpPr>
        <p:spPr>
          <a:xfrm>
            <a:off x="714375" y="2829719"/>
            <a:ext cx="4651375"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Major Central Banks</a:t>
            </a:r>
            <a:endParaRPr lang="en-US" sz="1600" dirty="0"/>
          </a:p>
        </p:txBody>
      </p:sp>
      <p:sp>
        <p:nvSpPr>
          <p:cNvPr id="13" name="Shape 11"/>
          <p:cNvSpPr/>
          <p:nvPr/>
        </p:nvSpPr>
        <p:spPr>
          <a:xfrm>
            <a:off x="476250" y="3210719"/>
            <a:ext cx="4794250" cy="635000"/>
          </a:xfrm>
          <a:custGeom>
            <a:avLst/>
            <a:gdLst/>
            <a:ahLst/>
            <a:cxnLst/>
            <a:rect l="l" t="t" r="r" b="b"/>
            <a:pathLst>
              <a:path w="4794250" h="635000">
                <a:moveTo>
                  <a:pt x="63500" y="0"/>
                </a:moveTo>
                <a:lnTo>
                  <a:pt x="4730750" y="0"/>
                </a:lnTo>
                <a:cubicBezTo>
                  <a:pt x="4765797" y="0"/>
                  <a:pt x="4794250" y="28453"/>
                  <a:pt x="4794250" y="63500"/>
                </a:cubicBezTo>
                <a:lnTo>
                  <a:pt x="4794250" y="571500"/>
                </a:lnTo>
                <a:cubicBezTo>
                  <a:pt x="4794250" y="606547"/>
                  <a:pt x="4765797" y="635000"/>
                  <a:pt x="4730750" y="635000"/>
                </a:cubicBezTo>
                <a:lnTo>
                  <a:pt x="63500" y="635000"/>
                </a:lnTo>
                <a:cubicBezTo>
                  <a:pt x="28453" y="635000"/>
                  <a:pt x="0" y="606547"/>
                  <a:pt x="0" y="571500"/>
                </a:cubicBezTo>
                <a:lnTo>
                  <a:pt x="0" y="63500"/>
                </a:lnTo>
                <a:cubicBezTo>
                  <a:pt x="0" y="28453"/>
                  <a:pt x="28453" y="0"/>
                  <a:pt x="63500" y="0"/>
                </a:cubicBezTo>
                <a:close/>
              </a:path>
            </a:pathLst>
          </a:custGeom>
          <a:solidFill>
            <a:srgbClr val="F8F9FA"/>
          </a:solidFill>
          <a:ln/>
        </p:spPr>
      </p:sp>
      <p:sp>
        <p:nvSpPr>
          <p:cNvPr id="14" name="Shape 12"/>
          <p:cNvSpPr/>
          <p:nvPr/>
        </p:nvSpPr>
        <p:spPr>
          <a:xfrm>
            <a:off x="571500" y="3305969"/>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1A3A5C"/>
          </a:solidFill>
          <a:ln/>
        </p:spPr>
      </p:sp>
      <p:sp>
        <p:nvSpPr>
          <p:cNvPr id="15" name="Text 13"/>
          <p:cNvSpPr/>
          <p:nvPr/>
        </p:nvSpPr>
        <p:spPr>
          <a:xfrm>
            <a:off x="535781" y="3305969"/>
            <a:ext cx="515938" cy="444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Quattrocento Sans" pitchFamily="34" charset="0"/>
                <a:ea typeface="Quattrocento Sans" pitchFamily="34" charset="-122"/>
                <a:cs typeface="Quattrocento Sans" pitchFamily="34" charset="-120"/>
              </a:rPr>
              <a:t>Fed</a:t>
            </a:r>
            <a:endParaRPr lang="en-US" sz="1600" dirty="0"/>
          </a:p>
        </p:txBody>
      </p:sp>
      <p:sp>
        <p:nvSpPr>
          <p:cNvPr id="16" name="Text 14"/>
          <p:cNvSpPr/>
          <p:nvPr/>
        </p:nvSpPr>
        <p:spPr>
          <a:xfrm>
            <a:off x="1143000" y="3321844"/>
            <a:ext cx="1079500"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Federal Reserve</a:t>
            </a:r>
            <a:endParaRPr lang="en-US" sz="1600" dirty="0"/>
          </a:p>
        </p:txBody>
      </p:sp>
      <p:sp>
        <p:nvSpPr>
          <p:cNvPr id="17" name="Text 15"/>
          <p:cNvSpPr/>
          <p:nvPr/>
        </p:nvSpPr>
        <p:spPr>
          <a:xfrm>
            <a:off x="1143000" y="3544094"/>
            <a:ext cx="1071563"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United States</a:t>
            </a:r>
            <a:endParaRPr lang="en-US" sz="1600" dirty="0"/>
          </a:p>
        </p:txBody>
      </p:sp>
      <p:sp>
        <p:nvSpPr>
          <p:cNvPr id="18" name="Shape 16"/>
          <p:cNvSpPr/>
          <p:nvPr/>
        </p:nvSpPr>
        <p:spPr>
          <a:xfrm>
            <a:off x="476250" y="3940969"/>
            <a:ext cx="4794250" cy="635000"/>
          </a:xfrm>
          <a:custGeom>
            <a:avLst/>
            <a:gdLst/>
            <a:ahLst/>
            <a:cxnLst/>
            <a:rect l="l" t="t" r="r" b="b"/>
            <a:pathLst>
              <a:path w="4794250" h="635000">
                <a:moveTo>
                  <a:pt x="63500" y="0"/>
                </a:moveTo>
                <a:lnTo>
                  <a:pt x="4730750" y="0"/>
                </a:lnTo>
                <a:cubicBezTo>
                  <a:pt x="4765797" y="0"/>
                  <a:pt x="4794250" y="28453"/>
                  <a:pt x="4794250" y="63500"/>
                </a:cubicBezTo>
                <a:lnTo>
                  <a:pt x="4794250" y="571500"/>
                </a:lnTo>
                <a:cubicBezTo>
                  <a:pt x="4794250" y="606547"/>
                  <a:pt x="4765797" y="635000"/>
                  <a:pt x="4730750" y="635000"/>
                </a:cubicBezTo>
                <a:lnTo>
                  <a:pt x="63500" y="635000"/>
                </a:lnTo>
                <a:cubicBezTo>
                  <a:pt x="28453" y="635000"/>
                  <a:pt x="0" y="606547"/>
                  <a:pt x="0" y="571500"/>
                </a:cubicBezTo>
                <a:lnTo>
                  <a:pt x="0" y="63500"/>
                </a:lnTo>
                <a:cubicBezTo>
                  <a:pt x="0" y="28453"/>
                  <a:pt x="28453" y="0"/>
                  <a:pt x="63500" y="0"/>
                </a:cubicBezTo>
                <a:close/>
              </a:path>
            </a:pathLst>
          </a:custGeom>
          <a:solidFill>
            <a:srgbClr val="F8F9FA"/>
          </a:solidFill>
          <a:ln/>
        </p:spPr>
      </p:sp>
      <p:sp>
        <p:nvSpPr>
          <p:cNvPr id="19" name="Shape 17"/>
          <p:cNvSpPr/>
          <p:nvPr/>
        </p:nvSpPr>
        <p:spPr>
          <a:xfrm>
            <a:off x="571500" y="4036219"/>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2A9D8F"/>
          </a:solidFill>
          <a:ln/>
        </p:spPr>
      </p:sp>
      <p:sp>
        <p:nvSpPr>
          <p:cNvPr id="20" name="Text 18"/>
          <p:cNvSpPr/>
          <p:nvPr/>
        </p:nvSpPr>
        <p:spPr>
          <a:xfrm>
            <a:off x="535781" y="4036219"/>
            <a:ext cx="515938" cy="444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Quattrocento Sans" pitchFamily="34" charset="0"/>
                <a:ea typeface="Quattrocento Sans" pitchFamily="34" charset="-122"/>
                <a:cs typeface="Quattrocento Sans" pitchFamily="34" charset="-120"/>
              </a:rPr>
              <a:t>ECB</a:t>
            </a:r>
            <a:endParaRPr lang="en-US" sz="1600" dirty="0"/>
          </a:p>
        </p:txBody>
      </p:sp>
      <p:sp>
        <p:nvSpPr>
          <p:cNvPr id="21" name="Text 19"/>
          <p:cNvSpPr/>
          <p:nvPr/>
        </p:nvSpPr>
        <p:spPr>
          <a:xfrm>
            <a:off x="1143000" y="4052094"/>
            <a:ext cx="1500188"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European Central Bank</a:t>
            </a:r>
            <a:endParaRPr lang="en-US" sz="1600" dirty="0"/>
          </a:p>
        </p:txBody>
      </p:sp>
      <p:sp>
        <p:nvSpPr>
          <p:cNvPr id="22" name="Text 20"/>
          <p:cNvSpPr/>
          <p:nvPr/>
        </p:nvSpPr>
        <p:spPr>
          <a:xfrm>
            <a:off x="1143000" y="4274344"/>
            <a:ext cx="149225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Eurozone</a:t>
            </a:r>
            <a:endParaRPr lang="en-US" sz="1600" dirty="0"/>
          </a:p>
        </p:txBody>
      </p:sp>
      <p:sp>
        <p:nvSpPr>
          <p:cNvPr id="23" name="Shape 21"/>
          <p:cNvSpPr/>
          <p:nvPr/>
        </p:nvSpPr>
        <p:spPr>
          <a:xfrm>
            <a:off x="476250" y="4671219"/>
            <a:ext cx="4794250" cy="635000"/>
          </a:xfrm>
          <a:custGeom>
            <a:avLst/>
            <a:gdLst/>
            <a:ahLst/>
            <a:cxnLst/>
            <a:rect l="l" t="t" r="r" b="b"/>
            <a:pathLst>
              <a:path w="4794250" h="635000">
                <a:moveTo>
                  <a:pt x="63500" y="0"/>
                </a:moveTo>
                <a:lnTo>
                  <a:pt x="4730750" y="0"/>
                </a:lnTo>
                <a:cubicBezTo>
                  <a:pt x="4765797" y="0"/>
                  <a:pt x="4794250" y="28453"/>
                  <a:pt x="4794250" y="63500"/>
                </a:cubicBezTo>
                <a:lnTo>
                  <a:pt x="4794250" y="571500"/>
                </a:lnTo>
                <a:cubicBezTo>
                  <a:pt x="4794250" y="606547"/>
                  <a:pt x="4765797" y="635000"/>
                  <a:pt x="4730750" y="635000"/>
                </a:cubicBezTo>
                <a:lnTo>
                  <a:pt x="63500" y="635000"/>
                </a:lnTo>
                <a:cubicBezTo>
                  <a:pt x="28453" y="635000"/>
                  <a:pt x="0" y="606547"/>
                  <a:pt x="0" y="571500"/>
                </a:cubicBezTo>
                <a:lnTo>
                  <a:pt x="0" y="63500"/>
                </a:lnTo>
                <a:cubicBezTo>
                  <a:pt x="0" y="28453"/>
                  <a:pt x="28453" y="0"/>
                  <a:pt x="63500" y="0"/>
                </a:cubicBezTo>
                <a:close/>
              </a:path>
            </a:pathLst>
          </a:custGeom>
          <a:solidFill>
            <a:srgbClr val="F8F9FA"/>
          </a:solidFill>
          <a:ln/>
        </p:spPr>
      </p:sp>
      <p:sp>
        <p:nvSpPr>
          <p:cNvPr id="24" name="Shape 22"/>
          <p:cNvSpPr/>
          <p:nvPr/>
        </p:nvSpPr>
        <p:spPr>
          <a:xfrm>
            <a:off x="571500" y="4766469"/>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1A3A5C"/>
          </a:solidFill>
          <a:ln/>
        </p:spPr>
      </p:sp>
      <p:sp>
        <p:nvSpPr>
          <p:cNvPr id="25" name="Text 23"/>
          <p:cNvSpPr/>
          <p:nvPr/>
        </p:nvSpPr>
        <p:spPr>
          <a:xfrm>
            <a:off x="535781" y="4766469"/>
            <a:ext cx="515938" cy="444500"/>
          </a:xfrm>
          <a:prstGeom prst="rect">
            <a:avLst/>
          </a:prstGeom>
          <a:noFill/>
          <a:ln/>
        </p:spPr>
        <p:txBody>
          <a:bodyPr wrap="square" lIns="0" tIns="0" rIns="0" bIns="0" rtlCol="0" anchor="ctr"/>
          <a:lstStyle/>
          <a:p>
            <a:pPr algn="ctr">
              <a:lnSpc>
                <a:spcPct val="130000"/>
              </a:lnSpc>
            </a:pPr>
            <a:r>
              <a:rPr lang="en-US" sz="1125" b="1" dirty="0">
                <a:solidFill>
                  <a:srgbClr val="FFFFFF"/>
                </a:solidFill>
                <a:latin typeface="Quattrocento Sans" pitchFamily="34" charset="0"/>
                <a:ea typeface="Quattrocento Sans" pitchFamily="34" charset="-122"/>
                <a:cs typeface="Quattrocento Sans" pitchFamily="34" charset="-120"/>
              </a:rPr>
              <a:t>BoE</a:t>
            </a:r>
            <a:endParaRPr lang="en-US" sz="1600" dirty="0"/>
          </a:p>
        </p:txBody>
      </p:sp>
      <p:sp>
        <p:nvSpPr>
          <p:cNvPr id="26" name="Text 24"/>
          <p:cNvSpPr/>
          <p:nvPr/>
        </p:nvSpPr>
        <p:spPr>
          <a:xfrm>
            <a:off x="1143000" y="4782344"/>
            <a:ext cx="1087438"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Bank of England</a:t>
            </a:r>
            <a:endParaRPr lang="en-US" sz="1600" dirty="0"/>
          </a:p>
        </p:txBody>
      </p:sp>
      <p:sp>
        <p:nvSpPr>
          <p:cNvPr id="27" name="Text 25"/>
          <p:cNvSpPr/>
          <p:nvPr/>
        </p:nvSpPr>
        <p:spPr>
          <a:xfrm>
            <a:off x="1143000" y="5004594"/>
            <a:ext cx="107950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United Kingdom</a:t>
            </a:r>
            <a:endParaRPr lang="en-US" sz="1600" dirty="0"/>
          </a:p>
        </p:txBody>
      </p:sp>
      <p:sp>
        <p:nvSpPr>
          <p:cNvPr id="28" name="Shape 26"/>
          <p:cNvSpPr/>
          <p:nvPr/>
        </p:nvSpPr>
        <p:spPr>
          <a:xfrm>
            <a:off x="476250" y="5401469"/>
            <a:ext cx="4794250" cy="635000"/>
          </a:xfrm>
          <a:custGeom>
            <a:avLst/>
            <a:gdLst/>
            <a:ahLst/>
            <a:cxnLst/>
            <a:rect l="l" t="t" r="r" b="b"/>
            <a:pathLst>
              <a:path w="4794250" h="635000">
                <a:moveTo>
                  <a:pt x="63500" y="0"/>
                </a:moveTo>
                <a:lnTo>
                  <a:pt x="4730750" y="0"/>
                </a:lnTo>
                <a:cubicBezTo>
                  <a:pt x="4765797" y="0"/>
                  <a:pt x="4794250" y="28453"/>
                  <a:pt x="4794250" y="63500"/>
                </a:cubicBezTo>
                <a:lnTo>
                  <a:pt x="4794250" y="571500"/>
                </a:lnTo>
                <a:cubicBezTo>
                  <a:pt x="4794250" y="606547"/>
                  <a:pt x="4765797" y="635000"/>
                  <a:pt x="4730750" y="635000"/>
                </a:cubicBezTo>
                <a:lnTo>
                  <a:pt x="63500" y="635000"/>
                </a:lnTo>
                <a:cubicBezTo>
                  <a:pt x="28453" y="635000"/>
                  <a:pt x="0" y="606547"/>
                  <a:pt x="0" y="571500"/>
                </a:cubicBezTo>
                <a:lnTo>
                  <a:pt x="0" y="63500"/>
                </a:lnTo>
                <a:cubicBezTo>
                  <a:pt x="0" y="28453"/>
                  <a:pt x="28453" y="0"/>
                  <a:pt x="63500" y="0"/>
                </a:cubicBezTo>
                <a:close/>
              </a:path>
            </a:pathLst>
          </a:custGeom>
          <a:solidFill>
            <a:srgbClr val="F8F9FA"/>
          </a:solidFill>
          <a:ln/>
        </p:spPr>
      </p:sp>
      <p:sp>
        <p:nvSpPr>
          <p:cNvPr id="29" name="Shape 27"/>
          <p:cNvSpPr/>
          <p:nvPr/>
        </p:nvSpPr>
        <p:spPr>
          <a:xfrm>
            <a:off x="571500" y="5496719"/>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2A9D8F"/>
          </a:solidFill>
          <a:ln/>
        </p:spPr>
      </p:sp>
      <p:sp>
        <p:nvSpPr>
          <p:cNvPr id="30" name="Text 28"/>
          <p:cNvSpPr/>
          <p:nvPr/>
        </p:nvSpPr>
        <p:spPr>
          <a:xfrm>
            <a:off x="539750" y="5496719"/>
            <a:ext cx="508000" cy="444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RBI</a:t>
            </a:r>
            <a:endParaRPr lang="en-US" sz="1600" dirty="0"/>
          </a:p>
        </p:txBody>
      </p:sp>
      <p:sp>
        <p:nvSpPr>
          <p:cNvPr id="31" name="Text 29"/>
          <p:cNvSpPr/>
          <p:nvPr/>
        </p:nvSpPr>
        <p:spPr>
          <a:xfrm>
            <a:off x="1143000" y="5512594"/>
            <a:ext cx="1412875" cy="222250"/>
          </a:xfrm>
          <a:prstGeom prst="rect">
            <a:avLst/>
          </a:prstGeom>
          <a:noFill/>
          <a:ln/>
        </p:spPr>
        <p:txBody>
          <a:bodyPr wrap="square" lIns="0" tIns="0" rIns="0" bIns="0" rtlCol="0" anchor="ctr"/>
          <a:lstStyle/>
          <a:p>
            <a:pPr>
              <a:lnSpc>
                <a:spcPct val="130000"/>
              </a:lnSpc>
            </a:pPr>
            <a:r>
              <a:rPr lang="en-US" sz="1125" b="1" dirty="0">
                <a:solidFill>
                  <a:srgbClr val="1A3A5C"/>
                </a:solidFill>
                <a:latin typeface="Liter" pitchFamily="34" charset="0"/>
                <a:ea typeface="Liter" pitchFamily="34" charset="-122"/>
                <a:cs typeface="Liter" pitchFamily="34" charset="-120"/>
              </a:rPr>
              <a:t>Reserve Bank of India</a:t>
            </a:r>
            <a:endParaRPr lang="en-US" sz="1600" dirty="0"/>
          </a:p>
        </p:txBody>
      </p:sp>
      <p:sp>
        <p:nvSpPr>
          <p:cNvPr id="32" name="Text 30"/>
          <p:cNvSpPr/>
          <p:nvPr/>
        </p:nvSpPr>
        <p:spPr>
          <a:xfrm>
            <a:off x="1143000" y="5734844"/>
            <a:ext cx="1404938"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India</a:t>
            </a:r>
            <a:endParaRPr lang="en-US" sz="1600" dirty="0"/>
          </a:p>
        </p:txBody>
      </p:sp>
      <p:sp>
        <p:nvSpPr>
          <p:cNvPr id="33" name="Shape 31"/>
          <p:cNvSpPr/>
          <p:nvPr/>
        </p:nvSpPr>
        <p:spPr>
          <a:xfrm>
            <a:off x="5622913" y="1365250"/>
            <a:ext cx="6254750" cy="4508500"/>
          </a:xfrm>
          <a:custGeom>
            <a:avLst/>
            <a:gdLst/>
            <a:ahLst/>
            <a:cxnLst/>
            <a:rect l="l" t="t" r="r" b="b"/>
            <a:pathLst>
              <a:path w="6254750" h="4508500">
                <a:moveTo>
                  <a:pt x="31750" y="0"/>
                </a:moveTo>
                <a:lnTo>
                  <a:pt x="6223000" y="0"/>
                </a:lnTo>
                <a:cubicBezTo>
                  <a:pt x="6240523" y="0"/>
                  <a:pt x="6254750" y="14227"/>
                  <a:pt x="6254750" y="31750"/>
                </a:cubicBezTo>
                <a:lnTo>
                  <a:pt x="6254750" y="4413235"/>
                </a:lnTo>
                <a:cubicBezTo>
                  <a:pt x="6254750" y="4465849"/>
                  <a:pt x="6212099" y="4508500"/>
                  <a:pt x="6159485" y="4508500"/>
                </a:cubicBezTo>
                <a:lnTo>
                  <a:pt x="95265" y="4508500"/>
                </a:lnTo>
                <a:cubicBezTo>
                  <a:pt x="42651" y="4508500"/>
                  <a:pt x="0" y="4465849"/>
                  <a:pt x="0" y="4413235"/>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34" name="Shape 32"/>
          <p:cNvSpPr/>
          <p:nvPr/>
        </p:nvSpPr>
        <p:spPr>
          <a:xfrm>
            <a:off x="5622913" y="1365250"/>
            <a:ext cx="6254750" cy="31750"/>
          </a:xfrm>
          <a:custGeom>
            <a:avLst/>
            <a:gdLst/>
            <a:ahLst/>
            <a:cxnLst/>
            <a:rect l="l" t="t" r="r" b="b"/>
            <a:pathLst>
              <a:path w="6254750" h="31750">
                <a:moveTo>
                  <a:pt x="31750" y="0"/>
                </a:moveTo>
                <a:lnTo>
                  <a:pt x="6223000" y="0"/>
                </a:lnTo>
                <a:cubicBezTo>
                  <a:pt x="6240523" y="0"/>
                  <a:pt x="6254750" y="14227"/>
                  <a:pt x="6254750" y="31750"/>
                </a:cubicBezTo>
                <a:lnTo>
                  <a:pt x="6254750" y="31750"/>
                </a:lnTo>
                <a:lnTo>
                  <a:pt x="0" y="31750"/>
                </a:lnTo>
                <a:lnTo>
                  <a:pt x="0" y="31750"/>
                </a:lnTo>
                <a:cubicBezTo>
                  <a:pt x="0" y="14227"/>
                  <a:pt x="14227" y="0"/>
                  <a:pt x="31750" y="0"/>
                </a:cubicBezTo>
                <a:close/>
              </a:path>
            </a:pathLst>
          </a:custGeom>
          <a:solidFill>
            <a:srgbClr val="2A9D8F"/>
          </a:solidFill>
          <a:ln/>
        </p:spPr>
      </p:sp>
      <p:sp>
        <p:nvSpPr>
          <p:cNvPr id="35" name="Shape 33"/>
          <p:cNvSpPr/>
          <p:nvPr/>
        </p:nvSpPr>
        <p:spPr>
          <a:xfrm>
            <a:off x="5805475" y="1571625"/>
            <a:ext cx="190500" cy="190500"/>
          </a:xfrm>
          <a:custGeom>
            <a:avLst/>
            <a:gdLst/>
            <a:ahLst/>
            <a:cxnLst/>
            <a:rect l="l" t="t" r="r" b="b"/>
            <a:pathLst>
              <a:path w="190500" h="190500">
                <a:moveTo>
                  <a:pt x="49783" y="13506"/>
                </a:moveTo>
                <a:cubicBezTo>
                  <a:pt x="53839" y="16334"/>
                  <a:pt x="54806" y="21915"/>
                  <a:pt x="51978" y="25933"/>
                </a:cubicBezTo>
                <a:lnTo>
                  <a:pt x="31142" y="55699"/>
                </a:lnTo>
                <a:cubicBezTo>
                  <a:pt x="29617" y="57857"/>
                  <a:pt x="27236" y="59234"/>
                  <a:pt x="24594" y="59457"/>
                </a:cubicBezTo>
                <a:cubicBezTo>
                  <a:pt x="21952" y="59680"/>
                  <a:pt x="19348" y="58787"/>
                  <a:pt x="17487" y="56927"/>
                </a:cubicBezTo>
                <a:lnTo>
                  <a:pt x="2604" y="42044"/>
                </a:lnTo>
                <a:cubicBezTo>
                  <a:pt x="-856" y="38546"/>
                  <a:pt x="-856" y="32891"/>
                  <a:pt x="2604" y="29394"/>
                </a:cubicBezTo>
                <a:cubicBezTo>
                  <a:pt x="6065" y="25896"/>
                  <a:pt x="11757" y="25933"/>
                  <a:pt x="15255" y="29394"/>
                </a:cubicBezTo>
                <a:lnTo>
                  <a:pt x="22622" y="36761"/>
                </a:lnTo>
                <a:lnTo>
                  <a:pt x="37356" y="15701"/>
                </a:lnTo>
                <a:cubicBezTo>
                  <a:pt x="40184" y="11646"/>
                  <a:pt x="45765" y="10678"/>
                  <a:pt x="49783" y="13506"/>
                </a:cubicBezTo>
                <a:close/>
                <a:moveTo>
                  <a:pt x="49783" y="73037"/>
                </a:moveTo>
                <a:cubicBezTo>
                  <a:pt x="53839" y="75865"/>
                  <a:pt x="54806" y="81446"/>
                  <a:pt x="51978" y="85465"/>
                </a:cubicBezTo>
                <a:lnTo>
                  <a:pt x="31142" y="115230"/>
                </a:lnTo>
                <a:cubicBezTo>
                  <a:pt x="29617" y="117388"/>
                  <a:pt x="27236" y="118765"/>
                  <a:pt x="24594" y="118988"/>
                </a:cubicBezTo>
                <a:cubicBezTo>
                  <a:pt x="21952" y="119211"/>
                  <a:pt x="19348" y="118318"/>
                  <a:pt x="17487" y="116458"/>
                </a:cubicBezTo>
                <a:lnTo>
                  <a:pt x="2604" y="101575"/>
                </a:lnTo>
                <a:cubicBezTo>
                  <a:pt x="-893" y="98078"/>
                  <a:pt x="-893" y="92422"/>
                  <a:pt x="2604" y="88962"/>
                </a:cubicBezTo>
                <a:cubicBezTo>
                  <a:pt x="6102" y="85502"/>
                  <a:pt x="11757" y="85465"/>
                  <a:pt x="15218" y="88962"/>
                </a:cubicBezTo>
                <a:lnTo>
                  <a:pt x="22585" y="96329"/>
                </a:lnTo>
                <a:lnTo>
                  <a:pt x="37319" y="75270"/>
                </a:lnTo>
                <a:cubicBezTo>
                  <a:pt x="40146" y="71214"/>
                  <a:pt x="45727" y="70247"/>
                  <a:pt x="49746" y="73075"/>
                </a:cubicBezTo>
                <a:close/>
                <a:moveTo>
                  <a:pt x="83344" y="35719"/>
                </a:moveTo>
                <a:cubicBezTo>
                  <a:pt x="83344" y="29133"/>
                  <a:pt x="88664" y="23812"/>
                  <a:pt x="95250" y="23812"/>
                </a:cubicBezTo>
                <a:lnTo>
                  <a:pt x="178594" y="23812"/>
                </a:lnTo>
                <a:cubicBezTo>
                  <a:pt x="185179" y="23812"/>
                  <a:pt x="190500" y="29133"/>
                  <a:pt x="190500" y="35719"/>
                </a:cubicBezTo>
                <a:cubicBezTo>
                  <a:pt x="190500" y="42304"/>
                  <a:pt x="185179" y="47625"/>
                  <a:pt x="178594" y="47625"/>
                </a:cubicBezTo>
                <a:lnTo>
                  <a:pt x="95250" y="47625"/>
                </a:lnTo>
                <a:cubicBezTo>
                  <a:pt x="88664" y="47625"/>
                  <a:pt x="83344" y="42304"/>
                  <a:pt x="83344" y="35719"/>
                </a:cubicBezTo>
                <a:close/>
                <a:moveTo>
                  <a:pt x="83344" y="95250"/>
                </a:moveTo>
                <a:cubicBezTo>
                  <a:pt x="83344" y="88664"/>
                  <a:pt x="88664" y="83344"/>
                  <a:pt x="95250" y="83344"/>
                </a:cubicBezTo>
                <a:lnTo>
                  <a:pt x="178594" y="83344"/>
                </a:lnTo>
                <a:cubicBezTo>
                  <a:pt x="185179" y="83344"/>
                  <a:pt x="190500" y="88664"/>
                  <a:pt x="190500" y="95250"/>
                </a:cubicBezTo>
                <a:cubicBezTo>
                  <a:pt x="190500" y="101836"/>
                  <a:pt x="185179" y="107156"/>
                  <a:pt x="178594" y="107156"/>
                </a:cubicBezTo>
                <a:lnTo>
                  <a:pt x="95250" y="107156"/>
                </a:lnTo>
                <a:cubicBezTo>
                  <a:pt x="88664" y="107156"/>
                  <a:pt x="83344" y="101836"/>
                  <a:pt x="83344" y="95250"/>
                </a:cubicBezTo>
                <a:close/>
                <a:moveTo>
                  <a:pt x="59531" y="154781"/>
                </a:moveTo>
                <a:cubicBezTo>
                  <a:pt x="59531" y="148196"/>
                  <a:pt x="64852" y="142875"/>
                  <a:pt x="71438" y="142875"/>
                </a:cubicBezTo>
                <a:lnTo>
                  <a:pt x="178594" y="142875"/>
                </a:lnTo>
                <a:cubicBezTo>
                  <a:pt x="185179" y="142875"/>
                  <a:pt x="190500" y="148196"/>
                  <a:pt x="190500" y="154781"/>
                </a:cubicBezTo>
                <a:cubicBezTo>
                  <a:pt x="190500" y="161367"/>
                  <a:pt x="185179" y="166688"/>
                  <a:pt x="178594" y="166688"/>
                </a:cubicBezTo>
                <a:lnTo>
                  <a:pt x="71438" y="166688"/>
                </a:lnTo>
                <a:cubicBezTo>
                  <a:pt x="64852" y="166688"/>
                  <a:pt x="59531" y="161367"/>
                  <a:pt x="59531" y="154781"/>
                </a:cubicBezTo>
                <a:close/>
                <a:moveTo>
                  <a:pt x="23812" y="139898"/>
                </a:moveTo>
                <a:cubicBezTo>
                  <a:pt x="32027" y="139898"/>
                  <a:pt x="38695" y="146567"/>
                  <a:pt x="38695" y="154781"/>
                </a:cubicBezTo>
                <a:cubicBezTo>
                  <a:pt x="38695" y="162995"/>
                  <a:pt x="32027" y="169664"/>
                  <a:pt x="23812" y="169664"/>
                </a:cubicBezTo>
                <a:cubicBezTo>
                  <a:pt x="15598" y="169664"/>
                  <a:pt x="8930" y="162995"/>
                  <a:pt x="8930" y="154781"/>
                </a:cubicBezTo>
                <a:cubicBezTo>
                  <a:pt x="8930" y="146567"/>
                  <a:pt x="15598" y="139898"/>
                  <a:pt x="23812" y="139898"/>
                </a:cubicBezTo>
                <a:close/>
              </a:path>
            </a:pathLst>
          </a:custGeom>
          <a:solidFill>
            <a:srgbClr val="2A9D8F"/>
          </a:solidFill>
          <a:ln/>
        </p:spPr>
      </p:sp>
      <p:sp>
        <p:nvSpPr>
          <p:cNvPr id="36" name="Text 34"/>
          <p:cNvSpPr/>
          <p:nvPr/>
        </p:nvSpPr>
        <p:spPr>
          <a:xfrm>
            <a:off x="6019788" y="1539875"/>
            <a:ext cx="5794375"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Three Core Functions</a:t>
            </a:r>
            <a:endParaRPr lang="en-US" sz="1600" dirty="0"/>
          </a:p>
        </p:txBody>
      </p:sp>
      <p:sp>
        <p:nvSpPr>
          <p:cNvPr id="37" name="Shape 35"/>
          <p:cNvSpPr/>
          <p:nvPr/>
        </p:nvSpPr>
        <p:spPr>
          <a:xfrm>
            <a:off x="5781663" y="1920875"/>
            <a:ext cx="5937250" cy="1270000"/>
          </a:xfrm>
          <a:custGeom>
            <a:avLst/>
            <a:gdLst/>
            <a:ahLst/>
            <a:cxnLst/>
            <a:rect l="l" t="t" r="r" b="b"/>
            <a:pathLst>
              <a:path w="5937250" h="1270000">
                <a:moveTo>
                  <a:pt x="63500" y="0"/>
                </a:moveTo>
                <a:lnTo>
                  <a:pt x="5873750" y="0"/>
                </a:lnTo>
                <a:cubicBezTo>
                  <a:pt x="5908797" y="0"/>
                  <a:pt x="5937250" y="28453"/>
                  <a:pt x="5937250" y="63500"/>
                </a:cubicBezTo>
                <a:lnTo>
                  <a:pt x="5937250" y="1206500"/>
                </a:lnTo>
                <a:cubicBezTo>
                  <a:pt x="5937250" y="1241547"/>
                  <a:pt x="5908797" y="1270000"/>
                  <a:pt x="5873750" y="1270000"/>
                </a:cubicBezTo>
                <a:lnTo>
                  <a:pt x="63500" y="1270000"/>
                </a:lnTo>
                <a:cubicBezTo>
                  <a:pt x="28453" y="1270000"/>
                  <a:pt x="0" y="1241547"/>
                  <a:pt x="0" y="1206500"/>
                </a:cubicBezTo>
                <a:lnTo>
                  <a:pt x="0" y="63500"/>
                </a:lnTo>
                <a:cubicBezTo>
                  <a:pt x="0" y="28453"/>
                  <a:pt x="28453" y="0"/>
                  <a:pt x="63500" y="0"/>
                </a:cubicBezTo>
                <a:close/>
              </a:path>
            </a:pathLst>
          </a:custGeom>
          <a:solidFill>
            <a:srgbClr val="F8F9FA"/>
          </a:solidFill>
          <a:ln/>
        </p:spPr>
      </p:sp>
      <p:sp>
        <p:nvSpPr>
          <p:cNvPr id="38" name="Shape 36"/>
          <p:cNvSpPr/>
          <p:nvPr/>
        </p:nvSpPr>
        <p:spPr>
          <a:xfrm>
            <a:off x="5908663" y="2047875"/>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1A3A5C"/>
          </a:solidFill>
          <a:ln/>
        </p:spPr>
      </p:sp>
      <p:sp>
        <p:nvSpPr>
          <p:cNvPr id="39" name="Shape 37"/>
          <p:cNvSpPr/>
          <p:nvPr/>
        </p:nvSpPr>
        <p:spPr>
          <a:xfrm>
            <a:off x="6035663" y="2174875"/>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FFFFFF"/>
          </a:solidFill>
          <a:ln/>
        </p:spPr>
      </p:sp>
      <p:sp>
        <p:nvSpPr>
          <p:cNvPr id="40" name="Text 38"/>
          <p:cNvSpPr/>
          <p:nvPr/>
        </p:nvSpPr>
        <p:spPr>
          <a:xfrm>
            <a:off x="6480163" y="2047875"/>
            <a:ext cx="5191125" cy="222250"/>
          </a:xfrm>
          <a:prstGeom prst="rect">
            <a:avLst/>
          </a:prstGeom>
          <a:noFill/>
          <a:ln/>
        </p:spPr>
        <p:txBody>
          <a:bodyPr wrap="square" lIns="0" tIns="0" rIns="0" bIns="0" rtlCol="0" anchor="ctr"/>
          <a:lstStyle/>
          <a:p>
            <a:pPr>
              <a:lnSpc>
                <a:spcPct val="120000"/>
              </a:lnSpc>
            </a:pPr>
            <a:r>
              <a:rPr lang="en-US" sz="1250" b="1" dirty="0">
                <a:solidFill>
                  <a:srgbClr val="1A3A5C"/>
                </a:solidFill>
                <a:latin typeface="Liter" pitchFamily="34" charset="0"/>
                <a:ea typeface="Liter" pitchFamily="34" charset="-122"/>
                <a:cs typeface="Liter" pitchFamily="34" charset="-120"/>
              </a:rPr>
              <a:t>1. Monetary Policy</a:t>
            </a:r>
            <a:endParaRPr lang="en-US" sz="1600" dirty="0"/>
          </a:p>
        </p:txBody>
      </p:sp>
      <p:sp>
        <p:nvSpPr>
          <p:cNvPr id="41" name="Text 39"/>
          <p:cNvSpPr/>
          <p:nvPr/>
        </p:nvSpPr>
        <p:spPr>
          <a:xfrm>
            <a:off x="6480163" y="2333625"/>
            <a:ext cx="5175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Control money supply and interest rates to achieve price stability and maximum employment.</a:t>
            </a:r>
            <a:endParaRPr lang="en-US" sz="1600" dirty="0"/>
          </a:p>
        </p:txBody>
      </p:sp>
      <p:sp>
        <p:nvSpPr>
          <p:cNvPr id="42" name="Shape 40"/>
          <p:cNvSpPr/>
          <p:nvPr/>
        </p:nvSpPr>
        <p:spPr>
          <a:xfrm>
            <a:off x="6480163" y="2841625"/>
            <a:ext cx="857250" cy="222250"/>
          </a:xfrm>
          <a:custGeom>
            <a:avLst/>
            <a:gdLst/>
            <a:ahLst/>
            <a:cxnLst/>
            <a:rect l="l" t="t" r="r" b="b"/>
            <a:pathLst>
              <a:path w="857250" h="222250">
                <a:moveTo>
                  <a:pt x="111125" y="0"/>
                </a:moveTo>
                <a:lnTo>
                  <a:pt x="746125" y="0"/>
                </a:lnTo>
                <a:cubicBezTo>
                  <a:pt x="807457" y="0"/>
                  <a:pt x="857250" y="49793"/>
                  <a:pt x="857250" y="111125"/>
                </a:cubicBezTo>
                <a:lnTo>
                  <a:pt x="857250" y="111125"/>
                </a:lnTo>
                <a:cubicBezTo>
                  <a:pt x="857250" y="172457"/>
                  <a:pt x="807457" y="222250"/>
                  <a:pt x="746125" y="222250"/>
                </a:cubicBezTo>
                <a:lnTo>
                  <a:pt x="111125" y="222250"/>
                </a:lnTo>
                <a:cubicBezTo>
                  <a:pt x="49793" y="222250"/>
                  <a:pt x="0" y="172457"/>
                  <a:pt x="0" y="111125"/>
                </a:cubicBezTo>
                <a:lnTo>
                  <a:pt x="0" y="111125"/>
                </a:lnTo>
                <a:cubicBezTo>
                  <a:pt x="0" y="49793"/>
                  <a:pt x="49793" y="0"/>
                  <a:pt x="111125" y="0"/>
                </a:cubicBezTo>
                <a:close/>
              </a:path>
            </a:pathLst>
          </a:custGeom>
          <a:solidFill>
            <a:srgbClr val="2A9D8F">
              <a:alpha val="20000"/>
            </a:srgbClr>
          </a:solidFill>
          <a:ln/>
        </p:spPr>
      </p:sp>
      <p:sp>
        <p:nvSpPr>
          <p:cNvPr id="43" name="Text 41"/>
          <p:cNvSpPr/>
          <p:nvPr/>
        </p:nvSpPr>
        <p:spPr>
          <a:xfrm>
            <a:off x="6480163" y="2841625"/>
            <a:ext cx="912813" cy="222250"/>
          </a:xfrm>
          <a:prstGeom prst="rect">
            <a:avLst/>
          </a:prstGeom>
          <a:noFill/>
          <a:ln/>
        </p:spPr>
        <p:txBody>
          <a:bodyPr wrap="square" lIns="95250" tIns="31750" rIns="95250" bIns="31750" rtlCol="0" anchor="ctr"/>
          <a:lstStyle/>
          <a:p>
            <a:pPr>
              <a:lnSpc>
                <a:spcPct val="120000"/>
              </a:lnSpc>
            </a:pPr>
            <a:r>
              <a:rPr lang="en-US" sz="875" b="1" dirty="0">
                <a:solidFill>
                  <a:srgbClr val="1A3A5C"/>
                </a:solidFill>
                <a:latin typeface="Quattrocento Sans" pitchFamily="34" charset="0"/>
                <a:ea typeface="Quattrocento Sans" pitchFamily="34" charset="-122"/>
                <a:cs typeface="Quattrocento Sans" pitchFamily="34" charset="-120"/>
              </a:rPr>
              <a:t>Dual Mandate</a:t>
            </a:r>
            <a:endParaRPr lang="en-US" sz="1600" dirty="0"/>
          </a:p>
        </p:txBody>
      </p:sp>
      <p:sp>
        <p:nvSpPr>
          <p:cNvPr id="44" name="Text 42"/>
          <p:cNvSpPr/>
          <p:nvPr/>
        </p:nvSpPr>
        <p:spPr>
          <a:xfrm>
            <a:off x="7402959" y="2873375"/>
            <a:ext cx="1603375"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Price stability + Full employment</a:t>
            </a:r>
            <a:endParaRPr lang="en-US" sz="1600" dirty="0"/>
          </a:p>
        </p:txBody>
      </p:sp>
      <p:sp>
        <p:nvSpPr>
          <p:cNvPr id="45" name="Shape 43"/>
          <p:cNvSpPr/>
          <p:nvPr/>
        </p:nvSpPr>
        <p:spPr>
          <a:xfrm>
            <a:off x="5781663" y="3286125"/>
            <a:ext cx="5937250" cy="1270000"/>
          </a:xfrm>
          <a:custGeom>
            <a:avLst/>
            <a:gdLst/>
            <a:ahLst/>
            <a:cxnLst/>
            <a:rect l="l" t="t" r="r" b="b"/>
            <a:pathLst>
              <a:path w="5937250" h="1270000">
                <a:moveTo>
                  <a:pt x="63500" y="0"/>
                </a:moveTo>
                <a:lnTo>
                  <a:pt x="5873750" y="0"/>
                </a:lnTo>
                <a:cubicBezTo>
                  <a:pt x="5908797" y="0"/>
                  <a:pt x="5937250" y="28453"/>
                  <a:pt x="5937250" y="63500"/>
                </a:cubicBezTo>
                <a:lnTo>
                  <a:pt x="5937250" y="1206500"/>
                </a:lnTo>
                <a:cubicBezTo>
                  <a:pt x="5937250" y="1241547"/>
                  <a:pt x="5908797" y="1270000"/>
                  <a:pt x="5873750" y="1270000"/>
                </a:cubicBezTo>
                <a:lnTo>
                  <a:pt x="63500" y="1270000"/>
                </a:lnTo>
                <a:cubicBezTo>
                  <a:pt x="28453" y="1270000"/>
                  <a:pt x="0" y="1241547"/>
                  <a:pt x="0" y="1206500"/>
                </a:cubicBezTo>
                <a:lnTo>
                  <a:pt x="0" y="63500"/>
                </a:lnTo>
                <a:cubicBezTo>
                  <a:pt x="0" y="28453"/>
                  <a:pt x="28453" y="0"/>
                  <a:pt x="63500" y="0"/>
                </a:cubicBezTo>
                <a:close/>
              </a:path>
            </a:pathLst>
          </a:custGeom>
          <a:solidFill>
            <a:srgbClr val="F8F9FA"/>
          </a:solidFill>
          <a:ln/>
        </p:spPr>
      </p:sp>
      <p:sp>
        <p:nvSpPr>
          <p:cNvPr id="46" name="Shape 44"/>
          <p:cNvSpPr/>
          <p:nvPr/>
        </p:nvSpPr>
        <p:spPr>
          <a:xfrm>
            <a:off x="5908663" y="3413125"/>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2A9D8F"/>
          </a:solidFill>
          <a:ln/>
        </p:spPr>
      </p:sp>
      <p:sp>
        <p:nvSpPr>
          <p:cNvPr id="47" name="Shape 45"/>
          <p:cNvSpPr/>
          <p:nvPr/>
        </p:nvSpPr>
        <p:spPr>
          <a:xfrm>
            <a:off x="6035663" y="3540125"/>
            <a:ext cx="190500" cy="190500"/>
          </a:xfrm>
          <a:custGeom>
            <a:avLst/>
            <a:gdLst/>
            <a:ahLst/>
            <a:cxnLst/>
            <a:rect l="l" t="t" r="r" b="b"/>
            <a:pathLst>
              <a:path w="190500" h="190500">
                <a:moveTo>
                  <a:pt x="95250" y="0"/>
                </a:moveTo>
                <a:cubicBezTo>
                  <a:pt x="96962" y="0"/>
                  <a:pt x="98673" y="372"/>
                  <a:pt x="100236" y="1079"/>
                </a:cubicBezTo>
                <a:lnTo>
                  <a:pt x="170334" y="30807"/>
                </a:lnTo>
                <a:cubicBezTo>
                  <a:pt x="178519" y="34268"/>
                  <a:pt x="184621" y="42342"/>
                  <a:pt x="184584" y="52090"/>
                </a:cubicBezTo>
                <a:cubicBezTo>
                  <a:pt x="184398" y="88999"/>
                  <a:pt x="169218" y="156530"/>
                  <a:pt x="105110" y="187226"/>
                </a:cubicBezTo>
                <a:cubicBezTo>
                  <a:pt x="98896" y="190202"/>
                  <a:pt x="91678" y="190202"/>
                  <a:pt x="85465" y="187226"/>
                </a:cubicBezTo>
                <a:cubicBezTo>
                  <a:pt x="21320" y="156530"/>
                  <a:pt x="6176" y="88999"/>
                  <a:pt x="5990" y="52090"/>
                </a:cubicBezTo>
                <a:cubicBezTo>
                  <a:pt x="5953" y="42342"/>
                  <a:pt x="12055" y="34268"/>
                  <a:pt x="20241" y="30807"/>
                </a:cubicBezTo>
                <a:lnTo>
                  <a:pt x="90301" y="1079"/>
                </a:lnTo>
                <a:cubicBezTo>
                  <a:pt x="91864" y="372"/>
                  <a:pt x="93538" y="0"/>
                  <a:pt x="95250" y="0"/>
                </a:cubicBezTo>
                <a:close/>
                <a:moveTo>
                  <a:pt x="95250" y="24854"/>
                </a:moveTo>
                <a:lnTo>
                  <a:pt x="95250" y="165534"/>
                </a:lnTo>
                <a:cubicBezTo>
                  <a:pt x="146596" y="140680"/>
                  <a:pt x="160400" y="85613"/>
                  <a:pt x="160734" y="52648"/>
                </a:cubicBezTo>
                <a:lnTo>
                  <a:pt x="95250" y="24892"/>
                </a:lnTo>
                <a:lnTo>
                  <a:pt x="95250" y="24892"/>
                </a:lnTo>
                <a:close/>
              </a:path>
            </a:pathLst>
          </a:custGeom>
          <a:solidFill>
            <a:srgbClr val="FFFFFF"/>
          </a:solidFill>
          <a:ln/>
        </p:spPr>
      </p:sp>
      <p:sp>
        <p:nvSpPr>
          <p:cNvPr id="48" name="Text 46"/>
          <p:cNvSpPr/>
          <p:nvPr/>
        </p:nvSpPr>
        <p:spPr>
          <a:xfrm>
            <a:off x="6480163" y="3413125"/>
            <a:ext cx="5191125" cy="222250"/>
          </a:xfrm>
          <a:prstGeom prst="rect">
            <a:avLst/>
          </a:prstGeom>
          <a:noFill/>
          <a:ln/>
        </p:spPr>
        <p:txBody>
          <a:bodyPr wrap="square" lIns="0" tIns="0" rIns="0" bIns="0" rtlCol="0" anchor="ctr"/>
          <a:lstStyle/>
          <a:p>
            <a:pPr>
              <a:lnSpc>
                <a:spcPct val="120000"/>
              </a:lnSpc>
            </a:pPr>
            <a:r>
              <a:rPr lang="en-US" sz="1250" b="1" dirty="0">
                <a:solidFill>
                  <a:srgbClr val="1A3A5C"/>
                </a:solidFill>
                <a:latin typeface="Liter" pitchFamily="34" charset="0"/>
                <a:ea typeface="Liter" pitchFamily="34" charset="-122"/>
                <a:cs typeface="Liter" pitchFamily="34" charset="-120"/>
              </a:rPr>
              <a:t>2. Financial Stability</a:t>
            </a:r>
            <a:endParaRPr lang="en-US" sz="1600" dirty="0"/>
          </a:p>
        </p:txBody>
      </p:sp>
      <p:sp>
        <p:nvSpPr>
          <p:cNvPr id="49" name="Text 47"/>
          <p:cNvSpPr/>
          <p:nvPr/>
        </p:nvSpPr>
        <p:spPr>
          <a:xfrm>
            <a:off x="6480163" y="3698875"/>
            <a:ext cx="5175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Monitor and regulate banks, prevent crises, and act as "lender of last resort" during emergencies.</a:t>
            </a:r>
            <a:endParaRPr lang="en-US" sz="1600" dirty="0"/>
          </a:p>
        </p:txBody>
      </p:sp>
      <p:sp>
        <p:nvSpPr>
          <p:cNvPr id="50" name="Shape 48"/>
          <p:cNvSpPr/>
          <p:nvPr/>
        </p:nvSpPr>
        <p:spPr>
          <a:xfrm>
            <a:off x="6480163" y="4206875"/>
            <a:ext cx="944563" cy="222250"/>
          </a:xfrm>
          <a:custGeom>
            <a:avLst/>
            <a:gdLst/>
            <a:ahLst/>
            <a:cxnLst/>
            <a:rect l="l" t="t" r="r" b="b"/>
            <a:pathLst>
              <a:path w="944563" h="222250">
                <a:moveTo>
                  <a:pt x="111125" y="0"/>
                </a:moveTo>
                <a:lnTo>
                  <a:pt x="833438" y="0"/>
                </a:lnTo>
                <a:cubicBezTo>
                  <a:pt x="894769" y="0"/>
                  <a:pt x="944563" y="49793"/>
                  <a:pt x="944563" y="111125"/>
                </a:cubicBezTo>
                <a:lnTo>
                  <a:pt x="944563" y="111125"/>
                </a:lnTo>
                <a:cubicBezTo>
                  <a:pt x="944563" y="172457"/>
                  <a:pt x="894769" y="222250"/>
                  <a:pt x="833438" y="222250"/>
                </a:cubicBezTo>
                <a:lnTo>
                  <a:pt x="111125" y="222250"/>
                </a:lnTo>
                <a:cubicBezTo>
                  <a:pt x="49793" y="222250"/>
                  <a:pt x="0" y="172457"/>
                  <a:pt x="0" y="111125"/>
                </a:cubicBezTo>
                <a:lnTo>
                  <a:pt x="0" y="111125"/>
                </a:lnTo>
                <a:cubicBezTo>
                  <a:pt x="0" y="49793"/>
                  <a:pt x="49793" y="0"/>
                  <a:pt x="111125" y="0"/>
                </a:cubicBezTo>
                <a:close/>
              </a:path>
            </a:pathLst>
          </a:custGeom>
          <a:solidFill>
            <a:srgbClr val="2A9D8F">
              <a:alpha val="20000"/>
            </a:srgbClr>
          </a:solidFill>
          <a:ln/>
        </p:spPr>
      </p:sp>
      <p:sp>
        <p:nvSpPr>
          <p:cNvPr id="51" name="Text 49"/>
          <p:cNvSpPr/>
          <p:nvPr/>
        </p:nvSpPr>
        <p:spPr>
          <a:xfrm>
            <a:off x="6480163" y="4206875"/>
            <a:ext cx="1000125" cy="222250"/>
          </a:xfrm>
          <a:prstGeom prst="rect">
            <a:avLst/>
          </a:prstGeom>
          <a:noFill/>
          <a:ln/>
        </p:spPr>
        <p:txBody>
          <a:bodyPr wrap="square" lIns="95250" tIns="31750" rIns="95250" bIns="31750" rtlCol="0" anchor="ctr"/>
          <a:lstStyle/>
          <a:p>
            <a:pPr>
              <a:lnSpc>
                <a:spcPct val="120000"/>
              </a:lnSpc>
            </a:pPr>
            <a:r>
              <a:rPr lang="en-US" sz="875" b="1" dirty="0">
                <a:solidFill>
                  <a:srgbClr val="1A3A5C"/>
                </a:solidFill>
                <a:latin typeface="Quattrocento Sans" pitchFamily="34" charset="0"/>
                <a:ea typeface="Quattrocento Sans" pitchFamily="34" charset="-122"/>
                <a:cs typeface="Quattrocento Sans" pitchFamily="34" charset="-120"/>
              </a:rPr>
              <a:t>Crisis Response</a:t>
            </a:r>
            <a:endParaRPr lang="en-US" sz="1600" dirty="0"/>
          </a:p>
        </p:txBody>
      </p:sp>
      <p:sp>
        <p:nvSpPr>
          <p:cNvPr id="52" name="Text 50"/>
          <p:cNvSpPr/>
          <p:nvPr/>
        </p:nvSpPr>
        <p:spPr>
          <a:xfrm>
            <a:off x="7486489" y="4238625"/>
            <a:ext cx="1341438"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2008 &amp; COVID-19 bailouts</a:t>
            </a:r>
            <a:endParaRPr lang="en-US" sz="1600" dirty="0"/>
          </a:p>
        </p:txBody>
      </p:sp>
      <p:sp>
        <p:nvSpPr>
          <p:cNvPr id="53" name="Shape 51"/>
          <p:cNvSpPr/>
          <p:nvPr/>
        </p:nvSpPr>
        <p:spPr>
          <a:xfrm>
            <a:off x="5781663" y="4651375"/>
            <a:ext cx="5937250" cy="1063625"/>
          </a:xfrm>
          <a:custGeom>
            <a:avLst/>
            <a:gdLst/>
            <a:ahLst/>
            <a:cxnLst/>
            <a:rect l="l" t="t" r="r" b="b"/>
            <a:pathLst>
              <a:path w="5937250" h="1063625">
                <a:moveTo>
                  <a:pt x="63498" y="0"/>
                </a:moveTo>
                <a:lnTo>
                  <a:pt x="5873752" y="0"/>
                </a:lnTo>
                <a:cubicBezTo>
                  <a:pt x="5908821" y="0"/>
                  <a:pt x="5937250" y="28429"/>
                  <a:pt x="5937250" y="63498"/>
                </a:cubicBezTo>
                <a:lnTo>
                  <a:pt x="5937250" y="1000127"/>
                </a:lnTo>
                <a:cubicBezTo>
                  <a:pt x="5937250" y="1035196"/>
                  <a:pt x="5908821" y="1063625"/>
                  <a:pt x="5873752" y="1063625"/>
                </a:cubicBezTo>
                <a:lnTo>
                  <a:pt x="63498" y="1063625"/>
                </a:lnTo>
                <a:cubicBezTo>
                  <a:pt x="28429" y="1063625"/>
                  <a:pt x="0" y="1035196"/>
                  <a:pt x="0" y="1000127"/>
                </a:cubicBezTo>
                <a:lnTo>
                  <a:pt x="0" y="63498"/>
                </a:lnTo>
                <a:cubicBezTo>
                  <a:pt x="0" y="28453"/>
                  <a:pt x="28453" y="0"/>
                  <a:pt x="63498" y="0"/>
                </a:cubicBezTo>
                <a:close/>
              </a:path>
            </a:pathLst>
          </a:custGeom>
          <a:solidFill>
            <a:srgbClr val="F8F9FA"/>
          </a:solidFill>
          <a:ln/>
        </p:spPr>
      </p:sp>
      <p:sp>
        <p:nvSpPr>
          <p:cNvPr id="54" name="Shape 52"/>
          <p:cNvSpPr/>
          <p:nvPr/>
        </p:nvSpPr>
        <p:spPr>
          <a:xfrm>
            <a:off x="5908663" y="4778375"/>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1A3A5C"/>
          </a:solidFill>
          <a:ln/>
        </p:spPr>
      </p:sp>
      <p:sp>
        <p:nvSpPr>
          <p:cNvPr id="55" name="Shape 53"/>
          <p:cNvSpPr/>
          <p:nvPr/>
        </p:nvSpPr>
        <p:spPr>
          <a:xfrm>
            <a:off x="6035663" y="4905375"/>
            <a:ext cx="190500" cy="190500"/>
          </a:xfrm>
          <a:custGeom>
            <a:avLst/>
            <a:gdLst/>
            <a:ahLst/>
            <a:cxnLst/>
            <a:rect l="l" t="t" r="r" b="b"/>
            <a:pathLst>
              <a:path w="190500" h="190500">
                <a:moveTo>
                  <a:pt x="0" y="156121"/>
                </a:moveTo>
                <a:lnTo>
                  <a:pt x="0" y="40742"/>
                </a:lnTo>
                <a:cubicBezTo>
                  <a:pt x="0" y="32110"/>
                  <a:pt x="8967" y="26380"/>
                  <a:pt x="17227" y="28835"/>
                </a:cubicBezTo>
                <a:cubicBezTo>
                  <a:pt x="49857" y="38584"/>
                  <a:pt x="72926" y="30882"/>
                  <a:pt x="96143" y="23143"/>
                </a:cubicBezTo>
                <a:cubicBezTo>
                  <a:pt x="120142" y="15143"/>
                  <a:pt x="144289" y="7107"/>
                  <a:pt x="179226" y="18269"/>
                </a:cubicBezTo>
                <a:cubicBezTo>
                  <a:pt x="186110" y="20464"/>
                  <a:pt x="190500" y="27124"/>
                  <a:pt x="190500" y="34379"/>
                </a:cubicBezTo>
                <a:lnTo>
                  <a:pt x="190500" y="149758"/>
                </a:lnTo>
                <a:cubicBezTo>
                  <a:pt x="190500" y="158390"/>
                  <a:pt x="181533" y="164120"/>
                  <a:pt x="173310" y="161665"/>
                </a:cubicBezTo>
                <a:cubicBezTo>
                  <a:pt x="140680" y="151916"/>
                  <a:pt x="117574" y="159618"/>
                  <a:pt x="94394" y="167357"/>
                </a:cubicBezTo>
                <a:cubicBezTo>
                  <a:pt x="70396" y="175357"/>
                  <a:pt x="46248" y="183393"/>
                  <a:pt x="11311" y="172231"/>
                </a:cubicBezTo>
                <a:cubicBezTo>
                  <a:pt x="4428" y="170036"/>
                  <a:pt x="37" y="163376"/>
                  <a:pt x="37" y="156121"/>
                </a:cubicBezTo>
                <a:close/>
                <a:moveTo>
                  <a:pt x="125016" y="95250"/>
                </a:moveTo>
                <a:cubicBezTo>
                  <a:pt x="125016" y="75530"/>
                  <a:pt x="111696" y="59531"/>
                  <a:pt x="95250" y="59531"/>
                </a:cubicBezTo>
                <a:cubicBezTo>
                  <a:pt x="78804" y="59531"/>
                  <a:pt x="65484" y="75530"/>
                  <a:pt x="65484" y="95250"/>
                </a:cubicBezTo>
                <a:cubicBezTo>
                  <a:pt x="65484" y="114970"/>
                  <a:pt x="78804" y="130969"/>
                  <a:pt x="95250" y="130969"/>
                </a:cubicBezTo>
                <a:cubicBezTo>
                  <a:pt x="111696" y="130969"/>
                  <a:pt x="125016" y="114970"/>
                  <a:pt x="125016" y="95250"/>
                </a:cubicBezTo>
                <a:close/>
                <a:moveTo>
                  <a:pt x="44648" y="153888"/>
                </a:moveTo>
                <a:cubicBezTo>
                  <a:pt x="46286" y="153888"/>
                  <a:pt x="47588" y="152474"/>
                  <a:pt x="47327" y="150875"/>
                </a:cubicBezTo>
                <a:cubicBezTo>
                  <a:pt x="45616" y="140531"/>
                  <a:pt x="37281" y="132457"/>
                  <a:pt x="26789" y="131155"/>
                </a:cubicBezTo>
                <a:cubicBezTo>
                  <a:pt x="25152" y="130969"/>
                  <a:pt x="23812" y="132308"/>
                  <a:pt x="23812" y="133945"/>
                </a:cubicBezTo>
                <a:lnTo>
                  <a:pt x="23812" y="148791"/>
                </a:lnTo>
                <a:cubicBezTo>
                  <a:pt x="23812" y="150130"/>
                  <a:pt x="24705" y="151321"/>
                  <a:pt x="26045" y="151656"/>
                </a:cubicBezTo>
                <a:cubicBezTo>
                  <a:pt x="32705" y="153219"/>
                  <a:pt x="38807" y="153925"/>
                  <a:pt x="44648" y="153925"/>
                </a:cubicBezTo>
                <a:close/>
                <a:moveTo>
                  <a:pt x="163153" y="134875"/>
                </a:moveTo>
                <a:cubicBezTo>
                  <a:pt x="165013" y="135173"/>
                  <a:pt x="166688" y="133759"/>
                  <a:pt x="166688" y="131899"/>
                </a:cubicBezTo>
                <a:lnTo>
                  <a:pt x="166688" y="116049"/>
                </a:lnTo>
                <a:cubicBezTo>
                  <a:pt x="166688" y="114412"/>
                  <a:pt x="165348" y="113035"/>
                  <a:pt x="163711" y="113258"/>
                </a:cubicBezTo>
                <a:cubicBezTo>
                  <a:pt x="154335" y="114412"/>
                  <a:pt x="146633" y="121034"/>
                  <a:pt x="143917" y="129853"/>
                </a:cubicBezTo>
                <a:cubicBezTo>
                  <a:pt x="143396" y="131601"/>
                  <a:pt x="144773" y="133238"/>
                  <a:pt x="146596" y="133276"/>
                </a:cubicBezTo>
                <a:cubicBezTo>
                  <a:pt x="151879" y="133424"/>
                  <a:pt x="157386" y="133908"/>
                  <a:pt x="163116" y="134875"/>
                </a:cubicBezTo>
                <a:close/>
                <a:moveTo>
                  <a:pt x="166688" y="56555"/>
                </a:moveTo>
                <a:lnTo>
                  <a:pt x="166688" y="41709"/>
                </a:lnTo>
                <a:cubicBezTo>
                  <a:pt x="166688" y="40370"/>
                  <a:pt x="165757" y="39179"/>
                  <a:pt x="164455" y="38844"/>
                </a:cubicBezTo>
                <a:cubicBezTo>
                  <a:pt x="157795" y="37281"/>
                  <a:pt x="151693" y="36575"/>
                  <a:pt x="145852" y="36575"/>
                </a:cubicBezTo>
                <a:cubicBezTo>
                  <a:pt x="144214" y="36575"/>
                  <a:pt x="142912" y="37988"/>
                  <a:pt x="143173" y="39588"/>
                </a:cubicBezTo>
                <a:cubicBezTo>
                  <a:pt x="144884" y="49932"/>
                  <a:pt x="153219" y="58006"/>
                  <a:pt x="163711" y="59308"/>
                </a:cubicBezTo>
                <a:cubicBezTo>
                  <a:pt x="165348" y="59494"/>
                  <a:pt x="166688" y="58155"/>
                  <a:pt x="166688" y="56517"/>
                </a:cubicBezTo>
                <a:close/>
                <a:moveTo>
                  <a:pt x="46583" y="60610"/>
                </a:moveTo>
                <a:cubicBezTo>
                  <a:pt x="47104" y="58862"/>
                  <a:pt x="45727" y="57224"/>
                  <a:pt x="43904" y="57187"/>
                </a:cubicBezTo>
                <a:cubicBezTo>
                  <a:pt x="38621" y="57038"/>
                  <a:pt x="33114" y="56555"/>
                  <a:pt x="27384" y="55587"/>
                </a:cubicBezTo>
                <a:cubicBezTo>
                  <a:pt x="25524" y="55290"/>
                  <a:pt x="23850" y="56704"/>
                  <a:pt x="23850" y="58564"/>
                </a:cubicBezTo>
                <a:lnTo>
                  <a:pt x="23812" y="74414"/>
                </a:lnTo>
                <a:cubicBezTo>
                  <a:pt x="23812" y="76051"/>
                  <a:pt x="25152" y="77428"/>
                  <a:pt x="26789" y="77205"/>
                </a:cubicBezTo>
                <a:cubicBezTo>
                  <a:pt x="36165" y="76051"/>
                  <a:pt x="43867" y="69428"/>
                  <a:pt x="46583" y="60610"/>
                </a:cubicBezTo>
                <a:close/>
              </a:path>
            </a:pathLst>
          </a:custGeom>
          <a:solidFill>
            <a:srgbClr val="FFFFFF"/>
          </a:solidFill>
          <a:ln/>
        </p:spPr>
      </p:sp>
      <p:sp>
        <p:nvSpPr>
          <p:cNvPr id="56" name="Text 54"/>
          <p:cNvSpPr/>
          <p:nvPr/>
        </p:nvSpPr>
        <p:spPr>
          <a:xfrm>
            <a:off x="6480163" y="4778375"/>
            <a:ext cx="5191125" cy="222250"/>
          </a:xfrm>
          <a:prstGeom prst="rect">
            <a:avLst/>
          </a:prstGeom>
          <a:noFill/>
          <a:ln/>
        </p:spPr>
        <p:txBody>
          <a:bodyPr wrap="square" lIns="0" tIns="0" rIns="0" bIns="0" rtlCol="0" anchor="ctr"/>
          <a:lstStyle/>
          <a:p>
            <a:pPr>
              <a:lnSpc>
                <a:spcPct val="120000"/>
              </a:lnSpc>
            </a:pPr>
            <a:r>
              <a:rPr lang="en-US" sz="1250" b="1" dirty="0">
                <a:solidFill>
                  <a:srgbClr val="1A3A5C"/>
                </a:solidFill>
                <a:latin typeface="Liter" pitchFamily="34" charset="0"/>
                <a:ea typeface="Liter" pitchFamily="34" charset="-122"/>
                <a:cs typeface="Liter" pitchFamily="34" charset="-120"/>
              </a:rPr>
              <a:t>3. Currency Issuance</a:t>
            </a:r>
            <a:endParaRPr lang="en-US" sz="1600" dirty="0"/>
          </a:p>
        </p:txBody>
      </p:sp>
      <p:sp>
        <p:nvSpPr>
          <p:cNvPr id="57" name="Text 55"/>
          <p:cNvSpPr/>
          <p:nvPr/>
        </p:nvSpPr>
        <p:spPr>
          <a:xfrm>
            <a:off x="6480163" y="5064125"/>
            <a:ext cx="5175250" cy="206375"/>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Exclusive authority to issue national currency and manage its circulation in the economy.</a:t>
            </a:r>
            <a:endParaRPr lang="en-US" sz="1600" dirty="0"/>
          </a:p>
        </p:txBody>
      </p:sp>
      <p:sp>
        <p:nvSpPr>
          <p:cNvPr id="58" name="Shape 56"/>
          <p:cNvSpPr/>
          <p:nvPr/>
        </p:nvSpPr>
        <p:spPr>
          <a:xfrm>
            <a:off x="6480163" y="5365750"/>
            <a:ext cx="523875" cy="222250"/>
          </a:xfrm>
          <a:custGeom>
            <a:avLst/>
            <a:gdLst/>
            <a:ahLst/>
            <a:cxnLst/>
            <a:rect l="l" t="t" r="r" b="b"/>
            <a:pathLst>
              <a:path w="523875" h="222250">
                <a:moveTo>
                  <a:pt x="111125" y="0"/>
                </a:moveTo>
                <a:lnTo>
                  <a:pt x="412750" y="0"/>
                </a:lnTo>
                <a:cubicBezTo>
                  <a:pt x="474082" y="0"/>
                  <a:pt x="523875" y="49793"/>
                  <a:pt x="523875" y="111125"/>
                </a:cubicBezTo>
                <a:lnTo>
                  <a:pt x="523875" y="111125"/>
                </a:lnTo>
                <a:cubicBezTo>
                  <a:pt x="523875" y="172457"/>
                  <a:pt x="474082" y="222250"/>
                  <a:pt x="412750" y="222250"/>
                </a:cubicBezTo>
                <a:lnTo>
                  <a:pt x="111125" y="222250"/>
                </a:lnTo>
                <a:cubicBezTo>
                  <a:pt x="49793" y="222250"/>
                  <a:pt x="0" y="172457"/>
                  <a:pt x="0" y="111125"/>
                </a:cubicBezTo>
                <a:lnTo>
                  <a:pt x="0" y="111125"/>
                </a:lnTo>
                <a:cubicBezTo>
                  <a:pt x="0" y="49793"/>
                  <a:pt x="49793" y="0"/>
                  <a:pt x="111125" y="0"/>
                </a:cubicBezTo>
                <a:close/>
              </a:path>
            </a:pathLst>
          </a:custGeom>
          <a:solidFill>
            <a:srgbClr val="2A9D8F">
              <a:alpha val="20000"/>
            </a:srgbClr>
          </a:solidFill>
          <a:ln/>
        </p:spPr>
      </p:sp>
      <p:sp>
        <p:nvSpPr>
          <p:cNvPr id="59" name="Text 57"/>
          <p:cNvSpPr/>
          <p:nvPr/>
        </p:nvSpPr>
        <p:spPr>
          <a:xfrm>
            <a:off x="6480163" y="5365750"/>
            <a:ext cx="579438" cy="222250"/>
          </a:xfrm>
          <a:prstGeom prst="rect">
            <a:avLst/>
          </a:prstGeom>
          <a:noFill/>
          <a:ln/>
        </p:spPr>
        <p:txBody>
          <a:bodyPr wrap="square" lIns="95250" tIns="31750" rIns="95250" bIns="31750" rtlCol="0" anchor="ctr"/>
          <a:lstStyle/>
          <a:p>
            <a:pPr>
              <a:lnSpc>
                <a:spcPct val="120000"/>
              </a:lnSpc>
            </a:pPr>
            <a:r>
              <a:rPr lang="en-US" sz="875" b="1" dirty="0">
                <a:solidFill>
                  <a:srgbClr val="1A3A5C"/>
                </a:solidFill>
                <a:latin typeface="Quattrocento Sans" pitchFamily="34" charset="0"/>
                <a:ea typeface="Quattrocento Sans" pitchFamily="34" charset="-122"/>
                <a:cs typeface="Quattrocento Sans" pitchFamily="34" charset="-120"/>
              </a:rPr>
              <a:t>CBDCs</a:t>
            </a:r>
            <a:endParaRPr lang="en-US" sz="1600" dirty="0"/>
          </a:p>
        </p:txBody>
      </p:sp>
      <p:sp>
        <p:nvSpPr>
          <p:cNvPr id="60" name="Text 58"/>
          <p:cNvSpPr/>
          <p:nvPr/>
        </p:nvSpPr>
        <p:spPr>
          <a:xfrm>
            <a:off x="7066235" y="5397500"/>
            <a:ext cx="1531938"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Central Bank Digital Currencies</a:t>
            </a:r>
            <a:endParaRPr lang="en-US" sz="1600" dirty="0"/>
          </a:p>
        </p:txBody>
      </p:sp>
      <p:sp>
        <p:nvSpPr>
          <p:cNvPr id="61" name="Shape 59"/>
          <p:cNvSpPr/>
          <p:nvPr/>
        </p:nvSpPr>
        <p:spPr>
          <a:xfrm>
            <a:off x="5622913" y="6000750"/>
            <a:ext cx="6254750" cy="1571625"/>
          </a:xfrm>
          <a:custGeom>
            <a:avLst/>
            <a:gdLst/>
            <a:ahLst/>
            <a:cxnLst/>
            <a:rect l="l" t="t" r="r" b="b"/>
            <a:pathLst>
              <a:path w="6254750" h="1571625">
                <a:moveTo>
                  <a:pt x="95256" y="0"/>
                </a:moveTo>
                <a:lnTo>
                  <a:pt x="6159494" y="0"/>
                </a:lnTo>
                <a:cubicBezTo>
                  <a:pt x="6212102" y="0"/>
                  <a:pt x="6254750" y="42648"/>
                  <a:pt x="6254750" y="95256"/>
                </a:cubicBezTo>
                <a:lnTo>
                  <a:pt x="6254750" y="1476369"/>
                </a:lnTo>
                <a:cubicBezTo>
                  <a:pt x="6254750" y="1528977"/>
                  <a:pt x="6212102" y="1571625"/>
                  <a:pt x="6159494" y="1571625"/>
                </a:cubicBezTo>
                <a:lnTo>
                  <a:pt x="95256" y="1571625"/>
                </a:lnTo>
                <a:cubicBezTo>
                  <a:pt x="42648" y="1571625"/>
                  <a:pt x="0" y="1528977"/>
                  <a:pt x="0" y="1476369"/>
                </a:cubicBezTo>
                <a:lnTo>
                  <a:pt x="0" y="95256"/>
                </a:lnTo>
                <a:cubicBezTo>
                  <a:pt x="0" y="42683"/>
                  <a:pt x="42683" y="0"/>
                  <a:pt x="95256"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62" name="Shape 60"/>
          <p:cNvSpPr/>
          <p:nvPr/>
        </p:nvSpPr>
        <p:spPr>
          <a:xfrm>
            <a:off x="5793569" y="6191250"/>
            <a:ext cx="214313" cy="190500"/>
          </a:xfrm>
          <a:custGeom>
            <a:avLst/>
            <a:gdLst/>
            <a:ahLst/>
            <a:cxnLst/>
            <a:rect l="l" t="t" r="r" b="b"/>
            <a:pathLst>
              <a:path w="214313" h="190500">
                <a:moveTo>
                  <a:pt x="83381" y="36128"/>
                </a:moveTo>
                <a:lnTo>
                  <a:pt x="83381" y="54583"/>
                </a:lnTo>
                <a:lnTo>
                  <a:pt x="83567" y="54769"/>
                </a:lnTo>
                <a:cubicBezTo>
                  <a:pt x="85985" y="24110"/>
                  <a:pt x="111621" y="0"/>
                  <a:pt x="142912" y="0"/>
                </a:cubicBezTo>
                <a:cubicBezTo>
                  <a:pt x="150391" y="0"/>
                  <a:pt x="157572" y="1377"/>
                  <a:pt x="164157" y="3907"/>
                </a:cubicBezTo>
                <a:cubicBezTo>
                  <a:pt x="167878" y="5321"/>
                  <a:pt x="168548" y="10046"/>
                  <a:pt x="165757" y="12874"/>
                </a:cubicBezTo>
                <a:lnTo>
                  <a:pt x="132755" y="45876"/>
                </a:lnTo>
                <a:cubicBezTo>
                  <a:pt x="131638" y="46992"/>
                  <a:pt x="131006" y="48518"/>
                  <a:pt x="131006" y="50081"/>
                </a:cubicBezTo>
                <a:lnTo>
                  <a:pt x="131006" y="65484"/>
                </a:lnTo>
                <a:cubicBezTo>
                  <a:pt x="131006" y="68759"/>
                  <a:pt x="133685" y="71438"/>
                  <a:pt x="136959" y="71438"/>
                </a:cubicBezTo>
                <a:lnTo>
                  <a:pt x="152363" y="71438"/>
                </a:lnTo>
                <a:cubicBezTo>
                  <a:pt x="153925" y="71438"/>
                  <a:pt x="155451" y="70805"/>
                  <a:pt x="156567" y="69689"/>
                </a:cubicBezTo>
                <a:lnTo>
                  <a:pt x="189570" y="36686"/>
                </a:lnTo>
                <a:cubicBezTo>
                  <a:pt x="192398" y="33858"/>
                  <a:pt x="197123" y="34565"/>
                  <a:pt x="198537" y="38286"/>
                </a:cubicBezTo>
                <a:cubicBezTo>
                  <a:pt x="201067" y="44872"/>
                  <a:pt x="202443" y="52053"/>
                  <a:pt x="202443" y="59531"/>
                </a:cubicBezTo>
                <a:cubicBezTo>
                  <a:pt x="202443" y="82079"/>
                  <a:pt x="189905" y="101724"/>
                  <a:pt x="171376" y="111807"/>
                </a:cubicBezTo>
                <a:lnTo>
                  <a:pt x="201699" y="142131"/>
                </a:lnTo>
                <a:cubicBezTo>
                  <a:pt x="208657" y="149089"/>
                  <a:pt x="208657" y="160400"/>
                  <a:pt x="201699" y="167394"/>
                </a:cubicBezTo>
                <a:lnTo>
                  <a:pt x="179338" y="189756"/>
                </a:lnTo>
                <a:cubicBezTo>
                  <a:pt x="172380" y="196714"/>
                  <a:pt x="161069" y="196714"/>
                  <a:pt x="154074" y="189756"/>
                </a:cubicBezTo>
                <a:lnTo>
                  <a:pt x="107193" y="142875"/>
                </a:lnTo>
                <a:cubicBezTo>
                  <a:pt x="96999" y="132680"/>
                  <a:pt x="94692" y="117611"/>
                  <a:pt x="100310" y="105184"/>
                </a:cubicBezTo>
                <a:lnTo>
                  <a:pt x="66563" y="71438"/>
                </a:lnTo>
                <a:lnTo>
                  <a:pt x="48109" y="71438"/>
                </a:lnTo>
                <a:cubicBezTo>
                  <a:pt x="44128" y="71438"/>
                  <a:pt x="40407" y="69466"/>
                  <a:pt x="38212" y="66154"/>
                </a:cubicBezTo>
                <a:lnTo>
                  <a:pt x="8706" y="21915"/>
                </a:lnTo>
                <a:cubicBezTo>
                  <a:pt x="7144" y="19571"/>
                  <a:pt x="7441" y="16408"/>
                  <a:pt x="9451" y="14399"/>
                </a:cubicBezTo>
                <a:lnTo>
                  <a:pt x="26343" y="-2493"/>
                </a:lnTo>
                <a:cubicBezTo>
                  <a:pt x="28352" y="-4502"/>
                  <a:pt x="31477" y="-4800"/>
                  <a:pt x="33858" y="-3237"/>
                </a:cubicBezTo>
                <a:lnTo>
                  <a:pt x="78098" y="26231"/>
                </a:lnTo>
                <a:cubicBezTo>
                  <a:pt x="81409" y="28426"/>
                  <a:pt x="83381" y="32147"/>
                  <a:pt x="83381" y="36128"/>
                </a:cubicBezTo>
                <a:close/>
                <a:moveTo>
                  <a:pt x="80218" y="110356"/>
                </a:moveTo>
                <a:cubicBezTo>
                  <a:pt x="77874" y="124123"/>
                  <a:pt x="81111" y="138671"/>
                  <a:pt x="90041" y="150316"/>
                </a:cubicBezTo>
                <a:lnTo>
                  <a:pt x="54694" y="185626"/>
                </a:lnTo>
                <a:cubicBezTo>
                  <a:pt x="44239" y="196081"/>
                  <a:pt x="27273" y="196081"/>
                  <a:pt x="16818" y="185626"/>
                </a:cubicBezTo>
                <a:cubicBezTo>
                  <a:pt x="6362" y="175171"/>
                  <a:pt x="6362" y="158204"/>
                  <a:pt x="16818" y="147749"/>
                </a:cubicBezTo>
                <a:lnTo>
                  <a:pt x="67196" y="97371"/>
                </a:lnTo>
                <a:lnTo>
                  <a:pt x="80218" y="110393"/>
                </a:lnTo>
                <a:close/>
              </a:path>
            </a:pathLst>
          </a:custGeom>
          <a:solidFill>
            <a:srgbClr val="2A9D8F"/>
          </a:solidFill>
          <a:ln/>
        </p:spPr>
      </p:sp>
      <p:sp>
        <p:nvSpPr>
          <p:cNvPr id="63" name="Text 61"/>
          <p:cNvSpPr/>
          <p:nvPr/>
        </p:nvSpPr>
        <p:spPr>
          <a:xfrm>
            <a:off x="6019788" y="6159500"/>
            <a:ext cx="5794375"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Monetary Policy Tools</a:t>
            </a:r>
            <a:endParaRPr lang="en-US" sz="1600" dirty="0"/>
          </a:p>
        </p:txBody>
      </p:sp>
      <p:sp>
        <p:nvSpPr>
          <p:cNvPr id="64" name="Shape 62"/>
          <p:cNvSpPr/>
          <p:nvPr/>
        </p:nvSpPr>
        <p:spPr>
          <a:xfrm>
            <a:off x="5781663" y="6540500"/>
            <a:ext cx="1912938" cy="873125"/>
          </a:xfrm>
          <a:custGeom>
            <a:avLst/>
            <a:gdLst/>
            <a:ahLst/>
            <a:cxnLst/>
            <a:rect l="l" t="t" r="r" b="b"/>
            <a:pathLst>
              <a:path w="1912938" h="873125">
                <a:moveTo>
                  <a:pt x="63502" y="0"/>
                </a:moveTo>
                <a:lnTo>
                  <a:pt x="1849435" y="0"/>
                </a:lnTo>
                <a:cubicBezTo>
                  <a:pt x="1884507" y="0"/>
                  <a:pt x="1912938" y="28431"/>
                  <a:pt x="1912938" y="63502"/>
                </a:cubicBezTo>
                <a:lnTo>
                  <a:pt x="1912938" y="809623"/>
                </a:lnTo>
                <a:cubicBezTo>
                  <a:pt x="1912938" y="844694"/>
                  <a:pt x="1884507" y="873125"/>
                  <a:pt x="1849435" y="873125"/>
                </a:cubicBezTo>
                <a:lnTo>
                  <a:pt x="63502" y="873125"/>
                </a:lnTo>
                <a:cubicBezTo>
                  <a:pt x="28431" y="873125"/>
                  <a:pt x="0" y="844694"/>
                  <a:pt x="0" y="809623"/>
                </a:cubicBezTo>
                <a:lnTo>
                  <a:pt x="0" y="63502"/>
                </a:lnTo>
                <a:cubicBezTo>
                  <a:pt x="0" y="28454"/>
                  <a:pt x="28454" y="0"/>
                  <a:pt x="63502" y="0"/>
                </a:cubicBezTo>
                <a:close/>
              </a:path>
            </a:pathLst>
          </a:custGeom>
          <a:solidFill>
            <a:srgbClr val="F8F9FA"/>
          </a:solidFill>
          <a:ln/>
        </p:spPr>
      </p:sp>
      <p:sp>
        <p:nvSpPr>
          <p:cNvPr id="65" name="Shape 63"/>
          <p:cNvSpPr/>
          <p:nvPr/>
        </p:nvSpPr>
        <p:spPr>
          <a:xfrm>
            <a:off x="6636680" y="6635750"/>
            <a:ext cx="208359" cy="238125"/>
          </a:xfrm>
          <a:custGeom>
            <a:avLst/>
            <a:gdLst/>
            <a:ahLst/>
            <a:cxnLst/>
            <a:rect l="l" t="t" r="r" b="b"/>
            <a:pathLst>
              <a:path w="208359" h="238125">
                <a:moveTo>
                  <a:pt x="89297" y="59531"/>
                </a:moveTo>
                <a:cubicBezTo>
                  <a:pt x="89297" y="34889"/>
                  <a:pt x="69291" y="14883"/>
                  <a:pt x="44648" y="14883"/>
                </a:cubicBezTo>
                <a:cubicBezTo>
                  <a:pt x="20006" y="14883"/>
                  <a:pt x="0" y="34889"/>
                  <a:pt x="0" y="59531"/>
                </a:cubicBezTo>
                <a:cubicBezTo>
                  <a:pt x="0" y="84173"/>
                  <a:pt x="20006" y="104180"/>
                  <a:pt x="44648" y="104180"/>
                </a:cubicBezTo>
                <a:cubicBezTo>
                  <a:pt x="69291" y="104180"/>
                  <a:pt x="89297" y="84173"/>
                  <a:pt x="89297" y="59531"/>
                </a:cubicBezTo>
                <a:close/>
                <a:moveTo>
                  <a:pt x="208359" y="178594"/>
                </a:moveTo>
                <a:cubicBezTo>
                  <a:pt x="208359" y="153952"/>
                  <a:pt x="188353" y="133945"/>
                  <a:pt x="163711" y="133945"/>
                </a:cubicBezTo>
                <a:cubicBezTo>
                  <a:pt x="139069" y="133945"/>
                  <a:pt x="119062" y="153952"/>
                  <a:pt x="119062" y="178594"/>
                </a:cubicBezTo>
                <a:cubicBezTo>
                  <a:pt x="119062" y="203236"/>
                  <a:pt x="139069" y="223242"/>
                  <a:pt x="163711" y="223242"/>
                </a:cubicBezTo>
                <a:cubicBezTo>
                  <a:pt x="188353" y="223242"/>
                  <a:pt x="208359" y="203236"/>
                  <a:pt x="208359" y="178594"/>
                </a:cubicBezTo>
                <a:close/>
                <a:moveTo>
                  <a:pt x="203988" y="40277"/>
                </a:moveTo>
                <a:cubicBezTo>
                  <a:pt x="209801" y="34463"/>
                  <a:pt x="209801" y="25022"/>
                  <a:pt x="203988" y="19208"/>
                </a:cubicBezTo>
                <a:cubicBezTo>
                  <a:pt x="198174" y="13395"/>
                  <a:pt x="188733" y="13395"/>
                  <a:pt x="182919" y="19208"/>
                </a:cubicBezTo>
                <a:lnTo>
                  <a:pt x="4325" y="197802"/>
                </a:lnTo>
                <a:cubicBezTo>
                  <a:pt x="-1488" y="203615"/>
                  <a:pt x="-1488" y="213057"/>
                  <a:pt x="4325" y="218870"/>
                </a:cubicBezTo>
                <a:cubicBezTo>
                  <a:pt x="10139" y="224684"/>
                  <a:pt x="19580" y="224684"/>
                  <a:pt x="25394" y="218870"/>
                </a:cubicBezTo>
                <a:lnTo>
                  <a:pt x="203988" y="40277"/>
                </a:lnTo>
                <a:close/>
              </a:path>
            </a:pathLst>
          </a:custGeom>
          <a:solidFill>
            <a:srgbClr val="2A9D8F"/>
          </a:solidFill>
          <a:ln/>
        </p:spPr>
      </p:sp>
      <p:sp>
        <p:nvSpPr>
          <p:cNvPr id="66" name="Text 64"/>
          <p:cNvSpPr/>
          <p:nvPr/>
        </p:nvSpPr>
        <p:spPr>
          <a:xfrm>
            <a:off x="5845163" y="6937375"/>
            <a:ext cx="1785938" cy="190500"/>
          </a:xfrm>
          <a:prstGeom prst="rect">
            <a:avLst/>
          </a:prstGeom>
          <a:noFill/>
          <a:ln/>
        </p:spPr>
        <p:txBody>
          <a:bodyPr wrap="square" lIns="0" tIns="0" rIns="0" bIns="0" rtlCol="0" anchor="ctr"/>
          <a:lstStyle/>
          <a:p>
            <a:pPr algn="ctr">
              <a:lnSpc>
                <a:spcPct val="130000"/>
              </a:lnSpc>
            </a:pPr>
            <a:r>
              <a:rPr lang="en-US" sz="1000" b="1" dirty="0">
                <a:solidFill>
                  <a:srgbClr val="1A3A5C"/>
                </a:solidFill>
                <a:latin typeface="Liter" pitchFamily="34" charset="0"/>
                <a:ea typeface="Liter" pitchFamily="34" charset="-122"/>
                <a:cs typeface="Liter" pitchFamily="34" charset="-120"/>
              </a:rPr>
              <a:t>Interest Rates</a:t>
            </a:r>
            <a:endParaRPr lang="en-US" sz="1600" dirty="0"/>
          </a:p>
        </p:txBody>
      </p:sp>
      <p:sp>
        <p:nvSpPr>
          <p:cNvPr id="67" name="Text 65"/>
          <p:cNvSpPr/>
          <p:nvPr/>
        </p:nvSpPr>
        <p:spPr>
          <a:xfrm>
            <a:off x="5849131" y="7159625"/>
            <a:ext cx="1778000" cy="158750"/>
          </a:xfrm>
          <a:prstGeom prst="rect">
            <a:avLst/>
          </a:prstGeom>
          <a:noFill/>
          <a:ln/>
        </p:spPr>
        <p:txBody>
          <a:bodyPr wrap="square" lIns="0" tIns="0" rIns="0" bIns="0" rtlCol="0" anchor="ctr"/>
          <a:lstStyle/>
          <a:p>
            <a:pPr algn="ct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Federal funds rate</a:t>
            </a:r>
            <a:endParaRPr lang="en-US" sz="1600" dirty="0"/>
          </a:p>
        </p:txBody>
      </p:sp>
      <p:sp>
        <p:nvSpPr>
          <p:cNvPr id="68" name="Shape 66"/>
          <p:cNvSpPr/>
          <p:nvPr/>
        </p:nvSpPr>
        <p:spPr>
          <a:xfrm>
            <a:off x="7791400" y="6540500"/>
            <a:ext cx="1912938" cy="873125"/>
          </a:xfrm>
          <a:custGeom>
            <a:avLst/>
            <a:gdLst/>
            <a:ahLst/>
            <a:cxnLst/>
            <a:rect l="l" t="t" r="r" b="b"/>
            <a:pathLst>
              <a:path w="1912938" h="873125">
                <a:moveTo>
                  <a:pt x="63502" y="0"/>
                </a:moveTo>
                <a:lnTo>
                  <a:pt x="1849435" y="0"/>
                </a:lnTo>
                <a:cubicBezTo>
                  <a:pt x="1884507" y="0"/>
                  <a:pt x="1912938" y="28431"/>
                  <a:pt x="1912938" y="63502"/>
                </a:cubicBezTo>
                <a:lnTo>
                  <a:pt x="1912938" y="809623"/>
                </a:lnTo>
                <a:cubicBezTo>
                  <a:pt x="1912938" y="844694"/>
                  <a:pt x="1884507" y="873125"/>
                  <a:pt x="1849435" y="873125"/>
                </a:cubicBezTo>
                <a:lnTo>
                  <a:pt x="63502" y="873125"/>
                </a:lnTo>
                <a:cubicBezTo>
                  <a:pt x="28431" y="873125"/>
                  <a:pt x="0" y="844694"/>
                  <a:pt x="0" y="809623"/>
                </a:cubicBezTo>
                <a:lnTo>
                  <a:pt x="0" y="63502"/>
                </a:lnTo>
                <a:cubicBezTo>
                  <a:pt x="0" y="28454"/>
                  <a:pt x="28454" y="0"/>
                  <a:pt x="63502" y="0"/>
                </a:cubicBezTo>
                <a:close/>
              </a:path>
            </a:pathLst>
          </a:custGeom>
          <a:solidFill>
            <a:srgbClr val="F8F9FA"/>
          </a:solidFill>
          <a:ln/>
        </p:spPr>
      </p:sp>
      <p:sp>
        <p:nvSpPr>
          <p:cNvPr id="69" name="Shape 67"/>
          <p:cNvSpPr/>
          <p:nvPr/>
        </p:nvSpPr>
        <p:spPr>
          <a:xfrm>
            <a:off x="8631597" y="6635750"/>
            <a:ext cx="238125" cy="238125"/>
          </a:xfrm>
          <a:custGeom>
            <a:avLst/>
            <a:gdLst/>
            <a:ahLst/>
            <a:cxnLst/>
            <a:rect l="l" t="t" r="r" b="b"/>
            <a:pathLst>
              <a:path w="238125" h="238125">
                <a:moveTo>
                  <a:pt x="233753" y="70042"/>
                </a:moveTo>
                <a:lnTo>
                  <a:pt x="189105" y="114691"/>
                </a:lnTo>
                <a:cubicBezTo>
                  <a:pt x="184826" y="118969"/>
                  <a:pt x="178454" y="120225"/>
                  <a:pt x="172873" y="117900"/>
                </a:cubicBezTo>
                <a:cubicBezTo>
                  <a:pt x="167292" y="115574"/>
                  <a:pt x="163711" y="110179"/>
                  <a:pt x="163711" y="104180"/>
                </a:cubicBezTo>
                <a:lnTo>
                  <a:pt x="163711" y="74414"/>
                </a:lnTo>
                <a:lnTo>
                  <a:pt x="14883" y="74414"/>
                </a:lnTo>
                <a:cubicBezTo>
                  <a:pt x="6651" y="74414"/>
                  <a:pt x="0" y="67763"/>
                  <a:pt x="0" y="59531"/>
                </a:cubicBezTo>
                <a:cubicBezTo>
                  <a:pt x="0" y="51299"/>
                  <a:pt x="6651" y="44648"/>
                  <a:pt x="14883" y="44648"/>
                </a:cubicBezTo>
                <a:lnTo>
                  <a:pt x="163711" y="44648"/>
                </a:lnTo>
                <a:lnTo>
                  <a:pt x="163711" y="14883"/>
                </a:lnTo>
                <a:cubicBezTo>
                  <a:pt x="163711" y="8883"/>
                  <a:pt x="167339" y="3442"/>
                  <a:pt x="172920" y="1116"/>
                </a:cubicBezTo>
                <a:cubicBezTo>
                  <a:pt x="178501" y="-1209"/>
                  <a:pt x="184872" y="93"/>
                  <a:pt x="189151" y="4325"/>
                </a:cubicBezTo>
                <a:lnTo>
                  <a:pt x="233800" y="48974"/>
                </a:lnTo>
                <a:cubicBezTo>
                  <a:pt x="239613" y="54787"/>
                  <a:pt x="239613" y="64229"/>
                  <a:pt x="233800" y="70042"/>
                </a:cubicBezTo>
                <a:close/>
                <a:moveTo>
                  <a:pt x="48974" y="233753"/>
                </a:moveTo>
                <a:lnTo>
                  <a:pt x="4325" y="189105"/>
                </a:lnTo>
                <a:cubicBezTo>
                  <a:pt x="-1488" y="183291"/>
                  <a:pt x="-1488" y="173850"/>
                  <a:pt x="4325" y="168036"/>
                </a:cubicBezTo>
                <a:lnTo>
                  <a:pt x="48974" y="123388"/>
                </a:lnTo>
                <a:cubicBezTo>
                  <a:pt x="53253" y="119109"/>
                  <a:pt x="59624" y="117853"/>
                  <a:pt x="65205" y="120179"/>
                </a:cubicBezTo>
                <a:cubicBezTo>
                  <a:pt x="70786" y="122504"/>
                  <a:pt x="74414" y="127946"/>
                  <a:pt x="74414" y="133945"/>
                </a:cubicBezTo>
                <a:lnTo>
                  <a:pt x="74414" y="163711"/>
                </a:lnTo>
                <a:lnTo>
                  <a:pt x="223242" y="163711"/>
                </a:lnTo>
                <a:cubicBezTo>
                  <a:pt x="231474" y="163711"/>
                  <a:pt x="238125" y="170362"/>
                  <a:pt x="238125" y="178594"/>
                </a:cubicBezTo>
                <a:cubicBezTo>
                  <a:pt x="238125" y="186826"/>
                  <a:pt x="231474" y="193477"/>
                  <a:pt x="223242" y="193477"/>
                </a:cubicBezTo>
                <a:lnTo>
                  <a:pt x="74414" y="193477"/>
                </a:lnTo>
                <a:lnTo>
                  <a:pt x="74414" y="223242"/>
                </a:lnTo>
                <a:cubicBezTo>
                  <a:pt x="74414" y="229242"/>
                  <a:pt x="70786" y="234683"/>
                  <a:pt x="65205" y="237009"/>
                </a:cubicBezTo>
                <a:cubicBezTo>
                  <a:pt x="59624" y="239334"/>
                  <a:pt x="53253" y="238032"/>
                  <a:pt x="48974" y="233800"/>
                </a:cubicBezTo>
                <a:close/>
              </a:path>
            </a:pathLst>
          </a:custGeom>
          <a:solidFill>
            <a:srgbClr val="2A9D8F"/>
          </a:solidFill>
          <a:ln/>
        </p:spPr>
      </p:sp>
      <p:sp>
        <p:nvSpPr>
          <p:cNvPr id="70" name="Text 68"/>
          <p:cNvSpPr/>
          <p:nvPr/>
        </p:nvSpPr>
        <p:spPr>
          <a:xfrm>
            <a:off x="7854900" y="6937375"/>
            <a:ext cx="1785938" cy="190500"/>
          </a:xfrm>
          <a:prstGeom prst="rect">
            <a:avLst/>
          </a:prstGeom>
          <a:noFill/>
          <a:ln/>
        </p:spPr>
        <p:txBody>
          <a:bodyPr wrap="square" lIns="0" tIns="0" rIns="0" bIns="0" rtlCol="0" anchor="ctr"/>
          <a:lstStyle/>
          <a:p>
            <a:pPr algn="ctr">
              <a:lnSpc>
                <a:spcPct val="130000"/>
              </a:lnSpc>
            </a:pPr>
            <a:r>
              <a:rPr lang="en-US" sz="1000" b="1" dirty="0">
                <a:solidFill>
                  <a:srgbClr val="1A3A5C"/>
                </a:solidFill>
                <a:latin typeface="Liter" pitchFamily="34" charset="0"/>
                <a:ea typeface="Liter" pitchFamily="34" charset="-122"/>
                <a:cs typeface="Liter" pitchFamily="34" charset="-120"/>
              </a:rPr>
              <a:t>Open Market Ops</a:t>
            </a:r>
            <a:endParaRPr lang="en-US" sz="1600" dirty="0"/>
          </a:p>
        </p:txBody>
      </p:sp>
      <p:sp>
        <p:nvSpPr>
          <p:cNvPr id="71" name="Text 69"/>
          <p:cNvSpPr/>
          <p:nvPr/>
        </p:nvSpPr>
        <p:spPr>
          <a:xfrm>
            <a:off x="7858869" y="7159625"/>
            <a:ext cx="1778000" cy="158750"/>
          </a:xfrm>
          <a:prstGeom prst="rect">
            <a:avLst/>
          </a:prstGeom>
          <a:noFill/>
          <a:ln/>
        </p:spPr>
        <p:txBody>
          <a:bodyPr wrap="square" lIns="0" tIns="0" rIns="0" bIns="0" rtlCol="0" anchor="ctr"/>
          <a:lstStyle/>
          <a:p>
            <a:pPr algn="ct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Buy/sell securities</a:t>
            </a:r>
            <a:endParaRPr lang="en-US" sz="1600" dirty="0"/>
          </a:p>
        </p:txBody>
      </p:sp>
      <p:sp>
        <p:nvSpPr>
          <p:cNvPr id="72" name="Shape 70"/>
          <p:cNvSpPr/>
          <p:nvPr/>
        </p:nvSpPr>
        <p:spPr>
          <a:xfrm>
            <a:off x="9801200" y="6540500"/>
            <a:ext cx="1912938" cy="873125"/>
          </a:xfrm>
          <a:custGeom>
            <a:avLst/>
            <a:gdLst/>
            <a:ahLst/>
            <a:cxnLst/>
            <a:rect l="l" t="t" r="r" b="b"/>
            <a:pathLst>
              <a:path w="1912938" h="873125">
                <a:moveTo>
                  <a:pt x="63502" y="0"/>
                </a:moveTo>
                <a:lnTo>
                  <a:pt x="1849435" y="0"/>
                </a:lnTo>
                <a:cubicBezTo>
                  <a:pt x="1884507" y="0"/>
                  <a:pt x="1912938" y="28431"/>
                  <a:pt x="1912938" y="63502"/>
                </a:cubicBezTo>
                <a:lnTo>
                  <a:pt x="1912938" y="809623"/>
                </a:lnTo>
                <a:cubicBezTo>
                  <a:pt x="1912938" y="844694"/>
                  <a:pt x="1884507" y="873125"/>
                  <a:pt x="1849435" y="873125"/>
                </a:cubicBezTo>
                <a:lnTo>
                  <a:pt x="63502" y="873125"/>
                </a:lnTo>
                <a:cubicBezTo>
                  <a:pt x="28431" y="873125"/>
                  <a:pt x="0" y="844694"/>
                  <a:pt x="0" y="809623"/>
                </a:cubicBezTo>
                <a:lnTo>
                  <a:pt x="0" y="63502"/>
                </a:lnTo>
                <a:cubicBezTo>
                  <a:pt x="0" y="28454"/>
                  <a:pt x="28454" y="0"/>
                  <a:pt x="63502" y="0"/>
                </a:cubicBezTo>
                <a:close/>
              </a:path>
            </a:pathLst>
          </a:custGeom>
          <a:solidFill>
            <a:srgbClr val="F8F9FA"/>
          </a:solidFill>
          <a:ln/>
        </p:spPr>
      </p:sp>
      <p:sp>
        <p:nvSpPr>
          <p:cNvPr id="73" name="Shape 71"/>
          <p:cNvSpPr/>
          <p:nvPr/>
        </p:nvSpPr>
        <p:spPr>
          <a:xfrm>
            <a:off x="10626452" y="6635750"/>
            <a:ext cx="267891" cy="238125"/>
          </a:xfrm>
          <a:custGeom>
            <a:avLst/>
            <a:gdLst/>
            <a:ahLst/>
            <a:cxnLst/>
            <a:rect l="l" t="t" r="r" b="b"/>
            <a:pathLst>
              <a:path w="267891" h="238125">
                <a:moveTo>
                  <a:pt x="133945" y="-14883"/>
                </a:moveTo>
                <a:cubicBezTo>
                  <a:pt x="158587" y="-14883"/>
                  <a:pt x="178594" y="5123"/>
                  <a:pt x="178594" y="29766"/>
                </a:cubicBezTo>
                <a:cubicBezTo>
                  <a:pt x="178594" y="54408"/>
                  <a:pt x="158587" y="74414"/>
                  <a:pt x="133945" y="74414"/>
                </a:cubicBezTo>
                <a:cubicBezTo>
                  <a:pt x="109303" y="74414"/>
                  <a:pt x="89297" y="54408"/>
                  <a:pt x="89297" y="29766"/>
                </a:cubicBezTo>
                <a:cubicBezTo>
                  <a:pt x="89297" y="5123"/>
                  <a:pt x="109303" y="-14883"/>
                  <a:pt x="133945" y="-14883"/>
                </a:cubicBezTo>
                <a:close/>
                <a:moveTo>
                  <a:pt x="22324" y="141387"/>
                </a:moveTo>
                <a:cubicBezTo>
                  <a:pt x="22324" y="108784"/>
                  <a:pt x="44183" y="80274"/>
                  <a:pt x="76786" y="64694"/>
                </a:cubicBezTo>
                <a:cubicBezTo>
                  <a:pt x="88553" y="83902"/>
                  <a:pt x="109761" y="96738"/>
                  <a:pt x="133945" y="96738"/>
                </a:cubicBezTo>
                <a:cubicBezTo>
                  <a:pt x="159851" y="96738"/>
                  <a:pt x="182361" y="81995"/>
                  <a:pt x="193477" y="60461"/>
                </a:cubicBezTo>
                <a:cubicBezTo>
                  <a:pt x="200825" y="55206"/>
                  <a:pt x="209801" y="52090"/>
                  <a:pt x="219521" y="52090"/>
                </a:cubicBezTo>
                <a:lnTo>
                  <a:pt x="228591" y="52090"/>
                </a:lnTo>
                <a:cubicBezTo>
                  <a:pt x="233428" y="52090"/>
                  <a:pt x="236962" y="56648"/>
                  <a:pt x="235800" y="61345"/>
                </a:cubicBezTo>
                <a:lnTo>
                  <a:pt x="227847" y="93111"/>
                </a:lnTo>
                <a:cubicBezTo>
                  <a:pt x="232451" y="98878"/>
                  <a:pt x="236311" y="105063"/>
                  <a:pt x="239195" y="111621"/>
                </a:cubicBezTo>
                <a:lnTo>
                  <a:pt x="249287" y="111621"/>
                </a:lnTo>
                <a:cubicBezTo>
                  <a:pt x="255473" y="111621"/>
                  <a:pt x="260449" y="116598"/>
                  <a:pt x="260449" y="122783"/>
                </a:cubicBezTo>
                <a:lnTo>
                  <a:pt x="260449" y="174873"/>
                </a:lnTo>
                <a:cubicBezTo>
                  <a:pt x="260449" y="181059"/>
                  <a:pt x="255473" y="186035"/>
                  <a:pt x="249287" y="186035"/>
                </a:cubicBezTo>
                <a:lnTo>
                  <a:pt x="230684" y="186035"/>
                </a:lnTo>
                <a:cubicBezTo>
                  <a:pt x="223010" y="196267"/>
                  <a:pt x="212778" y="204453"/>
                  <a:pt x="200918" y="209615"/>
                </a:cubicBezTo>
                <a:lnTo>
                  <a:pt x="200918" y="223242"/>
                </a:lnTo>
                <a:cubicBezTo>
                  <a:pt x="200918" y="231474"/>
                  <a:pt x="194267" y="238125"/>
                  <a:pt x="186035" y="238125"/>
                </a:cubicBezTo>
                <a:lnTo>
                  <a:pt x="170687" y="238125"/>
                </a:lnTo>
                <a:cubicBezTo>
                  <a:pt x="164036" y="238125"/>
                  <a:pt x="158223" y="233707"/>
                  <a:pt x="156363" y="227335"/>
                </a:cubicBezTo>
                <a:lnTo>
                  <a:pt x="153060" y="215801"/>
                </a:lnTo>
                <a:lnTo>
                  <a:pt x="114784" y="215801"/>
                </a:lnTo>
                <a:lnTo>
                  <a:pt x="111482" y="227335"/>
                </a:lnTo>
                <a:cubicBezTo>
                  <a:pt x="109668" y="233707"/>
                  <a:pt x="103854" y="238125"/>
                  <a:pt x="97203" y="238125"/>
                </a:cubicBezTo>
                <a:lnTo>
                  <a:pt x="81855" y="238125"/>
                </a:lnTo>
                <a:cubicBezTo>
                  <a:pt x="73623" y="238125"/>
                  <a:pt x="66973" y="231474"/>
                  <a:pt x="66973" y="223242"/>
                </a:cubicBezTo>
                <a:lnTo>
                  <a:pt x="66973" y="209615"/>
                </a:lnTo>
                <a:cubicBezTo>
                  <a:pt x="40695" y="198127"/>
                  <a:pt x="22324" y="171896"/>
                  <a:pt x="22324" y="141387"/>
                </a:cubicBezTo>
                <a:close/>
                <a:moveTo>
                  <a:pt x="197197" y="148828"/>
                </a:moveTo>
                <a:cubicBezTo>
                  <a:pt x="203358" y="148828"/>
                  <a:pt x="208359" y="143827"/>
                  <a:pt x="208359" y="137666"/>
                </a:cubicBezTo>
                <a:cubicBezTo>
                  <a:pt x="208359" y="131505"/>
                  <a:pt x="203358" y="126504"/>
                  <a:pt x="197197" y="126504"/>
                </a:cubicBezTo>
                <a:cubicBezTo>
                  <a:pt x="191037" y="126504"/>
                  <a:pt x="186035" y="131505"/>
                  <a:pt x="186035" y="137666"/>
                </a:cubicBezTo>
                <a:cubicBezTo>
                  <a:pt x="186035" y="143827"/>
                  <a:pt x="191037" y="148828"/>
                  <a:pt x="197197" y="148828"/>
                </a:cubicBezTo>
                <a:close/>
              </a:path>
            </a:pathLst>
          </a:custGeom>
          <a:solidFill>
            <a:srgbClr val="2A9D8F"/>
          </a:solidFill>
          <a:ln/>
        </p:spPr>
      </p:sp>
      <p:sp>
        <p:nvSpPr>
          <p:cNvPr id="74" name="Text 72"/>
          <p:cNvSpPr/>
          <p:nvPr/>
        </p:nvSpPr>
        <p:spPr>
          <a:xfrm>
            <a:off x="9864700" y="6937375"/>
            <a:ext cx="1785938" cy="190500"/>
          </a:xfrm>
          <a:prstGeom prst="rect">
            <a:avLst/>
          </a:prstGeom>
          <a:noFill/>
          <a:ln/>
        </p:spPr>
        <p:txBody>
          <a:bodyPr wrap="square" lIns="0" tIns="0" rIns="0" bIns="0" rtlCol="0" anchor="ctr"/>
          <a:lstStyle/>
          <a:p>
            <a:pPr algn="ctr">
              <a:lnSpc>
                <a:spcPct val="130000"/>
              </a:lnSpc>
            </a:pPr>
            <a:r>
              <a:rPr lang="en-US" sz="1000" b="1" dirty="0">
                <a:solidFill>
                  <a:srgbClr val="1A3A5C"/>
                </a:solidFill>
                <a:latin typeface="Liter" pitchFamily="34" charset="0"/>
                <a:ea typeface="Liter" pitchFamily="34" charset="-122"/>
                <a:cs typeface="Liter" pitchFamily="34" charset="-120"/>
              </a:rPr>
              <a:t>Reserve Requirements</a:t>
            </a:r>
            <a:endParaRPr lang="en-US" sz="1600" dirty="0"/>
          </a:p>
        </p:txBody>
      </p:sp>
      <p:sp>
        <p:nvSpPr>
          <p:cNvPr id="75" name="Text 73"/>
          <p:cNvSpPr/>
          <p:nvPr/>
        </p:nvSpPr>
        <p:spPr>
          <a:xfrm>
            <a:off x="9868669" y="7159625"/>
            <a:ext cx="1778000" cy="158750"/>
          </a:xfrm>
          <a:prstGeom prst="rect">
            <a:avLst/>
          </a:prstGeom>
          <a:noFill/>
          <a:ln/>
        </p:spPr>
        <p:txBody>
          <a:bodyPr wrap="square" lIns="0" tIns="0" rIns="0" bIns="0" rtlCol="0" anchor="ctr"/>
          <a:lstStyle/>
          <a:p>
            <a:pPr algn="ct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Bank liquidity rules</a:t>
            </a:r>
            <a:endParaRPr lang="en-US" sz="1600" dirty="0"/>
          </a:p>
        </p:txBody>
      </p:sp>
      <p:sp>
        <p:nvSpPr>
          <p:cNvPr id="76" name="Shape 74"/>
          <p:cNvSpPr/>
          <p:nvPr/>
        </p:nvSpPr>
        <p:spPr>
          <a:xfrm>
            <a:off x="333375" y="7699375"/>
            <a:ext cx="11541125" cy="666750"/>
          </a:xfrm>
          <a:custGeom>
            <a:avLst/>
            <a:gdLst/>
            <a:ahLst/>
            <a:cxnLst/>
            <a:rect l="l" t="t" r="r" b="b"/>
            <a:pathLst>
              <a:path w="11541125" h="666750">
                <a:moveTo>
                  <a:pt x="31750" y="0"/>
                </a:moveTo>
                <a:lnTo>
                  <a:pt x="11477624" y="0"/>
                </a:lnTo>
                <a:cubicBezTo>
                  <a:pt x="11512695" y="0"/>
                  <a:pt x="11541125" y="28430"/>
                  <a:pt x="11541125" y="63501"/>
                </a:cubicBezTo>
                <a:lnTo>
                  <a:pt x="11541125" y="603249"/>
                </a:lnTo>
                <a:cubicBezTo>
                  <a:pt x="11541125" y="638320"/>
                  <a:pt x="11512695" y="666750"/>
                  <a:pt x="11477624" y="666750"/>
                </a:cubicBezTo>
                <a:lnTo>
                  <a:pt x="31750" y="666750"/>
                </a:lnTo>
                <a:cubicBezTo>
                  <a:pt x="14215" y="666750"/>
                  <a:pt x="0" y="652535"/>
                  <a:pt x="0" y="635000"/>
                </a:cubicBezTo>
                <a:lnTo>
                  <a:pt x="0" y="31750"/>
                </a:lnTo>
                <a:cubicBezTo>
                  <a:pt x="0" y="14227"/>
                  <a:pt x="14227" y="0"/>
                  <a:pt x="31750" y="0"/>
                </a:cubicBezTo>
                <a:close/>
              </a:path>
            </a:pathLst>
          </a:custGeom>
          <a:solidFill>
            <a:srgbClr val="1A3A5C">
              <a:alpha val="5098"/>
            </a:srgbClr>
          </a:solidFill>
          <a:ln/>
        </p:spPr>
      </p:sp>
      <p:sp>
        <p:nvSpPr>
          <p:cNvPr id="77" name="Shape 75"/>
          <p:cNvSpPr/>
          <p:nvPr/>
        </p:nvSpPr>
        <p:spPr>
          <a:xfrm>
            <a:off x="333375" y="7699375"/>
            <a:ext cx="31750" cy="666750"/>
          </a:xfrm>
          <a:custGeom>
            <a:avLst/>
            <a:gdLst/>
            <a:ahLst/>
            <a:cxnLst/>
            <a:rect l="l" t="t" r="r" b="b"/>
            <a:pathLst>
              <a:path w="31750" h="666750">
                <a:moveTo>
                  <a:pt x="31750" y="0"/>
                </a:moveTo>
                <a:lnTo>
                  <a:pt x="31750" y="0"/>
                </a:lnTo>
                <a:lnTo>
                  <a:pt x="31750" y="666750"/>
                </a:lnTo>
                <a:lnTo>
                  <a:pt x="31750" y="666750"/>
                </a:lnTo>
                <a:cubicBezTo>
                  <a:pt x="14227" y="666750"/>
                  <a:pt x="0" y="652523"/>
                  <a:pt x="0" y="635000"/>
                </a:cubicBezTo>
                <a:lnTo>
                  <a:pt x="0" y="31750"/>
                </a:lnTo>
                <a:cubicBezTo>
                  <a:pt x="0" y="14227"/>
                  <a:pt x="14227" y="0"/>
                  <a:pt x="31750" y="0"/>
                </a:cubicBezTo>
                <a:close/>
              </a:path>
            </a:pathLst>
          </a:custGeom>
          <a:solidFill>
            <a:srgbClr val="1A3A5C"/>
          </a:solidFill>
          <a:ln/>
        </p:spPr>
      </p:sp>
      <p:sp>
        <p:nvSpPr>
          <p:cNvPr id="78" name="Shape 76"/>
          <p:cNvSpPr/>
          <p:nvPr/>
        </p:nvSpPr>
        <p:spPr>
          <a:xfrm>
            <a:off x="500063" y="7862094"/>
            <a:ext cx="111125" cy="127000"/>
          </a:xfrm>
          <a:custGeom>
            <a:avLst/>
            <a:gdLst/>
            <a:ahLst/>
            <a:cxnLst/>
            <a:rect l="l" t="t" r="r" b="b"/>
            <a:pathLst>
              <a:path w="111125" h="127000">
                <a:moveTo>
                  <a:pt x="0" y="53578"/>
                </a:moveTo>
                <a:cubicBezTo>
                  <a:pt x="0" y="37133"/>
                  <a:pt x="13320" y="23812"/>
                  <a:pt x="29766" y="23812"/>
                </a:cubicBezTo>
                <a:lnTo>
                  <a:pt x="31750" y="23812"/>
                </a:lnTo>
                <a:cubicBezTo>
                  <a:pt x="36140" y="23812"/>
                  <a:pt x="39688" y="27360"/>
                  <a:pt x="39688" y="31750"/>
                </a:cubicBezTo>
                <a:cubicBezTo>
                  <a:pt x="39688" y="36140"/>
                  <a:pt x="36140" y="39688"/>
                  <a:pt x="31750" y="39688"/>
                </a:cubicBezTo>
                <a:lnTo>
                  <a:pt x="29766" y="39688"/>
                </a:lnTo>
                <a:cubicBezTo>
                  <a:pt x="22101" y="39688"/>
                  <a:pt x="15875" y="45913"/>
                  <a:pt x="15875" y="53578"/>
                </a:cubicBezTo>
                <a:lnTo>
                  <a:pt x="15875" y="55563"/>
                </a:lnTo>
                <a:lnTo>
                  <a:pt x="31750" y="55563"/>
                </a:lnTo>
                <a:cubicBezTo>
                  <a:pt x="40506" y="55563"/>
                  <a:pt x="47625" y="62681"/>
                  <a:pt x="47625" y="71438"/>
                </a:cubicBezTo>
                <a:lnTo>
                  <a:pt x="47625" y="87313"/>
                </a:lnTo>
                <a:cubicBezTo>
                  <a:pt x="47625" y="96069"/>
                  <a:pt x="40506" y="103188"/>
                  <a:pt x="31750" y="103188"/>
                </a:cubicBezTo>
                <a:lnTo>
                  <a:pt x="15875" y="103188"/>
                </a:lnTo>
                <a:cubicBezTo>
                  <a:pt x="7119" y="103188"/>
                  <a:pt x="0" y="96069"/>
                  <a:pt x="0" y="87313"/>
                </a:cubicBezTo>
                <a:lnTo>
                  <a:pt x="0" y="53578"/>
                </a:lnTo>
                <a:close/>
                <a:moveTo>
                  <a:pt x="63500" y="53578"/>
                </a:moveTo>
                <a:cubicBezTo>
                  <a:pt x="63500" y="37133"/>
                  <a:pt x="76820" y="23812"/>
                  <a:pt x="93266" y="23812"/>
                </a:cubicBezTo>
                <a:lnTo>
                  <a:pt x="95250" y="23812"/>
                </a:lnTo>
                <a:cubicBezTo>
                  <a:pt x="99640" y="23812"/>
                  <a:pt x="103188" y="27360"/>
                  <a:pt x="103188" y="31750"/>
                </a:cubicBezTo>
                <a:cubicBezTo>
                  <a:pt x="103188" y="36140"/>
                  <a:pt x="99640" y="39688"/>
                  <a:pt x="95250" y="39688"/>
                </a:cubicBezTo>
                <a:lnTo>
                  <a:pt x="93266" y="39688"/>
                </a:lnTo>
                <a:cubicBezTo>
                  <a:pt x="85601" y="39688"/>
                  <a:pt x="79375" y="45913"/>
                  <a:pt x="79375" y="53578"/>
                </a:cubicBezTo>
                <a:lnTo>
                  <a:pt x="79375" y="55563"/>
                </a:lnTo>
                <a:lnTo>
                  <a:pt x="95250" y="55563"/>
                </a:lnTo>
                <a:cubicBezTo>
                  <a:pt x="104006" y="55563"/>
                  <a:pt x="111125" y="62681"/>
                  <a:pt x="111125" y="71438"/>
                </a:cubicBezTo>
                <a:lnTo>
                  <a:pt x="111125" y="87313"/>
                </a:lnTo>
                <a:cubicBezTo>
                  <a:pt x="111125" y="96069"/>
                  <a:pt x="104006" y="103188"/>
                  <a:pt x="95250" y="103188"/>
                </a:cubicBezTo>
                <a:lnTo>
                  <a:pt x="79375" y="103188"/>
                </a:lnTo>
                <a:cubicBezTo>
                  <a:pt x="70619" y="103188"/>
                  <a:pt x="63500" y="96069"/>
                  <a:pt x="63500" y="87313"/>
                </a:cubicBezTo>
                <a:lnTo>
                  <a:pt x="63500" y="53578"/>
                </a:lnTo>
                <a:close/>
              </a:path>
            </a:pathLst>
          </a:custGeom>
          <a:solidFill>
            <a:srgbClr val="2A9D8F"/>
          </a:solidFill>
          <a:ln/>
        </p:spPr>
      </p:sp>
      <p:sp>
        <p:nvSpPr>
          <p:cNvPr id="79" name="Text 77"/>
          <p:cNvSpPr/>
          <p:nvPr/>
        </p:nvSpPr>
        <p:spPr>
          <a:xfrm>
            <a:off x="674688" y="7826375"/>
            <a:ext cx="11136313" cy="412750"/>
          </a:xfrm>
          <a:prstGeom prst="rect">
            <a:avLst/>
          </a:prstGeom>
          <a:noFill/>
          <a:ln/>
        </p:spPr>
        <p:txBody>
          <a:bodyPr wrap="square" lIns="0" tIns="0" rIns="0" bIns="0" rtlCol="0" anchor="ctr"/>
          <a:lstStyle/>
          <a:p>
            <a:pPr>
              <a:lnSpc>
                <a:spcPct val="140000"/>
              </a:lnSpc>
            </a:pPr>
            <a:r>
              <a:rPr lang="en-US" sz="1000" b="1" dirty="0">
                <a:solidFill>
                  <a:srgbClr val="2B2D42"/>
                </a:solidFill>
                <a:latin typeface="Quattrocento Sans" pitchFamily="34" charset="0"/>
                <a:ea typeface="Quattrocento Sans" pitchFamily="34" charset="-122"/>
                <a:cs typeface="Quattrocento Sans" pitchFamily="34" charset="-120"/>
              </a:rPr>
              <a:t>Speaker Note:</a:t>
            </a:r>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 Explain how central bank decisions affect everyday life—when the Fed raises rates, mortgage payments increase. Use the 2008 crisis as an example: central banks worldwide used quantitative easing to prevent economic collapse. Emphasize their independence from politics to make unpopular but necessary decisions.</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2A9D8F"/>
                </a:solidFill>
                <a:latin typeface="Liter" pitchFamily="34" charset="0"/>
                <a:ea typeface="Liter" pitchFamily="34" charset="-122"/>
                <a:cs typeface="Liter" pitchFamily="34" charset="-120"/>
              </a:rPr>
              <a:t>CHAPTER 08</a:t>
            </a:r>
            <a:endParaRPr lang="en-US" sz="1600" dirty="0"/>
          </a:p>
        </p:txBody>
      </p:sp>
      <p:sp>
        <p:nvSpPr>
          <p:cNvPr id="3" name="Text 1"/>
          <p:cNvSpPr/>
          <p:nvPr/>
        </p:nvSpPr>
        <p:spPr>
          <a:xfrm>
            <a:off x="317500" y="571500"/>
            <a:ext cx="11747500" cy="476250"/>
          </a:xfrm>
          <a:prstGeom prst="rect">
            <a:avLst/>
          </a:prstGeom>
          <a:noFill/>
          <a:ln/>
        </p:spPr>
        <p:txBody>
          <a:bodyPr wrap="square" lIns="0" tIns="0" rIns="0" bIns="0" rtlCol="0" anchor="ctr"/>
          <a:lstStyle/>
          <a:p>
            <a:pPr>
              <a:lnSpc>
                <a:spcPct val="100000"/>
              </a:lnSpc>
            </a:pPr>
            <a:r>
              <a:rPr lang="en-US" sz="3000" b="1" dirty="0">
                <a:solidFill>
                  <a:srgbClr val="1A3A5C"/>
                </a:solidFill>
                <a:latin typeface="Oranienbaum" pitchFamily="34" charset="0"/>
                <a:ea typeface="Oranienbaum" pitchFamily="34" charset="-122"/>
                <a:cs typeface="Oranienbaum" pitchFamily="34" charset="-120"/>
              </a:rPr>
              <a:t>Importance of Banking in the Economy</a:t>
            </a:r>
            <a:endParaRPr lang="en-US" sz="1600" dirty="0"/>
          </a:p>
        </p:txBody>
      </p:sp>
      <p:sp>
        <p:nvSpPr>
          <p:cNvPr id="4" name="Shape 2"/>
          <p:cNvSpPr/>
          <p:nvPr/>
        </p:nvSpPr>
        <p:spPr>
          <a:xfrm>
            <a:off x="317500" y="1174750"/>
            <a:ext cx="762000" cy="47625"/>
          </a:xfrm>
          <a:custGeom>
            <a:avLst/>
            <a:gdLst/>
            <a:ahLst/>
            <a:cxnLst/>
            <a:rect l="l" t="t" r="r" b="b"/>
            <a:pathLst>
              <a:path w="762000" h="47625">
                <a:moveTo>
                  <a:pt x="0" y="0"/>
                </a:moveTo>
                <a:lnTo>
                  <a:pt x="762000" y="0"/>
                </a:lnTo>
                <a:lnTo>
                  <a:pt x="762000" y="47625"/>
                </a:lnTo>
                <a:lnTo>
                  <a:pt x="0" y="47625"/>
                </a:lnTo>
                <a:lnTo>
                  <a:pt x="0" y="0"/>
                </a:lnTo>
                <a:close/>
              </a:path>
            </a:pathLst>
          </a:custGeom>
          <a:solidFill>
            <a:srgbClr val="2A9D8F"/>
          </a:solidFill>
          <a:ln/>
        </p:spPr>
      </p:sp>
      <p:sp>
        <p:nvSpPr>
          <p:cNvPr id="5" name="Shape 3"/>
          <p:cNvSpPr/>
          <p:nvPr/>
        </p:nvSpPr>
        <p:spPr>
          <a:xfrm>
            <a:off x="317500" y="1349375"/>
            <a:ext cx="5683250" cy="1166813"/>
          </a:xfrm>
          <a:custGeom>
            <a:avLst/>
            <a:gdLst/>
            <a:ahLst/>
            <a:cxnLst/>
            <a:rect l="l" t="t" r="r" b="b"/>
            <a:pathLst>
              <a:path w="5683250" h="1166813">
                <a:moveTo>
                  <a:pt x="95247" y="0"/>
                </a:moveTo>
                <a:lnTo>
                  <a:pt x="5588003" y="0"/>
                </a:lnTo>
                <a:cubicBezTo>
                  <a:pt x="5640607" y="0"/>
                  <a:pt x="5683250" y="42643"/>
                  <a:pt x="5683250" y="95247"/>
                </a:cubicBezTo>
                <a:lnTo>
                  <a:pt x="5683250" y="1071566"/>
                </a:lnTo>
                <a:cubicBezTo>
                  <a:pt x="5683250" y="1124169"/>
                  <a:pt x="5640607" y="1166813"/>
                  <a:pt x="5588003" y="1166813"/>
                </a:cubicBezTo>
                <a:lnTo>
                  <a:pt x="95247" y="1166813"/>
                </a:lnTo>
                <a:cubicBezTo>
                  <a:pt x="42643" y="1166813"/>
                  <a:pt x="0" y="1124169"/>
                  <a:pt x="0" y="1071566"/>
                </a:cubicBezTo>
                <a:lnTo>
                  <a:pt x="0" y="95247"/>
                </a:lnTo>
                <a:cubicBezTo>
                  <a:pt x="0" y="42643"/>
                  <a:pt x="42643" y="0"/>
                  <a:pt x="95247" y="0"/>
                </a:cubicBezTo>
                <a:close/>
              </a:path>
            </a:pathLst>
          </a:custGeom>
          <a:gradFill rotWithShape="1" flip="none">
            <a:gsLst>
              <a:gs pos="0">
                <a:srgbClr val="1A3A5C"/>
              </a:gs>
              <a:gs pos="100000">
                <a:srgbClr val="2A9D8F"/>
              </a:gs>
            </a:gsLst>
            <a:lin ang="0" scaled="1"/>
          </a:gradFill>
          <a:ln/>
          <a:effectLst>
            <a:outerShdw sx="100000" sy="100000" kx="0" ky="0" algn="bl" rotWithShape="0" blurRad="119063" dist="79375" dir="5400000">
              <a:srgbClr val="000000">
                <a:alpha val="10196"/>
              </a:srgbClr>
            </a:outerShdw>
          </a:effectLst>
        </p:spPr>
      </p:sp>
      <p:sp>
        <p:nvSpPr>
          <p:cNvPr id="6" name="Shape 4"/>
          <p:cNvSpPr/>
          <p:nvPr/>
        </p:nvSpPr>
        <p:spPr>
          <a:xfrm>
            <a:off x="508000" y="1531938"/>
            <a:ext cx="238125" cy="238125"/>
          </a:xfrm>
          <a:custGeom>
            <a:avLst/>
            <a:gdLst/>
            <a:ahLst/>
            <a:cxnLst/>
            <a:rect l="l" t="t" r="r" b="b"/>
            <a:pathLst>
              <a:path w="238125" h="238125">
                <a:moveTo>
                  <a:pt x="119062" y="50183"/>
                </a:moveTo>
                <a:lnTo>
                  <a:pt x="112086" y="40509"/>
                </a:lnTo>
                <a:cubicBezTo>
                  <a:pt x="100459" y="24417"/>
                  <a:pt x="81809" y="14883"/>
                  <a:pt x="61903" y="14883"/>
                </a:cubicBezTo>
                <a:cubicBezTo>
                  <a:pt x="27719" y="14883"/>
                  <a:pt x="0" y="42602"/>
                  <a:pt x="0" y="76786"/>
                </a:cubicBezTo>
                <a:lnTo>
                  <a:pt x="0" y="77995"/>
                </a:lnTo>
                <a:cubicBezTo>
                  <a:pt x="0" y="88971"/>
                  <a:pt x="2884" y="100319"/>
                  <a:pt x="7720" y="111621"/>
                </a:cubicBezTo>
                <a:lnTo>
                  <a:pt x="57020" y="111621"/>
                </a:lnTo>
                <a:cubicBezTo>
                  <a:pt x="58508" y="111621"/>
                  <a:pt x="59857" y="110737"/>
                  <a:pt x="60461" y="109342"/>
                </a:cubicBezTo>
                <a:lnTo>
                  <a:pt x="75251" y="73856"/>
                </a:lnTo>
                <a:cubicBezTo>
                  <a:pt x="76972" y="69763"/>
                  <a:pt x="80972" y="67066"/>
                  <a:pt x="85390" y="66973"/>
                </a:cubicBezTo>
                <a:cubicBezTo>
                  <a:pt x="89808" y="66880"/>
                  <a:pt x="93901" y="69484"/>
                  <a:pt x="95715" y="73530"/>
                </a:cubicBezTo>
                <a:lnTo>
                  <a:pt x="119574" y="126504"/>
                </a:lnTo>
                <a:lnTo>
                  <a:pt x="138829" y="87995"/>
                </a:lnTo>
                <a:cubicBezTo>
                  <a:pt x="140736" y="84227"/>
                  <a:pt x="144596" y="81809"/>
                  <a:pt x="148828" y="81809"/>
                </a:cubicBezTo>
                <a:cubicBezTo>
                  <a:pt x="153060" y="81809"/>
                  <a:pt x="156921" y="84181"/>
                  <a:pt x="158828" y="87995"/>
                </a:cubicBezTo>
                <a:lnTo>
                  <a:pt x="169618" y="109528"/>
                </a:lnTo>
                <a:cubicBezTo>
                  <a:pt x="170269" y="110784"/>
                  <a:pt x="171524" y="111575"/>
                  <a:pt x="172966" y="111575"/>
                </a:cubicBezTo>
                <a:lnTo>
                  <a:pt x="230451" y="111575"/>
                </a:lnTo>
                <a:cubicBezTo>
                  <a:pt x="235334" y="100273"/>
                  <a:pt x="238172" y="88925"/>
                  <a:pt x="238172" y="77949"/>
                </a:cubicBezTo>
                <a:lnTo>
                  <a:pt x="238172" y="76740"/>
                </a:lnTo>
                <a:cubicBezTo>
                  <a:pt x="238125" y="42602"/>
                  <a:pt x="210406" y="14883"/>
                  <a:pt x="176222" y="14883"/>
                </a:cubicBezTo>
                <a:cubicBezTo>
                  <a:pt x="156363" y="14883"/>
                  <a:pt x="137666" y="24417"/>
                  <a:pt x="126039" y="40509"/>
                </a:cubicBezTo>
                <a:lnTo>
                  <a:pt x="119062" y="50136"/>
                </a:lnTo>
                <a:close/>
                <a:moveTo>
                  <a:pt x="218405" y="133945"/>
                </a:moveTo>
                <a:lnTo>
                  <a:pt x="172920" y="133945"/>
                </a:lnTo>
                <a:cubicBezTo>
                  <a:pt x="163060" y="133945"/>
                  <a:pt x="154037" y="128364"/>
                  <a:pt x="149619" y="119528"/>
                </a:cubicBezTo>
                <a:lnTo>
                  <a:pt x="148828" y="117946"/>
                </a:lnTo>
                <a:lnTo>
                  <a:pt x="129062" y="157525"/>
                </a:lnTo>
                <a:cubicBezTo>
                  <a:pt x="127155" y="161385"/>
                  <a:pt x="123155" y="163804"/>
                  <a:pt x="118830" y="163711"/>
                </a:cubicBezTo>
                <a:cubicBezTo>
                  <a:pt x="114505" y="163618"/>
                  <a:pt x="110644" y="161060"/>
                  <a:pt x="108877" y="157153"/>
                </a:cubicBezTo>
                <a:lnTo>
                  <a:pt x="85948" y="106226"/>
                </a:lnTo>
                <a:lnTo>
                  <a:pt x="81065" y="117946"/>
                </a:lnTo>
                <a:cubicBezTo>
                  <a:pt x="77019" y="127667"/>
                  <a:pt x="67531" y="133992"/>
                  <a:pt x="57020" y="133992"/>
                </a:cubicBezTo>
                <a:lnTo>
                  <a:pt x="19720" y="133992"/>
                </a:lnTo>
                <a:cubicBezTo>
                  <a:pt x="41672" y="168315"/>
                  <a:pt x="76926" y="199895"/>
                  <a:pt x="98971" y="216731"/>
                </a:cubicBezTo>
                <a:cubicBezTo>
                  <a:pt x="104738" y="221103"/>
                  <a:pt x="111807" y="223289"/>
                  <a:pt x="119016" y="223289"/>
                </a:cubicBezTo>
                <a:cubicBezTo>
                  <a:pt x="126225" y="223289"/>
                  <a:pt x="133341" y="221149"/>
                  <a:pt x="139061" y="216731"/>
                </a:cubicBezTo>
                <a:cubicBezTo>
                  <a:pt x="161199" y="199848"/>
                  <a:pt x="196453" y="168269"/>
                  <a:pt x="218405" y="133945"/>
                </a:cubicBezTo>
                <a:close/>
              </a:path>
            </a:pathLst>
          </a:custGeom>
          <a:solidFill>
            <a:srgbClr val="FFFFFF"/>
          </a:solidFill>
          <a:ln/>
        </p:spPr>
      </p:sp>
      <p:sp>
        <p:nvSpPr>
          <p:cNvPr id="7" name="Text 5"/>
          <p:cNvSpPr/>
          <p:nvPr/>
        </p:nvSpPr>
        <p:spPr>
          <a:xfrm>
            <a:off x="777875" y="1508125"/>
            <a:ext cx="5183188" cy="285750"/>
          </a:xfrm>
          <a:prstGeom prst="rect">
            <a:avLst/>
          </a:prstGeom>
          <a:noFill/>
          <a:ln/>
        </p:spPr>
        <p:txBody>
          <a:bodyPr wrap="square" lIns="0" tIns="0" rIns="0" bIns="0" rtlCol="0" anchor="ctr"/>
          <a:lstStyle/>
          <a:p>
            <a:pPr>
              <a:lnSpc>
                <a:spcPct val="100000"/>
              </a:lnSpc>
            </a:pPr>
            <a:r>
              <a:rPr lang="en-US" sz="1875" b="1" dirty="0">
                <a:solidFill>
                  <a:srgbClr val="FFFFFF"/>
                </a:solidFill>
                <a:latin typeface="Liter" pitchFamily="34" charset="0"/>
                <a:ea typeface="Liter" pitchFamily="34" charset="-122"/>
                <a:cs typeface="Liter" pitchFamily="34" charset="-120"/>
              </a:rPr>
              <a:t>Banking as Economic Engine</a:t>
            </a:r>
            <a:endParaRPr lang="en-US" sz="1600" dirty="0"/>
          </a:p>
        </p:txBody>
      </p:sp>
      <p:sp>
        <p:nvSpPr>
          <p:cNvPr id="8" name="Text 6"/>
          <p:cNvSpPr/>
          <p:nvPr/>
        </p:nvSpPr>
        <p:spPr>
          <a:xfrm>
            <a:off x="476250" y="1889125"/>
            <a:ext cx="5437188" cy="468313"/>
          </a:xfrm>
          <a:prstGeom prst="rect">
            <a:avLst/>
          </a:prstGeom>
          <a:noFill/>
          <a:ln/>
        </p:spPr>
        <p:txBody>
          <a:bodyPr wrap="square" lIns="0" tIns="0" rIns="0" bIns="0" rtlCol="0" anchor="ctr"/>
          <a:lstStyle/>
          <a:p>
            <a:pPr>
              <a:lnSpc>
                <a:spcPct val="140000"/>
              </a:lnSpc>
            </a:pPr>
            <a:r>
              <a:rPr lang="en-US" sz="1125" dirty="0">
                <a:solidFill>
                  <a:srgbClr val="FFFFFF"/>
                </a:solidFill>
                <a:latin typeface="Quattrocento Sans" pitchFamily="34" charset="0"/>
                <a:ea typeface="Quattrocento Sans" pitchFamily="34" charset="-122"/>
                <a:cs typeface="Quattrocento Sans" pitchFamily="34" charset="-120"/>
              </a:rPr>
              <a:t>Banks are the lifeblood of modern economies, facilitating growth, creating opportunities, and ensuring financial stability for individuals and nations.</a:t>
            </a:r>
            <a:endParaRPr lang="en-US" sz="1600" dirty="0"/>
          </a:p>
        </p:txBody>
      </p:sp>
      <p:sp>
        <p:nvSpPr>
          <p:cNvPr id="9" name="Shape 7"/>
          <p:cNvSpPr/>
          <p:nvPr/>
        </p:nvSpPr>
        <p:spPr>
          <a:xfrm>
            <a:off x="317500" y="2655094"/>
            <a:ext cx="5683250" cy="2016125"/>
          </a:xfrm>
          <a:custGeom>
            <a:avLst/>
            <a:gdLst/>
            <a:ahLst/>
            <a:cxnLst/>
            <a:rect l="l" t="t" r="r" b="b"/>
            <a:pathLst>
              <a:path w="5683250" h="2016125">
                <a:moveTo>
                  <a:pt x="31750" y="0"/>
                </a:moveTo>
                <a:lnTo>
                  <a:pt x="5651500" y="0"/>
                </a:lnTo>
                <a:cubicBezTo>
                  <a:pt x="5669023" y="0"/>
                  <a:pt x="5683250" y="14227"/>
                  <a:pt x="5683250" y="31750"/>
                </a:cubicBezTo>
                <a:lnTo>
                  <a:pt x="5683250" y="1920883"/>
                </a:lnTo>
                <a:cubicBezTo>
                  <a:pt x="5683250" y="1973484"/>
                  <a:pt x="5640609" y="2016125"/>
                  <a:pt x="5588008" y="2016125"/>
                </a:cubicBezTo>
                <a:lnTo>
                  <a:pt x="95242" y="2016125"/>
                </a:lnTo>
                <a:cubicBezTo>
                  <a:pt x="42641" y="2016125"/>
                  <a:pt x="0" y="1973484"/>
                  <a:pt x="0" y="1920883"/>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10" name="Shape 8"/>
          <p:cNvSpPr/>
          <p:nvPr/>
        </p:nvSpPr>
        <p:spPr>
          <a:xfrm>
            <a:off x="317500" y="2655094"/>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1A3A5C"/>
          </a:solidFill>
          <a:ln/>
        </p:spPr>
      </p:sp>
      <p:sp>
        <p:nvSpPr>
          <p:cNvPr id="11" name="Shape 9"/>
          <p:cNvSpPr/>
          <p:nvPr/>
        </p:nvSpPr>
        <p:spPr>
          <a:xfrm>
            <a:off x="476250" y="2829719"/>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1A3A5C"/>
          </a:solidFill>
          <a:ln/>
        </p:spPr>
      </p:sp>
      <p:sp>
        <p:nvSpPr>
          <p:cNvPr id="12" name="Shape 10"/>
          <p:cNvSpPr/>
          <p:nvPr/>
        </p:nvSpPr>
        <p:spPr>
          <a:xfrm>
            <a:off x="613172" y="2964656"/>
            <a:ext cx="238125" cy="238125"/>
          </a:xfrm>
          <a:custGeom>
            <a:avLst/>
            <a:gdLst/>
            <a:ahLst/>
            <a:cxnLst/>
            <a:rect l="l" t="t" r="r" b="b"/>
            <a:pathLst>
              <a:path w="238125" h="238125">
                <a:moveTo>
                  <a:pt x="233753" y="70042"/>
                </a:moveTo>
                <a:lnTo>
                  <a:pt x="189105" y="114691"/>
                </a:lnTo>
                <a:cubicBezTo>
                  <a:pt x="184826" y="118969"/>
                  <a:pt x="178454" y="120225"/>
                  <a:pt x="172873" y="117900"/>
                </a:cubicBezTo>
                <a:cubicBezTo>
                  <a:pt x="167292" y="115574"/>
                  <a:pt x="163711" y="110179"/>
                  <a:pt x="163711" y="104180"/>
                </a:cubicBezTo>
                <a:lnTo>
                  <a:pt x="163711" y="74414"/>
                </a:lnTo>
                <a:lnTo>
                  <a:pt x="14883" y="74414"/>
                </a:lnTo>
                <a:cubicBezTo>
                  <a:pt x="6651" y="74414"/>
                  <a:pt x="0" y="67763"/>
                  <a:pt x="0" y="59531"/>
                </a:cubicBezTo>
                <a:cubicBezTo>
                  <a:pt x="0" y="51299"/>
                  <a:pt x="6651" y="44648"/>
                  <a:pt x="14883" y="44648"/>
                </a:cubicBezTo>
                <a:lnTo>
                  <a:pt x="163711" y="44648"/>
                </a:lnTo>
                <a:lnTo>
                  <a:pt x="163711" y="14883"/>
                </a:lnTo>
                <a:cubicBezTo>
                  <a:pt x="163711" y="8883"/>
                  <a:pt x="167339" y="3442"/>
                  <a:pt x="172920" y="1116"/>
                </a:cubicBezTo>
                <a:cubicBezTo>
                  <a:pt x="178501" y="-1209"/>
                  <a:pt x="184872" y="93"/>
                  <a:pt x="189151" y="4325"/>
                </a:cubicBezTo>
                <a:lnTo>
                  <a:pt x="233800" y="48974"/>
                </a:lnTo>
                <a:cubicBezTo>
                  <a:pt x="239613" y="54787"/>
                  <a:pt x="239613" y="64229"/>
                  <a:pt x="233800" y="70042"/>
                </a:cubicBezTo>
                <a:close/>
                <a:moveTo>
                  <a:pt x="48974" y="233753"/>
                </a:moveTo>
                <a:lnTo>
                  <a:pt x="4325" y="189105"/>
                </a:lnTo>
                <a:cubicBezTo>
                  <a:pt x="-1488" y="183291"/>
                  <a:pt x="-1488" y="173850"/>
                  <a:pt x="4325" y="168036"/>
                </a:cubicBezTo>
                <a:lnTo>
                  <a:pt x="48974" y="123388"/>
                </a:lnTo>
                <a:cubicBezTo>
                  <a:pt x="53253" y="119109"/>
                  <a:pt x="59624" y="117853"/>
                  <a:pt x="65205" y="120179"/>
                </a:cubicBezTo>
                <a:cubicBezTo>
                  <a:pt x="70786" y="122504"/>
                  <a:pt x="74414" y="127946"/>
                  <a:pt x="74414" y="133945"/>
                </a:cubicBezTo>
                <a:lnTo>
                  <a:pt x="74414" y="163711"/>
                </a:lnTo>
                <a:lnTo>
                  <a:pt x="223242" y="163711"/>
                </a:lnTo>
                <a:cubicBezTo>
                  <a:pt x="231474" y="163711"/>
                  <a:pt x="238125" y="170362"/>
                  <a:pt x="238125" y="178594"/>
                </a:cubicBezTo>
                <a:cubicBezTo>
                  <a:pt x="238125" y="186826"/>
                  <a:pt x="231474" y="193477"/>
                  <a:pt x="223242" y="193477"/>
                </a:cubicBezTo>
                <a:lnTo>
                  <a:pt x="74414" y="193477"/>
                </a:lnTo>
                <a:lnTo>
                  <a:pt x="74414" y="223242"/>
                </a:lnTo>
                <a:cubicBezTo>
                  <a:pt x="74414" y="229242"/>
                  <a:pt x="70786" y="234683"/>
                  <a:pt x="65205" y="237009"/>
                </a:cubicBezTo>
                <a:cubicBezTo>
                  <a:pt x="59624" y="239334"/>
                  <a:pt x="53253" y="238032"/>
                  <a:pt x="48974" y="233800"/>
                </a:cubicBezTo>
                <a:close/>
              </a:path>
            </a:pathLst>
          </a:custGeom>
          <a:solidFill>
            <a:srgbClr val="FFFFFF"/>
          </a:solidFill>
          <a:ln/>
        </p:spPr>
      </p:sp>
      <p:sp>
        <p:nvSpPr>
          <p:cNvPr id="13" name="Text 11"/>
          <p:cNvSpPr/>
          <p:nvPr/>
        </p:nvSpPr>
        <p:spPr>
          <a:xfrm>
            <a:off x="1111250" y="2829719"/>
            <a:ext cx="482600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Financial Intermediation</a:t>
            </a:r>
            <a:endParaRPr lang="en-US" sz="1600" dirty="0"/>
          </a:p>
        </p:txBody>
      </p:sp>
      <p:sp>
        <p:nvSpPr>
          <p:cNvPr id="14" name="Text 12"/>
          <p:cNvSpPr/>
          <p:nvPr/>
        </p:nvSpPr>
        <p:spPr>
          <a:xfrm>
            <a:off x="1111250" y="3147219"/>
            <a:ext cx="4794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Banks pool savings from millions of depositors and channel them into productive investments—businesses, homes, infrastructure.</a:t>
            </a:r>
            <a:endParaRPr lang="en-US" sz="1600" dirty="0"/>
          </a:p>
        </p:txBody>
      </p:sp>
      <p:sp>
        <p:nvSpPr>
          <p:cNvPr id="15" name="Shape 13"/>
          <p:cNvSpPr/>
          <p:nvPr/>
        </p:nvSpPr>
        <p:spPr>
          <a:xfrm>
            <a:off x="476250" y="3655219"/>
            <a:ext cx="5365750" cy="857250"/>
          </a:xfrm>
          <a:custGeom>
            <a:avLst/>
            <a:gdLst/>
            <a:ahLst/>
            <a:cxnLst/>
            <a:rect l="l" t="t" r="r" b="b"/>
            <a:pathLst>
              <a:path w="5365750" h="857250">
                <a:moveTo>
                  <a:pt x="63497" y="0"/>
                </a:moveTo>
                <a:lnTo>
                  <a:pt x="5302253" y="0"/>
                </a:lnTo>
                <a:cubicBezTo>
                  <a:pt x="5337322" y="0"/>
                  <a:pt x="5365750" y="28428"/>
                  <a:pt x="5365750" y="63497"/>
                </a:cubicBezTo>
                <a:lnTo>
                  <a:pt x="5365750" y="793753"/>
                </a:lnTo>
                <a:cubicBezTo>
                  <a:pt x="5365750" y="828822"/>
                  <a:pt x="5337322" y="857250"/>
                  <a:pt x="5302253" y="857250"/>
                </a:cubicBezTo>
                <a:lnTo>
                  <a:pt x="63497" y="857250"/>
                </a:lnTo>
                <a:cubicBezTo>
                  <a:pt x="28428" y="857250"/>
                  <a:pt x="0" y="828822"/>
                  <a:pt x="0" y="793753"/>
                </a:cubicBezTo>
                <a:lnTo>
                  <a:pt x="0" y="63497"/>
                </a:lnTo>
                <a:cubicBezTo>
                  <a:pt x="0" y="28428"/>
                  <a:pt x="28428" y="0"/>
                  <a:pt x="63497" y="0"/>
                </a:cubicBezTo>
                <a:close/>
              </a:path>
            </a:pathLst>
          </a:custGeom>
          <a:solidFill>
            <a:srgbClr val="F8F9FA"/>
          </a:solidFill>
          <a:ln/>
        </p:spPr>
      </p:sp>
      <p:sp>
        <p:nvSpPr>
          <p:cNvPr id="16" name="Text 14"/>
          <p:cNvSpPr/>
          <p:nvPr/>
        </p:nvSpPr>
        <p:spPr>
          <a:xfrm>
            <a:off x="603250" y="3782219"/>
            <a:ext cx="1277938"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Savers deposit money</a:t>
            </a:r>
            <a:endParaRPr lang="en-US" sz="1600" dirty="0"/>
          </a:p>
        </p:txBody>
      </p:sp>
      <p:sp>
        <p:nvSpPr>
          <p:cNvPr id="17" name="Shape 15"/>
          <p:cNvSpPr/>
          <p:nvPr/>
        </p:nvSpPr>
        <p:spPr>
          <a:xfrm>
            <a:off x="3034357" y="3813969"/>
            <a:ext cx="127000" cy="127000"/>
          </a:xfrm>
          <a:custGeom>
            <a:avLst/>
            <a:gdLst/>
            <a:ahLst/>
            <a:cxnLst/>
            <a:rect l="l" t="t" r="r" b="b"/>
            <a:pathLst>
              <a:path w="127000" h="127000">
                <a:moveTo>
                  <a:pt x="124668" y="69106"/>
                </a:moveTo>
                <a:cubicBezTo>
                  <a:pt x="127769" y="66005"/>
                  <a:pt x="127769" y="60970"/>
                  <a:pt x="124668" y="57869"/>
                </a:cubicBezTo>
                <a:lnTo>
                  <a:pt x="84981" y="18182"/>
                </a:lnTo>
                <a:cubicBezTo>
                  <a:pt x="81880" y="15081"/>
                  <a:pt x="76845" y="15081"/>
                  <a:pt x="73744" y="18182"/>
                </a:cubicBezTo>
                <a:cubicBezTo>
                  <a:pt x="70644" y="21282"/>
                  <a:pt x="70644" y="26318"/>
                  <a:pt x="73744" y="29418"/>
                </a:cubicBezTo>
                <a:lnTo>
                  <a:pt x="99888" y="55563"/>
                </a:lnTo>
                <a:lnTo>
                  <a:pt x="7938" y="55563"/>
                </a:lnTo>
                <a:cubicBezTo>
                  <a:pt x="3547" y="55563"/>
                  <a:pt x="0" y="59110"/>
                  <a:pt x="0" y="63500"/>
                </a:cubicBezTo>
                <a:cubicBezTo>
                  <a:pt x="0" y="67890"/>
                  <a:pt x="3547" y="71438"/>
                  <a:pt x="7938" y="71438"/>
                </a:cubicBezTo>
                <a:lnTo>
                  <a:pt x="99888" y="71438"/>
                </a:lnTo>
                <a:lnTo>
                  <a:pt x="73744" y="97582"/>
                </a:lnTo>
                <a:cubicBezTo>
                  <a:pt x="70644" y="100682"/>
                  <a:pt x="70644" y="105718"/>
                  <a:pt x="73744" y="108818"/>
                </a:cubicBezTo>
                <a:cubicBezTo>
                  <a:pt x="76845" y="111919"/>
                  <a:pt x="81880" y="111919"/>
                  <a:pt x="84981" y="108818"/>
                </a:cubicBezTo>
                <a:lnTo>
                  <a:pt x="124668" y="69131"/>
                </a:lnTo>
                <a:close/>
              </a:path>
            </a:pathLst>
          </a:custGeom>
          <a:solidFill>
            <a:srgbClr val="2A9D8F"/>
          </a:solidFill>
          <a:ln/>
        </p:spPr>
      </p:sp>
      <p:sp>
        <p:nvSpPr>
          <p:cNvPr id="18" name="Text 16"/>
          <p:cNvSpPr/>
          <p:nvPr/>
        </p:nvSpPr>
        <p:spPr>
          <a:xfrm>
            <a:off x="4375237" y="3782219"/>
            <a:ext cx="1404938"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Banks lend to borrowers</a:t>
            </a:r>
            <a:endParaRPr lang="en-US" sz="1600" dirty="0"/>
          </a:p>
        </p:txBody>
      </p:sp>
      <p:sp>
        <p:nvSpPr>
          <p:cNvPr id="19" name="Shape 17"/>
          <p:cNvSpPr/>
          <p:nvPr/>
        </p:nvSpPr>
        <p:spPr>
          <a:xfrm>
            <a:off x="603250" y="4036219"/>
            <a:ext cx="5111750" cy="349250"/>
          </a:xfrm>
          <a:custGeom>
            <a:avLst/>
            <a:gdLst/>
            <a:ahLst/>
            <a:cxnLst/>
            <a:rect l="l" t="t" r="r" b="b"/>
            <a:pathLst>
              <a:path w="5111750" h="349250">
                <a:moveTo>
                  <a:pt x="31750" y="0"/>
                </a:moveTo>
                <a:lnTo>
                  <a:pt x="5080000" y="0"/>
                </a:lnTo>
                <a:cubicBezTo>
                  <a:pt x="5097535" y="0"/>
                  <a:pt x="5111750" y="14215"/>
                  <a:pt x="5111750" y="31750"/>
                </a:cubicBezTo>
                <a:lnTo>
                  <a:pt x="5111750" y="317500"/>
                </a:lnTo>
                <a:cubicBezTo>
                  <a:pt x="5111750" y="335035"/>
                  <a:pt x="5097535" y="349250"/>
                  <a:pt x="5080000" y="349250"/>
                </a:cubicBezTo>
                <a:lnTo>
                  <a:pt x="31750" y="349250"/>
                </a:lnTo>
                <a:cubicBezTo>
                  <a:pt x="14215" y="349250"/>
                  <a:pt x="0" y="335035"/>
                  <a:pt x="0" y="317500"/>
                </a:cubicBezTo>
                <a:lnTo>
                  <a:pt x="0" y="31750"/>
                </a:lnTo>
                <a:cubicBezTo>
                  <a:pt x="0" y="14215"/>
                  <a:pt x="14215" y="0"/>
                  <a:pt x="31750" y="0"/>
                </a:cubicBezTo>
                <a:close/>
              </a:path>
            </a:pathLst>
          </a:custGeom>
          <a:solidFill>
            <a:srgbClr val="2A9D8F">
              <a:alpha val="20000"/>
            </a:srgbClr>
          </a:solidFill>
          <a:ln/>
        </p:spPr>
      </p:sp>
      <p:sp>
        <p:nvSpPr>
          <p:cNvPr id="20" name="Text 18"/>
          <p:cNvSpPr/>
          <p:nvPr/>
        </p:nvSpPr>
        <p:spPr>
          <a:xfrm>
            <a:off x="1851360" y="4107656"/>
            <a:ext cx="2615530" cy="202406"/>
          </a:xfrm>
          <a:prstGeom prst="rect">
            <a:avLst/>
          </a:prstGeom>
          <a:noFill/>
          <a:ln/>
        </p:spPr>
        <p:txBody>
          <a:bodyPr wrap="square" lIns="0" tIns="0" rIns="0" bIns="0" rtlCol="0" anchor="ctr"/>
          <a:lstStyle/>
          <a:p>
            <a:pPr algn="ctr">
              <a:lnSpc>
                <a:spcPct val="130000"/>
              </a:lnSpc>
            </a:pPr>
            <a:r>
              <a:rPr lang="en-US" sz="1125" b="1" dirty="0">
                <a:solidFill>
                  <a:srgbClr val="1A3A5C"/>
                </a:solidFill>
                <a:latin typeface="Liter" pitchFamily="34" charset="0"/>
                <a:ea typeface="Liter" pitchFamily="34" charset="-122"/>
                <a:cs typeface="Liter" pitchFamily="34" charset="-120"/>
              </a:rPr>
              <a:t>Result: Economic Growth &amp; Job Creation</a:t>
            </a:r>
            <a:endParaRPr lang="en-US" sz="1600" dirty="0"/>
          </a:p>
        </p:txBody>
      </p:sp>
      <p:sp>
        <p:nvSpPr>
          <p:cNvPr id="21" name="Shape 19"/>
          <p:cNvSpPr/>
          <p:nvPr/>
        </p:nvSpPr>
        <p:spPr>
          <a:xfrm>
            <a:off x="317500" y="4814094"/>
            <a:ext cx="5683250" cy="1825625"/>
          </a:xfrm>
          <a:custGeom>
            <a:avLst/>
            <a:gdLst/>
            <a:ahLst/>
            <a:cxnLst/>
            <a:rect l="l" t="t" r="r" b="b"/>
            <a:pathLst>
              <a:path w="5683250" h="1825625">
                <a:moveTo>
                  <a:pt x="31750" y="0"/>
                </a:moveTo>
                <a:lnTo>
                  <a:pt x="5651500" y="0"/>
                </a:lnTo>
                <a:cubicBezTo>
                  <a:pt x="5669023" y="0"/>
                  <a:pt x="5683250" y="14227"/>
                  <a:pt x="5683250" y="31750"/>
                </a:cubicBezTo>
                <a:lnTo>
                  <a:pt x="5683250" y="1730382"/>
                </a:lnTo>
                <a:cubicBezTo>
                  <a:pt x="5683250" y="1782983"/>
                  <a:pt x="5640608" y="1825625"/>
                  <a:pt x="5588007" y="1825625"/>
                </a:cubicBezTo>
                <a:lnTo>
                  <a:pt x="95243" y="1825625"/>
                </a:lnTo>
                <a:cubicBezTo>
                  <a:pt x="42642" y="1825625"/>
                  <a:pt x="0" y="1782983"/>
                  <a:pt x="0" y="1730382"/>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22" name="Shape 20"/>
          <p:cNvSpPr/>
          <p:nvPr/>
        </p:nvSpPr>
        <p:spPr>
          <a:xfrm>
            <a:off x="317500" y="4814094"/>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2A9D8F"/>
          </a:solidFill>
          <a:ln/>
        </p:spPr>
      </p:sp>
      <p:sp>
        <p:nvSpPr>
          <p:cNvPr id="23" name="Shape 21"/>
          <p:cNvSpPr/>
          <p:nvPr/>
        </p:nvSpPr>
        <p:spPr>
          <a:xfrm>
            <a:off x="476250" y="4988719"/>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2A9D8F"/>
          </a:solidFill>
          <a:ln/>
        </p:spPr>
      </p:sp>
      <p:sp>
        <p:nvSpPr>
          <p:cNvPr id="24" name="Shape 22"/>
          <p:cNvSpPr/>
          <p:nvPr/>
        </p:nvSpPr>
        <p:spPr>
          <a:xfrm>
            <a:off x="598289" y="5123656"/>
            <a:ext cx="267891" cy="238125"/>
          </a:xfrm>
          <a:custGeom>
            <a:avLst/>
            <a:gdLst/>
            <a:ahLst/>
            <a:cxnLst/>
            <a:rect l="l" t="t" r="r" b="b"/>
            <a:pathLst>
              <a:path w="267891" h="238125">
                <a:moveTo>
                  <a:pt x="133945" y="-7441"/>
                </a:moveTo>
                <a:cubicBezTo>
                  <a:pt x="127760" y="-7441"/>
                  <a:pt x="122783" y="-2465"/>
                  <a:pt x="122783" y="3721"/>
                </a:cubicBezTo>
                <a:lnTo>
                  <a:pt x="122783" y="9302"/>
                </a:lnTo>
                <a:lnTo>
                  <a:pt x="121946" y="9302"/>
                </a:lnTo>
                <a:cubicBezTo>
                  <a:pt x="104924" y="9302"/>
                  <a:pt x="91157" y="23115"/>
                  <a:pt x="91157" y="40091"/>
                </a:cubicBezTo>
                <a:cubicBezTo>
                  <a:pt x="91157" y="55625"/>
                  <a:pt x="102738" y="68740"/>
                  <a:pt x="118132" y="70647"/>
                </a:cubicBezTo>
                <a:lnTo>
                  <a:pt x="146503" y="74182"/>
                </a:lnTo>
                <a:cubicBezTo>
                  <a:pt x="148875" y="74461"/>
                  <a:pt x="150688" y="76507"/>
                  <a:pt x="150688" y="78925"/>
                </a:cubicBezTo>
                <a:cubicBezTo>
                  <a:pt x="150688" y="81576"/>
                  <a:pt x="148549" y="83669"/>
                  <a:pt x="145945" y="83669"/>
                </a:cubicBezTo>
                <a:lnTo>
                  <a:pt x="111621" y="83716"/>
                </a:lnTo>
                <a:cubicBezTo>
                  <a:pt x="104412" y="83716"/>
                  <a:pt x="98599" y="89529"/>
                  <a:pt x="98599" y="96738"/>
                </a:cubicBezTo>
                <a:cubicBezTo>
                  <a:pt x="98599" y="103947"/>
                  <a:pt x="104412" y="109761"/>
                  <a:pt x="111621" y="109761"/>
                </a:cubicBezTo>
                <a:lnTo>
                  <a:pt x="122783" y="109761"/>
                </a:lnTo>
                <a:lnTo>
                  <a:pt x="122783" y="115342"/>
                </a:lnTo>
                <a:cubicBezTo>
                  <a:pt x="122783" y="121527"/>
                  <a:pt x="127760" y="126504"/>
                  <a:pt x="133945" y="126504"/>
                </a:cubicBezTo>
                <a:cubicBezTo>
                  <a:pt x="140131" y="126504"/>
                  <a:pt x="145107" y="121527"/>
                  <a:pt x="145107" y="115342"/>
                </a:cubicBezTo>
                <a:lnTo>
                  <a:pt x="145107" y="109761"/>
                </a:lnTo>
                <a:lnTo>
                  <a:pt x="145945" y="109761"/>
                </a:lnTo>
                <a:cubicBezTo>
                  <a:pt x="162967" y="109761"/>
                  <a:pt x="176733" y="95948"/>
                  <a:pt x="176733" y="78972"/>
                </a:cubicBezTo>
                <a:cubicBezTo>
                  <a:pt x="176733" y="63438"/>
                  <a:pt x="165153" y="50323"/>
                  <a:pt x="149758" y="48416"/>
                </a:cubicBezTo>
                <a:lnTo>
                  <a:pt x="121388" y="44881"/>
                </a:lnTo>
                <a:cubicBezTo>
                  <a:pt x="119016" y="44602"/>
                  <a:pt x="117202" y="42556"/>
                  <a:pt x="117202" y="40137"/>
                </a:cubicBezTo>
                <a:cubicBezTo>
                  <a:pt x="117202" y="37486"/>
                  <a:pt x="119342" y="35393"/>
                  <a:pt x="121946" y="35393"/>
                </a:cubicBezTo>
                <a:lnTo>
                  <a:pt x="152549" y="35347"/>
                </a:lnTo>
                <a:cubicBezTo>
                  <a:pt x="159758" y="35347"/>
                  <a:pt x="165571" y="29533"/>
                  <a:pt x="165571" y="22324"/>
                </a:cubicBezTo>
                <a:cubicBezTo>
                  <a:pt x="165571" y="15115"/>
                  <a:pt x="159758" y="9302"/>
                  <a:pt x="152549" y="9302"/>
                </a:cubicBezTo>
                <a:lnTo>
                  <a:pt x="145107" y="9302"/>
                </a:lnTo>
                <a:lnTo>
                  <a:pt x="145107" y="3721"/>
                </a:lnTo>
                <a:cubicBezTo>
                  <a:pt x="145107" y="-2465"/>
                  <a:pt x="140131" y="-7441"/>
                  <a:pt x="133945" y="-7441"/>
                </a:cubicBezTo>
                <a:close/>
                <a:moveTo>
                  <a:pt x="50834" y="158828"/>
                </a:moveTo>
                <a:lnTo>
                  <a:pt x="31021" y="178594"/>
                </a:lnTo>
                <a:lnTo>
                  <a:pt x="14883" y="178594"/>
                </a:lnTo>
                <a:cubicBezTo>
                  <a:pt x="6651" y="178594"/>
                  <a:pt x="0" y="185245"/>
                  <a:pt x="0" y="193477"/>
                </a:cubicBezTo>
                <a:lnTo>
                  <a:pt x="0" y="223242"/>
                </a:lnTo>
                <a:cubicBezTo>
                  <a:pt x="0" y="231474"/>
                  <a:pt x="6651" y="238125"/>
                  <a:pt x="14883" y="238125"/>
                </a:cubicBezTo>
                <a:lnTo>
                  <a:pt x="163943" y="238125"/>
                </a:lnTo>
                <a:cubicBezTo>
                  <a:pt x="177431" y="238125"/>
                  <a:pt x="190593" y="233800"/>
                  <a:pt x="201476" y="225800"/>
                </a:cubicBezTo>
                <a:lnTo>
                  <a:pt x="260356" y="182407"/>
                </a:lnTo>
                <a:cubicBezTo>
                  <a:pt x="268635" y="176315"/>
                  <a:pt x="270402" y="164688"/>
                  <a:pt x="264309" y="156409"/>
                </a:cubicBezTo>
                <a:cubicBezTo>
                  <a:pt x="258217" y="148130"/>
                  <a:pt x="246590" y="146363"/>
                  <a:pt x="238311" y="152456"/>
                </a:cubicBezTo>
                <a:lnTo>
                  <a:pt x="182594" y="193477"/>
                </a:lnTo>
                <a:lnTo>
                  <a:pt x="130225" y="193477"/>
                </a:lnTo>
                <a:cubicBezTo>
                  <a:pt x="124039" y="193477"/>
                  <a:pt x="119062" y="188500"/>
                  <a:pt x="119062" y="182314"/>
                </a:cubicBezTo>
                <a:cubicBezTo>
                  <a:pt x="119062" y="176129"/>
                  <a:pt x="124039" y="171152"/>
                  <a:pt x="130225" y="171152"/>
                </a:cubicBezTo>
                <a:lnTo>
                  <a:pt x="163711" y="171152"/>
                </a:lnTo>
                <a:cubicBezTo>
                  <a:pt x="171943" y="171152"/>
                  <a:pt x="178594" y="164502"/>
                  <a:pt x="178594" y="156270"/>
                </a:cubicBezTo>
                <a:cubicBezTo>
                  <a:pt x="178594" y="148037"/>
                  <a:pt x="171943" y="141387"/>
                  <a:pt x="163711" y="141387"/>
                </a:cubicBezTo>
                <a:lnTo>
                  <a:pt x="92925" y="141387"/>
                </a:lnTo>
                <a:cubicBezTo>
                  <a:pt x="77158" y="141387"/>
                  <a:pt x="61996" y="147665"/>
                  <a:pt x="50834" y="158828"/>
                </a:cubicBezTo>
                <a:close/>
              </a:path>
            </a:pathLst>
          </a:custGeom>
          <a:solidFill>
            <a:srgbClr val="FFFFFF"/>
          </a:solidFill>
          <a:ln/>
        </p:spPr>
      </p:sp>
      <p:sp>
        <p:nvSpPr>
          <p:cNvPr id="25" name="Text 23"/>
          <p:cNvSpPr/>
          <p:nvPr/>
        </p:nvSpPr>
        <p:spPr>
          <a:xfrm>
            <a:off x="1111250" y="4988719"/>
            <a:ext cx="482600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Credit Access for SMEs</a:t>
            </a:r>
            <a:endParaRPr lang="en-US" sz="1600" dirty="0"/>
          </a:p>
        </p:txBody>
      </p:sp>
      <p:sp>
        <p:nvSpPr>
          <p:cNvPr id="26" name="Text 24"/>
          <p:cNvSpPr/>
          <p:nvPr/>
        </p:nvSpPr>
        <p:spPr>
          <a:xfrm>
            <a:off x="1111250" y="5306219"/>
            <a:ext cx="4794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Small and medium enterprises (SMEs) are the backbone of economies. Banks provide crucial funding for startups and expansion.</a:t>
            </a:r>
            <a:endParaRPr lang="en-US" sz="1600" dirty="0"/>
          </a:p>
        </p:txBody>
      </p:sp>
      <p:sp>
        <p:nvSpPr>
          <p:cNvPr id="27" name="Shape 25"/>
          <p:cNvSpPr/>
          <p:nvPr/>
        </p:nvSpPr>
        <p:spPr>
          <a:xfrm>
            <a:off x="492125" y="5814219"/>
            <a:ext cx="5349875" cy="666750"/>
          </a:xfrm>
          <a:custGeom>
            <a:avLst/>
            <a:gdLst/>
            <a:ahLst/>
            <a:cxnLst/>
            <a:rect l="l" t="t" r="r" b="b"/>
            <a:pathLst>
              <a:path w="5349875" h="666750">
                <a:moveTo>
                  <a:pt x="31750" y="0"/>
                </a:moveTo>
                <a:lnTo>
                  <a:pt x="5286374" y="0"/>
                </a:lnTo>
                <a:cubicBezTo>
                  <a:pt x="5321445" y="0"/>
                  <a:pt x="5349875" y="28430"/>
                  <a:pt x="5349875" y="63501"/>
                </a:cubicBezTo>
                <a:lnTo>
                  <a:pt x="5349875" y="603249"/>
                </a:lnTo>
                <a:cubicBezTo>
                  <a:pt x="5349875" y="638320"/>
                  <a:pt x="5321445" y="666750"/>
                  <a:pt x="5286374" y="666750"/>
                </a:cubicBezTo>
                <a:lnTo>
                  <a:pt x="31750" y="666750"/>
                </a:lnTo>
                <a:cubicBezTo>
                  <a:pt x="14215" y="666750"/>
                  <a:pt x="0" y="652535"/>
                  <a:pt x="0" y="635000"/>
                </a:cubicBezTo>
                <a:lnTo>
                  <a:pt x="0" y="31750"/>
                </a:lnTo>
                <a:cubicBezTo>
                  <a:pt x="0" y="14227"/>
                  <a:pt x="14227" y="0"/>
                  <a:pt x="31750" y="0"/>
                </a:cubicBezTo>
                <a:close/>
              </a:path>
            </a:pathLst>
          </a:custGeom>
          <a:solidFill>
            <a:srgbClr val="2A9D8F">
              <a:alpha val="10196"/>
            </a:srgbClr>
          </a:solidFill>
          <a:ln/>
        </p:spPr>
      </p:sp>
      <p:sp>
        <p:nvSpPr>
          <p:cNvPr id="28" name="Shape 26"/>
          <p:cNvSpPr/>
          <p:nvPr/>
        </p:nvSpPr>
        <p:spPr>
          <a:xfrm>
            <a:off x="492125" y="5814219"/>
            <a:ext cx="31750" cy="666750"/>
          </a:xfrm>
          <a:custGeom>
            <a:avLst/>
            <a:gdLst/>
            <a:ahLst/>
            <a:cxnLst/>
            <a:rect l="l" t="t" r="r" b="b"/>
            <a:pathLst>
              <a:path w="31750" h="666750">
                <a:moveTo>
                  <a:pt x="31750" y="0"/>
                </a:moveTo>
                <a:lnTo>
                  <a:pt x="31750" y="0"/>
                </a:lnTo>
                <a:lnTo>
                  <a:pt x="31750" y="666750"/>
                </a:lnTo>
                <a:lnTo>
                  <a:pt x="31750" y="666750"/>
                </a:lnTo>
                <a:cubicBezTo>
                  <a:pt x="14227" y="666750"/>
                  <a:pt x="0" y="652523"/>
                  <a:pt x="0" y="635000"/>
                </a:cubicBezTo>
                <a:lnTo>
                  <a:pt x="0" y="31750"/>
                </a:lnTo>
                <a:cubicBezTo>
                  <a:pt x="0" y="14227"/>
                  <a:pt x="14227" y="0"/>
                  <a:pt x="31750" y="0"/>
                </a:cubicBezTo>
                <a:close/>
              </a:path>
            </a:pathLst>
          </a:custGeom>
          <a:solidFill>
            <a:srgbClr val="2A9D8F"/>
          </a:solidFill>
          <a:ln/>
        </p:spPr>
      </p:sp>
      <p:sp>
        <p:nvSpPr>
          <p:cNvPr id="29" name="Text 27"/>
          <p:cNvSpPr/>
          <p:nvPr/>
        </p:nvSpPr>
        <p:spPr>
          <a:xfrm>
            <a:off x="635000" y="5941219"/>
            <a:ext cx="5143500" cy="412750"/>
          </a:xfrm>
          <a:prstGeom prst="rect">
            <a:avLst/>
          </a:prstGeom>
          <a:noFill/>
          <a:ln/>
        </p:spPr>
        <p:txBody>
          <a:bodyPr wrap="square" lIns="0" tIns="0" rIns="0" bIns="0" rtlCol="0" anchor="ctr"/>
          <a:lstStyle/>
          <a:p>
            <a:pPr>
              <a:lnSpc>
                <a:spcPct val="140000"/>
              </a:lnSpc>
            </a:pPr>
            <a:r>
              <a:rPr lang="en-US" sz="1000" b="1" dirty="0">
                <a:solidFill>
                  <a:srgbClr val="2B2D42"/>
                </a:solidFill>
                <a:latin typeface="Quattrocento Sans" pitchFamily="34" charset="0"/>
                <a:ea typeface="Quattrocento Sans" pitchFamily="34" charset="-122"/>
                <a:cs typeface="Quattrocento Sans" pitchFamily="34" charset="-120"/>
              </a:rPr>
              <a:t>Example:</a:t>
            </a:r>
            <a:pPr>
              <a:lnSpc>
                <a:spcPct val="140000"/>
              </a:lnSpc>
            </a:pPr>
            <a:r>
              <a:rPr lang="en-US" sz="1000" dirty="0">
                <a:solidFill>
                  <a:srgbClr val="2B2D42"/>
                </a:solidFill>
                <a:highlight>
                  <a:srgbClr val="2A9D8F">
                    <a:alpha val="30000"/>
                  </a:srgbClr>
                </a:highlight>
                <a:latin typeface="Quattrocento Sans" pitchFamily="34" charset="0"/>
                <a:ea typeface="Quattrocento Sans" pitchFamily="34" charset="-122"/>
                <a:cs typeface="Quattrocento Sans" pitchFamily="34" charset="-120"/>
              </a:rPr>
              <a:t> Grameen Bank </a:t>
            </a:r>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in Bangladesh pioneered microfinance, lifting millions from poverty through small business loans.</a:t>
            </a:r>
            <a:endParaRPr lang="en-US" sz="1600" dirty="0"/>
          </a:p>
        </p:txBody>
      </p:sp>
      <p:sp>
        <p:nvSpPr>
          <p:cNvPr id="30" name="Shape 28"/>
          <p:cNvSpPr/>
          <p:nvPr/>
        </p:nvSpPr>
        <p:spPr>
          <a:xfrm>
            <a:off x="6191250" y="1365250"/>
            <a:ext cx="5683250" cy="2032000"/>
          </a:xfrm>
          <a:custGeom>
            <a:avLst/>
            <a:gdLst/>
            <a:ahLst/>
            <a:cxnLst/>
            <a:rect l="l" t="t" r="r" b="b"/>
            <a:pathLst>
              <a:path w="5683250" h="2032000">
                <a:moveTo>
                  <a:pt x="31750" y="0"/>
                </a:moveTo>
                <a:lnTo>
                  <a:pt x="5651500" y="0"/>
                </a:lnTo>
                <a:cubicBezTo>
                  <a:pt x="5669023" y="0"/>
                  <a:pt x="5683250" y="14227"/>
                  <a:pt x="5683250" y="31750"/>
                </a:cubicBezTo>
                <a:lnTo>
                  <a:pt x="5683250" y="1936740"/>
                </a:lnTo>
                <a:cubicBezTo>
                  <a:pt x="5683250" y="1989351"/>
                  <a:pt x="5640601" y="2032000"/>
                  <a:pt x="5587990" y="2032000"/>
                </a:cubicBezTo>
                <a:lnTo>
                  <a:pt x="95260" y="2032000"/>
                </a:lnTo>
                <a:cubicBezTo>
                  <a:pt x="42685" y="2032000"/>
                  <a:pt x="0" y="1989315"/>
                  <a:pt x="0" y="193674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31" name="Shape 29"/>
          <p:cNvSpPr/>
          <p:nvPr/>
        </p:nvSpPr>
        <p:spPr>
          <a:xfrm>
            <a:off x="6191250" y="1365250"/>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1A3A5C"/>
          </a:solidFill>
          <a:ln/>
        </p:spPr>
      </p:sp>
      <p:sp>
        <p:nvSpPr>
          <p:cNvPr id="32" name="Shape 30"/>
          <p:cNvSpPr/>
          <p:nvPr/>
        </p:nvSpPr>
        <p:spPr>
          <a:xfrm>
            <a:off x="6350000" y="1539875"/>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1A3A5C"/>
          </a:solidFill>
          <a:ln/>
        </p:spPr>
      </p:sp>
      <p:sp>
        <p:nvSpPr>
          <p:cNvPr id="33" name="Shape 31"/>
          <p:cNvSpPr/>
          <p:nvPr/>
        </p:nvSpPr>
        <p:spPr>
          <a:xfrm>
            <a:off x="6457156" y="1674813"/>
            <a:ext cx="297656" cy="238125"/>
          </a:xfrm>
          <a:custGeom>
            <a:avLst/>
            <a:gdLst/>
            <a:ahLst/>
            <a:cxnLst/>
            <a:rect l="l" t="t" r="r" b="b"/>
            <a:pathLst>
              <a:path w="297656" h="238125">
                <a:moveTo>
                  <a:pt x="148828" y="7441"/>
                </a:moveTo>
                <a:cubicBezTo>
                  <a:pt x="175524" y="7441"/>
                  <a:pt x="197197" y="29115"/>
                  <a:pt x="197197" y="55811"/>
                </a:cubicBezTo>
                <a:cubicBezTo>
                  <a:pt x="197197" y="82506"/>
                  <a:pt x="175524" y="104180"/>
                  <a:pt x="148828" y="104180"/>
                </a:cubicBezTo>
                <a:cubicBezTo>
                  <a:pt x="122132" y="104180"/>
                  <a:pt x="100459" y="82506"/>
                  <a:pt x="100459" y="55811"/>
                </a:cubicBezTo>
                <a:cubicBezTo>
                  <a:pt x="100459" y="29115"/>
                  <a:pt x="122132" y="7441"/>
                  <a:pt x="148828" y="7441"/>
                </a:cubicBezTo>
                <a:close/>
                <a:moveTo>
                  <a:pt x="44648" y="40928"/>
                </a:moveTo>
                <a:cubicBezTo>
                  <a:pt x="63130" y="40928"/>
                  <a:pt x="78135" y="55932"/>
                  <a:pt x="78135" y="74414"/>
                </a:cubicBezTo>
                <a:cubicBezTo>
                  <a:pt x="78135" y="92896"/>
                  <a:pt x="63130" y="107900"/>
                  <a:pt x="44648" y="107900"/>
                </a:cubicBezTo>
                <a:cubicBezTo>
                  <a:pt x="26167" y="107900"/>
                  <a:pt x="11162" y="92896"/>
                  <a:pt x="11162" y="74414"/>
                </a:cubicBezTo>
                <a:cubicBezTo>
                  <a:pt x="11162" y="55932"/>
                  <a:pt x="26167" y="40928"/>
                  <a:pt x="44648" y="40928"/>
                </a:cubicBezTo>
                <a:close/>
                <a:moveTo>
                  <a:pt x="0" y="193477"/>
                </a:moveTo>
                <a:cubicBezTo>
                  <a:pt x="0" y="160595"/>
                  <a:pt x="26650" y="133945"/>
                  <a:pt x="59531" y="133945"/>
                </a:cubicBezTo>
                <a:cubicBezTo>
                  <a:pt x="65484" y="133945"/>
                  <a:pt x="71251" y="134829"/>
                  <a:pt x="76693" y="136457"/>
                </a:cubicBezTo>
                <a:cubicBezTo>
                  <a:pt x="61392" y="153572"/>
                  <a:pt x="52090" y="176175"/>
                  <a:pt x="52090" y="200918"/>
                </a:cubicBezTo>
                <a:lnTo>
                  <a:pt x="52090" y="208359"/>
                </a:lnTo>
                <a:cubicBezTo>
                  <a:pt x="52090" y="213661"/>
                  <a:pt x="53206" y="218684"/>
                  <a:pt x="55206" y="223242"/>
                </a:cubicBezTo>
                <a:lnTo>
                  <a:pt x="14883" y="223242"/>
                </a:lnTo>
                <a:cubicBezTo>
                  <a:pt x="6651" y="223242"/>
                  <a:pt x="0" y="216591"/>
                  <a:pt x="0" y="208359"/>
                </a:cubicBezTo>
                <a:lnTo>
                  <a:pt x="0" y="193477"/>
                </a:lnTo>
                <a:close/>
                <a:moveTo>
                  <a:pt x="242450" y="223242"/>
                </a:moveTo>
                <a:cubicBezTo>
                  <a:pt x="244450" y="218684"/>
                  <a:pt x="245566" y="213661"/>
                  <a:pt x="245566" y="208359"/>
                </a:cubicBezTo>
                <a:lnTo>
                  <a:pt x="245566" y="200918"/>
                </a:lnTo>
                <a:cubicBezTo>
                  <a:pt x="245566" y="176175"/>
                  <a:pt x="236265" y="153572"/>
                  <a:pt x="220963" y="136457"/>
                </a:cubicBezTo>
                <a:cubicBezTo>
                  <a:pt x="226405" y="134829"/>
                  <a:pt x="232172" y="133945"/>
                  <a:pt x="238125" y="133945"/>
                </a:cubicBezTo>
                <a:cubicBezTo>
                  <a:pt x="271007" y="133945"/>
                  <a:pt x="297656" y="160595"/>
                  <a:pt x="297656" y="193477"/>
                </a:cubicBezTo>
                <a:lnTo>
                  <a:pt x="297656" y="208359"/>
                </a:lnTo>
                <a:cubicBezTo>
                  <a:pt x="297656" y="216591"/>
                  <a:pt x="291005" y="223242"/>
                  <a:pt x="282773" y="223242"/>
                </a:cubicBezTo>
                <a:lnTo>
                  <a:pt x="242450" y="223242"/>
                </a:lnTo>
                <a:close/>
                <a:moveTo>
                  <a:pt x="219521" y="74414"/>
                </a:moveTo>
                <a:cubicBezTo>
                  <a:pt x="219521" y="55932"/>
                  <a:pt x="234526" y="40928"/>
                  <a:pt x="253008" y="40928"/>
                </a:cubicBezTo>
                <a:cubicBezTo>
                  <a:pt x="271489" y="40928"/>
                  <a:pt x="286494" y="55932"/>
                  <a:pt x="286494" y="74414"/>
                </a:cubicBezTo>
                <a:cubicBezTo>
                  <a:pt x="286494" y="92896"/>
                  <a:pt x="271489" y="107900"/>
                  <a:pt x="253008" y="107900"/>
                </a:cubicBezTo>
                <a:cubicBezTo>
                  <a:pt x="234526" y="107900"/>
                  <a:pt x="219521" y="92896"/>
                  <a:pt x="219521" y="74414"/>
                </a:cubicBezTo>
                <a:close/>
                <a:moveTo>
                  <a:pt x="74414" y="200918"/>
                </a:moveTo>
                <a:cubicBezTo>
                  <a:pt x="74414" y="159804"/>
                  <a:pt x="107714" y="126504"/>
                  <a:pt x="148828" y="126504"/>
                </a:cubicBezTo>
                <a:cubicBezTo>
                  <a:pt x="189942" y="126504"/>
                  <a:pt x="223242" y="159804"/>
                  <a:pt x="223242" y="200918"/>
                </a:cubicBezTo>
                <a:lnTo>
                  <a:pt x="223242" y="208359"/>
                </a:lnTo>
                <a:cubicBezTo>
                  <a:pt x="223242" y="216591"/>
                  <a:pt x="216591" y="223242"/>
                  <a:pt x="208359" y="223242"/>
                </a:cubicBezTo>
                <a:lnTo>
                  <a:pt x="89297" y="223242"/>
                </a:lnTo>
                <a:cubicBezTo>
                  <a:pt x="81065" y="223242"/>
                  <a:pt x="74414" y="216591"/>
                  <a:pt x="74414" y="208359"/>
                </a:cubicBezTo>
                <a:lnTo>
                  <a:pt x="74414" y="200918"/>
                </a:lnTo>
                <a:close/>
              </a:path>
            </a:pathLst>
          </a:custGeom>
          <a:solidFill>
            <a:srgbClr val="FFFFFF"/>
          </a:solidFill>
          <a:ln/>
        </p:spPr>
      </p:sp>
      <p:sp>
        <p:nvSpPr>
          <p:cNvPr id="34" name="Text 32"/>
          <p:cNvSpPr/>
          <p:nvPr/>
        </p:nvSpPr>
        <p:spPr>
          <a:xfrm>
            <a:off x="6985000" y="1539875"/>
            <a:ext cx="482600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Financial Inclusion</a:t>
            </a:r>
            <a:endParaRPr lang="en-US" sz="1600" dirty="0"/>
          </a:p>
        </p:txBody>
      </p:sp>
      <p:sp>
        <p:nvSpPr>
          <p:cNvPr id="35" name="Text 33"/>
          <p:cNvSpPr/>
          <p:nvPr/>
        </p:nvSpPr>
        <p:spPr>
          <a:xfrm>
            <a:off x="6985000" y="1857375"/>
            <a:ext cx="4794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Banking brings unbanked populations into the formal economy, reducing poverty and increasing economic mobility.</a:t>
            </a:r>
            <a:endParaRPr lang="en-US" sz="1600" dirty="0"/>
          </a:p>
        </p:txBody>
      </p:sp>
      <p:sp>
        <p:nvSpPr>
          <p:cNvPr id="36" name="Shape 34"/>
          <p:cNvSpPr/>
          <p:nvPr/>
        </p:nvSpPr>
        <p:spPr>
          <a:xfrm>
            <a:off x="6350000" y="2365375"/>
            <a:ext cx="2635250" cy="873125"/>
          </a:xfrm>
          <a:custGeom>
            <a:avLst/>
            <a:gdLst/>
            <a:ahLst/>
            <a:cxnLst/>
            <a:rect l="l" t="t" r="r" b="b"/>
            <a:pathLst>
              <a:path w="2635250" h="873125">
                <a:moveTo>
                  <a:pt x="63502" y="0"/>
                </a:moveTo>
                <a:lnTo>
                  <a:pt x="2571748" y="0"/>
                </a:lnTo>
                <a:cubicBezTo>
                  <a:pt x="2606819" y="0"/>
                  <a:pt x="2635250" y="28431"/>
                  <a:pt x="2635250" y="63502"/>
                </a:cubicBezTo>
                <a:lnTo>
                  <a:pt x="2635250" y="809623"/>
                </a:lnTo>
                <a:cubicBezTo>
                  <a:pt x="2635250" y="844694"/>
                  <a:pt x="2606819" y="873125"/>
                  <a:pt x="2571748" y="873125"/>
                </a:cubicBezTo>
                <a:lnTo>
                  <a:pt x="63502" y="873125"/>
                </a:lnTo>
                <a:cubicBezTo>
                  <a:pt x="28431" y="873125"/>
                  <a:pt x="0" y="844694"/>
                  <a:pt x="0" y="809623"/>
                </a:cubicBezTo>
                <a:lnTo>
                  <a:pt x="0" y="63502"/>
                </a:lnTo>
                <a:cubicBezTo>
                  <a:pt x="0" y="28454"/>
                  <a:pt x="28454" y="0"/>
                  <a:pt x="63502" y="0"/>
                </a:cubicBezTo>
                <a:close/>
              </a:path>
            </a:pathLst>
          </a:custGeom>
          <a:solidFill>
            <a:srgbClr val="F8F9FA"/>
          </a:solidFill>
          <a:ln/>
        </p:spPr>
      </p:sp>
      <p:sp>
        <p:nvSpPr>
          <p:cNvPr id="37" name="Shape 35"/>
          <p:cNvSpPr/>
          <p:nvPr/>
        </p:nvSpPr>
        <p:spPr>
          <a:xfrm>
            <a:off x="7580313" y="2460625"/>
            <a:ext cx="178594" cy="238125"/>
          </a:xfrm>
          <a:custGeom>
            <a:avLst/>
            <a:gdLst/>
            <a:ahLst/>
            <a:cxnLst/>
            <a:rect l="l" t="t" r="r" b="b"/>
            <a:pathLst>
              <a:path w="178594" h="238125">
                <a:moveTo>
                  <a:pt x="7441" y="29766"/>
                </a:moveTo>
                <a:cubicBezTo>
                  <a:pt x="7441" y="13348"/>
                  <a:pt x="20789" y="0"/>
                  <a:pt x="37207" y="0"/>
                </a:cubicBezTo>
                <a:lnTo>
                  <a:pt x="141387" y="0"/>
                </a:lnTo>
                <a:cubicBezTo>
                  <a:pt x="157804" y="0"/>
                  <a:pt x="171152" y="13348"/>
                  <a:pt x="171152" y="29766"/>
                </a:cubicBezTo>
                <a:lnTo>
                  <a:pt x="171152" y="208359"/>
                </a:lnTo>
                <a:cubicBezTo>
                  <a:pt x="171152" y="224777"/>
                  <a:pt x="157804" y="238125"/>
                  <a:pt x="141387" y="238125"/>
                </a:cubicBezTo>
                <a:lnTo>
                  <a:pt x="37207" y="238125"/>
                </a:lnTo>
                <a:cubicBezTo>
                  <a:pt x="20789" y="238125"/>
                  <a:pt x="7441" y="224777"/>
                  <a:pt x="7441" y="208359"/>
                </a:cubicBezTo>
                <a:lnTo>
                  <a:pt x="7441" y="29766"/>
                </a:lnTo>
                <a:close/>
                <a:moveTo>
                  <a:pt x="37207" y="29766"/>
                </a:moveTo>
                <a:lnTo>
                  <a:pt x="37207" y="171152"/>
                </a:lnTo>
                <a:lnTo>
                  <a:pt x="141387" y="171152"/>
                </a:lnTo>
                <a:lnTo>
                  <a:pt x="141387" y="29766"/>
                </a:lnTo>
                <a:lnTo>
                  <a:pt x="37207" y="29766"/>
                </a:lnTo>
                <a:close/>
                <a:moveTo>
                  <a:pt x="89297" y="219521"/>
                </a:moveTo>
                <a:cubicBezTo>
                  <a:pt x="97529" y="219521"/>
                  <a:pt x="104180" y="212871"/>
                  <a:pt x="104180" y="204639"/>
                </a:cubicBezTo>
                <a:cubicBezTo>
                  <a:pt x="104180" y="196407"/>
                  <a:pt x="97529" y="189756"/>
                  <a:pt x="89297" y="189756"/>
                </a:cubicBezTo>
                <a:cubicBezTo>
                  <a:pt x="81065" y="189756"/>
                  <a:pt x="74414" y="196407"/>
                  <a:pt x="74414" y="204639"/>
                </a:cubicBezTo>
                <a:cubicBezTo>
                  <a:pt x="74414" y="212871"/>
                  <a:pt x="81065" y="219521"/>
                  <a:pt x="89297" y="219521"/>
                </a:cubicBezTo>
                <a:close/>
              </a:path>
            </a:pathLst>
          </a:custGeom>
          <a:solidFill>
            <a:srgbClr val="2A9D8F"/>
          </a:solidFill>
          <a:ln/>
        </p:spPr>
      </p:sp>
      <p:sp>
        <p:nvSpPr>
          <p:cNvPr id="38" name="Text 36"/>
          <p:cNvSpPr/>
          <p:nvPr/>
        </p:nvSpPr>
        <p:spPr>
          <a:xfrm>
            <a:off x="6413500" y="2762250"/>
            <a:ext cx="2508250" cy="190500"/>
          </a:xfrm>
          <a:prstGeom prst="rect">
            <a:avLst/>
          </a:prstGeom>
          <a:noFill/>
          <a:ln/>
        </p:spPr>
        <p:txBody>
          <a:bodyPr wrap="square" lIns="0" tIns="0" rIns="0" bIns="0" rtlCol="0" anchor="ctr"/>
          <a:lstStyle/>
          <a:p>
            <a:pPr algn="ctr">
              <a:lnSpc>
                <a:spcPct val="130000"/>
              </a:lnSpc>
            </a:pPr>
            <a:r>
              <a:rPr lang="en-US" sz="1000" b="1" dirty="0">
                <a:solidFill>
                  <a:srgbClr val="1A3A5C"/>
                </a:solidFill>
                <a:latin typeface="Liter" pitchFamily="34" charset="0"/>
                <a:ea typeface="Liter" pitchFamily="34" charset="-122"/>
                <a:cs typeface="Liter" pitchFamily="34" charset="-120"/>
              </a:rPr>
              <a:t>Mobile Banking</a:t>
            </a:r>
            <a:endParaRPr lang="en-US" sz="1600" dirty="0"/>
          </a:p>
        </p:txBody>
      </p:sp>
      <p:sp>
        <p:nvSpPr>
          <p:cNvPr id="39" name="Text 37"/>
          <p:cNvSpPr/>
          <p:nvPr/>
        </p:nvSpPr>
        <p:spPr>
          <a:xfrm>
            <a:off x="6417469" y="2984500"/>
            <a:ext cx="2500313" cy="158750"/>
          </a:xfrm>
          <a:prstGeom prst="rect">
            <a:avLst/>
          </a:prstGeom>
          <a:noFill/>
          <a:ln/>
        </p:spPr>
        <p:txBody>
          <a:bodyPr wrap="square" lIns="0" tIns="0" rIns="0" bIns="0" rtlCol="0" anchor="ctr"/>
          <a:lstStyle/>
          <a:p>
            <a:pPr algn="ct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Reaches remote areas</a:t>
            </a:r>
            <a:endParaRPr lang="en-US" sz="1600" dirty="0"/>
          </a:p>
        </p:txBody>
      </p:sp>
      <p:sp>
        <p:nvSpPr>
          <p:cNvPr id="40" name="Shape 38"/>
          <p:cNvSpPr/>
          <p:nvPr/>
        </p:nvSpPr>
        <p:spPr>
          <a:xfrm>
            <a:off x="9080500" y="2365375"/>
            <a:ext cx="2635250" cy="873125"/>
          </a:xfrm>
          <a:custGeom>
            <a:avLst/>
            <a:gdLst/>
            <a:ahLst/>
            <a:cxnLst/>
            <a:rect l="l" t="t" r="r" b="b"/>
            <a:pathLst>
              <a:path w="2635250" h="873125">
                <a:moveTo>
                  <a:pt x="63502" y="0"/>
                </a:moveTo>
                <a:lnTo>
                  <a:pt x="2571748" y="0"/>
                </a:lnTo>
                <a:cubicBezTo>
                  <a:pt x="2606819" y="0"/>
                  <a:pt x="2635250" y="28431"/>
                  <a:pt x="2635250" y="63502"/>
                </a:cubicBezTo>
                <a:lnTo>
                  <a:pt x="2635250" y="809623"/>
                </a:lnTo>
                <a:cubicBezTo>
                  <a:pt x="2635250" y="844694"/>
                  <a:pt x="2606819" y="873125"/>
                  <a:pt x="2571748" y="873125"/>
                </a:cubicBezTo>
                <a:lnTo>
                  <a:pt x="63502" y="873125"/>
                </a:lnTo>
                <a:cubicBezTo>
                  <a:pt x="28431" y="873125"/>
                  <a:pt x="0" y="844694"/>
                  <a:pt x="0" y="809623"/>
                </a:cubicBezTo>
                <a:lnTo>
                  <a:pt x="0" y="63502"/>
                </a:lnTo>
                <a:cubicBezTo>
                  <a:pt x="0" y="28454"/>
                  <a:pt x="28454" y="0"/>
                  <a:pt x="63502" y="0"/>
                </a:cubicBezTo>
                <a:close/>
              </a:path>
            </a:pathLst>
          </a:custGeom>
          <a:solidFill>
            <a:srgbClr val="F8F9FA"/>
          </a:solidFill>
          <a:ln/>
        </p:spPr>
      </p:sp>
      <p:sp>
        <p:nvSpPr>
          <p:cNvPr id="41" name="Shape 39"/>
          <p:cNvSpPr/>
          <p:nvPr/>
        </p:nvSpPr>
        <p:spPr>
          <a:xfrm>
            <a:off x="10266164" y="2460625"/>
            <a:ext cx="267891" cy="238125"/>
          </a:xfrm>
          <a:custGeom>
            <a:avLst/>
            <a:gdLst/>
            <a:ahLst/>
            <a:cxnLst/>
            <a:rect l="l" t="t" r="r" b="b"/>
            <a:pathLst>
              <a:path w="267891" h="238125">
                <a:moveTo>
                  <a:pt x="22324" y="91064"/>
                </a:moveTo>
                <a:lnTo>
                  <a:pt x="119621" y="131108"/>
                </a:lnTo>
                <a:cubicBezTo>
                  <a:pt x="124178" y="132969"/>
                  <a:pt x="129015" y="133945"/>
                  <a:pt x="133945" y="133945"/>
                </a:cubicBezTo>
                <a:cubicBezTo>
                  <a:pt x="138875" y="133945"/>
                  <a:pt x="143712" y="132969"/>
                  <a:pt x="148270" y="131108"/>
                </a:cubicBezTo>
                <a:lnTo>
                  <a:pt x="261007" y="84693"/>
                </a:lnTo>
                <a:cubicBezTo>
                  <a:pt x="265193" y="82972"/>
                  <a:pt x="267891" y="78925"/>
                  <a:pt x="267891" y="74414"/>
                </a:cubicBezTo>
                <a:cubicBezTo>
                  <a:pt x="267891" y="69903"/>
                  <a:pt x="265193" y="65856"/>
                  <a:pt x="261007" y="64136"/>
                </a:cubicBezTo>
                <a:lnTo>
                  <a:pt x="148270" y="17720"/>
                </a:lnTo>
                <a:cubicBezTo>
                  <a:pt x="143712" y="15859"/>
                  <a:pt x="138875" y="14883"/>
                  <a:pt x="133945" y="14883"/>
                </a:cubicBezTo>
                <a:cubicBezTo>
                  <a:pt x="129015" y="14883"/>
                  <a:pt x="124178" y="15859"/>
                  <a:pt x="119621" y="17720"/>
                </a:cubicBezTo>
                <a:lnTo>
                  <a:pt x="6883" y="64136"/>
                </a:lnTo>
                <a:cubicBezTo>
                  <a:pt x="2698" y="65856"/>
                  <a:pt x="0" y="69903"/>
                  <a:pt x="0" y="74414"/>
                </a:cubicBezTo>
                <a:lnTo>
                  <a:pt x="0" y="212080"/>
                </a:lnTo>
                <a:cubicBezTo>
                  <a:pt x="0" y="218266"/>
                  <a:pt x="4976" y="223242"/>
                  <a:pt x="11162" y="223242"/>
                </a:cubicBezTo>
                <a:cubicBezTo>
                  <a:pt x="17348" y="223242"/>
                  <a:pt x="22324" y="218266"/>
                  <a:pt x="22324" y="212080"/>
                </a:cubicBezTo>
                <a:lnTo>
                  <a:pt x="22324" y="91064"/>
                </a:lnTo>
                <a:close/>
                <a:moveTo>
                  <a:pt x="44648" y="124411"/>
                </a:moveTo>
                <a:lnTo>
                  <a:pt x="44648" y="178594"/>
                </a:lnTo>
                <a:cubicBezTo>
                  <a:pt x="44648" y="203243"/>
                  <a:pt x="84646" y="223242"/>
                  <a:pt x="133945" y="223242"/>
                </a:cubicBezTo>
                <a:cubicBezTo>
                  <a:pt x="183245" y="223242"/>
                  <a:pt x="223242" y="203243"/>
                  <a:pt x="223242" y="178594"/>
                </a:cubicBezTo>
                <a:lnTo>
                  <a:pt x="223242" y="124365"/>
                </a:lnTo>
                <a:lnTo>
                  <a:pt x="156781" y="151758"/>
                </a:lnTo>
                <a:cubicBezTo>
                  <a:pt x="149526" y="154735"/>
                  <a:pt x="141805" y="156270"/>
                  <a:pt x="133945" y="156270"/>
                </a:cubicBezTo>
                <a:cubicBezTo>
                  <a:pt x="126085" y="156270"/>
                  <a:pt x="118365" y="154735"/>
                  <a:pt x="111109" y="151758"/>
                </a:cubicBezTo>
                <a:lnTo>
                  <a:pt x="44648" y="124365"/>
                </a:lnTo>
                <a:close/>
              </a:path>
            </a:pathLst>
          </a:custGeom>
          <a:solidFill>
            <a:srgbClr val="2A9D8F"/>
          </a:solidFill>
          <a:ln/>
        </p:spPr>
      </p:sp>
      <p:sp>
        <p:nvSpPr>
          <p:cNvPr id="42" name="Text 40"/>
          <p:cNvSpPr/>
          <p:nvPr/>
        </p:nvSpPr>
        <p:spPr>
          <a:xfrm>
            <a:off x="9144000" y="2762250"/>
            <a:ext cx="2508250" cy="190500"/>
          </a:xfrm>
          <a:prstGeom prst="rect">
            <a:avLst/>
          </a:prstGeom>
          <a:noFill/>
          <a:ln/>
        </p:spPr>
        <p:txBody>
          <a:bodyPr wrap="square" lIns="0" tIns="0" rIns="0" bIns="0" rtlCol="0" anchor="ctr"/>
          <a:lstStyle/>
          <a:p>
            <a:pPr algn="ctr">
              <a:lnSpc>
                <a:spcPct val="130000"/>
              </a:lnSpc>
            </a:pPr>
            <a:r>
              <a:rPr lang="en-US" sz="1000" b="1" dirty="0">
                <a:solidFill>
                  <a:srgbClr val="1A3A5C"/>
                </a:solidFill>
                <a:latin typeface="Liter" pitchFamily="34" charset="0"/>
                <a:ea typeface="Liter" pitchFamily="34" charset="-122"/>
                <a:cs typeface="Liter" pitchFamily="34" charset="-120"/>
              </a:rPr>
              <a:t>Financial Literacy</a:t>
            </a:r>
            <a:endParaRPr lang="en-US" sz="1600" dirty="0"/>
          </a:p>
        </p:txBody>
      </p:sp>
      <p:sp>
        <p:nvSpPr>
          <p:cNvPr id="43" name="Text 41"/>
          <p:cNvSpPr/>
          <p:nvPr/>
        </p:nvSpPr>
        <p:spPr>
          <a:xfrm>
            <a:off x="9147969" y="2984500"/>
            <a:ext cx="2500313" cy="158750"/>
          </a:xfrm>
          <a:prstGeom prst="rect">
            <a:avLst/>
          </a:prstGeom>
          <a:noFill/>
          <a:ln/>
        </p:spPr>
        <p:txBody>
          <a:bodyPr wrap="square" lIns="0" tIns="0" rIns="0" bIns="0" rtlCol="0" anchor="ctr"/>
          <a:lstStyle/>
          <a:p>
            <a:pPr algn="ct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Empowers decision-making</a:t>
            </a:r>
            <a:endParaRPr lang="en-US" sz="1600" dirty="0"/>
          </a:p>
        </p:txBody>
      </p:sp>
      <p:sp>
        <p:nvSpPr>
          <p:cNvPr id="44" name="Shape 42"/>
          <p:cNvSpPr/>
          <p:nvPr/>
        </p:nvSpPr>
        <p:spPr>
          <a:xfrm>
            <a:off x="6191250" y="3540125"/>
            <a:ext cx="5683250" cy="1825625"/>
          </a:xfrm>
          <a:custGeom>
            <a:avLst/>
            <a:gdLst/>
            <a:ahLst/>
            <a:cxnLst/>
            <a:rect l="l" t="t" r="r" b="b"/>
            <a:pathLst>
              <a:path w="5683250" h="1825625">
                <a:moveTo>
                  <a:pt x="31750" y="0"/>
                </a:moveTo>
                <a:lnTo>
                  <a:pt x="5651500" y="0"/>
                </a:lnTo>
                <a:cubicBezTo>
                  <a:pt x="5669023" y="0"/>
                  <a:pt x="5683250" y="14227"/>
                  <a:pt x="5683250" y="31750"/>
                </a:cubicBezTo>
                <a:lnTo>
                  <a:pt x="5683250" y="1730382"/>
                </a:lnTo>
                <a:cubicBezTo>
                  <a:pt x="5683250" y="1782983"/>
                  <a:pt x="5640608" y="1825625"/>
                  <a:pt x="5588007" y="1825625"/>
                </a:cubicBezTo>
                <a:lnTo>
                  <a:pt x="95243" y="1825625"/>
                </a:lnTo>
                <a:cubicBezTo>
                  <a:pt x="42642" y="1825625"/>
                  <a:pt x="0" y="1782983"/>
                  <a:pt x="0" y="1730382"/>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45" name="Shape 43"/>
          <p:cNvSpPr/>
          <p:nvPr/>
        </p:nvSpPr>
        <p:spPr>
          <a:xfrm>
            <a:off x="6191250" y="3540125"/>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2A9D8F"/>
          </a:solidFill>
          <a:ln/>
        </p:spPr>
      </p:sp>
      <p:sp>
        <p:nvSpPr>
          <p:cNvPr id="46" name="Shape 44"/>
          <p:cNvSpPr/>
          <p:nvPr/>
        </p:nvSpPr>
        <p:spPr>
          <a:xfrm>
            <a:off x="6350000" y="371475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2A9D8F"/>
          </a:solidFill>
          <a:ln/>
        </p:spPr>
      </p:sp>
      <p:sp>
        <p:nvSpPr>
          <p:cNvPr id="47" name="Shape 45"/>
          <p:cNvSpPr/>
          <p:nvPr/>
        </p:nvSpPr>
        <p:spPr>
          <a:xfrm>
            <a:off x="6486922" y="3849688"/>
            <a:ext cx="238125" cy="238125"/>
          </a:xfrm>
          <a:custGeom>
            <a:avLst/>
            <a:gdLst/>
            <a:ahLst/>
            <a:cxnLst/>
            <a:rect l="l" t="t" r="r" b="b"/>
            <a:pathLst>
              <a:path w="238125" h="238125">
                <a:moveTo>
                  <a:pt x="104133" y="14883"/>
                </a:moveTo>
                <a:lnTo>
                  <a:pt x="68693" y="14883"/>
                </a:lnTo>
                <a:cubicBezTo>
                  <a:pt x="55020" y="14883"/>
                  <a:pt x="43067" y="24231"/>
                  <a:pt x="39812" y="37486"/>
                </a:cubicBezTo>
                <a:lnTo>
                  <a:pt x="651" y="195569"/>
                </a:lnTo>
                <a:cubicBezTo>
                  <a:pt x="-2837" y="209615"/>
                  <a:pt x="7813" y="223242"/>
                  <a:pt x="22324" y="223242"/>
                </a:cubicBezTo>
                <a:lnTo>
                  <a:pt x="104133" y="223242"/>
                </a:lnTo>
                <a:lnTo>
                  <a:pt x="104133" y="193477"/>
                </a:lnTo>
                <a:cubicBezTo>
                  <a:pt x="104133" y="185245"/>
                  <a:pt x="110784" y="178594"/>
                  <a:pt x="119016" y="178594"/>
                </a:cubicBezTo>
                <a:cubicBezTo>
                  <a:pt x="127248" y="178594"/>
                  <a:pt x="133899" y="185245"/>
                  <a:pt x="133899" y="193477"/>
                </a:cubicBezTo>
                <a:lnTo>
                  <a:pt x="133899" y="223242"/>
                </a:lnTo>
                <a:lnTo>
                  <a:pt x="215801" y="223242"/>
                </a:lnTo>
                <a:cubicBezTo>
                  <a:pt x="230312" y="223242"/>
                  <a:pt x="240962" y="209615"/>
                  <a:pt x="237474" y="195569"/>
                </a:cubicBezTo>
                <a:lnTo>
                  <a:pt x="198360" y="37486"/>
                </a:lnTo>
                <a:cubicBezTo>
                  <a:pt x="195058" y="24231"/>
                  <a:pt x="183152" y="14883"/>
                  <a:pt x="169432" y="14883"/>
                </a:cubicBezTo>
                <a:lnTo>
                  <a:pt x="133899" y="14883"/>
                </a:lnTo>
                <a:lnTo>
                  <a:pt x="133899" y="44648"/>
                </a:lnTo>
                <a:cubicBezTo>
                  <a:pt x="133899" y="52880"/>
                  <a:pt x="127248" y="59531"/>
                  <a:pt x="119016" y="59531"/>
                </a:cubicBezTo>
                <a:cubicBezTo>
                  <a:pt x="110784" y="59531"/>
                  <a:pt x="104133" y="52880"/>
                  <a:pt x="104133" y="44648"/>
                </a:cubicBezTo>
                <a:lnTo>
                  <a:pt x="104133" y="14883"/>
                </a:lnTo>
                <a:close/>
                <a:moveTo>
                  <a:pt x="133899" y="104180"/>
                </a:moveTo>
                <a:lnTo>
                  <a:pt x="133899" y="133945"/>
                </a:lnTo>
                <a:cubicBezTo>
                  <a:pt x="133899" y="142177"/>
                  <a:pt x="127248" y="148828"/>
                  <a:pt x="119016" y="148828"/>
                </a:cubicBezTo>
                <a:cubicBezTo>
                  <a:pt x="110784" y="148828"/>
                  <a:pt x="104133" y="142177"/>
                  <a:pt x="104133" y="133945"/>
                </a:cubicBezTo>
                <a:lnTo>
                  <a:pt x="104133" y="104180"/>
                </a:lnTo>
                <a:cubicBezTo>
                  <a:pt x="104133" y="95948"/>
                  <a:pt x="110784" y="89297"/>
                  <a:pt x="119016" y="89297"/>
                </a:cubicBezTo>
                <a:cubicBezTo>
                  <a:pt x="127248" y="89297"/>
                  <a:pt x="133899" y="95948"/>
                  <a:pt x="133899" y="104180"/>
                </a:cubicBezTo>
                <a:close/>
              </a:path>
            </a:pathLst>
          </a:custGeom>
          <a:solidFill>
            <a:srgbClr val="FFFFFF"/>
          </a:solidFill>
          <a:ln/>
        </p:spPr>
      </p:sp>
      <p:sp>
        <p:nvSpPr>
          <p:cNvPr id="48" name="Text 46"/>
          <p:cNvSpPr/>
          <p:nvPr/>
        </p:nvSpPr>
        <p:spPr>
          <a:xfrm>
            <a:off x="6985000" y="3714750"/>
            <a:ext cx="482600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Infrastructure Development</a:t>
            </a:r>
            <a:endParaRPr lang="en-US" sz="1600" dirty="0"/>
          </a:p>
        </p:txBody>
      </p:sp>
      <p:sp>
        <p:nvSpPr>
          <p:cNvPr id="49" name="Text 47"/>
          <p:cNvSpPr/>
          <p:nvPr/>
        </p:nvSpPr>
        <p:spPr>
          <a:xfrm>
            <a:off x="6985000" y="4032250"/>
            <a:ext cx="4794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Banks finance large-scale projects—roads, bridges, power plants—that drive long-term economic growth.</a:t>
            </a:r>
            <a:endParaRPr lang="en-US" sz="1600" dirty="0"/>
          </a:p>
        </p:txBody>
      </p:sp>
      <p:sp>
        <p:nvSpPr>
          <p:cNvPr id="50" name="Shape 48"/>
          <p:cNvSpPr/>
          <p:nvPr/>
        </p:nvSpPr>
        <p:spPr>
          <a:xfrm>
            <a:off x="6350000" y="4540250"/>
            <a:ext cx="5365750" cy="666750"/>
          </a:xfrm>
          <a:custGeom>
            <a:avLst/>
            <a:gdLst/>
            <a:ahLst/>
            <a:cxnLst/>
            <a:rect l="l" t="t" r="r" b="b"/>
            <a:pathLst>
              <a:path w="5365750" h="666750">
                <a:moveTo>
                  <a:pt x="63501" y="0"/>
                </a:moveTo>
                <a:lnTo>
                  <a:pt x="5302249" y="0"/>
                </a:lnTo>
                <a:cubicBezTo>
                  <a:pt x="5337320" y="0"/>
                  <a:pt x="5365750" y="28430"/>
                  <a:pt x="5365750" y="63501"/>
                </a:cubicBezTo>
                <a:lnTo>
                  <a:pt x="5365750" y="603249"/>
                </a:lnTo>
                <a:cubicBezTo>
                  <a:pt x="5365750" y="638320"/>
                  <a:pt x="5337320" y="666750"/>
                  <a:pt x="5302249" y="666750"/>
                </a:cubicBezTo>
                <a:lnTo>
                  <a:pt x="63501" y="666750"/>
                </a:lnTo>
                <a:cubicBezTo>
                  <a:pt x="28430" y="666750"/>
                  <a:pt x="0" y="638320"/>
                  <a:pt x="0" y="603249"/>
                </a:cubicBezTo>
                <a:lnTo>
                  <a:pt x="0" y="63501"/>
                </a:lnTo>
                <a:cubicBezTo>
                  <a:pt x="0" y="28454"/>
                  <a:pt x="28454" y="0"/>
                  <a:pt x="63501" y="0"/>
                </a:cubicBezTo>
                <a:close/>
              </a:path>
            </a:pathLst>
          </a:custGeom>
          <a:solidFill>
            <a:srgbClr val="F8F9FA"/>
          </a:solidFill>
          <a:ln/>
        </p:spPr>
      </p:sp>
      <p:sp>
        <p:nvSpPr>
          <p:cNvPr id="51" name="Text 49"/>
          <p:cNvSpPr/>
          <p:nvPr/>
        </p:nvSpPr>
        <p:spPr>
          <a:xfrm>
            <a:off x="6477000" y="4667250"/>
            <a:ext cx="5175250" cy="412750"/>
          </a:xfrm>
          <a:prstGeom prst="rect">
            <a:avLst/>
          </a:prstGeom>
          <a:noFill/>
          <a:ln/>
        </p:spPr>
        <p:txBody>
          <a:bodyPr wrap="square" lIns="0" tIns="0" rIns="0" bIns="0" rtlCol="0" anchor="ctr"/>
          <a:lstStyle/>
          <a:p>
            <a:pPr>
              <a:lnSpc>
                <a:spcPct val="140000"/>
              </a:lnSpc>
            </a:pPr>
            <a:r>
              <a:rPr lang="en-US" sz="1000" b="1" dirty="0">
                <a:solidFill>
                  <a:srgbClr val="2B2D42"/>
                </a:solidFill>
                <a:latin typeface="Quattrocento Sans" pitchFamily="34" charset="0"/>
                <a:ea typeface="Quattrocento Sans" pitchFamily="34" charset="-122"/>
                <a:cs typeface="Quattrocento Sans" pitchFamily="34" charset="-120"/>
              </a:rPr>
              <a:t>Public-Private Partnerships (PPPs):</a:t>
            </a:r>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 Banks structure financing for massive infrastructure projects, attracting both government and private investment.</a:t>
            </a:r>
            <a:endParaRPr lang="en-US" sz="1600" dirty="0"/>
          </a:p>
        </p:txBody>
      </p:sp>
      <p:sp>
        <p:nvSpPr>
          <p:cNvPr id="52" name="Shape 50"/>
          <p:cNvSpPr/>
          <p:nvPr/>
        </p:nvSpPr>
        <p:spPr>
          <a:xfrm>
            <a:off x="6191250" y="5492750"/>
            <a:ext cx="5683250" cy="1905000"/>
          </a:xfrm>
          <a:custGeom>
            <a:avLst/>
            <a:gdLst/>
            <a:ahLst/>
            <a:cxnLst/>
            <a:rect l="l" t="t" r="r" b="b"/>
            <a:pathLst>
              <a:path w="5683250" h="1905000">
                <a:moveTo>
                  <a:pt x="95250" y="0"/>
                </a:moveTo>
                <a:lnTo>
                  <a:pt x="5588000" y="0"/>
                </a:lnTo>
                <a:cubicBezTo>
                  <a:pt x="5640570" y="0"/>
                  <a:pt x="5683250" y="42680"/>
                  <a:pt x="5683250" y="95250"/>
                </a:cubicBezTo>
                <a:lnTo>
                  <a:pt x="5683250" y="1809750"/>
                </a:lnTo>
                <a:cubicBezTo>
                  <a:pt x="5683250" y="1862320"/>
                  <a:pt x="5640570" y="1905000"/>
                  <a:pt x="5588000" y="1905000"/>
                </a:cubicBezTo>
                <a:lnTo>
                  <a:pt x="95250" y="1905000"/>
                </a:lnTo>
                <a:cubicBezTo>
                  <a:pt x="42680" y="1905000"/>
                  <a:pt x="0" y="1862320"/>
                  <a:pt x="0" y="1809750"/>
                </a:cubicBezTo>
                <a:lnTo>
                  <a:pt x="0" y="95250"/>
                </a:lnTo>
                <a:cubicBezTo>
                  <a:pt x="0" y="42680"/>
                  <a:pt x="42680" y="0"/>
                  <a:pt x="952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53" name="Shape 51"/>
          <p:cNvSpPr/>
          <p:nvPr/>
        </p:nvSpPr>
        <p:spPr>
          <a:xfrm>
            <a:off x="6361906" y="5683250"/>
            <a:ext cx="214313" cy="190500"/>
          </a:xfrm>
          <a:custGeom>
            <a:avLst/>
            <a:gdLst/>
            <a:ahLst/>
            <a:cxnLst/>
            <a:rect l="l" t="t" r="r" b="b"/>
            <a:pathLst>
              <a:path w="214313" h="190500">
                <a:moveTo>
                  <a:pt x="190649" y="89297"/>
                </a:moveTo>
                <a:lnTo>
                  <a:pt x="125164" y="89297"/>
                </a:lnTo>
                <a:cubicBezTo>
                  <a:pt x="118579" y="89297"/>
                  <a:pt x="113258" y="83976"/>
                  <a:pt x="113258" y="77391"/>
                </a:cubicBezTo>
                <a:lnTo>
                  <a:pt x="113258" y="11906"/>
                </a:lnTo>
                <a:cubicBezTo>
                  <a:pt x="113258" y="5321"/>
                  <a:pt x="118616" y="-74"/>
                  <a:pt x="125127" y="781"/>
                </a:cubicBezTo>
                <a:cubicBezTo>
                  <a:pt x="164939" y="6065"/>
                  <a:pt x="196490" y="37616"/>
                  <a:pt x="201774" y="77428"/>
                </a:cubicBezTo>
                <a:cubicBezTo>
                  <a:pt x="202629" y="83939"/>
                  <a:pt x="197234" y="89297"/>
                  <a:pt x="190649" y="89297"/>
                </a:cubicBezTo>
                <a:close/>
                <a:moveTo>
                  <a:pt x="82823" y="13841"/>
                </a:moveTo>
                <a:cubicBezTo>
                  <a:pt x="89557" y="12427"/>
                  <a:pt x="95399" y="17934"/>
                  <a:pt x="95399" y="24817"/>
                </a:cubicBezTo>
                <a:lnTo>
                  <a:pt x="95399" y="98227"/>
                </a:lnTo>
                <a:cubicBezTo>
                  <a:pt x="95399" y="100310"/>
                  <a:pt x="96143" y="102319"/>
                  <a:pt x="97445" y="103919"/>
                </a:cubicBezTo>
                <a:lnTo>
                  <a:pt x="146596" y="163227"/>
                </a:lnTo>
                <a:cubicBezTo>
                  <a:pt x="150949" y="168473"/>
                  <a:pt x="150019" y="176399"/>
                  <a:pt x="144028" y="179636"/>
                </a:cubicBezTo>
                <a:cubicBezTo>
                  <a:pt x="131341" y="186556"/>
                  <a:pt x="116793" y="190500"/>
                  <a:pt x="101352" y="190500"/>
                </a:cubicBezTo>
                <a:cubicBezTo>
                  <a:pt x="52053" y="190500"/>
                  <a:pt x="12055" y="150502"/>
                  <a:pt x="12055" y="101203"/>
                </a:cubicBezTo>
                <a:cubicBezTo>
                  <a:pt x="12055" y="58229"/>
                  <a:pt x="42379" y="22361"/>
                  <a:pt x="82823" y="13841"/>
                </a:cubicBezTo>
                <a:close/>
                <a:moveTo>
                  <a:pt x="177775" y="107156"/>
                </a:moveTo>
                <a:lnTo>
                  <a:pt x="201588" y="107156"/>
                </a:lnTo>
                <a:cubicBezTo>
                  <a:pt x="208471" y="107156"/>
                  <a:pt x="213978" y="112998"/>
                  <a:pt x="212564" y="119732"/>
                </a:cubicBezTo>
                <a:cubicBezTo>
                  <a:pt x="208769" y="137740"/>
                  <a:pt x="199541" y="153739"/>
                  <a:pt x="186668" y="165943"/>
                </a:cubicBezTo>
                <a:cubicBezTo>
                  <a:pt x="182091" y="170297"/>
                  <a:pt x="174910" y="169366"/>
                  <a:pt x="170892" y="164492"/>
                </a:cubicBezTo>
                <a:lnTo>
                  <a:pt x="139489" y="126653"/>
                </a:lnTo>
                <a:cubicBezTo>
                  <a:pt x="133052" y="118876"/>
                  <a:pt x="138596" y="107156"/>
                  <a:pt x="148642" y="107156"/>
                </a:cubicBezTo>
                <a:lnTo>
                  <a:pt x="177738" y="107156"/>
                </a:lnTo>
                <a:close/>
              </a:path>
            </a:pathLst>
          </a:custGeom>
          <a:solidFill>
            <a:srgbClr val="2A9D8F"/>
          </a:solidFill>
          <a:ln/>
        </p:spPr>
      </p:sp>
      <p:sp>
        <p:nvSpPr>
          <p:cNvPr id="54" name="Text 52"/>
          <p:cNvSpPr/>
          <p:nvPr/>
        </p:nvSpPr>
        <p:spPr>
          <a:xfrm>
            <a:off x="6588125" y="5651500"/>
            <a:ext cx="5222875"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Capital Formation</a:t>
            </a:r>
            <a:endParaRPr lang="en-US" sz="1600" dirty="0"/>
          </a:p>
        </p:txBody>
      </p:sp>
      <p:sp>
        <p:nvSpPr>
          <p:cNvPr id="55" name="Text 53"/>
          <p:cNvSpPr/>
          <p:nvPr/>
        </p:nvSpPr>
        <p:spPr>
          <a:xfrm>
            <a:off x="6350000" y="6032500"/>
            <a:ext cx="5429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Investment banks help companies raise capital through stock and bond offerings, enabling expansion and innovation.</a:t>
            </a:r>
            <a:endParaRPr lang="en-US" sz="1600" dirty="0"/>
          </a:p>
        </p:txBody>
      </p:sp>
      <p:sp>
        <p:nvSpPr>
          <p:cNvPr id="56" name="Shape 54"/>
          <p:cNvSpPr/>
          <p:nvPr/>
        </p:nvSpPr>
        <p:spPr>
          <a:xfrm>
            <a:off x="6350000" y="6572250"/>
            <a:ext cx="1722438" cy="666750"/>
          </a:xfrm>
          <a:custGeom>
            <a:avLst/>
            <a:gdLst/>
            <a:ahLst/>
            <a:cxnLst/>
            <a:rect l="l" t="t" r="r" b="b"/>
            <a:pathLst>
              <a:path w="1722438" h="666750">
                <a:moveTo>
                  <a:pt x="63501" y="0"/>
                </a:moveTo>
                <a:lnTo>
                  <a:pt x="1658936" y="0"/>
                </a:lnTo>
                <a:cubicBezTo>
                  <a:pt x="1694007" y="0"/>
                  <a:pt x="1722438" y="28430"/>
                  <a:pt x="1722438" y="63501"/>
                </a:cubicBezTo>
                <a:lnTo>
                  <a:pt x="1722438" y="603249"/>
                </a:lnTo>
                <a:cubicBezTo>
                  <a:pt x="1722438" y="638320"/>
                  <a:pt x="1694007" y="666750"/>
                  <a:pt x="1658936" y="666750"/>
                </a:cubicBezTo>
                <a:lnTo>
                  <a:pt x="63501" y="666750"/>
                </a:lnTo>
                <a:cubicBezTo>
                  <a:pt x="28430" y="666750"/>
                  <a:pt x="0" y="638320"/>
                  <a:pt x="0" y="603249"/>
                </a:cubicBezTo>
                <a:lnTo>
                  <a:pt x="0" y="63501"/>
                </a:lnTo>
                <a:cubicBezTo>
                  <a:pt x="0" y="28454"/>
                  <a:pt x="28454" y="0"/>
                  <a:pt x="63501" y="0"/>
                </a:cubicBezTo>
                <a:close/>
              </a:path>
            </a:pathLst>
          </a:custGeom>
          <a:solidFill>
            <a:srgbClr val="F8F9FA"/>
          </a:solidFill>
          <a:ln/>
        </p:spPr>
      </p:sp>
      <p:sp>
        <p:nvSpPr>
          <p:cNvPr id="57" name="Text 55"/>
          <p:cNvSpPr/>
          <p:nvPr/>
        </p:nvSpPr>
        <p:spPr>
          <a:xfrm>
            <a:off x="6385719" y="6667500"/>
            <a:ext cx="1651000" cy="285750"/>
          </a:xfrm>
          <a:prstGeom prst="rect">
            <a:avLst/>
          </a:prstGeom>
          <a:noFill/>
          <a:ln/>
        </p:spPr>
        <p:txBody>
          <a:bodyPr wrap="square" lIns="0" tIns="0" rIns="0" bIns="0" rtlCol="0" anchor="ctr"/>
          <a:lstStyle/>
          <a:p>
            <a:pPr algn="ctr">
              <a:lnSpc>
                <a:spcPct val="100000"/>
              </a:lnSpc>
            </a:pPr>
            <a:r>
              <a:rPr lang="en-US" sz="1875" b="1" dirty="0">
                <a:solidFill>
                  <a:srgbClr val="2A9D8F"/>
                </a:solidFill>
                <a:latin typeface="Liter" pitchFamily="34" charset="0"/>
                <a:ea typeface="Liter" pitchFamily="34" charset="-122"/>
                <a:cs typeface="Liter" pitchFamily="34" charset="-120"/>
              </a:rPr>
              <a:t>IPO</a:t>
            </a:r>
            <a:endParaRPr lang="en-US" sz="1600" dirty="0"/>
          </a:p>
        </p:txBody>
      </p:sp>
      <p:sp>
        <p:nvSpPr>
          <p:cNvPr id="58" name="Text 56"/>
          <p:cNvSpPr/>
          <p:nvPr/>
        </p:nvSpPr>
        <p:spPr>
          <a:xfrm>
            <a:off x="6417469" y="6985000"/>
            <a:ext cx="1587500" cy="158750"/>
          </a:xfrm>
          <a:prstGeom prst="rect">
            <a:avLst/>
          </a:prstGeom>
          <a:noFill/>
          <a:ln/>
        </p:spPr>
        <p:txBody>
          <a:bodyPr wrap="square" lIns="0" tIns="0" rIns="0" bIns="0" rtlCol="0" anchor="ctr"/>
          <a:lstStyle/>
          <a:p>
            <a:pPr algn="ct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Stock offerings</a:t>
            </a:r>
            <a:endParaRPr lang="en-US" sz="1600" dirty="0"/>
          </a:p>
        </p:txBody>
      </p:sp>
      <p:sp>
        <p:nvSpPr>
          <p:cNvPr id="59" name="Shape 57"/>
          <p:cNvSpPr/>
          <p:nvPr/>
        </p:nvSpPr>
        <p:spPr>
          <a:xfrm>
            <a:off x="8170292" y="6572250"/>
            <a:ext cx="1722438" cy="666750"/>
          </a:xfrm>
          <a:custGeom>
            <a:avLst/>
            <a:gdLst/>
            <a:ahLst/>
            <a:cxnLst/>
            <a:rect l="l" t="t" r="r" b="b"/>
            <a:pathLst>
              <a:path w="1722438" h="666750">
                <a:moveTo>
                  <a:pt x="63501" y="0"/>
                </a:moveTo>
                <a:lnTo>
                  <a:pt x="1658936" y="0"/>
                </a:lnTo>
                <a:cubicBezTo>
                  <a:pt x="1694007" y="0"/>
                  <a:pt x="1722438" y="28430"/>
                  <a:pt x="1722438" y="63501"/>
                </a:cubicBezTo>
                <a:lnTo>
                  <a:pt x="1722438" y="603249"/>
                </a:lnTo>
                <a:cubicBezTo>
                  <a:pt x="1722438" y="638320"/>
                  <a:pt x="1694007" y="666750"/>
                  <a:pt x="1658936" y="666750"/>
                </a:cubicBezTo>
                <a:lnTo>
                  <a:pt x="63501" y="666750"/>
                </a:lnTo>
                <a:cubicBezTo>
                  <a:pt x="28430" y="666750"/>
                  <a:pt x="0" y="638320"/>
                  <a:pt x="0" y="603249"/>
                </a:cubicBezTo>
                <a:lnTo>
                  <a:pt x="0" y="63501"/>
                </a:lnTo>
                <a:cubicBezTo>
                  <a:pt x="0" y="28454"/>
                  <a:pt x="28454" y="0"/>
                  <a:pt x="63501" y="0"/>
                </a:cubicBezTo>
                <a:close/>
              </a:path>
            </a:pathLst>
          </a:custGeom>
          <a:solidFill>
            <a:srgbClr val="F8F9FA"/>
          </a:solidFill>
          <a:ln/>
        </p:spPr>
      </p:sp>
      <p:sp>
        <p:nvSpPr>
          <p:cNvPr id="60" name="Text 58"/>
          <p:cNvSpPr/>
          <p:nvPr/>
        </p:nvSpPr>
        <p:spPr>
          <a:xfrm>
            <a:off x="8206011" y="6667500"/>
            <a:ext cx="1651000" cy="285750"/>
          </a:xfrm>
          <a:prstGeom prst="rect">
            <a:avLst/>
          </a:prstGeom>
          <a:noFill/>
          <a:ln/>
        </p:spPr>
        <p:txBody>
          <a:bodyPr wrap="square" lIns="0" tIns="0" rIns="0" bIns="0" rtlCol="0" anchor="ctr"/>
          <a:lstStyle/>
          <a:p>
            <a:pPr algn="ctr">
              <a:lnSpc>
                <a:spcPct val="100000"/>
              </a:lnSpc>
            </a:pPr>
            <a:r>
              <a:rPr lang="en-US" sz="1875" b="1" dirty="0">
                <a:solidFill>
                  <a:srgbClr val="2A9D8F"/>
                </a:solidFill>
                <a:latin typeface="Liter" pitchFamily="34" charset="0"/>
                <a:ea typeface="Liter" pitchFamily="34" charset="-122"/>
                <a:cs typeface="Liter" pitchFamily="34" charset="-120"/>
              </a:rPr>
              <a:t>Bonds</a:t>
            </a:r>
            <a:endParaRPr lang="en-US" sz="1600" dirty="0"/>
          </a:p>
        </p:txBody>
      </p:sp>
      <p:sp>
        <p:nvSpPr>
          <p:cNvPr id="61" name="Text 59"/>
          <p:cNvSpPr/>
          <p:nvPr/>
        </p:nvSpPr>
        <p:spPr>
          <a:xfrm>
            <a:off x="8237761" y="6985000"/>
            <a:ext cx="1587500" cy="158750"/>
          </a:xfrm>
          <a:prstGeom prst="rect">
            <a:avLst/>
          </a:prstGeom>
          <a:noFill/>
          <a:ln/>
        </p:spPr>
        <p:txBody>
          <a:bodyPr wrap="square" lIns="0" tIns="0" rIns="0" bIns="0" rtlCol="0" anchor="ctr"/>
          <a:lstStyle/>
          <a:p>
            <a:pPr algn="ct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Debt financing</a:t>
            </a:r>
            <a:endParaRPr lang="en-US" sz="1600" dirty="0"/>
          </a:p>
        </p:txBody>
      </p:sp>
      <p:sp>
        <p:nvSpPr>
          <p:cNvPr id="62" name="Shape 60"/>
          <p:cNvSpPr/>
          <p:nvPr/>
        </p:nvSpPr>
        <p:spPr>
          <a:xfrm>
            <a:off x="9990646" y="6572250"/>
            <a:ext cx="1722438" cy="666750"/>
          </a:xfrm>
          <a:custGeom>
            <a:avLst/>
            <a:gdLst/>
            <a:ahLst/>
            <a:cxnLst/>
            <a:rect l="l" t="t" r="r" b="b"/>
            <a:pathLst>
              <a:path w="1722438" h="666750">
                <a:moveTo>
                  <a:pt x="63501" y="0"/>
                </a:moveTo>
                <a:lnTo>
                  <a:pt x="1658936" y="0"/>
                </a:lnTo>
                <a:cubicBezTo>
                  <a:pt x="1694007" y="0"/>
                  <a:pt x="1722438" y="28430"/>
                  <a:pt x="1722438" y="63501"/>
                </a:cubicBezTo>
                <a:lnTo>
                  <a:pt x="1722438" y="603249"/>
                </a:lnTo>
                <a:cubicBezTo>
                  <a:pt x="1722438" y="638320"/>
                  <a:pt x="1694007" y="666750"/>
                  <a:pt x="1658936" y="666750"/>
                </a:cubicBezTo>
                <a:lnTo>
                  <a:pt x="63501" y="666750"/>
                </a:lnTo>
                <a:cubicBezTo>
                  <a:pt x="28430" y="666750"/>
                  <a:pt x="0" y="638320"/>
                  <a:pt x="0" y="603249"/>
                </a:cubicBezTo>
                <a:lnTo>
                  <a:pt x="0" y="63501"/>
                </a:lnTo>
                <a:cubicBezTo>
                  <a:pt x="0" y="28454"/>
                  <a:pt x="28454" y="0"/>
                  <a:pt x="63501" y="0"/>
                </a:cubicBezTo>
                <a:close/>
              </a:path>
            </a:pathLst>
          </a:custGeom>
          <a:solidFill>
            <a:srgbClr val="F8F9FA"/>
          </a:solidFill>
          <a:ln/>
        </p:spPr>
      </p:sp>
      <p:sp>
        <p:nvSpPr>
          <p:cNvPr id="63" name="Text 61"/>
          <p:cNvSpPr/>
          <p:nvPr/>
        </p:nvSpPr>
        <p:spPr>
          <a:xfrm>
            <a:off x="10026365" y="6667500"/>
            <a:ext cx="1651000" cy="285750"/>
          </a:xfrm>
          <a:prstGeom prst="rect">
            <a:avLst/>
          </a:prstGeom>
          <a:noFill/>
          <a:ln/>
        </p:spPr>
        <p:txBody>
          <a:bodyPr wrap="square" lIns="0" tIns="0" rIns="0" bIns="0" rtlCol="0" anchor="ctr"/>
          <a:lstStyle/>
          <a:p>
            <a:pPr algn="ctr">
              <a:lnSpc>
                <a:spcPct val="100000"/>
              </a:lnSpc>
            </a:pPr>
            <a:r>
              <a:rPr lang="en-US" sz="1875" b="1" dirty="0">
                <a:solidFill>
                  <a:srgbClr val="2A9D8F"/>
                </a:solidFill>
                <a:latin typeface="Liter" pitchFamily="34" charset="0"/>
                <a:ea typeface="Liter" pitchFamily="34" charset="-122"/>
                <a:cs typeface="Liter" pitchFamily="34" charset="-120"/>
              </a:rPr>
              <a:t>M&amp;A</a:t>
            </a:r>
            <a:endParaRPr lang="en-US" sz="1600" dirty="0"/>
          </a:p>
        </p:txBody>
      </p:sp>
      <p:sp>
        <p:nvSpPr>
          <p:cNvPr id="64" name="Text 62"/>
          <p:cNvSpPr/>
          <p:nvPr/>
        </p:nvSpPr>
        <p:spPr>
          <a:xfrm>
            <a:off x="10058115" y="6985000"/>
            <a:ext cx="1587500" cy="158750"/>
          </a:xfrm>
          <a:prstGeom prst="rect">
            <a:avLst/>
          </a:prstGeom>
          <a:noFill/>
          <a:ln/>
        </p:spPr>
        <p:txBody>
          <a:bodyPr wrap="square" lIns="0" tIns="0" rIns="0" bIns="0" rtlCol="0" anchor="ctr"/>
          <a:lstStyle/>
          <a:p>
            <a:pPr algn="ct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Mergers</a:t>
            </a:r>
            <a:endParaRPr lang="en-US" sz="1600" dirty="0"/>
          </a:p>
        </p:txBody>
      </p:sp>
      <p:sp>
        <p:nvSpPr>
          <p:cNvPr id="65" name="Shape 63"/>
          <p:cNvSpPr/>
          <p:nvPr/>
        </p:nvSpPr>
        <p:spPr>
          <a:xfrm>
            <a:off x="333375" y="7524750"/>
            <a:ext cx="11541125" cy="666750"/>
          </a:xfrm>
          <a:custGeom>
            <a:avLst/>
            <a:gdLst/>
            <a:ahLst/>
            <a:cxnLst/>
            <a:rect l="l" t="t" r="r" b="b"/>
            <a:pathLst>
              <a:path w="11541125" h="666750">
                <a:moveTo>
                  <a:pt x="31750" y="0"/>
                </a:moveTo>
                <a:lnTo>
                  <a:pt x="11477624" y="0"/>
                </a:lnTo>
                <a:cubicBezTo>
                  <a:pt x="11512695" y="0"/>
                  <a:pt x="11541125" y="28430"/>
                  <a:pt x="11541125" y="63501"/>
                </a:cubicBezTo>
                <a:lnTo>
                  <a:pt x="11541125" y="603249"/>
                </a:lnTo>
                <a:cubicBezTo>
                  <a:pt x="11541125" y="638320"/>
                  <a:pt x="11512695" y="666750"/>
                  <a:pt x="11477624" y="666750"/>
                </a:cubicBezTo>
                <a:lnTo>
                  <a:pt x="31750" y="666750"/>
                </a:lnTo>
                <a:cubicBezTo>
                  <a:pt x="14215" y="666750"/>
                  <a:pt x="0" y="652535"/>
                  <a:pt x="0" y="635000"/>
                </a:cubicBezTo>
                <a:lnTo>
                  <a:pt x="0" y="31750"/>
                </a:lnTo>
                <a:cubicBezTo>
                  <a:pt x="0" y="14227"/>
                  <a:pt x="14227" y="0"/>
                  <a:pt x="31750" y="0"/>
                </a:cubicBezTo>
                <a:close/>
              </a:path>
            </a:pathLst>
          </a:custGeom>
          <a:solidFill>
            <a:srgbClr val="1A3A5C">
              <a:alpha val="5098"/>
            </a:srgbClr>
          </a:solidFill>
          <a:ln/>
        </p:spPr>
      </p:sp>
      <p:sp>
        <p:nvSpPr>
          <p:cNvPr id="66" name="Shape 64"/>
          <p:cNvSpPr/>
          <p:nvPr/>
        </p:nvSpPr>
        <p:spPr>
          <a:xfrm>
            <a:off x="333375" y="7524750"/>
            <a:ext cx="31750" cy="666750"/>
          </a:xfrm>
          <a:custGeom>
            <a:avLst/>
            <a:gdLst/>
            <a:ahLst/>
            <a:cxnLst/>
            <a:rect l="l" t="t" r="r" b="b"/>
            <a:pathLst>
              <a:path w="31750" h="666750">
                <a:moveTo>
                  <a:pt x="31750" y="0"/>
                </a:moveTo>
                <a:lnTo>
                  <a:pt x="31750" y="0"/>
                </a:lnTo>
                <a:lnTo>
                  <a:pt x="31750" y="666750"/>
                </a:lnTo>
                <a:lnTo>
                  <a:pt x="31750" y="666750"/>
                </a:lnTo>
                <a:cubicBezTo>
                  <a:pt x="14227" y="666750"/>
                  <a:pt x="0" y="652523"/>
                  <a:pt x="0" y="635000"/>
                </a:cubicBezTo>
                <a:lnTo>
                  <a:pt x="0" y="31750"/>
                </a:lnTo>
                <a:cubicBezTo>
                  <a:pt x="0" y="14227"/>
                  <a:pt x="14227" y="0"/>
                  <a:pt x="31750" y="0"/>
                </a:cubicBezTo>
                <a:close/>
              </a:path>
            </a:pathLst>
          </a:custGeom>
          <a:solidFill>
            <a:srgbClr val="1A3A5C"/>
          </a:solidFill>
          <a:ln/>
        </p:spPr>
      </p:sp>
      <p:sp>
        <p:nvSpPr>
          <p:cNvPr id="67" name="Shape 65"/>
          <p:cNvSpPr/>
          <p:nvPr/>
        </p:nvSpPr>
        <p:spPr>
          <a:xfrm>
            <a:off x="500063" y="7687469"/>
            <a:ext cx="111125" cy="127000"/>
          </a:xfrm>
          <a:custGeom>
            <a:avLst/>
            <a:gdLst/>
            <a:ahLst/>
            <a:cxnLst/>
            <a:rect l="l" t="t" r="r" b="b"/>
            <a:pathLst>
              <a:path w="111125" h="127000">
                <a:moveTo>
                  <a:pt x="0" y="53578"/>
                </a:moveTo>
                <a:cubicBezTo>
                  <a:pt x="0" y="37133"/>
                  <a:pt x="13320" y="23812"/>
                  <a:pt x="29766" y="23812"/>
                </a:cubicBezTo>
                <a:lnTo>
                  <a:pt x="31750" y="23812"/>
                </a:lnTo>
                <a:cubicBezTo>
                  <a:pt x="36140" y="23812"/>
                  <a:pt x="39688" y="27360"/>
                  <a:pt x="39688" y="31750"/>
                </a:cubicBezTo>
                <a:cubicBezTo>
                  <a:pt x="39688" y="36140"/>
                  <a:pt x="36140" y="39688"/>
                  <a:pt x="31750" y="39688"/>
                </a:cubicBezTo>
                <a:lnTo>
                  <a:pt x="29766" y="39688"/>
                </a:lnTo>
                <a:cubicBezTo>
                  <a:pt x="22101" y="39688"/>
                  <a:pt x="15875" y="45913"/>
                  <a:pt x="15875" y="53578"/>
                </a:cubicBezTo>
                <a:lnTo>
                  <a:pt x="15875" y="55563"/>
                </a:lnTo>
                <a:lnTo>
                  <a:pt x="31750" y="55563"/>
                </a:lnTo>
                <a:cubicBezTo>
                  <a:pt x="40506" y="55563"/>
                  <a:pt x="47625" y="62681"/>
                  <a:pt x="47625" y="71438"/>
                </a:cubicBezTo>
                <a:lnTo>
                  <a:pt x="47625" y="87313"/>
                </a:lnTo>
                <a:cubicBezTo>
                  <a:pt x="47625" y="96069"/>
                  <a:pt x="40506" y="103188"/>
                  <a:pt x="31750" y="103188"/>
                </a:cubicBezTo>
                <a:lnTo>
                  <a:pt x="15875" y="103188"/>
                </a:lnTo>
                <a:cubicBezTo>
                  <a:pt x="7119" y="103188"/>
                  <a:pt x="0" y="96069"/>
                  <a:pt x="0" y="87313"/>
                </a:cubicBezTo>
                <a:lnTo>
                  <a:pt x="0" y="53578"/>
                </a:lnTo>
                <a:close/>
                <a:moveTo>
                  <a:pt x="63500" y="53578"/>
                </a:moveTo>
                <a:cubicBezTo>
                  <a:pt x="63500" y="37133"/>
                  <a:pt x="76820" y="23812"/>
                  <a:pt x="93266" y="23812"/>
                </a:cubicBezTo>
                <a:lnTo>
                  <a:pt x="95250" y="23812"/>
                </a:lnTo>
                <a:cubicBezTo>
                  <a:pt x="99640" y="23812"/>
                  <a:pt x="103188" y="27360"/>
                  <a:pt x="103188" y="31750"/>
                </a:cubicBezTo>
                <a:cubicBezTo>
                  <a:pt x="103188" y="36140"/>
                  <a:pt x="99640" y="39688"/>
                  <a:pt x="95250" y="39688"/>
                </a:cubicBezTo>
                <a:lnTo>
                  <a:pt x="93266" y="39688"/>
                </a:lnTo>
                <a:cubicBezTo>
                  <a:pt x="85601" y="39688"/>
                  <a:pt x="79375" y="45913"/>
                  <a:pt x="79375" y="53578"/>
                </a:cubicBezTo>
                <a:lnTo>
                  <a:pt x="79375" y="55563"/>
                </a:lnTo>
                <a:lnTo>
                  <a:pt x="95250" y="55563"/>
                </a:lnTo>
                <a:cubicBezTo>
                  <a:pt x="104006" y="55563"/>
                  <a:pt x="111125" y="62681"/>
                  <a:pt x="111125" y="71438"/>
                </a:cubicBezTo>
                <a:lnTo>
                  <a:pt x="111125" y="87313"/>
                </a:lnTo>
                <a:cubicBezTo>
                  <a:pt x="111125" y="96069"/>
                  <a:pt x="104006" y="103188"/>
                  <a:pt x="95250" y="103188"/>
                </a:cubicBezTo>
                <a:lnTo>
                  <a:pt x="79375" y="103188"/>
                </a:lnTo>
                <a:cubicBezTo>
                  <a:pt x="70619" y="103188"/>
                  <a:pt x="63500" y="96069"/>
                  <a:pt x="63500" y="87313"/>
                </a:cubicBezTo>
                <a:lnTo>
                  <a:pt x="63500" y="53578"/>
                </a:lnTo>
                <a:close/>
              </a:path>
            </a:pathLst>
          </a:custGeom>
          <a:solidFill>
            <a:srgbClr val="2A9D8F"/>
          </a:solidFill>
          <a:ln/>
        </p:spPr>
      </p:sp>
      <p:sp>
        <p:nvSpPr>
          <p:cNvPr id="68" name="Text 66"/>
          <p:cNvSpPr/>
          <p:nvPr/>
        </p:nvSpPr>
        <p:spPr>
          <a:xfrm>
            <a:off x="674688" y="7651750"/>
            <a:ext cx="11136313" cy="412750"/>
          </a:xfrm>
          <a:prstGeom prst="rect">
            <a:avLst/>
          </a:prstGeom>
          <a:noFill/>
          <a:ln/>
        </p:spPr>
        <p:txBody>
          <a:bodyPr wrap="square" lIns="0" tIns="0" rIns="0" bIns="0" rtlCol="0" anchor="ctr"/>
          <a:lstStyle/>
          <a:p>
            <a:pPr>
              <a:lnSpc>
                <a:spcPct val="140000"/>
              </a:lnSpc>
            </a:pPr>
            <a:r>
              <a:rPr lang="en-US" sz="1000" b="1" dirty="0">
                <a:solidFill>
                  <a:srgbClr val="2B2D42"/>
                </a:solidFill>
                <a:latin typeface="Quattrocento Sans" pitchFamily="34" charset="0"/>
                <a:ea typeface="Quattrocento Sans" pitchFamily="34" charset="-122"/>
                <a:cs typeface="Quattrocento Sans" pitchFamily="34" charset="-120"/>
              </a:rPr>
              <a:t>Speaker Note:</a:t>
            </a:r>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 Use concrete examples: a local bakery expanding with a bank loan, or a student getting an education loan. Emphasize that without banks, capital would remain idle in savings, and businesses couldn't grow. Mention how mobile banking in Africa has brought millions into the formal economy.</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2A9D8F"/>
                </a:solidFill>
                <a:latin typeface="Liter" pitchFamily="34" charset="0"/>
                <a:ea typeface="Liter" pitchFamily="34" charset="-122"/>
                <a:cs typeface="Liter" pitchFamily="34" charset="-120"/>
              </a:rPr>
              <a:t>CHAPTER 09</a:t>
            </a:r>
            <a:endParaRPr lang="en-US" sz="1600" dirty="0"/>
          </a:p>
        </p:txBody>
      </p:sp>
      <p:sp>
        <p:nvSpPr>
          <p:cNvPr id="3" name="Text 1"/>
          <p:cNvSpPr/>
          <p:nvPr/>
        </p:nvSpPr>
        <p:spPr>
          <a:xfrm>
            <a:off x="317500" y="571500"/>
            <a:ext cx="11747500" cy="476250"/>
          </a:xfrm>
          <a:prstGeom prst="rect">
            <a:avLst/>
          </a:prstGeom>
          <a:noFill/>
          <a:ln/>
        </p:spPr>
        <p:txBody>
          <a:bodyPr wrap="square" lIns="0" tIns="0" rIns="0" bIns="0" rtlCol="0" anchor="ctr"/>
          <a:lstStyle/>
          <a:p>
            <a:pPr>
              <a:lnSpc>
                <a:spcPct val="100000"/>
              </a:lnSpc>
            </a:pPr>
            <a:r>
              <a:rPr lang="en-US" sz="3000" b="1" dirty="0">
                <a:solidFill>
                  <a:srgbClr val="1A3A5C"/>
                </a:solidFill>
                <a:latin typeface="Oranienbaum" pitchFamily="34" charset="0"/>
                <a:ea typeface="Oranienbaum" pitchFamily="34" charset="-122"/>
                <a:cs typeface="Oranienbaum" pitchFamily="34" charset="-120"/>
              </a:rPr>
              <a:t>Modern Trends in Banking</a:t>
            </a:r>
            <a:endParaRPr lang="en-US" sz="1600" dirty="0"/>
          </a:p>
        </p:txBody>
      </p:sp>
      <p:sp>
        <p:nvSpPr>
          <p:cNvPr id="4" name="Shape 2"/>
          <p:cNvSpPr/>
          <p:nvPr/>
        </p:nvSpPr>
        <p:spPr>
          <a:xfrm>
            <a:off x="317500" y="1174750"/>
            <a:ext cx="762000" cy="47625"/>
          </a:xfrm>
          <a:custGeom>
            <a:avLst/>
            <a:gdLst/>
            <a:ahLst/>
            <a:cxnLst/>
            <a:rect l="l" t="t" r="r" b="b"/>
            <a:pathLst>
              <a:path w="762000" h="47625">
                <a:moveTo>
                  <a:pt x="0" y="0"/>
                </a:moveTo>
                <a:lnTo>
                  <a:pt x="762000" y="0"/>
                </a:lnTo>
                <a:lnTo>
                  <a:pt x="762000" y="47625"/>
                </a:lnTo>
                <a:lnTo>
                  <a:pt x="0" y="47625"/>
                </a:lnTo>
                <a:lnTo>
                  <a:pt x="0" y="0"/>
                </a:lnTo>
                <a:close/>
              </a:path>
            </a:pathLst>
          </a:custGeom>
          <a:solidFill>
            <a:srgbClr val="2A9D8F"/>
          </a:solidFill>
          <a:ln/>
        </p:spPr>
      </p:sp>
      <p:sp>
        <p:nvSpPr>
          <p:cNvPr id="5" name="Shape 3"/>
          <p:cNvSpPr/>
          <p:nvPr/>
        </p:nvSpPr>
        <p:spPr>
          <a:xfrm>
            <a:off x="317500" y="1365250"/>
            <a:ext cx="3746500" cy="3270250"/>
          </a:xfrm>
          <a:custGeom>
            <a:avLst/>
            <a:gdLst/>
            <a:ahLst/>
            <a:cxnLst/>
            <a:rect l="l" t="t" r="r" b="b"/>
            <a:pathLst>
              <a:path w="3746500" h="3270250">
                <a:moveTo>
                  <a:pt x="31750" y="0"/>
                </a:moveTo>
                <a:lnTo>
                  <a:pt x="3714750" y="0"/>
                </a:lnTo>
                <a:cubicBezTo>
                  <a:pt x="3732273" y="0"/>
                  <a:pt x="3746500" y="14227"/>
                  <a:pt x="3746500" y="31750"/>
                </a:cubicBezTo>
                <a:lnTo>
                  <a:pt x="3746500" y="3174988"/>
                </a:lnTo>
                <a:cubicBezTo>
                  <a:pt x="3746500" y="3227600"/>
                  <a:pt x="3703850" y="3270250"/>
                  <a:pt x="3651238" y="3270250"/>
                </a:cubicBezTo>
                <a:lnTo>
                  <a:pt x="95262" y="3270250"/>
                </a:lnTo>
                <a:cubicBezTo>
                  <a:pt x="42650" y="3270250"/>
                  <a:pt x="0" y="3227600"/>
                  <a:pt x="0" y="3174988"/>
                </a:cubicBezTo>
                <a:lnTo>
                  <a:pt x="0" y="31750"/>
                </a:lnTo>
                <a:cubicBezTo>
                  <a:pt x="0" y="14227"/>
                  <a:pt x="14227" y="0"/>
                  <a:pt x="31750" y="0"/>
                </a:cubicBezTo>
                <a:close/>
              </a:path>
            </a:pathLst>
          </a:custGeom>
          <a:solidFill>
            <a:srgbClr val="FFFFFF"/>
          </a:solidFill>
          <a:ln/>
          <a:effectLst>
            <a:outerShdw sx="100000" sy="100000" kx="0" ky="0" algn="bl" rotWithShape="0" blurRad="119063" dist="79375" dir="5400000">
              <a:srgbClr val="000000">
                <a:alpha val="10196"/>
              </a:srgbClr>
            </a:outerShdw>
          </a:effectLst>
        </p:spPr>
      </p:sp>
      <p:sp>
        <p:nvSpPr>
          <p:cNvPr id="6" name="Shape 4"/>
          <p:cNvSpPr/>
          <p:nvPr/>
        </p:nvSpPr>
        <p:spPr>
          <a:xfrm>
            <a:off x="317500" y="1365250"/>
            <a:ext cx="3746500" cy="31750"/>
          </a:xfrm>
          <a:custGeom>
            <a:avLst/>
            <a:gdLst/>
            <a:ahLst/>
            <a:cxnLst/>
            <a:rect l="l" t="t" r="r" b="b"/>
            <a:pathLst>
              <a:path w="3746500" h="31750">
                <a:moveTo>
                  <a:pt x="31750" y="0"/>
                </a:moveTo>
                <a:lnTo>
                  <a:pt x="3714750" y="0"/>
                </a:lnTo>
                <a:cubicBezTo>
                  <a:pt x="3732273" y="0"/>
                  <a:pt x="3746500" y="14227"/>
                  <a:pt x="3746500" y="31750"/>
                </a:cubicBezTo>
                <a:lnTo>
                  <a:pt x="3746500" y="31750"/>
                </a:lnTo>
                <a:lnTo>
                  <a:pt x="0" y="31750"/>
                </a:lnTo>
                <a:lnTo>
                  <a:pt x="0" y="31750"/>
                </a:lnTo>
                <a:cubicBezTo>
                  <a:pt x="0" y="14227"/>
                  <a:pt x="14227" y="0"/>
                  <a:pt x="31750" y="0"/>
                </a:cubicBezTo>
                <a:close/>
              </a:path>
            </a:pathLst>
          </a:custGeom>
          <a:solidFill>
            <a:srgbClr val="1A3A5C"/>
          </a:solidFill>
          <a:ln/>
        </p:spPr>
      </p:sp>
      <p:sp>
        <p:nvSpPr>
          <p:cNvPr id="7" name="Shape 5"/>
          <p:cNvSpPr/>
          <p:nvPr/>
        </p:nvSpPr>
        <p:spPr>
          <a:xfrm>
            <a:off x="476250" y="1539875"/>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1A3A5C"/>
          </a:solidFill>
          <a:ln/>
        </p:spPr>
      </p:sp>
      <p:sp>
        <p:nvSpPr>
          <p:cNvPr id="8" name="Shape 6"/>
          <p:cNvSpPr/>
          <p:nvPr/>
        </p:nvSpPr>
        <p:spPr>
          <a:xfrm>
            <a:off x="627063" y="1666875"/>
            <a:ext cx="142875" cy="190500"/>
          </a:xfrm>
          <a:custGeom>
            <a:avLst/>
            <a:gdLst/>
            <a:ahLst/>
            <a:cxnLst/>
            <a:rect l="l" t="t" r="r" b="b"/>
            <a:pathLst>
              <a:path w="142875" h="190500">
                <a:moveTo>
                  <a:pt x="5953" y="23812"/>
                </a:moveTo>
                <a:cubicBezTo>
                  <a:pt x="5953" y="10678"/>
                  <a:pt x="16632" y="0"/>
                  <a:pt x="29766" y="0"/>
                </a:cubicBezTo>
                <a:lnTo>
                  <a:pt x="113109" y="0"/>
                </a:lnTo>
                <a:cubicBezTo>
                  <a:pt x="126243" y="0"/>
                  <a:pt x="136922" y="10678"/>
                  <a:pt x="136922" y="23812"/>
                </a:cubicBezTo>
                <a:lnTo>
                  <a:pt x="136922" y="166688"/>
                </a:lnTo>
                <a:cubicBezTo>
                  <a:pt x="136922" y="179822"/>
                  <a:pt x="126243" y="190500"/>
                  <a:pt x="113109" y="190500"/>
                </a:cubicBezTo>
                <a:lnTo>
                  <a:pt x="29766" y="190500"/>
                </a:lnTo>
                <a:cubicBezTo>
                  <a:pt x="16632" y="190500"/>
                  <a:pt x="5953" y="179822"/>
                  <a:pt x="5953" y="166688"/>
                </a:cubicBezTo>
                <a:lnTo>
                  <a:pt x="5953" y="23812"/>
                </a:lnTo>
                <a:close/>
                <a:moveTo>
                  <a:pt x="29766" y="23812"/>
                </a:moveTo>
                <a:lnTo>
                  <a:pt x="29766" y="136922"/>
                </a:lnTo>
                <a:lnTo>
                  <a:pt x="113109" y="136922"/>
                </a:lnTo>
                <a:lnTo>
                  <a:pt x="113109" y="23812"/>
                </a:lnTo>
                <a:lnTo>
                  <a:pt x="29766" y="23812"/>
                </a:lnTo>
                <a:close/>
                <a:moveTo>
                  <a:pt x="71438" y="175617"/>
                </a:moveTo>
                <a:cubicBezTo>
                  <a:pt x="78023" y="175617"/>
                  <a:pt x="83344" y="170297"/>
                  <a:pt x="83344" y="163711"/>
                </a:cubicBezTo>
                <a:cubicBezTo>
                  <a:pt x="83344" y="157125"/>
                  <a:pt x="78023" y="151805"/>
                  <a:pt x="71438" y="151805"/>
                </a:cubicBezTo>
                <a:cubicBezTo>
                  <a:pt x="64852" y="151805"/>
                  <a:pt x="59531" y="157125"/>
                  <a:pt x="59531" y="163711"/>
                </a:cubicBezTo>
                <a:cubicBezTo>
                  <a:pt x="59531" y="170297"/>
                  <a:pt x="64852" y="175617"/>
                  <a:pt x="71438" y="175617"/>
                </a:cubicBezTo>
                <a:close/>
              </a:path>
            </a:pathLst>
          </a:custGeom>
          <a:solidFill>
            <a:srgbClr val="FFFFFF"/>
          </a:solidFill>
          <a:ln/>
        </p:spPr>
      </p:sp>
      <p:sp>
        <p:nvSpPr>
          <p:cNvPr id="9" name="Text 7"/>
          <p:cNvSpPr/>
          <p:nvPr/>
        </p:nvSpPr>
        <p:spPr>
          <a:xfrm>
            <a:off x="1047750" y="1651000"/>
            <a:ext cx="1960563" cy="222250"/>
          </a:xfrm>
          <a:prstGeom prst="rect">
            <a:avLst/>
          </a:prstGeom>
          <a:noFill/>
          <a:ln/>
        </p:spPr>
        <p:txBody>
          <a:bodyPr wrap="square" lIns="0" tIns="0" rIns="0" bIns="0" rtlCol="0" anchor="ctr"/>
          <a:lstStyle/>
          <a:p>
            <a:pPr>
              <a:lnSpc>
                <a:spcPct val="120000"/>
              </a:lnSpc>
            </a:pPr>
            <a:r>
              <a:rPr lang="en-US" sz="1250" b="1" dirty="0">
                <a:solidFill>
                  <a:srgbClr val="1A3A5C"/>
                </a:solidFill>
                <a:latin typeface="Liter" pitchFamily="34" charset="0"/>
                <a:ea typeface="Liter" pitchFamily="34" charset="-122"/>
                <a:cs typeface="Liter" pitchFamily="34" charset="-120"/>
              </a:rPr>
              <a:t>UPI &amp; Real-Time Payments</a:t>
            </a:r>
            <a:endParaRPr lang="en-US" sz="1600" dirty="0"/>
          </a:p>
        </p:txBody>
      </p:sp>
      <p:sp>
        <p:nvSpPr>
          <p:cNvPr id="10" name="Text 8"/>
          <p:cNvSpPr/>
          <p:nvPr/>
        </p:nvSpPr>
        <p:spPr>
          <a:xfrm>
            <a:off x="476250" y="2111375"/>
            <a:ext cx="3492500" cy="619125"/>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Unified Payments Interface (UPI) has revolutionized peer-to-peer and merchant transactions with instant, 24/7 transfers.</a:t>
            </a:r>
            <a:endParaRPr lang="en-US" sz="1600" dirty="0"/>
          </a:p>
        </p:txBody>
      </p:sp>
      <p:sp>
        <p:nvSpPr>
          <p:cNvPr id="11" name="Shape 9"/>
          <p:cNvSpPr/>
          <p:nvPr/>
        </p:nvSpPr>
        <p:spPr>
          <a:xfrm>
            <a:off x="476250" y="2857500"/>
            <a:ext cx="3429000" cy="793750"/>
          </a:xfrm>
          <a:custGeom>
            <a:avLst/>
            <a:gdLst/>
            <a:ahLst/>
            <a:cxnLst/>
            <a:rect l="l" t="t" r="r" b="b"/>
            <a:pathLst>
              <a:path w="3429000" h="793750">
                <a:moveTo>
                  <a:pt x="63500" y="0"/>
                </a:moveTo>
                <a:lnTo>
                  <a:pt x="3365500" y="0"/>
                </a:lnTo>
                <a:cubicBezTo>
                  <a:pt x="3400547" y="0"/>
                  <a:pt x="3429000" y="28453"/>
                  <a:pt x="3429000" y="63500"/>
                </a:cubicBezTo>
                <a:lnTo>
                  <a:pt x="3429000" y="730250"/>
                </a:lnTo>
                <a:cubicBezTo>
                  <a:pt x="3429000" y="765297"/>
                  <a:pt x="3400547" y="793750"/>
                  <a:pt x="3365500" y="793750"/>
                </a:cubicBezTo>
                <a:lnTo>
                  <a:pt x="63500" y="793750"/>
                </a:lnTo>
                <a:cubicBezTo>
                  <a:pt x="28453" y="793750"/>
                  <a:pt x="0" y="765297"/>
                  <a:pt x="0" y="730250"/>
                </a:cubicBezTo>
                <a:lnTo>
                  <a:pt x="0" y="63500"/>
                </a:lnTo>
                <a:cubicBezTo>
                  <a:pt x="0" y="28453"/>
                  <a:pt x="28453" y="0"/>
                  <a:pt x="63500" y="0"/>
                </a:cubicBezTo>
                <a:close/>
              </a:path>
            </a:pathLst>
          </a:custGeom>
          <a:solidFill>
            <a:srgbClr val="F8F9FA"/>
          </a:solidFill>
          <a:ln/>
        </p:spPr>
      </p:sp>
      <p:sp>
        <p:nvSpPr>
          <p:cNvPr id="12" name="Text 10"/>
          <p:cNvSpPr/>
          <p:nvPr/>
        </p:nvSpPr>
        <p:spPr>
          <a:xfrm>
            <a:off x="531813" y="2984500"/>
            <a:ext cx="3317875" cy="317500"/>
          </a:xfrm>
          <a:prstGeom prst="rect">
            <a:avLst/>
          </a:prstGeom>
          <a:noFill/>
          <a:ln/>
        </p:spPr>
        <p:txBody>
          <a:bodyPr wrap="square" lIns="0" tIns="0" rIns="0" bIns="0" rtlCol="0" anchor="ctr"/>
          <a:lstStyle/>
          <a:p>
            <a:pPr algn="ctr">
              <a:lnSpc>
                <a:spcPct val="90000"/>
              </a:lnSpc>
            </a:pPr>
            <a:r>
              <a:rPr lang="en-US" sz="2250" b="1" dirty="0">
                <a:solidFill>
                  <a:srgbClr val="2A9D8F"/>
                </a:solidFill>
                <a:latin typeface="Liter" pitchFamily="34" charset="0"/>
                <a:ea typeface="Liter" pitchFamily="34" charset="-122"/>
                <a:cs typeface="Liter" pitchFamily="34" charset="-120"/>
              </a:rPr>
              <a:t>9.2B</a:t>
            </a:r>
            <a:endParaRPr lang="en-US" sz="1600" dirty="0"/>
          </a:p>
        </p:txBody>
      </p:sp>
      <p:sp>
        <p:nvSpPr>
          <p:cNvPr id="13" name="Text 11"/>
          <p:cNvSpPr/>
          <p:nvPr/>
        </p:nvSpPr>
        <p:spPr>
          <a:xfrm>
            <a:off x="571500" y="3333750"/>
            <a:ext cx="3238500" cy="190500"/>
          </a:xfrm>
          <a:prstGeom prst="rect">
            <a:avLst/>
          </a:prstGeom>
          <a:noFill/>
          <a:ln/>
        </p:spPr>
        <p:txBody>
          <a:bodyPr wrap="square" lIns="0" tIns="0" rIns="0" bIns="0" rtlCol="0" anchor="ctr"/>
          <a:lstStyle/>
          <a:p>
            <a:pPr algn="ct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Monthly UPI transactions (India)</a:t>
            </a:r>
            <a:endParaRPr lang="en-US" sz="1600" dirty="0"/>
          </a:p>
        </p:txBody>
      </p:sp>
      <p:sp>
        <p:nvSpPr>
          <p:cNvPr id="14" name="Shape 12"/>
          <p:cNvSpPr/>
          <p:nvPr/>
        </p:nvSpPr>
        <p:spPr>
          <a:xfrm>
            <a:off x="500063" y="381000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2A9D8F"/>
          </a:solidFill>
          <a:ln/>
        </p:spPr>
      </p:sp>
      <p:sp>
        <p:nvSpPr>
          <p:cNvPr id="15" name="Text 13"/>
          <p:cNvSpPr/>
          <p:nvPr/>
        </p:nvSpPr>
        <p:spPr>
          <a:xfrm>
            <a:off x="698500" y="3778250"/>
            <a:ext cx="944563"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Instant transfers</a:t>
            </a:r>
            <a:endParaRPr lang="en-US" sz="1600" dirty="0"/>
          </a:p>
        </p:txBody>
      </p:sp>
      <p:sp>
        <p:nvSpPr>
          <p:cNvPr id="16" name="Shape 14"/>
          <p:cNvSpPr/>
          <p:nvPr/>
        </p:nvSpPr>
        <p:spPr>
          <a:xfrm>
            <a:off x="500063" y="406400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2A9D8F"/>
          </a:solidFill>
          <a:ln/>
        </p:spPr>
      </p:sp>
      <p:sp>
        <p:nvSpPr>
          <p:cNvPr id="17" name="Text 15"/>
          <p:cNvSpPr/>
          <p:nvPr/>
        </p:nvSpPr>
        <p:spPr>
          <a:xfrm>
            <a:off x="698500" y="4032250"/>
            <a:ext cx="1111250"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QR code payments</a:t>
            </a:r>
            <a:endParaRPr lang="en-US" sz="1600" dirty="0"/>
          </a:p>
        </p:txBody>
      </p:sp>
      <p:sp>
        <p:nvSpPr>
          <p:cNvPr id="18" name="Shape 16"/>
          <p:cNvSpPr/>
          <p:nvPr/>
        </p:nvSpPr>
        <p:spPr>
          <a:xfrm>
            <a:off x="500063" y="431800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2A9D8F"/>
          </a:solidFill>
          <a:ln/>
        </p:spPr>
      </p:sp>
      <p:sp>
        <p:nvSpPr>
          <p:cNvPr id="19" name="Text 17"/>
          <p:cNvSpPr/>
          <p:nvPr/>
        </p:nvSpPr>
        <p:spPr>
          <a:xfrm>
            <a:off x="698500" y="4286250"/>
            <a:ext cx="1214438"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Zero transaction fees</a:t>
            </a:r>
            <a:endParaRPr lang="en-US" sz="1600" dirty="0"/>
          </a:p>
        </p:txBody>
      </p:sp>
      <p:sp>
        <p:nvSpPr>
          <p:cNvPr id="20" name="Shape 18"/>
          <p:cNvSpPr/>
          <p:nvPr/>
        </p:nvSpPr>
        <p:spPr>
          <a:xfrm>
            <a:off x="4222750" y="1365250"/>
            <a:ext cx="3746500" cy="3270250"/>
          </a:xfrm>
          <a:custGeom>
            <a:avLst/>
            <a:gdLst/>
            <a:ahLst/>
            <a:cxnLst/>
            <a:rect l="l" t="t" r="r" b="b"/>
            <a:pathLst>
              <a:path w="3746500" h="3270250">
                <a:moveTo>
                  <a:pt x="31750" y="0"/>
                </a:moveTo>
                <a:lnTo>
                  <a:pt x="3714750" y="0"/>
                </a:lnTo>
                <a:cubicBezTo>
                  <a:pt x="3732273" y="0"/>
                  <a:pt x="3746500" y="14227"/>
                  <a:pt x="3746500" y="31750"/>
                </a:cubicBezTo>
                <a:lnTo>
                  <a:pt x="3746500" y="3174988"/>
                </a:lnTo>
                <a:cubicBezTo>
                  <a:pt x="3746500" y="3227600"/>
                  <a:pt x="3703850" y="3270250"/>
                  <a:pt x="3651238" y="3270250"/>
                </a:cubicBezTo>
                <a:lnTo>
                  <a:pt x="95262" y="3270250"/>
                </a:lnTo>
                <a:cubicBezTo>
                  <a:pt x="42650" y="3270250"/>
                  <a:pt x="0" y="3227600"/>
                  <a:pt x="0" y="3174988"/>
                </a:cubicBezTo>
                <a:lnTo>
                  <a:pt x="0" y="31750"/>
                </a:lnTo>
                <a:cubicBezTo>
                  <a:pt x="0" y="14227"/>
                  <a:pt x="14227" y="0"/>
                  <a:pt x="31750" y="0"/>
                </a:cubicBezTo>
                <a:close/>
              </a:path>
            </a:pathLst>
          </a:custGeom>
          <a:solidFill>
            <a:srgbClr val="FFFFFF"/>
          </a:solidFill>
          <a:ln/>
          <a:effectLst>
            <a:outerShdw sx="100000" sy="100000" kx="0" ky="0" algn="bl" rotWithShape="0" blurRad="119063" dist="79375" dir="5400000">
              <a:srgbClr val="000000">
                <a:alpha val="10196"/>
              </a:srgbClr>
            </a:outerShdw>
          </a:effectLst>
        </p:spPr>
      </p:sp>
      <p:sp>
        <p:nvSpPr>
          <p:cNvPr id="21" name="Shape 19"/>
          <p:cNvSpPr/>
          <p:nvPr/>
        </p:nvSpPr>
        <p:spPr>
          <a:xfrm>
            <a:off x="4222750" y="1365250"/>
            <a:ext cx="3746500" cy="31750"/>
          </a:xfrm>
          <a:custGeom>
            <a:avLst/>
            <a:gdLst/>
            <a:ahLst/>
            <a:cxnLst/>
            <a:rect l="l" t="t" r="r" b="b"/>
            <a:pathLst>
              <a:path w="3746500" h="31750">
                <a:moveTo>
                  <a:pt x="31750" y="0"/>
                </a:moveTo>
                <a:lnTo>
                  <a:pt x="3714750" y="0"/>
                </a:lnTo>
                <a:cubicBezTo>
                  <a:pt x="3732273" y="0"/>
                  <a:pt x="3746500" y="14227"/>
                  <a:pt x="3746500" y="31750"/>
                </a:cubicBezTo>
                <a:lnTo>
                  <a:pt x="3746500" y="31750"/>
                </a:lnTo>
                <a:lnTo>
                  <a:pt x="0" y="31750"/>
                </a:lnTo>
                <a:lnTo>
                  <a:pt x="0" y="31750"/>
                </a:lnTo>
                <a:cubicBezTo>
                  <a:pt x="0" y="14227"/>
                  <a:pt x="14227" y="0"/>
                  <a:pt x="31750" y="0"/>
                </a:cubicBezTo>
                <a:close/>
              </a:path>
            </a:pathLst>
          </a:custGeom>
          <a:solidFill>
            <a:srgbClr val="2A9D8F"/>
          </a:solidFill>
          <a:ln/>
        </p:spPr>
      </p:sp>
      <p:sp>
        <p:nvSpPr>
          <p:cNvPr id="22" name="Shape 20"/>
          <p:cNvSpPr/>
          <p:nvPr/>
        </p:nvSpPr>
        <p:spPr>
          <a:xfrm>
            <a:off x="4381500" y="1539875"/>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2A9D8F"/>
          </a:solidFill>
          <a:ln/>
        </p:spPr>
      </p:sp>
      <p:sp>
        <p:nvSpPr>
          <p:cNvPr id="23" name="Shape 21"/>
          <p:cNvSpPr/>
          <p:nvPr/>
        </p:nvSpPr>
        <p:spPr>
          <a:xfrm>
            <a:off x="4508500" y="1666875"/>
            <a:ext cx="190500" cy="190500"/>
          </a:xfrm>
          <a:custGeom>
            <a:avLst/>
            <a:gdLst/>
            <a:ahLst/>
            <a:cxnLst/>
            <a:rect l="l" t="t" r="r" b="b"/>
            <a:pathLst>
              <a:path w="190500" h="190500">
                <a:moveTo>
                  <a:pt x="44648" y="20836"/>
                </a:moveTo>
                <a:cubicBezTo>
                  <a:pt x="44648" y="9339"/>
                  <a:pt x="53987" y="0"/>
                  <a:pt x="65484" y="0"/>
                </a:cubicBezTo>
                <a:lnTo>
                  <a:pt x="74414" y="0"/>
                </a:lnTo>
                <a:cubicBezTo>
                  <a:pt x="81000" y="0"/>
                  <a:pt x="86320" y="5321"/>
                  <a:pt x="86320" y="11906"/>
                </a:cubicBezTo>
                <a:lnTo>
                  <a:pt x="86320" y="178594"/>
                </a:lnTo>
                <a:cubicBezTo>
                  <a:pt x="86320" y="185179"/>
                  <a:pt x="81000" y="190500"/>
                  <a:pt x="74414" y="190500"/>
                </a:cubicBezTo>
                <a:lnTo>
                  <a:pt x="62508" y="190500"/>
                </a:lnTo>
                <a:cubicBezTo>
                  <a:pt x="51420" y="190500"/>
                  <a:pt x="42081" y="182910"/>
                  <a:pt x="39439" y="172641"/>
                </a:cubicBezTo>
                <a:cubicBezTo>
                  <a:pt x="39179" y="172641"/>
                  <a:pt x="38956" y="172641"/>
                  <a:pt x="38695" y="172641"/>
                </a:cubicBezTo>
                <a:cubicBezTo>
                  <a:pt x="22250" y="172641"/>
                  <a:pt x="8930" y="159321"/>
                  <a:pt x="8930" y="142875"/>
                </a:cubicBezTo>
                <a:cubicBezTo>
                  <a:pt x="8930" y="136178"/>
                  <a:pt x="11162" y="130001"/>
                  <a:pt x="14883" y="125016"/>
                </a:cubicBezTo>
                <a:cubicBezTo>
                  <a:pt x="7665" y="119583"/>
                  <a:pt x="2977" y="110951"/>
                  <a:pt x="2977" y="101203"/>
                </a:cubicBezTo>
                <a:cubicBezTo>
                  <a:pt x="2977" y="89706"/>
                  <a:pt x="9525" y="79697"/>
                  <a:pt x="19050" y="74749"/>
                </a:cubicBezTo>
                <a:cubicBezTo>
                  <a:pt x="16408" y="70284"/>
                  <a:pt x="14883" y="65075"/>
                  <a:pt x="14883" y="59531"/>
                </a:cubicBezTo>
                <a:cubicBezTo>
                  <a:pt x="14883" y="43086"/>
                  <a:pt x="28203" y="29766"/>
                  <a:pt x="44648" y="29766"/>
                </a:cubicBezTo>
                <a:lnTo>
                  <a:pt x="44648" y="20836"/>
                </a:lnTo>
                <a:close/>
                <a:moveTo>
                  <a:pt x="145852" y="20836"/>
                </a:moveTo>
                <a:lnTo>
                  <a:pt x="145852" y="29766"/>
                </a:lnTo>
                <a:cubicBezTo>
                  <a:pt x="162297" y="29766"/>
                  <a:pt x="175617" y="43086"/>
                  <a:pt x="175617" y="59531"/>
                </a:cubicBezTo>
                <a:cubicBezTo>
                  <a:pt x="175617" y="65112"/>
                  <a:pt x="174092" y="70321"/>
                  <a:pt x="171450" y="74749"/>
                </a:cubicBezTo>
                <a:cubicBezTo>
                  <a:pt x="181012" y="79697"/>
                  <a:pt x="187523" y="89669"/>
                  <a:pt x="187523" y="101203"/>
                </a:cubicBezTo>
                <a:cubicBezTo>
                  <a:pt x="187523" y="110951"/>
                  <a:pt x="182835" y="119583"/>
                  <a:pt x="175617" y="125016"/>
                </a:cubicBezTo>
                <a:cubicBezTo>
                  <a:pt x="179338" y="130001"/>
                  <a:pt x="181570" y="136178"/>
                  <a:pt x="181570" y="142875"/>
                </a:cubicBezTo>
                <a:cubicBezTo>
                  <a:pt x="181570" y="159321"/>
                  <a:pt x="168250" y="172641"/>
                  <a:pt x="151805" y="172641"/>
                </a:cubicBezTo>
                <a:cubicBezTo>
                  <a:pt x="151544" y="172641"/>
                  <a:pt x="151321" y="172641"/>
                  <a:pt x="151061" y="172641"/>
                </a:cubicBezTo>
                <a:cubicBezTo>
                  <a:pt x="148419" y="182910"/>
                  <a:pt x="139080" y="190500"/>
                  <a:pt x="127992" y="190500"/>
                </a:cubicBezTo>
                <a:lnTo>
                  <a:pt x="116086" y="190500"/>
                </a:lnTo>
                <a:cubicBezTo>
                  <a:pt x="109500" y="190500"/>
                  <a:pt x="104180" y="185179"/>
                  <a:pt x="104180" y="178594"/>
                </a:cubicBezTo>
                <a:lnTo>
                  <a:pt x="104180" y="11906"/>
                </a:lnTo>
                <a:cubicBezTo>
                  <a:pt x="104180" y="5321"/>
                  <a:pt x="109500" y="0"/>
                  <a:pt x="116086" y="0"/>
                </a:cubicBezTo>
                <a:lnTo>
                  <a:pt x="125016" y="0"/>
                </a:lnTo>
                <a:cubicBezTo>
                  <a:pt x="136513" y="0"/>
                  <a:pt x="145852" y="9339"/>
                  <a:pt x="145852" y="20836"/>
                </a:cubicBezTo>
                <a:close/>
              </a:path>
            </a:pathLst>
          </a:custGeom>
          <a:solidFill>
            <a:srgbClr val="FFFFFF"/>
          </a:solidFill>
          <a:ln/>
        </p:spPr>
      </p:sp>
      <p:sp>
        <p:nvSpPr>
          <p:cNvPr id="24" name="Text 22"/>
          <p:cNvSpPr/>
          <p:nvPr/>
        </p:nvSpPr>
        <p:spPr>
          <a:xfrm>
            <a:off x="4953000" y="1651000"/>
            <a:ext cx="1658938" cy="222250"/>
          </a:xfrm>
          <a:prstGeom prst="rect">
            <a:avLst/>
          </a:prstGeom>
          <a:noFill/>
          <a:ln/>
        </p:spPr>
        <p:txBody>
          <a:bodyPr wrap="square" lIns="0" tIns="0" rIns="0" bIns="0" rtlCol="0" anchor="ctr"/>
          <a:lstStyle/>
          <a:p>
            <a:pPr>
              <a:lnSpc>
                <a:spcPct val="120000"/>
              </a:lnSpc>
            </a:pPr>
            <a:r>
              <a:rPr lang="en-US" sz="1250" b="1" dirty="0">
                <a:solidFill>
                  <a:srgbClr val="1A3A5C"/>
                </a:solidFill>
                <a:latin typeface="Liter" pitchFamily="34" charset="0"/>
                <a:ea typeface="Liter" pitchFamily="34" charset="-122"/>
                <a:cs typeface="Liter" pitchFamily="34" charset="-120"/>
              </a:rPr>
              <a:t>AI &amp; Machine Learning</a:t>
            </a:r>
            <a:endParaRPr lang="en-US" sz="1600" dirty="0"/>
          </a:p>
        </p:txBody>
      </p:sp>
      <p:sp>
        <p:nvSpPr>
          <p:cNvPr id="25" name="Text 23"/>
          <p:cNvSpPr/>
          <p:nvPr/>
        </p:nvSpPr>
        <p:spPr>
          <a:xfrm>
            <a:off x="4381500" y="2111375"/>
            <a:ext cx="3492500" cy="619125"/>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Artificial intelligence is transforming customer service, fraud detection, and personalized financial advice.</a:t>
            </a:r>
            <a:endParaRPr lang="en-US" sz="1600" dirty="0"/>
          </a:p>
        </p:txBody>
      </p:sp>
      <p:sp>
        <p:nvSpPr>
          <p:cNvPr id="26" name="Shape 24"/>
          <p:cNvSpPr/>
          <p:nvPr/>
        </p:nvSpPr>
        <p:spPr>
          <a:xfrm>
            <a:off x="4381500" y="2857500"/>
            <a:ext cx="3429000" cy="793750"/>
          </a:xfrm>
          <a:custGeom>
            <a:avLst/>
            <a:gdLst/>
            <a:ahLst/>
            <a:cxnLst/>
            <a:rect l="l" t="t" r="r" b="b"/>
            <a:pathLst>
              <a:path w="3429000" h="793750">
                <a:moveTo>
                  <a:pt x="63500" y="0"/>
                </a:moveTo>
                <a:lnTo>
                  <a:pt x="3365500" y="0"/>
                </a:lnTo>
                <a:cubicBezTo>
                  <a:pt x="3400547" y="0"/>
                  <a:pt x="3429000" y="28453"/>
                  <a:pt x="3429000" y="63500"/>
                </a:cubicBezTo>
                <a:lnTo>
                  <a:pt x="3429000" y="730250"/>
                </a:lnTo>
                <a:cubicBezTo>
                  <a:pt x="3429000" y="765297"/>
                  <a:pt x="3400547" y="793750"/>
                  <a:pt x="3365500" y="793750"/>
                </a:cubicBezTo>
                <a:lnTo>
                  <a:pt x="63500" y="793750"/>
                </a:lnTo>
                <a:cubicBezTo>
                  <a:pt x="28453" y="793750"/>
                  <a:pt x="0" y="765297"/>
                  <a:pt x="0" y="730250"/>
                </a:cubicBezTo>
                <a:lnTo>
                  <a:pt x="0" y="63500"/>
                </a:lnTo>
                <a:cubicBezTo>
                  <a:pt x="0" y="28453"/>
                  <a:pt x="28453" y="0"/>
                  <a:pt x="63500" y="0"/>
                </a:cubicBezTo>
                <a:close/>
              </a:path>
            </a:pathLst>
          </a:custGeom>
          <a:solidFill>
            <a:srgbClr val="F8F9FA"/>
          </a:solidFill>
          <a:ln/>
        </p:spPr>
      </p:sp>
      <p:sp>
        <p:nvSpPr>
          <p:cNvPr id="27" name="Text 25"/>
          <p:cNvSpPr/>
          <p:nvPr/>
        </p:nvSpPr>
        <p:spPr>
          <a:xfrm>
            <a:off x="4437063" y="2984500"/>
            <a:ext cx="3317875" cy="317500"/>
          </a:xfrm>
          <a:prstGeom prst="rect">
            <a:avLst/>
          </a:prstGeom>
          <a:noFill/>
          <a:ln/>
        </p:spPr>
        <p:txBody>
          <a:bodyPr wrap="square" lIns="0" tIns="0" rIns="0" bIns="0" rtlCol="0" anchor="ctr"/>
          <a:lstStyle/>
          <a:p>
            <a:pPr algn="ctr">
              <a:lnSpc>
                <a:spcPct val="90000"/>
              </a:lnSpc>
            </a:pPr>
            <a:r>
              <a:rPr lang="en-US" sz="2250" b="1" dirty="0">
                <a:solidFill>
                  <a:srgbClr val="2A9D8F"/>
                </a:solidFill>
                <a:latin typeface="Liter" pitchFamily="34" charset="0"/>
                <a:ea typeface="Liter" pitchFamily="34" charset="-122"/>
                <a:cs typeface="Liter" pitchFamily="34" charset="-120"/>
              </a:rPr>
              <a:t>22%</a:t>
            </a:r>
            <a:endParaRPr lang="en-US" sz="1600" dirty="0"/>
          </a:p>
        </p:txBody>
      </p:sp>
      <p:sp>
        <p:nvSpPr>
          <p:cNvPr id="28" name="Text 26"/>
          <p:cNvSpPr/>
          <p:nvPr/>
        </p:nvSpPr>
        <p:spPr>
          <a:xfrm>
            <a:off x="4476750" y="3333750"/>
            <a:ext cx="3238500" cy="190500"/>
          </a:xfrm>
          <a:prstGeom prst="rect">
            <a:avLst/>
          </a:prstGeom>
          <a:noFill/>
          <a:ln/>
        </p:spPr>
        <p:txBody>
          <a:bodyPr wrap="square" lIns="0" tIns="0" rIns="0" bIns="0" rtlCol="0" anchor="ctr"/>
          <a:lstStyle/>
          <a:p>
            <a:pPr algn="ct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New apps with AI features</a:t>
            </a:r>
            <a:endParaRPr lang="en-US" sz="1600" dirty="0"/>
          </a:p>
        </p:txBody>
      </p:sp>
      <p:sp>
        <p:nvSpPr>
          <p:cNvPr id="29" name="Shape 27"/>
          <p:cNvSpPr/>
          <p:nvPr/>
        </p:nvSpPr>
        <p:spPr>
          <a:xfrm>
            <a:off x="4405313" y="381000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2A9D8F"/>
          </a:solidFill>
          <a:ln/>
        </p:spPr>
      </p:sp>
      <p:sp>
        <p:nvSpPr>
          <p:cNvPr id="30" name="Text 28"/>
          <p:cNvSpPr/>
          <p:nvPr/>
        </p:nvSpPr>
        <p:spPr>
          <a:xfrm>
            <a:off x="4603750" y="3778250"/>
            <a:ext cx="1611313"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Chatbots &amp; virtual assistants</a:t>
            </a:r>
            <a:endParaRPr lang="en-US" sz="1600" dirty="0"/>
          </a:p>
        </p:txBody>
      </p:sp>
      <p:sp>
        <p:nvSpPr>
          <p:cNvPr id="31" name="Shape 29"/>
          <p:cNvSpPr/>
          <p:nvPr/>
        </p:nvSpPr>
        <p:spPr>
          <a:xfrm>
            <a:off x="4405313" y="406400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2A9D8F"/>
          </a:solidFill>
          <a:ln/>
        </p:spPr>
      </p:sp>
      <p:sp>
        <p:nvSpPr>
          <p:cNvPr id="32" name="Text 30"/>
          <p:cNvSpPr/>
          <p:nvPr/>
        </p:nvSpPr>
        <p:spPr>
          <a:xfrm>
            <a:off x="4603750" y="4032250"/>
            <a:ext cx="920750"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Fraud detection</a:t>
            </a:r>
            <a:endParaRPr lang="en-US" sz="1600" dirty="0"/>
          </a:p>
        </p:txBody>
      </p:sp>
      <p:sp>
        <p:nvSpPr>
          <p:cNvPr id="33" name="Shape 31"/>
          <p:cNvSpPr/>
          <p:nvPr/>
        </p:nvSpPr>
        <p:spPr>
          <a:xfrm>
            <a:off x="4405313" y="431800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2A9D8F"/>
          </a:solidFill>
          <a:ln/>
        </p:spPr>
      </p:sp>
      <p:sp>
        <p:nvSpPr>
          <p:cNvPr id="34" name="Text 32"/>
          <p:cNvSpPr/>
          <p:nvPr/>
        </p:nvSpPr>
        <p:spPr>
          <a:xfrm>
            <a:off x="4603750" y="4286250"/>
            <a:ext cx="873125"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Robo-advisors</a:t>
            </a:r>
            <a:endParaRPr lang="en-US" sz="1600" dirty="0"/>
          </a:p>
        </p:txBody>
      </p:sp>
      <p:sp>
        <p:nvSpPr>
          <p:cNvPr id="35" name="Shape 33"/>
          <p:cNvSpPr/>
          <p:nvPr/>
        </p:nvSpPr>
        <p:spPr>
          <a:xfrm>
            <a:off x="8128000" y="1365250"/>
            <a:ext cx="3746500" cy="3270250"/>
          </a:xfrm>
          <a:custGeom>
            <a:avLst/>
            <a:gdLst/>
            <a:ahLst/>
            <a:cxnLst/>
            <a:rect l="l" t="t" r="r" b="b"/>
            <a:pathLst>
              <a:path w="3746500" h="3270250">
                <a:moveTo>
                  <a:pt x="31750" y="0"/>
                </a:moveTo>
                <a:lnTo>
                  <a:pt x="3714750" y="0"/>
                </a:lnTo>
                <a:cubicBezTo>
                  <a:pt x="3732273" y="0"/>
                  <a:pt x="3746500" y="14227"/>
                  <a:pt x="3746500" y="31750"/>
                </a:cubicBezTo>
                <a:lnTo>
                  <a:pt x="3746500" y="3174988"/>
                </a:lnTo>
                <a:cubicBezTo>
                  <a:pt x="3746500" y="3227600"/>
                  <a:pt x="3703850" y="3270250"/>
                  <a:pt x="3651238" y="3270250"/>
                </a:cubicBezTo>
                <a:lnTo>
                  <a:pt x="95262" y="3270250"/>
                </a:lnTo>
                <a:cubicBezTo>
                  <a:pt x="42650" y="3270250"/>
                  <a:pt x="0" y="3227600"/>
                  <a:pt x="0" y="3174988"/>
                </a:cubicBezTo>
                <a:lnTo>
                  <a:pt x="0" y="31750"/>
                </a:lnTo>
                <a:cubicBezTo>
                  <a:pt x="0" y="14227"/>
                  <a:pt x="14227" y="0"/>
                  <a:pt x="31750" y="0"/>
                </a:cubicBezTo>
                <a:close/>
              </a:path>
            </a:pathLst>
          </a:custGeom>
          <a:solidFill>
            <a:srgbClr val="FFFFFF"/>
          </a:solidFill>
          <a:ln/>
          <a:effectLst>
            <a:outerShdw sx="100000" sy="100000" kx="0" ky="0" algn="bl" rotWithShape="0" blurRad="119063" dist="79375" dir="5400000">
              <a:srgbClr val="000000">
                <a:alpha val="10196"/>
              </a:srgbClr>
            </a:outerShdw>
          </a:effectLst>
        </p:spPr>
      </p:sp>
      <p:sp>
        <p:nvSpPr>
          <p:cNvPr id="36" name="Shape 34"/>
          <p:cNvSpPr/>
          <p:nvPr/>
        </p:nvSpPr>
        <p:spPr>
          <a:xfrm>
            <a:off x="8128000" y="1365250"/>
            <a:ext cx="3746500" cy="31750"/>
          </a:xfrm>
          <a:custGeom>
            <a:avLst/>
            <a:gdLst/>
            <a:ahLst/>
            <a:cxnLst/>
            <a:rect l="l" t="t" r="r" b="b"/>
            <a:pathLst>
              <a:path w="3746500" h="31750">
                <a:moveTo>
                  <a:pt x="31750" y="0"/>
                </a:moveTo>
                <a:lnTo>
                  <a:pt x="3714750" y="0"/>
                </a:lnTo>
                <a:cubicBezTo>
                  <a:pt x="3732273" y="0"/>
                  <a:pt x="3746500" y="14227"/>
                  <a:pt x="3746500" y="31750"/>
                </a:cubicBezTo>
                <a:lnTo>
                  <a:pt x="3746500" y="31750"/>
                </a:lnTo>
                <a:lnTo>
                  <a:pt x="0" y="31750"/>
                </a:lnTo>
                <a:lnTo>
                  <a:pt x="0" y="31750"/>
                </a:lnTo>
                <a:cubicBezTo>
                  <a:pt x="0" y="14227"/>
                  <a:pt x="14227" y="0"/>
                  <a:pt x="31750" y="0"/>
                </a:cubicBezTo>
                <a:close/>
              </a:path>
            </a:pathLst>
          </a:custGeom>
          <a:solidFill>
            <a:srgbClr val="1A3A5C"/>
          </a:solidFill>
          <a:ln/>
        </p:spPr>
      </p:sp>
      <p:sp>
        <p:nvSpPr>
          <p:cNvPr id="37" name="Shape 35"/>
          <p:cNvSpPr/>
          <p:nvPr/>
        </p:nvSpPr>
        <p:spPr>
          <a:xfrm>
            <a:off x="8286750" y="1539875"/>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1A3A5C"/>
          </a:solidFill>
          <a:ln/>
        </p:spPr>
      </p:sp>
      <p:sp>
        <p:nvSpPr>
          <p:cNvPr id="38" name="Shape 36"/>
          <p:cNvSpPr/>
          <p:nvPr/>
        </p:nvSpPr>
        <p:spPr>
          <a:xfrm>
            <a:off x="8401844" y="1666875"/>
            <a:ext cx="214313" cy="190500"/>
          </a:xfrm>
          <a:custGeom>
            <a:avLst/>
            <a:gdLst/>
            <a:ahLst/>
            <a:cxnLst/>
            <a:rect l="l" t="t" r="r" b="b"/>
            <a:pathLst>
              <a:path w="214313" h="190500">
                <a:moveTo>
                  <a:pt x="156083" y="35719"/>
                </a:moveTo>
                <a:cubicBezTo>
                  <a:pt x="149907" y="35719"/>
                  <a:pt x="143917" y="37393"/>
                  <a:pt x="138671" y="40444"/>
                </a:cubicBezTo>
                <a:cubicBezTo>
                  <a:pt x="132792" y="34491"/>
                  <a:pt x="125946" y="29505"/>
                  <a:pt x="118393" y="25747"/>
                </a:cubicBezTo>
                <a:cubicBezTo>
                  <a:pt x="128885" y="16818"/>
                  <a:pt x="142242" y="11906"/>
                  <a:pt x="156083" y="11906"/>
                </a:cubicBezTo>
                <a:cubicBezTo>
                  <a:pt x="188230" y="11906"/>
                  <a:pt x="214313" y="37951"/>
                  <a:pt x="214313" y="70135"/>
                </a:cubicBezTo>
                <a:cubicBezTo>
                  <a:pt x="214313" y="85576"/>
                  <a:pt x="208173" y="100385"/>
                  <a:pt x="197272" y="111286"/>
                </a:cubicBezTo>
                <a:lnTo>
                  <a:pt x="170817" y="137740"/>
                </a:lnTo>
                <a:cubicBezTo>
                  <a:pt x="159916" y="148642"/>
                  <a:pt x="145107" y="154781"/>
                  <a:pt x="129667" y="154781"/>
                </a:cubicBezTo>
                <a:cubicBezTo>
                  <a:pt x="97520" y="154781"/>
                  <a:pt x="71438" y="128736"/>
                  <a:pt x="71438" y="96552"/>
                </a:cubicBezTo>
                <a:cubicBezTo>
                  <a:pt x="71438" y="95994"/>
                  <a:pt x="71438" y="95436"/>
                  <a:pt x="71475" y="94878"/>
                </a:cubicBezTo>
                <a:cubicBezTo>
                  <a:pt x="71661" y="88292"/>
                  <a:pt x="77130" y="83121"/>
                  <a:pt x="83716" y="83307"/>
                </a:cubicBezTo>
                <a:cubicBezTo>
                  <a:pt x="90301" y="83493"/>
                  <a:pt x="95473" y="88962"/>
                  <a:pt x="95287" y="95548"/>
                </a:cubicBezTo>
                <a:cubicBezTo>
                  <a:pt x="95287" y="95883"/>
                  <a:pt x="95287" y="96217"/>
                  <a:pt x="95287" y="96515"/>
                </a:cubicBezTo>
                <a:cubicBezTo>
                  <a:pt x="95287" y="115528"/>
                  <a:pt x="110691" y="130932"/>
                  <a:pt x="129704" y="130932"/>
                </a:cubicBezTo>
                <a:cubicBezTo>
                  <a:pt x="138819" y="130932"/>
                  <a:pt x="147563" y="127322"/>
                  <a:pt x="154037" y="120848"/>
                </a:cubicBezTo>
                <a:lnTo>
                  <a:pt x="180491" y="94394"/>
                </a:lnTo>
                <a:cubicBezTo>
                  <a:pt x="186928" y="87957"/>
                  <a:pt x="190574" y="79177"/>
                  <a:pt x="190574" y="70061"/>
                </a:cubicBezTo>
                <a:cubicBezTo>
                  <a:pt x="190574" y="51048"/>
                  <a:pt x="175171" y="35644"/>
                  <a:pt x="156158" y="35644"/>
                </a:cubicBezTo>
                <a:close/>
                <a:moveTo>
                  <a:pt x="102394" y="64480"/>
                </a:moveTo>
                <a:cubicBezTo>
                  <a:pt x="101687" y="64182"/>
                  <a:pt x="100980" y="63773"/>
                  <a:pt x="100347" y="63326"/>
                </a:cubicBezTo>
                <a:cubicBezTo>
                  <a:pt x="95659" y="60908"/>
                  <a:pt x="90301" y="59531"/>
                  <a:pt x="84683" y="59531"/>
                </a:cubicBezTo>
                <a:cubicBezTo>
                  <a:pt x="75567" y="59531"/>
                  <a:pt x="66824" y="63140"/>
                  <a:pt x="60350" y="69614"/>
                </a:cubicBezTo>
                <a:lnTo>
                  <a:pt x="33896" y="96069"/>
                </a:lnTo>
                <a:cubicBezTo>
                  <a:pt x="27459" y="102505"/>
                  <a:pt x="23812" y="111286"/>
                  <a:pt x="23812" y="120402"/>
                </a:cubicBezTo>
                <a:cubicBezTo>
                  <a:pt x="23812" y="139415"/>
                  <a:pt x="39216" y="154818"/>
                  <a:pt x="58229" y="154818"/>
                </a:cubicBezTo>
                <a:cubicBezTo>
                  <a:pt x="64368" y="154818"/>
                  <a:pt x="70358" y="153181"/>
                  <a:pt x="75605" y="150130"/>
                </a:cubicBezTo>
                <a:cubicBezTo>
                  <a:pt x="81483" y="156083"/>
                  <a:pt x="88329" y="161069"/>
                  <a:pt x="95920" y="164827"/>
                </a:cubicBezTo>
                <a:cubicBezTo>
                  <a:pt x="85427" y="173720"/>
                  <a:pt x="72107" y="178668"/>
                  <a:pt x="58229" y="178668"/>
                </a:cubicBezTo>
                <a:cubicBezTo>
                  <a:pt x="26082" y="178668"/>
                  <a:pt x="0" y="152623"/>
                  <a:pt x="0" y="120439"/>
                </a:cubicBezTo>
                <a:cubicBezTo>
                  <a:pt x="0" y="104998"/>
                  <a:pt x="6139" y="90190"/>
                  <a:pt x="17041" y="79288"/>
                </a:cubicBezTo>
                <a:lnTo>
                  <a:pt x="43495" y="52834"/>
                </a:lnTo>
                <a:cubicBezTo>
                  <a:pt x="54397" y="41932"/>
                  <a:pt x="69205" y="35793"/>
                  <a:pt x="84646" y="35793"/>
                </a:cubicBezTo>
                <a:cubicBezTo>
                  <a:pt x="116867" y="35793"/>
                  <a:pt x="142875" y="62061"/>
                  <a:pt x="142875" y="94171"/>
                </a:cubicBezTo>
                <a:cubicBezTo>
                  <a:pt x="142875" y="94655"/>
                  <a:pt x="142875" y="95138"/>
                  <a:pt x="142875" y="95622"/>
                </a:cubicBezTo>
                <a:cubicBezTo>
                  <a:pt x="142726" y="102208"/>
                  <a:pt x="137257" y="107379"/>
                  <a:pt x="130671" y="107231"/>
                </a:cubicBezTo>
                <a:cubicBezTo>
                  <a:pt x="124085" y="107082"/>
                  <a:pt x="118914" y="101612"/>
                  <a:pt x="119063" y="95027"/>
                </a:cubicBezTo>
                <a:cubicBezTo>
                  <a:pt x="119063" y="94729"/>
                  <a:pt x="119063" y="94469"/>
                  <a:pt x="119063" y="94171"/>
                </a:cubicBezTo>
                <a:cubicBezTo>
                  <a:pt x="119063" y="81632"/>
                  <a:pt x="112365" y="70619"/>
                  <a:pt x="102394" y="64554"/>
                </a:cubicBezTo>
                <a:close/>
              </a:path>
            </a:pathLst>
          </a:custGeom>
          <a:solidFill>
            <a:srgbClr val="FFFFFF"/>
          </a:solidFill>
          <a:ln/>
        </p:spPr>
      </p:sp>
      <p:sp>
        <p:nvSpPr>
          <p:cNvPr id="39" name="Text 37"/>
          <p:cNvSpPr/>
          <p:nvPr/>
        </p:nvSpPr>
        <p:spPr>
          <a:xfrm>
            <a:off x="8858250" y="1651000"/>
            <a:ext cx="1508125" cy="222250"/>
          </a:xfrm>
          <a:prstGeom prst="rect">
            <a:avLst/>
          </a:prstGeom>
          <a:noFill/>
          <a:ln/>
        </p:spPr>
        <p:txBody>
          <a:bodyPr wrap="square" lIns="0" tIns="0" rIns="0" bIns="0" rtlCol="0" anchor="ctr"/>
          <a:lstStyle/>
          <a:p>
            <a:pPr>
              <a:lnSpc>
                <a:spcPct val="120000"/>
              </a:lnSpc>
            </a:pPr>
            <a:r>
              <a:rPr lang="en-US" sz="1250" b="1" dirty="0">
                <a:solidFill>
                  <a:srgbClr val="1A3A5C"/>
                </a:solidFill>
                <a:latin typeface="Liter" pitchFamily="34" charset="0"/>
                <a:ea typeface="Liter" pitchFamily="34" charset="-122"/>
                <a:cs typeface="Liter" pitchFamily="34" charset="-120"/>
              </a:rPr>
              <a:t>Blockchain &amp; Crypto</a:t>
            </a:r>
            <a:endParaRPr lang="en-US" sz="1600" dirty="0"/>
          </a:p>
        </p:txBody>
      </p:sp>
      <p:sp>
        <p:nvSpPr>
          <p:cNvPr id="40" name="Text 38"/>
          <p:cNvSpPr/>
          <p:nvPr/>
        </p:nvSpPr>
        <p:spPr>
          <a:xfrm>
            <a:off x="8286750" y="2111375"/>
            <a:ext cx="3492500" cy="619125"/>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Blockchain technology enables secure, transparent transactions. Cryptocurrencies and CBDCs are reshaping money.</a:t>
            </a:r>
            <a:endParaRPr lang="en-US" sz="1600" dirty="0"/>
          </a:p>
        </p:txBody>
      </p:sp>
      <p:sp>
        <p:nvSpPr>
          <p:cNvPr id="41" name="Shape 39"/>
          <p:cNvSpPr/>
          <p:nvPr/>
        </p:nvSpPr>
        <p:spPr>
          <a:xfrm>
            <a:off x="8286750" y="2857500"/>
            <a:ext cx="3429000" cy="793750"/>
          </a:xfrm>
          <a:custGeom>
            <a:avLst/>
            <a:gdLst/>
            <a:ahLst/>
            <a:cxnLst/>
            <a:rect l="l" t="t" r="r" b="b"/>
            <a:pathLst>
              <a:path w="3429000" h="793750">
                <a:moveTo>
                  <a:pt x="63500" y="0"/>
                </a:moveTo>
                <a:lnTo>
                  <a:pt x="3365500" y="0"/>
                </a:lnTo>
                <a:cubicBezTo>
                  <a:pt x="3400547" y="0"/>
                  <a:pt x="3429000" y="28453"/>
                  <a:pt x="3429000" y="63500"/>
                </a:cubicBezTo>
                <a:lnTo>
                  <a:pt x="3429000" y="730250"/>
                </a:lnTo>
                <a:cubicBezTo>
                  <a:pt x="3429000" y="765297"/>
                  <a:pt x="3400547" y="793750"/>
                  <a:pt x="3365500" y="793750"/>
                </a:cubicBezTo>
                <a:lnTo>
                  <a:pt x="63500" y="793750"/>
                </a:lnTo>
                <a:cubicBezTo>
                  <a:pt x="28453" y="793750"/>
                  <a:pt x="0" y="765297"/>
                  <a:pt x="0" y="730250"/>
                </a:cubicBezTo>
                <a:lnTo>
                  <a:pt x="0" y="63500"/>
                </a:lnTo>
                <a:cubicBezTo>
                  <a:pt x="0" y="28453"/>
                  <a:pt x="28453" y="0"/>
                  <a:pt x="63500" y="0"/>
                </a:cubicBezTo>
                <a:close/>
              </a:path>
            </a:pathLst>
          </a:custGeom>
          <a:solidFill>
            <a:srgbClr val="F8F9FA"/>
          </a:solidFill>
          <a:ln/>
        </p:spPr>
      </p:sp>
      <p:sp>
        <p:nvSpPr>
          <p:cNvPr id="42" name="Text 40"/>
          <p:cNvSpPr/>
          <p:nvPr/>
        </p:nvSpPr>
        <p:spPr>
          <a:xfrm>
            <a:off x="8342313" y="2984500"/>
            <a:ext cx="3317875" cy="317500"/>
          </a:xfrm>
          <a:prstGeom prst="rect">
            <a:avLst/>
          </a:prstGeom>
          <a:noFill/>
          <a:ln/>
        </p:spPr>
        <p:txBody>
          <a:bodyPr wrap="square" lIns="0" tIns="0" rIns="0" bIns="0" rtlCol="0" anchor="ctr"/>
          <a:lstStyle/>
          <a:p>
            <a:pPr algn="ctr">
              <a:lnSpc>
                <a:spcPct val="90000"/>
              </a:lnSpc>
            </a:pPr>
            <a:r>
              <a:rPr lang="en-US" sz="2250" b="1" dirty="0">
                <a:solidFill>
                  <a:srgbClr val="2A9D8F"/>
                </a:solidFill>
                <a:latin typeface="Liter" pitchFamily="34" charset="0"/>
                <a:ea typeface="Liter" pitchFamily="34" charset="-122"/>
                <a:cs typeface="Liter" pitchFamily="34" charset="-120"/>
              </a:rPr>
              <a:t>DeFi</a:t>
            </a:r>
            <a:endParaRPr lang="en-US" sz="1600" dirty="0"/>
          </a:p>
        </p:txBody>
      </p:sp>
      <p:sp>
        <p:nvSpPr>
          <p:cNvPr id="43" name="Text 41"/>
          <p:cNvSpPr/>
          <p:nvPr/>
        </p:nvSpPr>
        <p:spPr>
          <a:xfrm>
            <a:off x="8382000" y="3333750"/>
            <a:ext cx="3238500" cy="190500"/>
          </a:xfrm>
          <a:prstGeom prst="rect">
            <a:avLst/>
          </a:prstGeom>
          <a:noFill/>
          <a:ln/>
        </p:spPr>
        <p:txBody>
          <a:bodyPr wrap="square" lIns="0" tIns="0" rIns="0" bIns="0" rtlCol="0" anchor="ctr"/>
          <a:lstStyle/>
          <a:p>
            <a:pPr algn="ct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Decentralized Finance</a:t>
            </a:r>
            <a:endParaRPr lang="en-US" sz="1600" dirty="0"/>
          </a:p>
        </p:txBody>
      </p:sp>
      <p:sp>
        <p:nvSpPr>
          <p:cNvPr id="44" name="Shape 42"/>
          <p:cNvSpPr/>
          <p:nvPr/>
        </p:nvSpPr>
        <p:spPr>
          <a:xfrm>
            <a:off x="8310562" y="381000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2A9D8F"/>
          </a:solidFill>
          <a:ln/>
        </p:spPr>
      </p:sp>
      <p:sp>
        <p:nvSpPr>
          <p:cNvPr id="45" name="Text 43"/>
          <p:cNvSpPr/>
          <p:nvPr/>
        </p:nvSpPr>
        <p:spPr>
          <a:xfrm>
            <a:off x="8509000" y="3778250"/>
            <a:ext cx="936625"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Smart contracts</a:t>
            </a:r>
            <a:endParaRPr lang="en-US" sz="1600" dirty="0"/>
          </a:p>
        </p:txBody>
      </p:sp>
      <p:sp>
        <p:nvSpPr>
          <p:cNvPr id="46" name="Shape 44"/>
          <p:cNvSpPr/>
          <p:nvPr/>
        </p:nvSpPr>
        <p:spPr>
          <a:xfrm>
            <a:off x="8310562" y="406400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2A9D8F"/>
          </a:solidFill>
          <a:ln/>
        </p:spPr>
      </p:sp>
      <p:sp>
        <p:nvSpPr>
          <p:cNvPr id="47" name="Text 45"/>
          <p:cNvSpPr/>
          <p:nvPr/>
        </p:nvSpPr>
        <p:spPr>
          <a:xfrm>
            <a:off x="8509000" y="4032250"/>
            <a:ext cx="1381125"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Cross-border payments</a:t>
            </a:r>
            <a:endParaRPr lang="en-US" sz="1600" dirty="0"/>
          </a:p>
        </p:txBody>
      </p:sp>
      <p:sp>
        <p:nvSpPr>
          <p:cNvPr id="48" name="Shape 46"/>
          <p:cNvSpPr/>
          <p:nvPr/>
        </p:nvSpPr>
        <p:spPr>
          <a:xfrm>
            <a:off x="8310562" y="431800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2A9D8F"/>
          </a:solidFill>
          <a:ln/>
        </p:spPr>
      </p:sp>
      <p:sp>
        <p:nvSpPr>
          <p:cNvPr id="49" name="Text 47"/>
          <p:cNvSpPr/>
          <p:nvPr/>
        </p:nvSpPr>
        <p:spPr>
          <a:xfrm>
            <a:off x="8509000" y="4286250"/>
            <a:ext cx="1341438"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CBDC pilots worldwide</a:t>
            </a:r>
            <a:endParaRPr lang="en-US" sz="1600" dirty="0"/>
          </a:p>
        </p:txBody>
      </p:sp>
      <p:sp>
        <p:nvSpPr>
          <p:cNvPr id="50" name="Shape 48"/>
          <p:cNvSpPr/>
          <p:nvPr/>
        </p:nvSpPr>
        <p:spPr>
          <a:xfrm>
            <a:off x="317500" y="4810125"/>
            <a:ext cx="3746500" cy="3270250"/>
          </a:xfrm>
          <a:custGeom>
            <a:avLst/>
            <a:gdLst/>
            <a:ahLst/>
            <a:cxnLst/>
            <a:rect l="l" t="t" r="r" b="b"/>
            <a:pathLst>
              <a:path w="3746500" h="3270250">
                <a:moveTo>
                  <a:pt x="31750" y="0"/>
                </a:moveTo>
                <a:lnTo>
                  <a:pt x="3714750" y="0"/>
                </a:lnTo>
                <a:cubicBezTo>
                  <a:pt x="3732273" y="0"/>
                  <a:pt x="3746500" y="14227"/>
                  <a:pt x="3746500" y="31750"/>
                </a:cubicBezTo>
                <a:lnTo>
                  <a:pt x="3746500" y="3174988"/>
                </a:lnTo>
                <a:cubicBezTo>
                  <a:pt x="3746500" y="3227600"/>
                  <a:pt x="3703850" y="3270250"/>
                  <a:pt x="3651238" y="3270250"/>
                </a:cubicBezTo>
                <a:lnTo>
                  <a:pt x="95262" y="3270250"/>
                </a:lnTo>
                <a:cubicBezTo>
                  <a:pt x="42650" y="3270250"/>
                  <a:pt x="0" y="3227600"/>
                  <a:pt x="0" y="3174988"/>
                </a:cubicBezTo>
                <a:lnTo>
                  <a:pt x="0" y="31750"/>
                </a:lnTo>
                <a:cubicBezTo>
                  <a:pt x="0" y="14227"/>
                  <a:pt x="14227" y="0"/>
                  <a:pt x="31750" y="0"/>
                </a:cubicBezTo>
                <a:close/>
              </a:path>
            </a:pathLst>
          </a:custGeom>
          <a:solidFill>
            <a:srgbClr val="FFFFFF"/>
          </a:solidFill>
          <a:ln/>
          <a:effectLst>
            <a:outerShdw sx="100000" sy="100000" kx="0" ky="0" algn="bl" rotWithShape="0" blurRad="119063" dist="79375" dir="5400000">
              <a:srgbClr val="000000">
                <a:alpha val="10196"/>
              </a:srgbClr>
            </a:outerShdw>
          </a:effectLst>
        </p:spPr>
      </p:sp>
      <p:sp>
        <p:nvSpPr>
          <p:cNvPr id="51" name="Shape 49"/>
          <p:cNvSpPr/>
          <p:nvPr/>
        </p:nvSpPr>
        <p:spPr>
          <a:xfrm>
            <a:off x="317500" y="4810125"/>
            <a:ext cx="3746500" cy="31750"/>
          </a:xfrm>
          <a:custGeom>
            <a:avLst/>
            <a:gdLst/>
            <a:ahLst/>
            <a:cxnLst/>
            <a:rect l="l" t="t" r="r" b="b"/>
            <a:pathLst>
              <a:path w="3746500" h="31750">
                <a:moveTo>
                  <a:pt x="31750" y="0"/>
                </a:moveTo>
                <a:lnTo>
                  <a:pt x="3714750" y="0"/>
                </a:lnTo>
                <a:cubicBezTo>
                  <a:pt x="3732273" y="0"/>
                  <a:pt x="3746500" y="14227"/>
                  <a:pt x="3746500" y="31750"/>
                </a:cubicBezTo>
                <a:lnTo>
                  <a:pt x="3746500" y="31750"/>
                </a:lnTo>
                <a:lnTo>
                  <a:pt x="0" y="31750"/>
                </a:lnTo>
                <a:lnTo>
                  <a:pt x="0" y="31750"/>
                </a:lnTo>
                <a:cubicBezTo>
                  <a:pt x="0" y="14227"/>
                  <a:pt x="14227" y="0"/>
                  <a:pt x="31750" y="0"/>
                </a:cubicBezTo>
                <a:close/>
              </a:path>
            </a:pathLst>
          </a:custGeom>
          <a:solidFill>
            <a:srgbClr val="2A9D8F"/>
          </a:solidFill>
          <a:ln/>
        </p:spPr>
      </p:sp>
      <p:sp>
        <p:nvSpPr>
          <p:cNvPr id="52" name="Shape 50"/>
          <p:cNvSpPr/>
          <p:nvPr/>
        </p:nvSpPr>
        <p:spPr>
          <a:xfrm>
            <a:off x="476250" y="4984750"/>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2A9D8F"/>
          </a:solidFill>
          <a:ln/>
        </p:spPr>
      </p:sp>
      <p:sp>
        <p:nvSpPr>
          <p:cNvPr id="53" name="Shape 51"/>
          <p:cNvSpPr/>
          <p:nvPr/>
        </p:nvSpPr>
        <p:spPr>
          <a:xfrm>
            <a:off x="615156" y="5111750"/>
            <a:ext cx="166688" cy="190500"/>
          </a:xfrm>
          <a:custGeom>
            <a:avLst/>
            <a:gdLst/>
            <a:ahLst/>
            <a:cxnLst/>
            <a:rect l="l" t="t" r="r" b="b"/>
            <a:pathLst>
              <a:path w="166688" h="190500">
                <a:moveTo>
                  <a:pt x="107156" y="23812"/>
                </a:moveTo>
                <a:lnTo>
                  <a:pt x="130969" y="23812"/>
                </a:lnTo>
                <a:lnTo>
                  <a:pt x="130969" y="178594"/>
                </a:lnTo>
                <a:cubicBezTo>
                  <a:pt x="130969" y="185179"/>
                  <a:pt x="136289" y="190500"/>
                  <a:pt x="142875" y="190500"/>
                </a:cubicBezTo>
                <a:lnTo>
                  <a:pt x="154781" y="190500"/>
                </a:lnTo>
                <a:cubicBezTo>
                  <a:pt x="161367" y="190500"/>
                  <a:pt x="166688" y="185179"/>
                  <a:pt x="166688" y="178594"/>
                </a:cubicBezTo>
                <a:cubicBezTo>
                  <a:pt x="166688" y="172008"/>
                  <a:pt x="161367" y="166688"/>
                  <a:pt x="154781" y="166688"/>
                </a:cubicBezTo>
                <a:lnTo>
                  <a:pt x="154781" y="23812"/>
                </a:lnTo>
                <a:cubicBezTo>
                  <a:pt x="154781" y="10678"/>
                  <a:pt x="144103" y="0"/>
                  <a:pt x="130969" y="0"/>
                </a:cubicBezTo>
                <a:lnTo>
                  <a:pt x="95250" y="0"/>
                </a:lnTo>
                <a:lnTo>
                  <a:pt x="95250" y="0"/>
                </a:lnTo>
                <a:lnTo>
                  <a:pt x="35719" y="0"/>
                </a:lnTo>
                <a:cubicBezTo>
                  <a:pt x="22585" y="0"/>
                  <a:pt x="11906" y="10678"/>
                  <a:pt x="11906" y="23812"/>
                </a:cubicBezTo>
                <a:lnTo>
                  <a:pt x="11906" y="166688"/>
                </a:lnTo>
                <a:cubicBezTo>
                  <a:pt x="5321" y="166688"/>
                  <a:pt x="0" y="172008"/>
                  <a:pt x="0" y="178594"/>
                </a:cubicBezTo>
                <a:cubicBezTo>
                  <a:pt x="0" y="185179"/>
                  <a:pt x="5321" y="190500"/>
                  <a:pt x="11906" y="190500"/>
                </a:cubicBezTo>
                <a:lnTo>
                  <a:pt x="95250" y="190500"/>
                </a:lnTo>
                <a:cubicBezTo>
                  <a:pt x="101836" y="190500"/>
                  <a:pt x="107156" y="185179"/>
                  <a:pt x="107156" y="178594"/>
                </a:cubicBezTo>
                <a:lnTo>
                  <a:pt x="107156" y="23812"/>
                </a:lnTo>
                <a:close/>
                <a:moveTo>
                  <a:pt x="59531" y="95250"/>
                </a:moveTo>
                <a:cubicBezTo>
                  <a:pt x="59531" y="88679"/>
                  <a:pt x="64866" y="83344"/>
                  <a:pt x="71438" y="83344"/>
                </a:cubicBezTo>
                <a:cubicBezTo>
                  <a:pt x="78009" y="83344"/>
                  <a:pt x="83344" y="88679"/>
                  <a:pt x="83344" y="95250"/>
                </a:cubicBezTo>
                <a:cubicBezTo>
                  <a:pt x="83344" y="101821"/>
                  <a:pt x="78009" y="107156"/>
                  <a:pt x="71438" y="107156"/>
                </a:cubicBezTo>
                <a:cubicBezTo>
                  <a:pt x="64866" y="107156"/>
                  <a:pt x="59531" y="101821"/>
                  <a:pt x="59531" y="95250"/>
                </a:cubicBezTo>
                <a:close/>
              </a:path>
            </a:pathLst>
          </a:custGeom>
          <a:solidFill>
            <a:srgbClr val="FFFFFF"/>
          </a:solidFill>
          <a:ln/>
        </p:spPr>
      </p:sp>
      <p:sp>
        <p:nvSpPr>
          <p:cNvPr id="54" name="Text 52"/>
          <p:cNvSpPr/>
          <p:nvPr/>
        </p:nvSpPr>
        <p:spPr>
          <a:xfrm>
            <a:off x="1047750" y="5095875"/>
            <a:ext cx="1055688" cy="222250"/>
          </a:xfrm>
          <a:prstGeom prst="rect">
            <a:avLst/>
          </a:prstGeom>
          <a:noFill/>
          <a:ln/>
        </p:spPr>
        <p:txBody>
          <a:bodyPr wrap="square" lIns="0" tIns="0" rIns="0" bIns="0" rtlCol="0" anchor="ctr"/>
          <a:lstStyle/>
          <a:p>
            <a:pPr>
              <a:lnSpc>
                <a:spcPct val="120000"/>
              </a:lnSpc>
            </a:pPr>
            <a:r>
              <a:rPr lang="en-US" sz="1250" b="1" dirty="0">
                <a:solidFill>
                  <a:srgbClr val="1A3A5C"/>
                </a:solidFill>
                <a:latin typeface="Liter" pitchFamily="34" charset="0"/>
                <a:ea typeface="Liter" pitchFamily="34" charset="-122"/>
                <a:cs typeface="Liter" pitchFamily="34" charset="-120"/>
              </a:rPr>
              <a:t>Open Banking</a:t>
            </a:r>
            <a:endParaRPr lang="en-US" sz="1600" dirty="0"/>
          </a:p>
        </p:txBody>
      </p:sp>
      <p:sp>
        <p:nvSpPr>
          <p:cNvPr id="55" name="Text 53"/>
          <p:cNvSpPr/>
          <p:nvPr/>
        </p:nvSpPr>
        <p:spPr>
          <a:xfrm>
            <a:off x="476250" y="5556250"/>
            <a:ext cx="3492500" cy="619125"/>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APIs allow third-party developers to build apps and services around financial institutions, fostering innovation.</a:t>
            </a:r>
            <a:endParaRPr lang="en-US" sz="1600" dirty="0"/>
          </a:p>
        </p:txBody>
      </p:sp>
      <p:sp>
        <p:nvSpPr>
          <p:cNvPr id="56" name="Shape 54"/>
          <p:cNvSpPr/>
          <p:nvPr/>
        </p:nvSpPr>
        <p:spPr>
          <a:xfrm>
            <a:off x="476250" y="6302375"/>
            <a:ext cx="3429000" cy="793750"/>
          </a:xfrm>
          <a:custGeom>
            <a:avLst/>
            <a:gdLst/>
            <a:ahLst/>
            <a:cxnLst/>
            <a:rect l="l" t="t" r="r" b="b"/>
            <a:pathLst>
              <a:path w="3429000" h="793750">
                <a:moveTo>
                  <a:pt x="63500" y="0"/>
                </a:moveTo>
                <a:lnTo>
                  <a:pt x="3365500" y="0"/>
                </a:lnTo>
                <a:cubicBezTo>
                  <a:pt x="3400547" y="0"/>
                  <a:pt x="3429000" y="28453"/>
                  <a:pt x="3429000" y="63500"/>
                </a:cubicBezTo>
                <a:lnTo>
                  <a:pt x="3429000" y="730250"/>
                </a:lnTo>
                <a:cubicBezTo>
                  <a:pt x="3429000" y="765297"/>
                  <a:pt x="3400547" y="793750"/>
                  <a:pt x="3365500" y="793750"/>
                </a:cubicBezTo>
                <a:lnTo>
                  <a:pt x="63500" y="793750"/>
                </a:lnTo>
                <a:cubicBezTo>
                  <a:pt x="28453" y="793750"/>
                  <a:pt x="0" y="765297"/>
                  <a:pt x="0" y="730250"/>
                </a:cubicBezTo>
                <a:lnTo>
                  <a:pt x="0" y="63500"/>
                </a:lnTo>
                <a:cubicBezTo>
                  <a:pt x="0" y="28453"/>
                  <a:pt x="28453" y="0"/>
                  <a:pt x="63500" y="0"/>
                </a:cubicBezTo>
                <a:close/>
              </a:path>
            </a:pathLst>
          </a:custGeom>
          <a:solidFill>
            <a:srgbClr val="F8F9FA"/>
          </a:solidFill>
          <a:ln/>
        </p:spPr>
      </p:sp>
      <p:sp>
        <p:nvSpPr>
          <p:cNvPr id="57" name="Text 55"/>
          <p:cNvSpPr/>
          <p:nvPr/>
        </p:nvSpPr>
        <p:spPr>
          <a:xfrm>
            <a:off x="531813" y="6429375"/>
            <a:ext cx="3317875" cy="317500"/>
          </a:xfrm>
          <a:prstGeom prst="rect">
            <a:avLst/>
          </a:prstGeom>
          <a:noFill/>
          <a:ln/>
        </p:spPr>
        <p:txBody>
          <a:bodyPr wrap="square" lIns="0" tIns="0" rIns="0" bIns="0" rtlCol="0" anchor="ctr"/>
          <a:lstStyle/>
          <a:p>
            <a:pPr algn="ctr">
              <a:lnSpc>
                <a:spcPct val="90000"/>
              </a:lnSpc>
            </a:pPr>
            <a:r>
              <a:rPr lang="en-US" sz="2250" b="1" dirty="0">
                <a:solidFill>
                  <a:srgbClr val="2A9D8F"/>
                </a:solidFill>
                <a:latin typeface="Liter" pitchFamily="34" charset="0"/>
                <a:ea typeface="Liter" pitchFamily="34" charset="-122"/>
                <a:cs typeface="Liter" pitchFamily="34" charset="-120"/>
              </a:rPr>
              <a:t>API</a:t>
            </a:r>
            <a:endParaRPr lang="en-US" sz="1600" dirty="0"/>
          </a:p>
        </p:txBody>
      </p:sp>
      <p:sp>
        <p:nvSpPr>
          <p:cNvPr id="58" name="Text 56"/>
          <p:cNvSpPr/>
          <p:nvPr/>
        </p:nvSpPr>
        <p:spPr>
          <a:xfrm>
            <a:off x="571500" y="6778625"/>
            <a:ext cx="3238500" cy="190500"/>
          </a:xfrm>
          <a:prstGeom prst="rect">
            <a:avLst/>
          </a:prstGeom>
          <a:noFill/>
          <a:ln/>
        </p:spPr>
        <p:txBody>
          <a:bodyPr wrap="square" lIns="0" tIns="0" rIns="0" bIns="0" rtlCol="0" anchor="ctr"/>
          <a:lstStyle/>
          <a:p>
            <a:pPr algn="ct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Application Programming Interface</a:t>
            </a:r>
            <a:endParaRPr lang="en-US" sz="1600" dirty="0"/>
          </a:p>
        </p:txBody>
      </p:sp>
      <p:sp>
        <p:nvSpPr>
          <p:cNvPr id="59" name="Shape 57"/>
          <p:cNvSpPr/>
          <p:nvPr/>
        </p:nvSpPr>
        <p:spPr>
          <a:xfrm>
            <a:off x="500063" y="7254875"/>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2A9D8F"/>
          </a:solidFill>
          <a:ln/>
        </p:spPr>
      </p:sp>
      <p:sp>
        <p:nvSpPr>
          <p:cNvPr id="60" name="Text 58"/>
          <p:cNvSpPr/>
          <p:nvPr/>
        </p:nvSpPr>
        <p:spPr>
          <a:xfrm>
            <a:off x="698500" y="7223125"/>
            <a:ext cx="1190625"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Account aggregation</a:t>
            </a:r>
            <a:endParaRPr lang="en-US" sz="1600" dirty="0"/>
          </a:p>
        </p:txBody>
      </p:sp>
      <p:sp>
        <p:nvSpPr>
          <p:cNvPr id="61" name="Shape 59"/>
          <p:cNvSpPr/>
          <p:nvPr/>
        </p:nvSpPr>
        <p:spPr>
          <a:xfrm>
            <a:off x="500063" y="7508875"/>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2A9D8F"/>
          </a:solidFill>
          <a:ln/>
        </p:spPr>
      </p:sp>
      <p:sp>
        <p:nvSpPr>
          <p:cNvPr id="62" name="Text 60"/>
          <p:cNvSpPr/>
          <p:nvPr/>
        </p:nvSpPr>
        <p:spPr>
          <a:xfrm>
            <a:off x="698500" y="7477125"/>
            <a:ext cx="1230313"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Personalized services</a:t>
            </a:r>
            <a:endParaRPr lang="en-US" sz="1600" dirty="0"/>
          </a:p>
        </p:txBody>
      </p:sp>
      <p:sp>
        <p:nvSpPr>
          <p:cNvPr id="63" name="Shape 61"/>
          <p:cNvSpPr/>
          <p:nvPr/>
        </p:nvSpPr>
        <p:spPr>
          <a:xfrm>
            <a:off x="500063" y="7762875"/>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2A9D8F"/>
          </a:solidFill>
          <a:ln/>
        </p:spPr>
      </p:sp>
      <p:sp>
        <p:nvSpPr>
          <p:cNvPr id="64" name="Text 62"/>
          <p:cNvSpPr/>
          <p:nvPr/>
        </p:nvSpPr>
        <p:spPr>
          <a:xfrm>
            <a:off x="698500" y="7731125"/>
            <a:ext cx="1214438"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Fintech collaboration</a:t>
            </a:r>
            <a:endParaRPr lang="en-US" sz="1600" dirty="0"/>
          </a:p>
        </p:txBody>
      </p:sp>
      <p:sp>
        <p:nvSpPr>
          <p:cNvPr id="65" name="Shape 63"/>
          <p:cNvSpPr/>
          <p:nvPr/>
        </p:nvSpPr>
        <p:spPr>
          <a:xfrm>
            <a:off x="4222750" y="4810125"/>
            <a:ext cx="3746500" cy="3270250"/>
          </a:xfrm>
          <a:custGeom>
            <a:avLst/>
            <a:gdLst/>
            <a:ahLst/>
            <a:cxnLst/>
            <a:rect l="l" t="t" r="r" b="b"/>
            <a:pathLst>
              <a:path w="3746500" h="3270250">
                <a:moveTo>
                  <a:pt x="31750" y="0"/>
                </a:moveTo>
                <a:lnTo>
                  <a:pt x="3714750" y="0"/>
                </a:lnTo>
                <a:cubicBezTo>
                  <a:pt x="3732273" y="0"/>
                  <a:pt x="3746500" y="14227"/>
                  <a:pt x="3746500" y="31750"/>
                </a:cubicBezTo>
                <a:lnTo>
                  <a:pt x="3746500" y="3174988"/>
                </a:lnTo>
                <a:cubicBezTo>
                  <a:pt x="3746500" y="3227600"/>
                  <a:pt x="3703850" y="3270250"/>
                  <a:pt x="3651238" y="3270250"/>
                </a:cubicBezTo>
                <a:lnTo>
                  <a:pt x="95262" y="3270250"/>
                </a:lnTo>
                <a:cubicBezTo>
                  <a:pt x="42650" y="3270250"/>
                  <a:pt x="0" y="3227600"/>
                  <a:pt x="0" y="3174988"/>
                </a:cubicBezTo>
                <a:lnTo>
                  <a:pt x="0" y="31750"/>
                </a:lnTo>
                <a:cubicBezTo>
                  <a:pt x="0" y="14227"/>
                  <a:pt x="14227" y="0"/>
                  <a:pt x="31750" y="0"/>
                </a:cubicBezTo>
                <a:close/>
              </a:path>
            </a:pathLst>
          </a:custGeom>
          <a:solidFill>
            <a:srgbClr val="FFFFFF"/>
          </a:solidFill>
          <a:ln/>
          <a:effectLst>
            <a:outerShdw sx="100000" sy="100000" kx="0" ky="0" algn="bl" rotWithShape="0" blurRad="119063" dist="79375" dir="5400000">
              <a:srgbClr val="000000">
                <a:alpha val="10196"/>
              </a:srgbClr>
            </a:outerShdw>
          </a:effectLst>
        </p:spPr>
      </p:sp>
      <p:sp>
        <p:nvSpPr>
          <p:cNvPr id="66" name="Shape 64"/>
          <p:cNvSpPr/>
          <p:nvPr/>
        </p:nvSpPr>
        <p:spPr>
          <a:xfrm>
            <a:off x="4222750" y="4810125"/>
            <a:ext cx="3746500" cy="31750"/>
          </a:xfrm>
          <a:custGeom>
            <a:avLst/>
            <a:gdLst/>
            <a:ahLst/>
            <a:cxnLst/>
            <a:rect l="l" t="t" r="r" b="b"/>
            <a:pathLst>
              <a:path w="3746500" h="31750">
                <a:moveTo>
                  <a:pt x="31750" y="0"/>
                </a:moveTo>
                <a:lnTo>
                  <a:pt x="3714750" y="0"/>
                </a:lnTo>
                <a:cubicBezTo>
                  <a:pt x="3732273" y="0"/>
                  <a:pt x="3746500" y="14227"/>
                  <a:pt x="3746500" y="31750"/>
                </a:cubicBezTo>
                <a:lnTo>
                  <a:pt x="3746500" y="31750"/>
                </a:lnTo>
                <a:lnTo>
                  <a:pt x="0" y="31750"/>
                </a:lnTo>
                <a:lnTo>
                  <a:pt x="0" y="31750"/>
                </a:lnTo>
                <a:cubicBezTo>
                  <a:pt x="0" y="14227"/>
                  <a:pt x="14227" y="0"/>
                  <a:pt x="31750" y="0"/>
                </a:cubicBezTo>
                <a:close/>
              </a:path>
            </a:pathLst>
          </a:custGeom>
          <a:solidFill>
            <a:srgbClr val="1A3A5C"/>
          </a:solidFill>
          <a:ln/>
        </p:spPr>
      </p:sp>
      <p:sp>
        <p:nvSpPr>
          <p:cNvPr id="67" name="Shape 65"/>
          <p:cNvSpPr/>
          <p:nvPr/>
        </p:nvSpPr>
        <p:spPr>
          <a:xfrm>
            <a:off x="4381500" y="4984750"/>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1A3A5C"/>
          </a:solidFill>
          <a:ln/>
        </p:spPr>
      </p:sp>
      <p:sp>
        <p:nvSpPr>
          <p:cNvPr id="68" name="Shape 66"/>
          <p:cNvSpPr/>
          <p:nvPr/>
        </p:nvSpPr>
        <p:spPr>
          <a:xfrm>
            <a:off x="4508500" y="5111750"/>
            <a:ext cx="190500" cy="190500"/>
          </a:xfrm>
          <a:custGeom>
            <a:avLst/>
            <a:gdLst/>
            <a:ahLst/>
            <a:cxnLst/>
            <a:rect l="l" t="t" r="r" b="b"/>
            <a:pathLst>
              <a:path w="190500" h="190500">
                <a:moveTo>
                  <a:pt x="17859" y="95250"/>
                </a:moveTo>
                <a:cubicBezTo>
                  <a:pt x="17859" y="52499"/>
                  <a:pt x="52499" y="17859"/>
                  <a:pt x="95250" y="17859"/>
                </a:cubicBezTo>
                <a:cubicBezTo>
                  <a:pt x="118728" y="17859"/>
                  <a:pt x="139750" y="28315"/>
                  <a:pt x="153963" y="44834"/>
                </a:cubicBezTo>
                <a:cubicBezTo>
                  <a:pt x="157163" y="48592"/>
                  <a:pt x="162818" y="49002"/>
                  <a:pt x="166539" y="45802"/>
                </a:cubicBezTo>
                <a:cubicBezTo>
                  <a:pt x="170259" y="42602"/>
                  <a:pt x="170706" y="36947"/>
                  <a:pt x="167506" y="33226"/>
                </a:cubicBezTo>
                <a:cubicBezTo>
                  <a:pt x="150056" y="12874"/>
                  <a:pt x="124160" y="0"/>
                  <a:pt x="95250" y="0"/>
                </a:cubicBezTo>
                <a:cubicBezTo>
                  <a:pt x="42639" y="0"/>
                  <a:pt x="0" y="42639"/>
                  <a:pt x="0" y="95250"/>
                </a:cubicBezTo>
                <a:lnTo>
                  <a:pt x="0" y="110133"/>
                </a:lnTo>
                <a:cubicBezTo>
                  <a:pt x="0" y="115081"/>
                  <a:pt x="3981" y="119063"/>
                  <a:pt x="8930" y="119063"/>
                </a:cubicBezTo>
                <a:cubicBezTo>
                  <a:pt x="13878" y="119063"/>
                  <a:pt x="17859" y="115081"/>
                  <a:pt x="17859" y="110133"/>
                </a:cubicBezTo>
                <a:lnTo>
                  <a:pt x="17859" y="95250"/>
                </a:lnTo>
                <a:close/>
                <a:moveTo>
                  <a:pt x="188454" y="75567"/>
                </a:moveTo>
                <a:cubicBezTo>
                  <a:pt x="187449" y="70731"/>
                  <a:pt x="182687" y="67642"/>
                  <a:pt x="177887" y="68684"/>
                </a:cubicBezTo>
                <a:cubicBezTo>
                  <a:pt x="173087" y="69726"/>
                  <a:pt x="169962" y="74451"/>
                  <a:pt x="171004" y="79251"/>
                </a:cubicBezTo>
                <a:cubicBezTo>
                  <a:pt x="172083" y="84423"/>
                  <a:pt x="172678" y="89781"/>
                  <a:pt x="172678" y="95287"/>
                </a:cubicBezTo>
                <a:lnTo>
                  <a:pt x="172678" y="110170"/>
                </a:lnTo>
                <a:cubicBezTo>
                  <a:pt x="172678" y="115119"/>
                  <a:pt x="176659" y="119100"/>
                  <a:pt x="181608" y="119100"/>
                </a:cubicBezTo>
                <a:cubicBezTo>
                  <a:pt x="186556" y="119100"/>
                  <a:pt x="190537" y="115119"/>
                  <a:pt x="190537" y="110170"/>
                </a:cubicBezTo>
                <a:lnTo>
                  <a:pt x="190537" y="95287"/>
                </a:lnTo>
                <a:cubicBezTo>
                  <a:pt x="190537" y="88553"/>
                  <a:pt x="189830" y="81967"/>
                  <a:pt x="188491" y="75605"/>
                </a:cubicBezTo>
                <a:close/>
                <a:moveTo>
                  <a:pt x="95250" y="29766"/>
                </a:moveTo>
                <a:cubicBezTo>
                  <a:pt x="88181" y="29766"/>
                  <a:pt x="81335" y="30882"/>
                  <a:pt x="74972" y="32965"/>
                </a:cubicBezTo>
                <a:cubicBezTo>
                  <a:pt x="69317" y="34826"/>
                  <a:pt x="68014" y="41783"/>
                  <a:pt x="71884" y="46323"/>
                </a:cubicBezTo>
                <a:cubicBezTo>
                  <a:pt x="74526" y="49411"/>
                  <a:pt x="78879" y="50341"/>
                  <a:pt x="82823" y="49262"/>
                </a:cubicBezTo>
                <a:cubicBezTo>
                  <a:pt x="86767" y="48183"/>
                  <a:pt x="90934" y="47625"/>
                  <a:pt x="95250" y="47625"/>
                </a:cubicBezTo>
                <a:cubicBezTo>
                  <a:pt x="121555" y="47625"/>
                  <a:pt x="142875" y="68945"/>
                  <a:pt x="142875" y="95250"/>
                </a:cubicBezTo>
                <a:lnTo>
                  <a:pt x="142875" y="104515"/>
                </a:lnTo>
                <a:cubicBezTo>
                  <a:pt x="142875" y="113891"/>
                  <a:pt x="142317" y="123230"/>
                  <a:pt x="141238" y="132531"/>
                </a:cubicBezTo>
                <a:cubicBezTo>
                  <a:pt x="140605" y="137964"/>
                  <a:pt x="144735" y="142875"/>
                  <a:pt x="150242" y="142875"/>
                </a:cubicBezTo>
                <a:cubicBezTo>
                  <a:pt x="154632" y="142875"/>
                  <a:pt x="158390" y="139675"/>
                  <a:pt x="158911" y="135322"/>
                </a:cubicBezTo>
                <a:cubicBezTo>
                  <a:pt x="160139" y="125127"/>
                  <a:pt x="160772" y="114858"/>
                  <a:pt x="160772" y="104552"/>
                </a:cubicBezTo>
                <a:lnTo>
                  <a:pt x="160772" y="95287"/>
                </a:lnTo>
                <a:cubicBezTo>
                  <a:pt x="160772" y="59122"/>
                  <a:pt x="131452" y="29803"/>
                  <a:pt x="95287" y="29803"/>
                </a:cubicBezTo>
                <a:close/>
                <a:moveTo>
                  <a:pt x="56071" y="55327"/>
                </a:moveTo>
                <a:cubicBezTo>
                  <a:pt x="52685" y="51383"/>
                  <a:pt x="46658" y="51085"/>
                  <a:pt x="43458" y="55178"/>
                </a:cubicBezTo>
                <a:cubicBezTo>
                  <a:pt x="34863" y="66266"/>
                  <a:pt x="29766" y="80144"/>
                  <a:pt x="29766" y="95250"/>
                </a:cubicBezTo>
                <a:lnTo>
                  <a:pt x="29766" y="104515"/>
                </a:lnTo>
                <a:cubicBezTo>
                  <a:pt x="29766" y="113519"/>
                  <a:pt x="28798" y="122523"/>
                  <a:pt x="26863" y="131266"/>
                </a:cubicBezTo>
                <a:cubicBezTo>
                  <a:pt x="25598" y="137071"/>
                  <a:pt x="29803" y="142838"/>
                  <a:pt x="35756" y="142838"/>
                </a:cubicBezTo>
                <a:cubicBezTo>
                  <a:pt x="39663" y="142838"/>
                  <a:pt x="43160" y="140233"/>
                  <a:pt x="44016" y="136401"/>
                </a:cubicBezTo>
                <a:cubicBezTo>
                  <a:pt x="46397" y="125946"/>
                  <a:pt x="47625" y="115267"/>
                  <a:pt x="47625" y="104477"/>
                </a:cubicBezTo>
                <a:lnTo>
                  <a:pt x="47625" y="95213"/>
                </a:lnTo>
                <a:cubicBezTo>
                  <a:pt x="47625" y="85092"/>
                  <a:pt x="50788" y="75716"/>
                  <a:pt x="56145" y="68014"/>
                </a:cubicBezTo>
                <a:cubicBezTo>
                  <a:pt x="58824" y="64145"/>
                  <a:pt x="59122" y="58862"/>
                  <a:pt x="56071" y="55290"/>
                </a:cubicBezTo>
                <a:close/>
                <a:moveTo>
                  <a:pt x="95250" y="59531"/>
                </a:moveTo>
                <a:cubicBezTo>
                  <a:pt x="75530" y="59531"/>
                  <a:pt x="59531" y="75530"/>
                  <a:pt x="59531" y="95250"/>
                </a:cubicBezTo>
                <a:lnTo>
                  <a:pt x="59531" y="104515"/>
                </a:lnTo>
                <a:cubicBezTo>
                  <a:pt x="59531" y="117872"/>
                  <a:pt x="57820" y="131118"/>
                  <a:pt x="54397" y="143991"/>
                </a:cubicBezTo>
                <a:cubicBezTo>
                  <a:pt x="52983" y="149312"/>
                  <a:pt x="56890" y="154781"/>
                  <a:pt x="62396" y="154781"/>
                </a:cubicBezTo>
                <a:cubicBezTo>
                  <a:pt x="65931" y="154781"/>
                  <a:pt x="69056" y="152474"/>
                  <a:pt x="69986" y="149051"/>
                </a:cubicBezTo>
                <a:cubicBezTo>
                  <a:pt x="73893" y="134541"/>
                  <a:pt x="75902" y="119583"/>
                  <a:pt x="75902" y="104515"/>
                </a:cubicBezTo>
                <a:lnTo>
                  <a:pt x="75902" y="95250"/>
                </a:lnTo>
                <a:cubicBezTo>
                  <a:pt x="75902" y="84572"/>
                  <a:pt x="84572" y="75902"/>
                  <a:pt x="95250" y="75902"/>
                </a:cubicBezTo>
                <a:cubicBezTo>
                  <a:pt x="105928" y="75902"/>
                  <a:pt x="114598" y="84572"/>
                  <a:pt x="114598" y="95250"/>
                </a:cubicBezTo>
                <a:lnTo>
                  <a:pt x="114598" y="104515"/>
                </a:lnTo>
                <a:cubicBezTo>
                  <a:pt x="114598" y="118021"/>
                  <a:pt x="113295" y="131452"/>
                  <a:pt x="110728" y="144661"/>
                </a:cubicBezTo>
                <a:cubicBezTo>
                  <a:pt x="109724" y="149833"/>
                  <a:pt x="113593" y="154781"/>
                  <a:pt x="118839" y="154781"/>
                </a:cubicBezTo>
                <a:cubicBezTo>
                  <a:pt x="122634" y="154781"/>
                  <a:pt x="125909" y="152177"/>
                  <a:pt x="126653" y="148456"/>
                </a:cubicBezTo>
                <a:cubicBezTo>
                  <a:pt x="129518" y="134020"/>
                  <a:pt x="130969" y="119323"/>
                  <a:pt x="130969" y="104515"/>
                </a:cubicBezTo>
                <a:lnTo>
                  <a:pt x="130969" y="95250"/>
                </a:lnTo>
                <a:cubicBezTo>
                  <a:pt x="130969" y="75530"/>
                  <a:pt x="114970" y="59531"/>
                  <a:pt x="95250" y="59531"/>
                </a:cubicBezTo>
                <a:close/>
                <a:moveTo>
                  <a:pt x="104180" y="95250"/>
                </a:moveTo>
                <a:cubicBezTo>
                  <a:pt x="104180" y="90301"/>
                  <a:pt x="100199" y="86320"/>
                  <a:pt x="95250" y="86320"/>
                </a:cubicBezTo>
                <a:cubicBezTo>
                  <a:pt x="90301" y="86320"/>
                  <a:pt x="86320" y="90301"/>
                  <a:pt x="86320" y="95250"/>
                </a:cubicBezTo>
                <a:lnTo>
                  <a:pt x="86320" y="104515"/>
                </a:lnTo>
                <a:cubicBezTo>
                  <a:pt x="86320" y="126802"/>
                  <a:pt x="82228" y="148903"/>
                  <a:pt x="74228" y="169701"/>
                </a:cubicBezTo>
                <a:lnTo>
                  <a:pt x="72033" y="175394"/>
                </a:lnTo>
                <a:cubicBezTo>
                  <a:pt x="70247" y="180008"/>
                  <a:pt x="72554" y="185179"/>
                  <a:pt x="77167" y="186928"/>
                </a:cubicBezTo>
                <a:cubicBezTo>
                  <a:pt x="81781" y="188677"/>
                  <a:pt x="86953" y="186407"/>
                  <a:pt x="88702" y="181794"/>
                </a:cubicBezTo>
                <a:lnTo>
                  <a:pt x="90897" y="176101"/>
                </a:lnTo>
                <a:cubicBezTo>
                  <a:pt x="99678" y="153256"/>
                  <a:pt x="104180" y="128997"/>
                  <a:pt x="104180" y="104515"/>
                </a:cubicBezTo>
                <a:lnTo>
                  <a:pt x="104180" y="95250"/>
                </a:lnTo>
                <a:close/>
              </a:path>
            </a:pathLst>
          </a:custGeom>
          <a:solidFill>
            <a:srgbClr val="FFFFFF"/>
          </a:solidFill>
          <a:ln/>
        </p:spPr>
      </p:sp>
      <p:sp>
        <p:nvSpPr>
          <p:cNvPr id="69" name="Text 67"/>
          <p:cNvSpPr/>
          <p:nvPr/>
        </p:nvSpPr>
        <p:spPr>
          <a:xfrm>
            <a:off x="4953000" y="5095875"/>
            <a:ext cx="1365250" cy="222250"/>
          </a:xfrm>
          <a:prstGeom prst="rect">
            <a:avLst/>
          </a:prstGeom>
          <a:noFill/>
          <a:ln/>
        </p:spPr>
        <p:txBody>
          <a:bodyPr wrap="square" lIns="0" tIns="0" rIns="0" bIns="0" rtlCol="0" anchor="ctr"/>
          <a:lstStyle/>
          <a:p>
            <a:pPr>
              <a:lnSpc>
                <a:spcPct val="120000"/>
              </a:lnSpc>
            </a:pPr>
            <a:r>
              <a:rPr lang="en-US" sz="1250" b="1" dirty="0">
                <a:solidFill>
                  <a:srgbClr val="1A3A5C"/>
                </a:solidFill>
                <a:latin typeface="Liter" pitchFamily="34" charset="0"/>
                <a:ea typeface="Liter" pitchFamily="34" charset="-122"/>
                <a:cs typeface="Liter" pitchFamily="34" charset="-120"/>
              </a:rPr>
              <a:t>Biometric Security</a:t>
            </a:r>
            <a:endParaRPr lang="en-US" sz="1600" dirty="0"/>
          </a:p>
        </p:txBody>
      </p:sp>
      <p:sp>
        <p:nvSpPr>
          <p:cNvPr id="70" name="Text 68"/>
          <p:cNvSpPr/>
          <p:nvPr/>
        </p:nvSpPr>
        <p:spPr>
          <a:xfrm>
            <a:off x="4381500" y="5556250"/>
            <a:ext cx="3492500" cy="619125"/>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Advanced authentication methods using fingerprints, facial recognition, and voice patterns enhance security.</a:t>
            </a:r>
            <a:endParaRPr lang="en-US" sz="1600" dirty="0"/>
          </a:p>
        </p:txBody>
      </p:sp>
      <p:sp>
        <p:nvSpPr>
          <p:cNvPr id="71" name="Shape 69"/>
          <p:cNvSpPr/>
          <p:nvPr/>
        </p:nvSpPr>
        <p:spPr>
          <a:xfrm>
            <a:off x="4381500" y="6302375"/>
            <a:ext cx="3429000" cy="793750"/>
          </a:xfrm>
          <a:custGeom>
            <a:avLst/>
            <a:gdLst/>
            <a:ahLst/>
            <a:cxnLst/>
            <a:rect l="l" t="t" r="r" b="b"/>
            <a:pathLst>
              <a:path w="3429000" h="793750">
                <a:moveTo>
                  <a:pt x="63500" y="0"/>
                </a:moveTo>
                <a:lnTo>
                  <a:pt x="3365500" y="0"/>
                </a:lnTo>
                <a:cubicBezTo>
                  <a:pt x="3400547" y="0"/>
                  <a:pt x="3429000" y="28453"/>
                  <a:pt x="3429000" y="63500"/>
                </a:cubicBezTo>
                <a:lnTo>
                  <a:pt x="3429000" y="730250"/>
                </a:lnTo>
                <a:cubicBezTo>
                  <a:pt x="3429000" y="765297"/>
                  <a:pt x="3400547" y="793750"/>
                  <a:pt x="3365500" y="793750"/>
                </a:cubicBezTo>
                <a:lnTo>
                  <a:pt x="63500" y="793750"/>
                </a:lnTo>
                <a:cubicBezTo>
                  <a:pt x="28453" y="793750"/>
                  <a:pt x="0" y="765297"/>
                  <a:pt x="0" y="730250"/>
                </a:cubicBezTo>
                <a:lnTo>
                  <a:pt x="0" y="63500"/>
                </a:lnTo>
                <a:cubicBezTo>
                  <a:pt x="0" y="28453"/>
                  <a:pt x="28453" y="0"/>
                  <a:pt x="63500" y="0"/>
                </a:cubicBezTo>
                <a:close/>
              </a:path>
            </a:pathLst>
          </a:custGeom>
          <a:solidFill>
            <a:srgbClr val="F8F9FA"/>
          </a:solidFill>
          <a:ln/>
        </p:spPr>
      </p:sp>
      <p:sp>
        <p:nvSpPr>
          <p:cNvPr id="72" name="Text 70"/>
          <p:cNvSpPr/>
          <p:nvPr/>
        </p:nvSpPr>
        <p:spPr>
          <a:xfrm>
            <a:off x="4437063" y="6429375"/>
            <a:ext cx="3317875" cy="317500"/>
          </a:xfrm>
          <a:prstGeom prst="rect">
            <a:avLst/>
          </a:prstGeom>
          <a:noFill/>
          <a:ln/>
        </p:spPr>
        <p:txBody>
          <a:bodyPr wrap="square" lIns="0" tIns="0" rIns="0" bIns="0" rtlCol="0" anchor="ctr"/>
          <a:lstStyle/>
          <a:p>
            <a:pPr algn="ctr">
              <a:lnSpc>
                <a:spcPct val="90000"/>
              </a:lnSpc>
            </a:pPr>
            <a:r>
              <a:rPr lang="en-US" sz="2250" b="1" dirty="0">
                <a:solidFill>
                  <a:srgbClr val="2A9D8F"/>
                </a:solidFill>
                <a:latin typeface="Liter" pitchFamily="34" charset="0"/>
                <a:ea typeface="Liter" pitchFamily="34" charset="-122"/>
                <a:cs typeface="Liter" pitchFamily="34" charset="-120"/>
              </a:rPr>
              <a:t>99.9%</a:t>
            </a:r>
            <a:endParaRPr lang="en-US" sz="1600" dirty="0"/>
          </a:p>
        </p:txBody>
      </p:sp>
      <p:sp>
        <p:nvSpPr>
          <p:cNvPr id="73" name="Text 71"/>
          <p:cNvSpPr/>
          <p:nvPr/>
        </p:nvSpPr>
        <p:spPr>
          <a:xfrm>
            <a:off x="4476750" y="6778625"/>
            <a:ext cx="3238500" cy="190500"/>
          </a:xfrm>
          <a:prstGeom prst="rect">
            <a:avLst/>
          </a:prstGeom>
          <a:noFill/>
          <a:ln/>
        </p:spPr>
        <p:txBody>
          <a:bodyPr wrap="square" lIns="0" tIns="0" rIns="0" bIns="0" rtlCol="0" anchor="ctr"/>
          <a:lstStyle/>
          <a:p>
            <a:pPr algn="ct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Accuracy rate</a:t>
            </a:r>
            <a:endParaRPr lang="en-US" sz="1600" dirty="0"/>
          </a:p>
        </p:txBody>
      </p:sp>
      <p:sp>
        <p:nvSpPr>
          <p:cNvPr id="74" name="Shape 72"/>
          <p:cNvSpPr/>
          <p:nvPr/>
        </p:nvSpPr>
        <p:spPr>
          <a:xfrm>
            <a:off x="4405313" y="7254875"/>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2A9D8F"/>
          </a:solidFill>
          <a:ln/>
        </p:spPr>
      </p:sp>
      <p:sp>
        <p:nvSpPr>
          <p:cNvPr id="75" name="Text 73"/>
          <p:cNvSpPr/>
          <p:nvPr/>
        </p:nvSpPr>
        <p:spPr>
          <a:xfrm>
            <a:off x="4603750" y="7223125"/>
            <a:ext cx="769938"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Face ID login</a:t>
            </a:r>
            <a:endParaRPr lang="en-US" sz="1600" dirty="0"/>
          </a:p>
        </p:txBody>
      </p:sp>
      <p:sp>
        <p:nvSpPr>
          <p:cNvPr id="76" name="Shape 74"/>
          <p:cNvSpPr/>
          <p:nvPr/>
        </p:nvSpPr>
        <p:spPr>
          <a:xfrm>
            <a:off x="4405313" y="7508875"/>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2A9D8F"/>
          </a:solidFill>
          <a:ln/>
        </p:spPr>
      </p:sp>
      <p:sp>
        <p:nvSpPr>
          <p:cNvPr id="77" name="Text 75"/>
          <p:cNvSpPr/>
          <p:nvPr/>
        </p:nvSpPr>
        <p:spPr>
          <a:xfrm>
            <a:off x="4603750" y="7477125"/>
            <a:ext cx="1182688"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Voice authentication</a:t>
            </a:r>
            <a:endParaRPr lang="en-US" sz="1600" dirty="0"/>
          </a:p>
        </p:txBody>
      </p:sp>
      <p:sp>
        <p:nvSpPr>
          <p:cNvPr id="78" name="Shape 76"/>
          <p:cNvSpPr/>
          <p:nvPr/>
        </p:nvSpPr>
        <p:spPr>
          <a:xfrm>
            <a:off x="4405313" y="7762875"/>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2A9D8F"/>
          </a:solidFill>
          <a:ln/>
        </p:spPr>
      </p:sp>
      <p:sp>
        <p:nvSpPr>
          <p:cNvPr id="79" name="Text 77"/>
          <p:cNvSpPr/>
          <p:nvPr/>
        </p:nvSpPr>
        <p:spPr>
          <a:xfrm>
            <a:off x="4603750" y="7731125"/>
            <a:ext cx="1246188"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Behavioral biometrics</a:t>
            </a:r>
            <a:endParaRPr lang="en-US" sz="1600" dirty="0"/>
          </a:p>
        </p:txBody>
      </p:sp>
      <p:sp>
        <p:nvSpPr>
          <p:cNvPr id="80" name="Shape 78"/>
          <p:cNvSpPr/>
          <p:nvPr/>
        </p:nvSpPr>
        <p:spPr>
          <a:xfrm>
            <a:off x="8128000" y="4810125"/>
            <a:ext cx="3746500" cy="3270250"/>
          </a:xfrm>
          <a:custGeom>
            <a:avLst/>
            <a:gdLst/>
            <a:ahLst/>
            <a:cxnLst/>
            <a:rect l="l" t="t" r="r" b="b"/>
            <a:pathLst>
              <a:path w="3746500" h="3270250">
                <a:moveTo>
                  <a:pt x="31750" y="0"/>
                </a:moveTo>
                <a:lnTo>
                  <a:pt x="3714750" y="0"/>
                </a:lnTo>
                <a:cubicBezTo>
                  <a:pt x="3732273" y="0"/>
                  <a:pt x="3746500" y="14227"/>
                  <a:pt x="3746500" y="31750"/>
                </a:cubicBezTo>
                <a:lnTo>
                  <a:pt x="3746500" y="3174988"/>
                </a:lnTo>
                <a:cubicBezTo>
                  <a:pt x="3746500" y="3227600"/>
                  <a:pt x="3703850" y="3270250"/>
                  <a:pt x="3651238" y="3270250"/>
                </a:cubicBezTo>
                <a:lnTo>
                  <a:pt x="95262" y="3270250"/>
                </a:lnTo>
                <a:cubicBezTo>
                  <a:pt x="42650" y="3270250"/>
                  <a:pt x="0" y="3227600"/>
                  <a:pt x="0" y="3174988"/>
                </a:cubicBezTo>
                <a:lnTo>
                  <a:pt x="0" y="31750"/>
                </a:lnTo>
                <a:cubicBezTo>
                  <a:pt x="0" y="14227"/>
                  <a:pt x="14227" y="0"/>
                  <a:pt x="31750" y="0"/>
                </a:cubicBezTo>
                <a:close/>
              </a:path>
            </a:pathLst>
          </a:custGeom>
          <a:solidFill>
            <a:srgbClr val="FFFFFF"/>
          </a:solidFill>
          <a:ln/>
          <a:effectLst>
            <a:outerShdw sx="100000" sy="100000" kx="0" ky="0" algn="bl" rotWithShape="0" blurRad="119063" dist="79375" dir="5400000">
              <a:srgbClr val="000000">
                <a:alpha val="10196"/>
              </a:srgbClr>
            </a:outerShdw>
          </a:effectLst>
        </p:spPr>
      </p:sp>
      <p:sp>
        <p:nvSpPr>
          <p:cNvPr id="81" name="Shape 79"/>
          <p:cNvSpPr/>
          <p:nvPr/>
        </p:nvSpPr>
        <p:spPr>
          <a:xfrm>
            <a:off x="8128000" y="4810125"/>
            <a:ext cx="3746500" cy="31750"/>
          </a:xfrm>
          <a:custGeom>
            <a:avLst/>
            <a:gdLst/>
            <a:ahLst/>
            <a:cxnLst/>
            <a:rect l="l" t="t" r="r" b="b"/>
            <a:pathLst>
              <a:path w="3746500" h="31750">
                <a:moveTo>
                  <a:pt x="31750" y="0"/>
                </a:moveTo>
                <a:lnTo>
                  <a:pt x="3714750" y="0"/>
                </a:lnTo>
                <a:cubicBezTo>
                  <a:pt x="3732273" y="0"/>
                  <a:pt x="3746500" y="14227"/>
                  <a:pt x="3746500" y="31750"/>
                </a:cubicBezTo>
                <a:lnTo>
                  <a:pt x="3746500" y="31750"/>
                </a:lnTo>
                <a:lnTo>
                  <a:pt x="0" y="31750"/>
                </a:lnTo>
                <a:lnTo>
                  <a:pt x="0" y="31750"/>
                </a:lnTo>
                <a:cubicBezTo>
                  <a:pt x="0" y="14227"/>
                  <a:pt x="14227" y="0"/>
                  <a:pt x="31750" y="0"/>
                </a:cubicBezTo>
                <a:close/>
              </a:path>
            </a:pathLst>
          </a:custGeom>
          <a:solidFill>
            <a:srgbClr val="2A9D8F"/>
          </a:solidFill>
          <a:ln/>
        </p:spPr>
      </p:sp>
      <p:sp>
        <p:nvSpPr>
          <p:cNvPr id="82" name="Shape 80"/>
          <p:cNvSpPr/>
          <p:nvPr/>
        </p:nvSpPr>
        <p:spPr>
          <a:xfrm>
            <a:off x="8286750" y="4984750"/>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2A9D8F"/>
          </a:solidFill>
          <a:ln/>
        </p:spPr>
      </p:sp>
      <p:sp>
        <p:nvSpPr>
          <p:cNvPr id="83" name="Shape 81"/>
          <p:cNvSpPr/>
          <p:nvPr/>
        </p:nvSpPr>
        <p:spPr>
          <a:xfrm>
            <a:off x="8413750" y="5111750"/>
            <a:ext cx="190500" cy="190500"/>
          </a:xfrm>
          <a:custGeom>
            <a:avLst/>
            <a:gdLst/>
            <a:ahLst/>
            <a:cxnLst/>
            <a:rect l="l" t="t" r="r" b="b"/>
            <a:pathLst>
              <a:path w="190500" h="190500">
                <a:moveTo>
                  <a:pt x="175357" y="2493"/>
                </a:moveTo>
                <a:cubicBezTo>
                  <a:pt x="177738" y="223"/>
                  <a:pt x="181198" y="-595"/>
                  <a:pt x="184398" y="446"/>
                </a:cubicBezTo>
                <a:cubicBezTo>
                  <a:pt x="188044" y="1674"/>
                  <a:pt x="190500" y="5097"/>
                  <a:pt x="190500" y="8930"/>
                </a:cubicBezTo>
                <a:lnTo>
                  <a:pt x="190500" y="78470"/>
                </a:lnTo>
                <a:cubicBezTo>
                  <a:pt x="190500" y="127285"/>
                  <a:pt x="150279" y="166688"/>
                  <a:pt x="101650" y="166688"/>
                </a:cubicBezTo>
                <a:cubicBezTo>
                  <a:pt x="73000" y="166688"/>
                  <a:pt x="48295" y="148270"/>
                  <a:pt x="39328" y="122523"/>
                </a:cubicBezTo>
                <a:cubicBezTo>
                  <a:pt x="26157" y="133983"/>
                  <a:pt x="17859" y="150837"/>
                  <a:pt x="17859" y="169664"/>
                </a:cubicBezTo>
                <a:cubicBezTo>
                  <a:pt x="17859" y="174613"/>
                  <a:pt x="13878" y="178594"/>
                  <a:pt x="8930" y="178594"/>
                </a:cubicBezTo>
                <a:cubicBezTo>
                  <a:pt x="3981" y="178594"/>
                  <a:pt x="0" y="174613"/>
                  <a:pt x="0" y="169664"/>
                </a:cubicBezTo>
                <a:cubicBezTo>
                  <a:pt x="0" y="141796"/>
                  <a:pt x="14213" y="117239"/>
                  <a:pt x="35756" y="102803"/>
                </a:cubicBezTo>
                <a:cubicBezTo>
                  <a:pt x="48890" y="94022"/>
                  <a:pt x="64554" y="89297"/>
                  <a:pt x="80367" y="89297"/>
                </a:cubicBezTo>
                <a:lnTo>
                  <a:pt x="110133" y="89297"/>
                </a:lnTo>
                <a:cubicBezTo>
                  <a:pt x="115081" y="89297"/>
                  <a:pt x="119063" y="85316"/>
                  <a:pt x="119063" y="80367"/>
                </a:cubicBezTo>
                <a:cubicBezTo>
                  <a:pt x="119063" y="75419"/>
                  <a:pt x="115081" y="71438"/>
                  <a:pt x="110133" y="71438"/>
                </a:cubicBezTo>
                <a:lnTo>
                  <a:pt x="80367" y="71438"/>
                </a:lnTo>
                <a:cubicBezTo>
                  <a:pt x="65596" y="71438"/>
                  <a:pt x="51606" y="74712"/>
                  <a:pt x="39067" y="80553"/>
                </a:cubicBezTo>
                <a:cubicBezTo>
                  <a:pt x="47737" y="54508"/>
                  <a:pt x="72256" y="35719"/>
                  <a:pt x="101203" y="35719"/>
                </a:cubicBezTo>
                <a:cubicBezTo>
                  <a:pt x="125909" y="35719"/>
                  <a:pt x="144289" y="27496"/>
                  <a:pt x="156530" y="19348"/>
                </a:cubicBezTo>
                <a:cubicBezTo>
                  <a:pt x="163674" y="14585"/>
                  <a:pt x="169738" y="8892"/>
                  <a:pt x="175394" y="2493"/>
                </a:cubicBezTo>
                <a:close/>
              </a:path>
            </a:pathLst>
          </a:custGeom>
          <a:solidFill>
            <a:srgbClr val="FFFFFF"/>
          </a:solidFill>
          <a:ln/>
        </p:spPr>
      </p:sp>
      <p:sp>
        <p:nvSpPr>
          <p:cNvPr id="84" name="Text 82"/>
          <p:cNvSpPr/>
          <p:nvPr/>
        </p:nvSpPr>
        <p:spPr>
          <a:xfrm>
            <a:off x="8858250" y="5095875"/>
            <a:ext cx="1095375" cy="222250"/>
          </a:xfrm>
          <a:prstGeom prst="rect">
            <a:avLst/>
          </a:prstGeom>
          <a:noFill/>
          <a:ln/>
        </p:spPr>
        <p:txBody>
          <a:bodyPr wrap="square" lIns="0" tIns="0" rIns="0" bIns="0" rtlCol="0" anchor="ctr"/>
          <a:lstStyle/>
          <a:p>
            <a:pPr>
              <a:lnSpc>
                <a:spcPct val="120000"/>
              </a:lnSpc>
            </a:pPr>
            <a:r>
              <a:rPr lang="en-US" sz="1250" b="1" dirty="0">
                <a:solidFill>
                  <a:srgbClr val="1A3A5C"/>
                </a:solidFill>
                <a:latin typeface="Liter" pitchFamily="34" charset="0"/>
                <a:ea typeface="Liter" pitchFamily="34" charset="-122"/>
                <a:cs typeface="Liter" pitchFamily="34" charset="-120"/>
              </a:rPr>
              <a:t>Green Banking</a:t>
            </a:r>
            <a:endParaRPr lang="en-US" sz="1600" dirty="0"/>
          </a:p>
        </p:txBody>
      </p:sp>
      <p:sp>
        <p:nvSpPr>
          <p:cNvPr id="85" name="Text 83"/>
          <p:cNvSpPr/>
          <p:nvPr/>
        </p:nvSpPr>
        <p:spPr>
          <a:xfrm>
            <a:off x="8286750" y="5556250"/>
            <a:ext cx="3492500" cy="619125"/>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Sustainable finance focuses on environmentally friendly investments and ESG (Environmental, Social, Governance) criteria.</a:t>
            </a:r>
            <a:endParaRPr lang="en-US" sz="1600" dirty="0"/>
          </a:p>
        </p:txBody>
      </p:sp>
      <p:sp>
        <p:nvSpPr>
          <p:cNvPr id="86" name="Shape 84"/>
          <p:cNvSpPr/>
          <p:nvPr/>
        </p:nvSpPr>
        <p:spPr>
          <a:xfrm>
            <a:off x="8286750" y="6302375"/>
            <a:ext cx="3429000" cy="793750"/>
          </a:xfrm>
          <a:custGeom>
            <a:avLst/>
            <a:gdLst/>
            <a:ahLst/>
            <a:cxnLst/>
            <a:rect l="l" t="t" r="r" b="b"/>
            <a:pathLst>
              <a:path w="3429000" h="793750">
                <a:moveTo>
                  <a:pt x="63500" y="0"/>
                </a:moveTo>
                <a:lnTo>
                  <a:pt x="3365500" y="0"/>
                </a:lnTo>
                <a:cubicBezTo>
                  <a:pt x="3400547" y="0"/>
                  <a:pt x="3429000" y="28453"/>
                  <a:pt x="3429000" y="63500"/>
                </a:cubicBezTo>
                <a:lnTo>
                  <a:pt x="3429000" y="730250"/>
                </a:lnTo>
                <a:cubicBezTo>
                  <a:pt x="3429000" y="765297"/>
                  <a:pt x="3400547" y="793750"/>
                  <a:pt x="3365500" y="793750"/>
                </a:cubicBezTo>
                <a:lnTo>
                  <a:pt x="63500" y="793750"/>
                </a:lnTo>
                <a:cubicBezTo>
                  <a:pt x="28453" y="793750"/>
                  <a:pt x="0" y="765297"/>
                  <a:pt x="0" y="730250"/>
                </a:cubicBezTo>
                <a:lnTo>
                  <a:pt x="0" y="63500"/>
                </a:lnTo>
                <a:cubicBezTo>
                  <a:pt x="0" y="28453"/>
                  <a:pt x="28453" y="0"/>
                  <a:pt x="63500" y="0"/>
                </a:cubicBezTo>
                <a:close/>
              </a:path>
            </a:pathLst>
          </a:custGeom>
          <a:solidFill>
            <a:srgbClr val="F8F9FA"/>
          </a:solidFill>
          <a:ln/>
        </p:spPr>
      </p:sp>
      <p:sp>
        <p:nvSpPr>
          <p:cNvPr id="87" name="Text 85"/>
          <p:cNvSpPr/>
          <p:nvPr/>
        </p:nvSpPr>
        <p:spPr>
          <a:xfrm>
            <a:off x="8342313" y="6429375"/>
            <a:ext cx="3317875" cy="317500"/>
          </a:xfrm>
          <a:prstGeom prst="rect">
            <a:avLst/>
          </a:prstGeom>
          <a:noFill/>
          <a:ln/>
        </p:spPr>
        <p:txBody>
          <a:bodyPr wrap="square" lIns="0" tIns="0" rIns="0" bIns="0" rtlCol="0" anchor="ctr"/>
          <a:lstStyle/>
          <a:p>
            <a:pPr algn="ctr">
              <a:lnSpc>
                <a:spcPct val="90000"/>
              </a:lnSpc>
            </a:pPr>
            <a:r>
              <a:rPr lang="en-US" sz="2250" b="1" dirty="0">
                <a:solidFill>
                  <a:srgbClr val="2A9D8F"/>
                </a:solidFill>
                <a:latin typeface="Liter" pitchFamily="34" charset="0"/>
                <a:ea typeface="Liter" pitchFamily="34" charset="-122"/>
                <a:cs typeface="Liter" pitchFamily="34" charset="-120"/>
              </a:rPr>
              <a:t>ESG</a:t>
            </a:r>
            <a:endParaRPr lang="en-US" sz="1600" dirty="0"/>
          </a:p>
        </p:txBody>
      </p:sp>
      <p:sp>
        <p:nvSpPr>
          <p:cNvPr id="88" name="Text 86"/>
          <p:cNvSpPr/>
          <p:nvPr/>
        </p:nvSpPr>
        <p:spPr>
          <a:xfrm>
            <a:off x="8382000" y="6778625"/>
            <a:ext cx="3238500" cy="190500"/>
          </a:xfrm>
          <a:prstGeom prst="rect">
            <a:avLst/>
          </a:prstGeom>
          <a:noFill/>
          <a:ln/>
        </p:spPr>
        <p:txBody>
          <a:bodyPr wrap="square" lIns="0" tIns="0" rIns="0" bIns="0" rtlCol="0" anchor="ctr"/>
          <a:lstStyle/>
          <a:p>
            <a:pPr algn="ct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Environmental Social Governance</a:t>
            </a:r>
            <a:endParaRPr lang="en-US" sz="1600" dirty="0"/>
          </a:p>
        </p:txBody>
      </p:sp>
      <p:sp>
        <p:nvSpPr>
          <p:cNvPr id="89" name="Shape 87"/>
          <p:cNvSpPr/>
          <p:nvPr/>
        </p:nvSpPr>
        <p:spPr>
          <a:xfrm>
            <a:off x="8310562" y="7254875"/>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2A9D8F"/>
          </a:solidFill>
          <a:ln/>
        </p:spPr>
      </p:sp>
      <p:sp>
        <p:nvSpPr>
          <p:cNvPr id="90" name="Text 88"/>
          <p:cNvSpPr/>
          <p:nvPr/>
        </p:nvSpPr>
        <p:spPr>
          <a:xfrm>
            <a:off x="8509000" y="7223125"/>
            <a:ext cx="769938"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Green bonds</a:t>
            </a:r>
            <a:endParaRPr lang="en-US" sz="1600" dirty="0"/>
          </a:p>
        </p:txBody>
      </p:sp>
      <p:sp>
        <p:nvSpPr>
          <p:cNvPr id="91" name="Shape 89"/>
          <p:cNvSpPr/>
          <p:nvPr/>
        </p:nvSpPr>
        <p:spPr>
          <a:xfrm>
            <a:off x="8310562" y="7508875"/>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2A9D8F"/>
          </a:solidFill>
          <a:ln/>
        </p:spPr>
      </p:sp>
      <p:sp>
        <p:nvSpPr>
          <p:cNvPr id="92" name="Text 90"/>
          <p:cNvSpPr/>
          <p:nvPr/>
        </p:nvSpPr>
        <p:spPr>
          <a:xfrm>
            <a:off x="8509000" y="7477125"/>
            <a:ext cx="1016000"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Sustainable loans</a:t>
            </a:r>
            <a:endParaRPr lang="en-US" sz="1600" dirty="0"/>
          </a:p>
        </p:txBody>
      </p:sp>
      <p:sp>
        <p:nvSpPr>
          <p:cNvPr id="93" name="Shape 91"/>
          <p:cNvSpPr/>
          <p:nvPr/>
        </p:nvSpPr>
        <p:spPr>
          <a:xfrm>
            <a:off x="8310562" y="7762875"/>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2A9D8F"/>
          </a:solidFill>
          <a:ln/>
        </p:spPr>
      </p:sp>
      <p:sp>
        <p:nvSpPr>
          <p:cNvPr id="94" name="Text 92"/>
          <p:cNvSpPr/>
          <p:nvPr/>
        </p:nvSpPr>
        <p:spPr>
          <a:xfrm>
            <a:off x="8509000" y="7731125"/>
            <a:ext cx="1436688" cy="190500"/>
          </a:xfrm>
          <a:prstGeom prst="rect">
            <a:avLst/>
          </a:prstGeom>
          <a:noFill/>
          <a:ln/>
        </p:spPr>
        <p:txBody>
          <a:bodyPr wrap="square" lIns="0" tIns="0" rIns="0" bIns="0" rtlCol="0" anchor="ctr"/>
          <a:lstStyle/>
          <a:p>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Carbon footprint tracking</a:t>
            </a:r>
            <a:endParaRPr lang="en-US" sz="1600" dirty="0"/>
          </a:p>
        </p:txBody>
      </p:sp>
      <p:sp>
        <p:nvSpPr>
          <p:cNvPr id="95" name="Shape 93"/>
          <p:cNvSpPr/>
          <p:nvPr/>
        </p:nvSpPr>
        <p:spPr>
          <a:xfrm>
            <a:off x="333375" y="8207375"/>
            <a:ext cx="11541125" cy="666750"/>
          </a:xfrm>
          <a:custGeom>
            <a:avLst/>
            <a:gdLst/>
            <a:ahLst/>
            <a:cxnLst/>
            <a:rect l="l" t="t" r="r" b="b"/>
            <a:pathLst>
              <a:path w="11541125" h="666750">
                <a:moveTo>
                  <a:pt x="31750" y="0"/>
                </a:moveTo>
                <a:lnTo>
                  <a:pt x="11477624" y="0"/>
                </a:lnTo>
                <a:cubicBezTo>
                  <a:pt x="11512695" y="0"/>
                  <a:pt x="11541125" y="28430"/>
                  <a:pt x="11541125" y="63501"/>
                </a:cubicBezTo>
                <a:lnTo>
                  <a:pt x="11541125" y="603249"/>
                </a:lnTo>
                <a:cubicBezTo>
                  <a:pt x="11541125" y="638320"/>
                  <a:pt x="11512695" y="666750"/>
                  <a:pt x="11477624" y="666750"/>
                </a:cubicBezTo>
                <a:lnTo>
                  <a:pt x="31750" y="666750"/>
                </a:lnTo>
                <a:cubicBezTo>
                  <a:pt x="14215" y="666750"/>
                  <a:pt x="0" y="652535"/>
                  <a:pt x="0" y="635000"/>
                </a:cubicBezTo>
                <a:lnTo>
                  <a:pt x="0" y="31750"/>
                </a:lnTo>
                <a:cubicBezTo>
                  <a:pt x="0" y="14227"/>
                  <a:pt x="14227" y="0"/>
                  <a:pt x="31750" y="0"/>
                </a:cubicBezTo>
                <a:close/>
              </a:path>
            </a:pathLst>
          </a:custGeom>
          <a:solidFill>
            <a:srgbClr val="1A3A5C">
              <a:alpha val="5098"/>
            </a:srgbClr>
          </a:solidFill>
          <a:ln/>
        </p:spPr>
      </p:sp>
      <p:sp>
        <p:nvSpPr>
          <p:cNvPr id="96" name="Shape 94"/>
          <p:cNvSpPr/>
          <p:nvPr/>
        </p:nvSpPr>
        <p:spPr>
          <a:xfrm>
            <a:off x="333375" y="8207375"/>
            <a:ext cx="31750" cy="666750"/>
          </a:xfrm>
          <a:custGeom>
            <a:avLst/>
            <a:gdLst/>
            <a:ahLst/>
            <a:cxnLst/>
            <a:rect l="l" t="t" r="r" b="b"/>
            <a:pathLst>
              <a:path w="31750" h="666750">
                <a:moveTo>
                  <a:pt x="31750" y="0"/>
                </a:moveTo>
                <a:lnTo>
                  <a:pt x="31750" y="0"/>
                </a:lnTo>
                <a:lnTo>
                  <a:pt x="31750" y="666750"/>
                </a:lnTo>
                <a:lnTo>
                  <a:pt x="31750" y="666750"/>
                </a:lnTo>
                <a:cubicBezTo>
                  <a:pt x="14227" y="666750"/>
                  <a:pt x="0" y="652523"/>
                  <a:pt x="0" y="635000"/>
                </a:cubicBezTo>
                <a:lnTo>
                  <a:pt x="0" y="31750"/>
                </a:lnTo>
                <a:cubicBezTo>
                  <a:pt x="0" y="14227"/>
                  <a:pt x="14227" y="0"/>
                  <a:pt x="31750" y="0"/>
                </a:cubicBezTo>
                <a:close/>
              </a:path>
            </a:pathLst>
          </a:custGeom>
          <a:solidFill>
            <a:srgbClr val="1A3A5C"/>
          </a:solidFill>
          <a:ln/>
        </p:spPr>
      </p:sp>
      <p:sp>
        <p:nvSpPr>
          <p:cNvPr id="97" name="Shape 95"/>
          <p:cNvSpPr/>
          <p:nvPr/>
        </p:nvSpPr>
        <p:spPr>
          <a:xfrm>
            <a:off x="500063" y="8370094"/>
            <a:ext cx="111125" cy="127000"/>
          </a:xfrm>
          <a:custGeom>
            <a:avLst/>
            <a:gdLst/>
            <a:ahLst/>
            <a:cxnLst/>
            <a:rect l="l" t="t" r="r" b="b"/>
            <a:pathLst>
              <a:path w="111125" h="127000">
                <a:moveTo>
                  <a:pt x="0" y="53578"/>
                </a:moveTo>
                <a:cubicBezTo>
                  <a:pt x="0" y="37133"/>
                  <a:pt x="13320" y="23812"/>
                  <a:pt x="29766" y="23812"/>
                </a:cubicBezTo>
                <a:lnTo>
                  <a:pt x="31750" y="23812"/>
                </a:lnTo>
                <a:cubicBezTo>
                  <a:pt x="36140" y="23812"/>
                  <a:pt x="39688" y="27360"/>
                  <a:pt x="39688" y="31750"/>
                </a:cubicBezTo>
                <a:cubicBezTo>
                  <a:pt x="39688" y="36140"/>
                  <a:pt x="36140" y="39688"/>
                  <a:pt x="31750" y="39688"/>
                </a:cubicBezTo>
                <a:lnTo>
                  <a:pt x="29766" y="39688"/>
                </a:lnTo>
                <a:cubicBezTo>
                  <a:pt x="22101" y="39688"/>
                  <a:pt x="15875" y="45913"/>
                  <a:pt x="15875" y="53578"/>
                </a:cubicBezTo>
                <a:lnTo>
                  <a:pt x="15875" y="55563"/>
                </a:lnTo>
                <a:lnTo>
                  <a:pt x="31750" y="55563"/>
                </a:lnTo>
                <a:cubicBezTo>
                  <a:pt x="40506" y="55563"/>
                  <a:pt x="47625" y="62681"/>
                  <a:pt x="47625" y="71438"/>
                </a:cubicBezTo>
                <a:lnTo>
                  <a:pt x="47625" y="87313"/>
                </a:lnTo>
                <a:cubicBezTo>
                  <a:pt x="47625" y="96069"/>
                  <a:pt x="40506" y="103188"/>
                  <a:pt x="31750" y="103188"/>
                </a:cubicBezTo>
                <a:lnTo>
                  <a:pt x="15875" y="103188"/>
                </a:lnTo>
                <a:cubicBezTo>
                  <a:pt x="7119" y="103188"/>
                  <a:pt x="0" y="96069"/>
                  <a:pt x="0" y="87313"/>
                </a:cubicBezTo>
                <a:lnTo>
                  <a:pt x="0" y="53578"/>
                </a:lnTo>
                <a:close/>
                <a:moveTo>
                  <a:pt x="63500" y="53578"/>
                </a:moveTo>
                <a:cubicBezTo>
                  <a:pt x="63500" y="37133"/>
                  <a:pt x="76820" y="23812"/>
                  <a:pt x="93266" y="23812"/>
                </a:cubicBezTo>
                <a:lnTo>
                  <a:pt x="95250" y="23812"/>
                </a:lnTo>
                <a:cubicBezTo>
                  <a:pt x="99640" y="23812"/>
                  <a:pt x="103188" y="27360"/>
                  <a:pt x="103188" y="31750"/>
                </a:cubicBezTo>
                <a:cubicBezTo>
                  <a:pt x="103188" y="36140"/>
                  <a:pt x="99640" y="39688"/>
                  <a:pt x="95250" y="39688"/>
                </a:cubicBezTo>
                <a:lnTo>
                  <a:pt x="93266" y="39688"/>
                </a:lnTo>
                <a:cubicBezTo>
                  <a:pt x="85601" y="39688"/>
                  <a:pt x="79375" y="45913"/>
                  <a:pt x="79375" y="53578"/>
                </a:cubicBezTo>
                <a:lnTo>
                  <a:pt x="79375" y="55563"/>
                </a:lnTo>
                <a:lnTo>
                  <a:pt x="95250" y="55563"/>
                </a:lnTo>
                <a:cubicBezTo>
                  <a:pt x="104006" y="55563"/>
                  <a:pt x="111125" y="62681"/>
                  <a:pt x="111125" y="71438"/>
                </a:cubicBezTo>
                <a:lnTo>
                  <a:pt x="111125" y="87313"/>
                </a:lnTo>
                <a:cubicBezTo>
                  <a:pt x="111125" y="96069"/>
                  <a:pt x="104006" y="103188"/>
                  <a:pt x="95250" y="103188"/>
                </a:cubicBezTo>
                <a:lnTo>
                  <a:pt x="79375" y="103188"/>
                </a:lnTo>
                <a:cubicBezTo>
                  <a:pt x="70619" y="103188"/>
                  <a:pt x="63500" y="96069"/>
                  <a:pt x="63500" y="87313"/>
                </a:cubicBezTo>
                <a:lnTo>
                  <a:pt x="63500" y="53578"/>
                </a:lnTo>
                <a:close/>
              </a:path>
            </a:pathLst>
          </a:custGeom>
          <a:solidFill>
            <a:srgbClr val="2A9D8F"/>
          </a:solidFill>
          <a:ln/>
        </p:spPr>
      </p:sp>
      <p:sp>
        <p:nvSpPr>
          <p:cNvPr id="98" name="Text 96"/>
          <p:cNvSpPr/>
          <p:nvPr/>
        </p:nvSpPr>
        <p:spPr>
          <a:xfrm>
            <a:off x="674688" y="8334375"/>
            <a:ext cx="11136313" cy="412750"/>
          </a:xfrm>
          <a:prstGeom prst="rect">
            <a:avLst/>
          </a:prstGeom>
          <a:noFill/>
          <a:ln/>
        </p:spPr>
        <p:txBody>
          <a:bodyPr wrap="square" lIns="0" tIns="0" rIns="0" bIns="0" rtlCol="0" anchor="ctr"/>
          <a:lstStyle/>
          <a:p>
            <a:pPr>
              <a:lnSpc>
                <a:spcPct val="140000"/>
              </a:lnSpc>
            </a:pPr>
            <a:r>
              <a:rPr lang="en-US" sz="1000" b="1" dirty="0">
                <a:solidFill>
                  <a:srgbClr val="2B2D42"/>
                </a:solidFill>
                <a:latin typeface="Quattrocento Sans" pitchFamily="34" charset="0"/>
                <a:ea typeface="Quattrocento Sans" pitchFamily="34" charset="-122"/>
                <a:cs typeface="Quattrocento Sans" pitchFamily="34" charset="-120"/>
              </a:rPr>
              <a:t>Speaker Note:</a:t>
            </a:r>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 Highlight UPI as a game-changer—India processes more real-time transactions than the rest of the world combined! Discuss how AI helps detect fraud in milliseconds. Ask students about their experience with mobile banking apps and biometric login.</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2A9D8F"/>
                </a:solidFill>
                <a:latin typeface="Liter" pitchFamily="34" charset="0"/>
                <a:ea typeface="Liter" pitchFamily="34" charset="-122"/>
                <a:cs typeface="Liter" pitchFamily="34" charset="-120"/>
              </a:rPr>
              <a:t>CHAPTER 10</a:t>
            </a:r>
            <a:endParaRPr lang="en-US" sz="1600" dirty="0"/>
          </a:p>
        </p:txBody>
      </p:sp>
      <p:sp>
        <p:nvSpPr>
          <p:cNvPr id="3" name="Text 1"/>
          <p:cNvSpPr/>
          <p:nvPr/>
        </p:nvSpPr>
        <p:spPr>
          <a:xfrm>
            <a:off x="317500" y="571500"/>
            <a:ext cx="11747500" cy="476250"/>
          </a:xfrm>
          <a:prstGeom prst="rect">
            <a:avLst/>
          </a:prstGeom>
          <a:noFill/>
          <a:ln/>
        </p:spPr>
        <p:txBody>
          <a:bodyPr wrap="square" lIns="0" tIns="0" rIns="0" bIns="0" rtlCol="0" anchor="ctr"/>
          <a:lstStyle/>
          <a:p>
            <a:pPr>
              <a:lnSpc>
                <a:spcPct val="100000"/>
              </a:lnSpc>
            </a:pPr>
            <a:r>
              <a:rPr lang="en-US" sz="3000" b="1" dirty="0">
                <a:solidFill>
                  <a:srgbClr val="1A3A5C"/>
                </a:solidFill>
                <a:latin typeface="Oranienbaum" pitchFamily="34" charset="0"/>
                <a:ea typeface="Oranienbaum" pitchFamily="34" charset="-122"/>
                <a:cs typeface="Oranienbaum" pitchFamily="34" charset="-120"/>
              </a:rPr>
              <a:t>Advantages of Banking</a:t>
            </a:r>
            <a:endParaRPr lang="en-US" sz="1600" dirty="0"/>
          </a:p>
        </p:txBody>
      </p:sp>
      <p:sp>
        <p:nvSpPr>
          <p:cNvPr id="4" name="Shape 2"/>
          <p:cNvSpPr/>
          <p:nvPr/>
        </p:nvSpPr>
        <p:spPr>
          <a:xfrm>
            <a:off x="317500" y="1174750"/>
            <a:ext cx="762000" cy="47625"/>
          </a:xfrm>
          <a:custGeom>
            <a:avLst/>
            <a:gdLst/>
            <a:ahLst/>
            <a:cxnLst/>
            <a:rect l="l" t="t" r="r" b="b"/>
            <a:pathLst>
              <a:path w="762000" h="47625">
                <a:moveTo>
                  <a:pt x="0" y="0"/>
                </a:moveTo>
                <a:lnTo>
                  <a:pt x="762000" y="0"/>
                </a:lnTo>
                <a:lnTo>
                  <a:pt x="762000" y="47625"/>
                </a:lnTo>
                <a:lnTo>
                  <a:pt x="0" y="47625"/>
                </a:lnTo>
                <a:lnTo>
                  <a:pt x="0" y="0"/>
                </a:lnTo>
                <a:close/>
              </a:path>
            </a:pathLst>
          </a:custGeom>
          <a:solidFill>
            <a:srgbClr val="2A9D8F"/>
          </a:solidFill>
          <a:ln/>
        </p:spPr>
      </p:sp>
      <p:sp>
        <p:nvSpPr>
          <p:cNvPr id="5" name="Shape 3"/>
          <p:cNvSpPr/>
          <p:nvPr/>
        </p:nvSpPr>
        <p:spPr>
          <a:xfrm>
            <a:off x="317500" y="1349375"/>
            <a:ext cx="5683250" cy="1166813"/>
          </a:xfrm>
          <a:custGeom>
            <a:avLst/>
            <a:gdLst/>
            <a:ahLst/>
            <a:cxnLst/>
            <a:rect l="l" t="t" r="r" b="b"/>
            <a:pathLst>
              <a:path w="5683250" h="1166813">
                <a:moveTo>
                  <a:pt x="95247" y="0"/>
                </a:moveTo>
                <a:lnTo>
                  <a:pt x="5588003" y="0"/>
                </a:lnTo>
                <a:cubicBezTo>
                  <a:pt x="5640607" y="0"/>
                  <a:pt x="5683250" y="42643"/>
                  <a:pt x="5683250" y="95247"/>
                </a:cubicBezTo>
                <a:lnTo>
                  <a:pt x="5683250" y="1071566"/>
                </a:lnTo>
                <a:cubicBezTo>
                  <a:pt x="5683250" y="1124169"/>
                  <a:pt x="5640607" y="1166813"/>
                  <a:pt x="5588003" y="1166813"/>
                </a:cubicBezTo>
                <a:lnTo>
                  <a:pt x="95247" y="1166813"/>
                </a:lnTo>
                <a:cubicBezTo>
                  <a:pt x="42643" y="1166813"/>
                  <a:pt x="0" y="1124169"/>
                  <a:pt x="0" y="1071566"/>
                </a:cubicBezTo>
                <a:lnTo>
                  <a:pt x="0" y="95247"/>
                </a:lnTo>
                <a:cubicBezTo>
                  <a:pt x="0" y="42643"/>
                  <a:pt x="42643" y="0"/>
                  <a:pt x="95247" y="0"/>
                </a:cubicBezTo>
                <a:close/>
              </a:path>
            </a:pathLst>
          </a:custGeom>
          <a:gradFill rotWithShape="1" flip="none">
            <a:gsLst>
              <a:gs pos="0">
                <a:srgbClr val="1A3A5C"/>
              </a:gs>
              <a:gs pos="100000">
                <a:srgbClr val="2A9D8F"/>
              </a:gs>
            </a:gsLst>
            <a:lin ang="0" scaled="1"/>
          </a:gradFill>
          <a:ln/>
          <a:effectLst>
            <a:outerShdw sx="100000" sy="100000" kx="0" ky="0" algn="bl" rotWithShape="0" blurRad="119063" dist="79375" dir="5400000">
              <a:srgbClr val="000000">
                <a:alpha val="10196"/>
              </a:srgbClr>
            </a:outerShdw>
          </a:effectLst>
        </p:spPr>
      </p:sp>
      <p:sp>
        <p:nvSpPr>
          <p:cNvPr id="6" name="Shape 4"/>
          <p:cNvSpPr/>
          <p:nvPr/>
        </p:nvSpPr>
        <p:spPr>
          <a:xfrm>
            <a:off x="508000" y="1531938"/>
            <a:ext cx="238125" cy="238125"/>
          </a:xfrm>
          <a:custGeom>
            <a:avLst/>
            <a:gdLst/>
            <a:ahLst/>
            <a:cxnLst/>
            <a:rect l="l" t="t" r="r" b="b"/>
            <a:pathLst>
              <a:path w="238125" h="238125">
                <a:moveTo>
                  <a:pt x="37207" y="74414"/>
                </a:moveTo>
                <a:cubicBezTo>
                  <a:pt x="45439" y="74414"/>
                  <a:pt x="52090" y="81065"/>
                  <a:pt x="52090" y="89297"/>
                </a:cubicBezTo>
                <a:lnTo>
                  <a:pt x="52090" y="208359"/>
                </a:lnTo>
                <a:cubicBezTo>
                  <a:pt x="52090" y="216591"/>
                  <a:pt x="45439" y="223242"/>
                  <a:pt x="37207" y="223242"/>
                </a:cubicBezTo>
                <a:lnTo>
                  <a:pt x="14883" y="223242"/>
                </a:lnTo>
                <a:cubicBezTo>
                  <a:pt x="6651" y="223242"/>
                  <a:pt x="0" y="216591"/>
                  <a:pt x="0" y="208359"/>
                </a:cubicBezTo>
                <a:lnTo>
                  <a:pt x="0" y="89297"/>
                </a:lnTo>
                <a:cubicBezTo>
                  <a:pt x="0" y="81065"/>
                  <a:pt x="6651" y="74414"/>
                  <a:pt x="14883" y="74414"/>
                </a:cubicBezTo>
                <a:lnTo>
                  <a:pt x="37207" y="74414"/>
                </a:lnTo>
                <a:close/>
                <a:moveTo>
                  <a:pt x="125853" y="7441"/>
                </a:moveTo>
                <a:cubicBezTo>
                  <a:pt x="138550" y="7441"/>
                  <a:pt x="148828" y="17720"/>
                  <a:pt x="148828" y="30417"/>
                </a:cubicBezTo>
                <a:lnTo>
                  <a:pt x="148828" y="32370"/>
                </a:lnTo>
                <a:cubicBezTo>
                  <a:pt x="148828" y="35533"/>
                  <a:pt x="148224" y="38695"/>
                  <a:pt x="147061" y="41625"/>
                </a:cubicBezTo>
                <a:lnTo>
                  <a:pt x="133945" y="74414"/>
                </a:lnTo>
                <a:lnTo>
                  <a:pt x="208359" y="74414"/>
                </a:lnTo>
                <a:cubicBezTo>
                  <a:pt x="220684" y="74414"/>
                  <a:pt x="230684" y="84413"/>
                  <a:pt x="230684" y="96738"/>
                </a:cubicBezTo>
                <a:cubicBezTo>
                  <a:pt x="230684" y="105901"/>
                  <a:pt x="225149" y="113760"/>
                  <a:pt x="217243" y="117202"/>
                </a:cubicBezTo>
                <a:cubicBezTo>
                  <a:pt x="225149" y="120644"/>
                  <a:pt x="230684" y="128504"/>
                  <a:pt x="230684" y="137666"/>
                </a:cubicBezTo>
                <a:cubicBezTo>
                  <a:pt x="230684" y="148549"/>
                  <a:pt x="222870" y="157618"/>
                  <a:pt x="212545" y="159572"/>
                </a:cubicBezTo>
                <a:cubicBezTo>
                  <a:pt x="214592" y="162967"/>
                  <a:pt x="215801" y="166920"/>
                  <a:pt x="215801" y="171152"/>
                </a:cubicBezTo>
                <a:cubicBezTo>
                  <a:pt x="215801" y="181477"/>
                  <a:pt x="208824" y="190128"/>
                  <a:pt x="199337" y="192686"/>
                </a:cubicBezTo>
                <a:cubicBezTo>
                  <a:pt x="200360" y="195244"/>
                  <a:pt x="200918" y="198034"/>
                  <a:pt x="200918" y="200918"/>
                </a:cubicBezTo>
                <a:cubicBezTo>
                  <a:pt x="200918" y="213243"/>
                  <a:pt x="190919" y="223242"/>
                  <a:pt x="178594" y="223242"/>
                </a:cubicBezTo>
                <a:lnTo>
                  <a:pt x="137713" y="223242"/>
                </a:lnTo>
                <a:cubicBezTo>
                  <a:pt x="120830" y="223242"/>
                  <a:pt x="104412" y="217475"/>
                  <a:pt x="91250" y="206918"/>
                </a:cubicBezTo>
                <a:lnTo>
                  <a:pt x="85576" y="202406"/>
                </a:lnTo>
                <a:cubicBezTo>
                  <a:pt x="78507" y="196779"/>
                  <a:pt x="74414" y="188221"/>
                  <a:pt x="74414" y="179152"/>
                </a:cubicBezTo>
                <a:lnTo>
                  <a:pt x="74414" y="92366"/>
                </a:lnTo>
                <a:cubicBezTo>
                  <a:pt x="74414" y="85437"/>
                  <a:pt x="76042" y="78600"/>
                  <a:pt x="79111" y="72414"/>
                </a:cubicBezTo>
                <a:lnTo>
                  <a:pt x="105249" y="20138"/>
                </a:lnTo>
                <a:cubicBezTo>
                  <a:pt x="109156" y="12371"/>
                  <a:pt x="117109" y="7441"/>
                  <a:pt x="125853" y="7441"/>
                </a:cubicBezTo>
                <a:close/>
              </a:path>
            </a:pathLst>
          </a:custGeom>
          <a:solidFill>
            <a:srgbClr val="FFFFFF"/>
          </a:solidFill>
          <a:ln/>
        </p:spPr>
      </p:sp>
      <p:sp>
        <p:nvSpPr>
          <p:cNvPr id="7" name="Text 5"/>
          <p:cNvSpPr/>
          <p:nvPr/>
        </p:nvSpPr>
        <p:spPr>
          <a:xfrm>
            <a:off x="777875" y="1508125"/>
            <a:ext cx="5183188" cy="285750"/>
          </a:xfrm>
          <a:prstGeom prst="rect">
            <a:avLst/>
          </a:prstGeom>
          <a:noFill/>
          <a:ln/>
        </p:spPr>
        <p:txBody>
          <a:bodyPr wrap="square" lIns="0" tIns="0" rIns="0" bIns="0" rtlCol="0" anchor="ctr"/>
          <a:lstStyle/>
          <a:p>
            <a:pPr>
              <a:lnSpc>
                <a:spcPct val="100000"/>
              </a:lnSpc>
            </a:pPr>
            <a:r>
              <a:rPr lang="en-US" sz="1875" b="1" dirty="0">
                <a:solidFill>
                  <a:srgbClr val="FFFFFF"/>
                </a:solidFill>
                <a:latin typeface="Liter" pitchFamily="34" charset="0"/>
                <a:ea typeface="Liter" pitchFamily="34" charset="-122"/>
                <a:cs typeface="Liter" pitchFamily="34" charset="-120"/>
              </a:rPr>
              <a:t>Why Banking Matters</a:t>
            </a:r>
            <a:endParaRPr lang="en-US" sz="1600" dirty="0"/>
          </a:p>
        </p:txBody>
      </p:sp>
      <p:sp>
        <p:nvSpPr>
          <p:cNvPr id="8" name="Text 6"/>
          <p:cNvSpPr/>
          <p:nvPr/>
        </p:nvSpPr>
        <p:spPr>
          <a:xfrm>
            <a:off x="476250" y="1889125"/>
            <a:ext cx="5437188" cy="468313"/>
          </a:xfrm>
          <a:prstGeom prst="rect">
            <a:avLst/>
          </a:prstGeom>
          <a:noFill/>
          <a:ln/>
        </p:spPr>
        <p:txBody>
          <a:bodyPr wrap="square" lIns="0" tIns="0" rIns="0" bIns="0" rtlCol="0" anchor="ctr"/>
          <a:lstStyle/>
          <a:p>
            <a:pPr>
              <a:lnSpc>
                <a:spcPct val="140000"/>
              </a:lnSpc>
            </a:pPr>
            <a:r>
              <a:rPr lang="en-US" sz="1125" dirty="0">
                <a:solidFill>
                  <a:srgbClr val="FFFFFF"/>
                </a:solidFill>
                <a:latin typeface="Quattrocento Sans" pitchFamily="34" charset="0"/>
                <a:ea typeface="Quattrocento Sans" pitchFamily="34" charset="-122"/>
                <a:cs typeface="Quattrocento Sans" pitchFamily="34" charset="-120"/>
              </a:rPr>
              <a:t>Banking provides essential services that protect, grow, and empower individuals and businesses financially.</a:t>
            </a:r>
            <a:endParaRPr lang="en-US" sz="1600" dirty="0"/>
          </a:p>
        </p:txBody>
      </p:sp>
      <p:sp>
        <p:nvSpPr>
          <p:cNvPr id="9" name="Shape 7"/>
          <p:cNvSpPr/>
          <p:nvPr/>
        </p:nvSpPr>
        <p:spPr>
          <a:xfrm>
            <a:off x="333375" y="2639219"/>
            <a:ext cx="5667375" cy="1524000"/>
          </a:xfrm>
          <a:custGeom>
            <a:avLst/>
            <a:gdLst/>
            <a:ahLst/>
            <a:cxnLst/>
            <a:rect l="l" t="t" r="r" b="b"/>
            <a:pathLst>
              <a:path w="5667375" h="1524000">
                <a:moveTo>
                  <a:pt x="31750" y="0"/>
                </a:moveTo>
                <a:lnTo>
                  <a:pt x="5572125" y="0"/>
                </a:lnTo>
                <a:cubicBezTo>
                  <a:pt x="5624695" y="0"/>
                  <a:pt x="5667375" y="42680"/>
                  <a:pt x="5667375" y="95250"/>
                </a:cubicBezTo>
                <a:lnTo>
                  <a:pt x="5667375" y="1428750"/>
                </a:lnTo>
                <a:cubicBezTo>
                  <a:pt x="5667375" y="1481320"/>
                  <a:pt x="5624695" y="1524000"/>
                  <a:pt x="5572125" y="1524000"/>
                </a:cubicBezTo>
                <a:lnTo>
                  <a:pt x="31750" y="1524000"/>
                </a:lnTo>
                <a:cubicBezTo>
                  <a:pt x="14215" y="1524000"/>
                  <a:pt x="0" y="1509785"/>
                  <a:pt x="0" y="149225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10" name="Shape 8"/>
          <p:cNvSpPr/>
          <p:nvPr/>
        </p:nvSpPr>
        <p:spPr>
          <a:xfrm>
            <a:off x="333375" y="2639219"/>
            <a:ext cx="31750" cy="1524000"/>
          </a:xfrm>
          <a:custGeom>
            <a:avLst/>
            <a:gdLst/>
            <a:ahLst/>
            <a:cxnLst/>
            <a:rect l="l" t="t" r="r" b="b"/>
            <a:pathLst>
              <a:path w="31750" h="1524000">
                <a:moveTo>
                  <a:pt x="31750" y="0"/>
                </a:moveTo>
                <a:lnTo>
                  <a:pt x="31750" y="0"/>
                </a:lnTo>
                <a:lnTo>
                  <a:pt x="31750" y="1524000"/>
                </a:lnTo>
                <a:lnTo>
                  <a:pt x="31750" y="1524000"/>
                </a:lnTo>
                <a:cubicBezTo>
                  <a:pt x="14227" y="1524000"/>
                  <a:pt x="0" y="1509773"/>
                  <a:pt x="0" y="1492250"/>
                </a:cubicBezTo>
                <a:lnTo>
                  <a:pt x="0" y="31750"/>
                </a:lnTo>
                <a:cubicBezTo>
                  <a:pt x="0" y="14227"/>
                  <a:pt x="14227" y="0"/>
                  <a:pt x="31750" y="0"/>
                </a:cubicBezTo>
                <a:close/>
              </a:path>
            </a:pathLst>
          </a:custGeom>
          <a:solidFill>
            <a:srgbClr val="1A3A5C"/>
          </a:solidFill>
          <a:ln/>
        </p:spPr>
      </p:sp>
      <p:sp>
        <p:nvSpPr>
          <p:cNvPr id="11" name="Shape 9"/>
          <p:cNvSpPr/>
          <p:nvPr/>
        </p:nvSpPr>
        <p:spPr>
          <a:xfrm>
            <a:off x="508000" y="2797969"/>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1A3A5C"/>
          </a:solidFill>
          <a:ln/>
        </p:spPr>
      </p:sp>
      <p:sp>
        <p:nvSpPr>
          <p:cNvPr id="12" name="Shape 10"/>
          <p:cNvSpPr/>
          <p:nvPr/>
        </p:nvSpPr>
        <p:spPr>
          <a:xfrm>
            <a:off x="635000" y="2924969"/>
            <a:ext cx="190500" cy="190500"/>
          </a:xfrm>
          <a:custGeom>
            <a:avLst/>
            <a:gdLst/>
            <a:ahLst/>
            <a:cxnLst/>
            <a:rect l="l" t="t" r="r" b="b"/>
            <a:pathLst>
              <a:path w="190500" h="190500">
                <a:moveTo>
                  <a:pt x="95250" y="0"/>
                </a:moveTo>
                <a:cubicBezTo>
                  <a:pt x="96962" y="0"/>
                  <a:pt x="98673" y="372"/>
                  <a:pt x="100236" y="1079"/>
                </a:cubicBezTo>
                <a:lnTo>
                  <a:pt x="170334" y="30807"/>
                </a:lnTo>
                <a:cubicBezTo>
                  <a:pt x="178519" y="34268"/>
                  <a:pt x="184621" y="42342"/>
                  <a:pt x="184584" y="52090"/>
                </a:cubicBezTo>
                <a:cubicBezTo>
                  <a:pt x="184398" y="88999"/>
                  <a:pt x="169218" y="156530"/>
                  <a:pt x="105110" y="187226"/>
                </a:cubicBezTo>
                <a:cubicBezTo>
                  <a:pt x="98896" y="190202"/>
                  <a:pt x="91678" y="190202"/>
                  <a:pt x="85465" y="187226"/>
                </a:cubicBezTo>
                <a:cubicBezTo>
                  <a:pt x="21320" y="156530"/>
                  <a:pt x="6176" y="88999"/>
                  <a:pt x="5990" y="52090"/>
                </a:cubicBezTo>
                <a:cubicBezTo>
                  <a:pt x="5953" y="42342"/>
                  <a:pt x="12055" y="34268"/>
                  <a:pt x="20241" y="30807"/>
                </a:cubicBezTo>
                <a:lnTo>
                  <a:pt x="90301" y="1079"/>
                </a:lnTo>
                <a:cubicBezTo>
                  <a:pt x="91864" y="372"/>
                  <a:pt x="93538" y="0"/>
                  <a:pt x="95250" y="0"/>
                </a:cubicBezTo>
                <a:close/>
                <a:moveTo>
                  <a:pt x="95250" y="24854"/>
                </a:moveTo>
                <a:lnTo>
                  <a:pt x="95250" y="165534"/>
                </a:lnTo>
                <a:cubicBezTo>
                  <a:pt x="146596" y="140680"/>
                  <a:pt x="160400" y="85613"/>
                  <a:pt x="160734" y="52648"/>
                </a:cubicBezTo>
                <a:lnTo>
                  <a:pt x="95250" y="24892"/>
                </a:lnTo>
                <a:lnTo>
                  <a:pt x="95250" y="24892"/>
                </a:lnTo>
                <a:close/>
              </a:path>
            </a:pathLst>
          </a:custGeom>
          <a:solidFill>
            <a:srgbClr val="FFFFFF"/>
          </a:solidFill>
          <a:ln/>
        </p:spPr>
      </p:sp>
      <p:sp>
        <p:nvSpPr>
          <p:cNvPr id="13" name="Text 11"/>
          <p:cNvSpPr/>
          <p:nvPr/>
        </p:nvSpPr>
        <p:spPr>
          <a:xfrm>
            <a:off x="1079500" y="2797969"/>
            <a:ext cx="485775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Financial Security</a:t>
            </a:r>
            <a:endParaRPr lang="en-US" sz="1600" dirty="0"/>
          </a:p>
        </p:txBody>
      </p:sp>
      <p:sp>
        <p:nvSpPr>
          <p:cNvPr id="14" name="Text 12"/>
          <p:cNvSpPr/>
          <p:nvPr/>
        </p:nvSpPr>
        <p:spPr>
          <a:xfrm>
            <a:off x="1079500" y="3115469"/>
            <a:ext cx="482600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Bank accounts provide a safe place to store money, protected from theft, loss, or damage.</a:t>
            </a:r>
            <a:endParaRPr lang="en-US" sz="1600" dirty="0"/>
          </a:p>
        </p:txBody>
      </p:sp>
      <p:sp>
        <p:nvSpPr>
          <p:cNvPr id="15" name="Shape 13"/>
          <p:cNvSpPr/>
          <p:nvPr/>
        </p:nvSpPr>
        <p:spPr>
          <a:xfrm>
            <a:off x="1079500" y="3623469"/>
            <a:ext cx="4762500" cy="381000"/>
          </a:xfrm>
          <a:custGeom>
            <a:avLst/>
            <a:gdLst/>
            <a:ahLst/>
            <a:cxnLst/>
            <a:rect l="l" t="t" r="r" b="b"/>
            <a:pathLst>
              <a:path w="4762500" h="381000">
                <a:moveTo>
                  <a:pt x="63501" y="0"/>
                </a:moveTo>
                <a:lnTo>
                  <a:pt x="4698999" y="0"/>
                </a:lnTo>
                <a:cubicBezTo>
                  <a:pt x="4734070" y="0"/>
                  <a:pt x="4762500" y="28430"/>
                  <a:pt x="4762500" y="63501"/>
                </a:cubicBezTo>
                <a:lnTo>
                  <a:pt x="4762500" y="317499"/>
                </a:lnTo>
                <a:cubicBezTo>
                  <a:pt x="4762500" y="352570"/>
                  <a:pt x="4734070" y="381000"/>
                  <a:pt x="4698999" y="381000"/>
                </a:cubicBezTo>
                <a:lnTo>
                  <a:pt x="63501" y="381000"/>
                </a:lnTo>
                <a:cubicBezTo>
                  <a:pt x="28454" y="381000"/>
                  <a:pt x="0" y="352546"/>
                  <a:pt x="0" y="317499"/>
                </a:cubicBezTo>
                <a:lnTo>
                  <a:pt x="0" y="63501"/>
                </a:lnTo>
                <a:cubicBezTo>
                  <a:pt x="0" y="28454"/>
                  <a:pt x="28454" y="0"/>
                  <a:pt x="63501" y="0"/>
                </a:cubicBezTo>
                <a:close/>
              </a:path>
            </a:pathLst>
          </a:custGeom>
          <a:solidFill>
            <a:srgbClr val="F8F9FA"/>
          </a:solidFill>
          <a:ln/>
        </p:spPr>
      </p:sp>
      <p:sp>
        <p:nvSpPr>
          <p:cNvPr id="16" name="Shape 14"/>
          <p:cNvSpPr/>
          <p:nvPr/>
        </p:nvSpPr>
        <p:spPr>
          <a:xfrm>
            <a:off x="1190625" y="3746500"/>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2A9D8F"/>
          </a:solidFill>
          <a:ln/>
        </p:spPr>
      </p:sp>
      <p:sp>
        <p:nvSpPr>
          <p:cNvPr id="17" name="Text 15"/>
          <p:cNvSpPr/>
          <p:nvPr/>
        </p:nvSpPr>
        <p:spPr>
          <a:xfrm>
            <a:off x="1373188" y="3718719"/>
            <a:ext cx="4437063" cy="190500"/>
          </a:xfrm>
          <a:prstGeom prst="rect">
            <a:avLst/>
          </a:prstGeom>
          <a:noFill/>
          <a:ln/>
        </p:spPr>
        <p:txBody>
          <a:bodyPr wrap="square" lIns="0" tIns="0" rIns="0" bIns="0" rtlCol="0" anchor="ctr"/>
          <a:lstStyle/>
          <a:p>
            <a:pPr>
              <a:lnSpc>
                <a:spcPct val="130000"/>
              </a:lnSpc>
            </a:pPr>
            <a:r>
              <a:rPr lang="en-US" sz="1000" b="1" dirty="0">
                <a:solidFill>
                  <a:srgbClr val="2B2D42"/>
                </a:solidFill>
                <a:latin typeface="Quattrocento Sans" pitchFamily="34" charset="0"/>
                <a:ea typeface="Quattrocento Sans" pitchFamily="34" charset="-122"/>
                <a:cs typeface="Quattrocento Sans" pitchFamily="34" charset="-120"/>
              </a:rPr>
              <a:t>FDIC Insurance:</a:t>
            </a:r>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 Covers up to $250,000 per account</a:t>
            </a:r>
            <a:endParaRPr lang="en-US" sz="1600" dirty="0"/>
          </a:p>
        </p:txBody>
      </p:sp>
      <p:sp>
        <p:nvSpPr>
          <p:cNvPr id="18" name="Shape 16"/>
          <p:cNvSpPr/>
          <p:nvPr/>
        </p:nvSpPr>
        <p:spPr>
          <a:xfrm>
            <a:off x="333375" y="4290219"/>
            <a:ext cx="5667375" cy="1428750"/>
          </a:xfrm>
          <a:custGeom>
            <a:avLst/>
            <a:gdLst/>
            <a:ahLst/>
            <a:cxnLst/>
            <a:rect l="l" t="t" r="r" b="b"/>
            <a:pathLst>
              <a:path w="5667375" h="1428750">
                <a:moveTo>
                  <a:pt x="31750" y="0"/>
                </a:moveTo>
                <a:lnTo>
                  <a:pt x="5572120" y="0"/>
                </a:lnTo>
                <a:cubicBezTo>
                  <a:pt x="5624728" y="0"/>
                  <a:pt x="5667375" y="42647"/>
                  <a:pt x="5667375" y="95255"/>
                </a:cubicBezTo>
                <a:lnTo>
                  <a:pt x="5667375" y="1333495"/>
                </a:lnTo>
                <a:cubicBezTo>
                  <a:pt x="5667375" y="1386103"/>
                  <a:pt x="5624728" y="1428750"/>
                  <a:pt x="5572120" y="1428750"/>
                </a:cubicBezTo>
                <a:lnTo>
                  <a:pt x="31750" y="1428750"/>
                </a:lnTo>
                <a:cubicBezTo>
                  <a:pt x="14227" y="1428750"/>
                  <a:pt x="0" y="1414523"/>
                  <a:pt x="0" y="1397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19" name="Shape 17"/>
          <p:cNvSpPr/>
          <p:nvPr/>
        </p:nvSpPr>
        <p:spPr>
          <a:xfrm>
            <a:off x="333375" y="4290219"/>
            <a:ext cx="31750" cy="1428750"/>
          </a:xfrm>
          <a:custGeom>
            <a:avLst/>
            <a:gdLst/>
            <a:ahLst/>
            <a:cxnLst/>
            <a:rect l="l" t="t" r="r" b="b"/>
            <a:pathLst>
              <a:path w="31750" h="1428750">
                <a:moveTo>
                  <a:pt x="31750" y="0"/>
                </a:moveTo>
                <a:lnTo>
                  <a:pt x="31750" y="0"/>
                </a:lnTo>
                <a:lnTo>
                  <a:pt x="31750" y="1428750"/>
                </a:lnTo>
                <a:lnTo>
                  <a:pt x="31750" y="1428750"/>
                </a:lnTo>
                <a:cubicBezTo>
                  <a:pt x="14227" y="1428750"/>
                  <a:pt x="0" y="1414523"/>
                  <a:pt x="0" y="1397000"/>
                </a:cubicBezTo>
                <a:lnTo>
                  <a:pt x="0" y="31750"/>
                </a:lnTo>
                <a:cubicBezTo>
                  <a:pt x="0" y="14227"/>
                  <a:pt x="14227" y="0"/>
                  <a:pt x="31750" y="0"/>
                </a:cubicBezTo>
                <a:close/>
              </a:path>
            </a:pathLst>
          </a:custGeom>
          <a:solidFill>
            <a:srgbClr val="2A9D8F"/>
          </a:solidFill>
          <a:ln/>
        </p:spPr>
      </p:sp>
      <p:sp>
        <p:nvSpPr>
          <p:cNvPr id="20" name="Shape 18"/>
          <p:cNvSpPr/>
          <p:nvPr/>
        </p:nvSpPr>
        <p:spPr>
          <a:xfrm>
            <a:off x="508000" y="4448969"/>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2A9D8F"/>
          </a:solidFill>
          <a:ln/>
        </p:spPr>
      </p:sp>
      <p:sp>
        <p:nvSpPr>
          <p:cNvPr id="21" name="Shape 19"/>
          <p:cNvSpPr/>
          <p:nvPr/>
        </p:nvSpPr>
        <p:spPr>
          <a:xfrm>
            <a:off x="623094" y="4575969"/>
            <a:ext cx="214313" cy="190500"/>
          </a:xfrm>
          <a:custGeom>
            <a:avLst/>
            <a:gdLst/>
            <a:ahLst/>
            <a:cxnLst/>
            <a:rect l="l" t="t" r="r" b="b"/>
            <a:pathLst>
              <a:path w="214313" h="190500">
                <a:moveTo>
                  <a:pt x="107156" y="-5953"/>
                </a:moveTo>
                <a:cubicBezTo>
                  <a:pt x="102208" y="-5953"/>
                  <a:pt x="98227" y="-1972"/>
                  <a:pt x="98227" y="2977"/>
                </a:cubicBezTo>
                <a:lnTo>
                  <a:pt x="98227" y="7441"/>
                </a:lnTo>
                <a:lnTo>
                  <a:pt x="97557" y="7441"/>
                </a:lnTo>
                <a:cubicBezTo>
                  <a:pt x="83939" y="7441"/>
                  <a:pt x="72926" y="18492"/>
                  <a:pt x="72926" y="32072"/>
                </a:cubicBezTo>
                <a:cubicBezTo>
                  <a:pt x="72926" y="44500"/>
                  <a:pt x="82190" y="54992"/>
                  <a:pt x="94506" y="56517"/>
                </a:cubicBezTo>
                <a:lnTo>
                  <a:pt x="117202" y="59345"/>
                </a:lnTo>
                <a:cubicBezTo>
                  <a:pt x="119100" y="59568"/>
                  <a:pt x="120551" y="61206"/>
                  <a:pt x="120551" y="63140"/>
                </a:cubicBezTo>
                <a:cubicBezTo>
                  <a:pt x="120551" y="65261"/>
                  <a:pt x="118839" y="66935"/>
                  <a:pt x="116756" y="66935"/>
                </a:cubicBezTo>
                <a:lnTo>
                  <a:pt x="89297" y="66973"/>
                </a:lnTo>
                <a:cubicBezTo>
                  <a:pt x="83530" y="66973"/>
                  <a:pt x="78879" y="71624"/>
                  <a:pt x="78879" y="77391"/>
                </a:cubicBezTo>
                <a:cubicBezTo>
                  <a:pt x="78879" y="83158"/>
                  <a:pt x="83530" y="87809"/>
                  <a:pt x="89297" y="87809"/>
                </a:cubicBezTo>
                <a:lnTo>
                  <a:pt x="98227" y="87809"/>
                </a:lnTo>
                <a:lnTo>
                  <a:pt x="98227" y="92273"/>
                </a:lnTo>
                <a:cubicBezTo>
                  <a:pt x="98227" y="97222"/>
                  <a:pt x="102208" y="101203"/>
                  <a:pt x="107156" y="101203"/>
                </a:cubicBezTo>
                <a:cubicBezTo>
                  <a:pt x="112105" y="101203"/>
                  <a:pt x="116086" y="97222"/>
                  <a:pt x="116086" y="92273"/>
                </a:cubicBezTo>
                <a:lnTo>
                  <a:pt x="116086" y="87809"/>
                </a:lnTo>
                <a:lnTo>
                  <a:pt x="116756" y="87809"/>
                </a:lnTo>
                <a:cubicBezTo>
                  <a:pt x="130373" y="87809"/>
                  <a:pt x="141387" y="76758"/>
                  <a:pt x="141387" y="63178"/>
                </a:cubicBezTo>
                <a:cubicBezTo>
                  <a:pt x="141387" y="50750"/>
                  <a:pt x="132122" y="40258"/>
                  <a:pt x="119807" y="38733"/>
                </a:cubicBezTo>
                <a:lnTo>
                  <a:pt x="97110" y="35905"/>
                </a:lnTo>
                <a:cubicBezTo>
                  <a:pt x="95213" y="35682"/>
                  <a:pt x="93762" y="34044"/>
                  <a:pt x="93762" y="32110"/>
                </a:cubicBezTo>
                <a:cubicBezTo>
                  <a:pt x="93762" y="29989"/>
                  <a:pt x="95473" y="28315"/>
                  <a:pt x="97557" y="28315"/>
                </a:cubicBezTo>
                <a:lnTo>
                  <a:pt x="122039" y="28277"/>
                </a:lnTo>
                <a:cubicBezTo>
                  <a:pt x="127806" y="28277"/>
                  <a:pt x="132457" y="23626"/>
                  <a:pt x="132457" y="17859"/>
                </a:cubicBezTo>
                <a:cubicBezTo>
                  <a:pt x="132457" y="12092"/>
                  <a:pt x="127806" y="7441"/>
                  <a:pt x="122039" y="7441"/>
                </a:cubicBezTo>
                <a:lnTo>
                  <a:pt x="116086" y="7441"/>
                </a:lnTo>
                <a:lnTo>
                  <a:pt x="116086" y="2977"/>
                </a:lnTo>
                <a:cubicBezTo>
                  <a:pt x="116086" y="-1972"/>
                  <a:pt x="112105" y="-5953"/>
                  <a:pt x="107156" y="-5953"/>
                </a:cubicBezTo>
                <a:close/>
                <a:moveTo>
                  <a:pt x="40667" y="127062"/>
                </a:moveTo>
                <a:lnTo>
                  <a:pt x="24817" y="142875"/>
                </a:lnTo>
                <a:lnTo>
                  <a:pt x="11906" y="142875"/>
                </a:lnTo>
                <a:cubicBezTo>
                  <a:pt x="5321" y="142875"/>
                  <a:pt x="0" y="148196"/>
                  <a:pt x="0" y="154781"/>
                </a:cubicBezTo>
                <a:lnTo>
                  <a:pt x="0" y="178594"/>
                </a:lnTo>
                <a:cubicBezTo>
                  <a:pt x="0" y="185179"/>
                  <a:pt x="5321" y="190500"/>
                  <a:pt x="11906" y="190500"/>
                </a:cubicBezTo>
                <a:lnTo>
                  <a:pt x="131155" y="190500"/>
                </a:lnTo>
                <a:cubicBezTo>
                  <a:pt x="141945" y="190500"/>
                  <a:pt x="152474" y="187040"/>
                  <a:pt x="161181" y="180640"/>
                </a:cubicBezTo>
                <a:lnTo>
                  <a:pt x="208285" y="145926"/>
                </a:lnTo>
                <a:cubicBezTo>
                  <a:pt x="214908" y="141052"/>
                  <a:pt x="216322" y="131750"/>
                  <a:pt x="211448" y="125127"/>
                </a:cubicBezTo>
                <a:cubicBezTo>
                  <a:pt x="206573" y="118504"/>
                  <a:pt x="197272" y="117091"/>
                  <a:pt x="190649" y="121965"/>
                </a:cubicBezTo>
                <a:lnTo>
                  <a:pt x="146075" y="154781"/>
                </a:lnTo>
                <a:lnTo>
                  <a:pt x="104180" y="154781"/>
                </a:lnTo>
                <a:cubicBezTo>
                  <a:pt x="99231" y="154781"/>
                  <a:pt x="95250" y="150800"/>
                  <a:pt x="95250" y="145852"/>
                </a:cubicBezTo>
                <a:cubicBezTo>
                  <a:pt x="95250" y="140903"/>
                  <a:pt x="99231" y="136922"/>
                  <a:pt x="104180" y="136922"/>
                </a:cubicBezTo>
                <a:lnTo>
                  <a:pt x="130969" y="136922"/>
                </a:lnTo>
                <a:cubicBezTo>
                  <a:pt x="137554" y="136922"/>
                  <a:pt x="142875" y="131601"/>
                  <a:pt x="142875" y="125016"/>
                </a:cubicBezTo>
                <a:cubicBezTo>
                  <a:pt x="142875" y="118430"/>
                  <a:pt x="137554" y="113109"/>
                  <a:pt x="130969" y="113109"/>
                </a:cubicBezTo>
                <a:lnTo>
                  <a:pt x="74340" y="113109"/>
                </a:lnTo>
                <a:cubicBezTo>
                  <a:pt x="61726" y="113109"/>
                  <a:pt x="49597" y="118132"/>
                  <a:pt x="40667" y="127062"/>
                </a:cubicBezTo>
                <a:close/>
              </a:path>
            </a:pathLst>
          </a:custGeom>
          <a:solidFill>
            <a:srgbClr val="FFFFFF"/>
          </a:solidFill>
          <a:ln/>
        </p:spPr>
      </p:sp>
      <p:sp>
        <p:nvSpPr>
          <p:cNvPr id="22" name="Text 20"/>
          <p:cNvSpPr/>
          <p:nvPr/>
        </p:nvSpPr>
        <p:spPr>
          <a:xfrm>
            <a:off x="1079500" y="4448969"/>
            <a:ext cx="485775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Access to Credit</a:t>
            </a:r>
            <a:endParaRPr lang="en-US" sz="1600" dirty="0"/>
          </a:p>
        </p:txBody>
      </p:sp>
      <p:sp>
        <p:nvSpPr>
          <p:cNvPr id="23" name="Text 21"/>
          <p:cNvSpPr/>
          <p:nvPr/>
        </p:nvSpPr>
        <p:spPr>
          <a:xfrm>
            <a:off x="1079500" y="4766469"/>
            <a:ext cx="482600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Banks provide loans, credit cards, and mortgages that enable major purchases and business growth.</a:t>
            </a:r>
            <a:endParaRPr lang="en-US" sz="1600" dirty="0"/>
          </a:p>
        </p:txBody>
      </p:sp>
      <p:sp>
        <p:nvSpPr>
          <p:cNvPr id="24" name="Shape 22"/>
          <p:cNvSpPr/>
          <p:nvPr/>
        </p:nvSpPr>
        <p:spPr>
          <a:xfrm>
            <a:off x="1079500" y="5274469"/>
            <a:ext cx="1547813" cy="285750"/>
          </a:xfrm>
          <a:custGeom>
            <a:avLst/>
            <a:gdLst/>
            <a:ahLst/>
            <a:cxnLst/>
            <a:rect l="l" t="t" r="r" b="b"/>
            <a:pathLst>
              <a:path w="1547813" h="285750">
                <a:moveTo>
                  <a:pt x="31750" y="0"/>
                </a:moveTo>
                <a:lnTo>
                  <a:pt x="1516063" y="0"/>
                </a:lnTo>
                <a:cubicBezTo>
                  <a:pt x="1533598" y="0"/>
                  <a:pt x="1547813" y="14215"/>
                  <a:pt x="1547813" y="31750"/>
                </a:cubicBezTo>
                <a:lnTo>
                  <a:pt x="1547813" y="254000"/>
                </a:lnTo>
                <a:cubicBezTo>
                  <a:pt x="1547813" y="271535"/>
                  <a:pt x="1533598" y="285750"/>
                  <a:pt x="1516063" y="285750"/>
                </a:cubicBezTo>
                <a:lnTo>
                  <a:pt x="31750" y="285750"/>
                </a:lnTo>
                <a:cubicBezTo>
                  <a:pt x="14215" y="285750"/>
                  <a:pt x="0" y="271535"/>
                  <a:pt x="0" y="254000"/>
                </a:cubicBezTo>
                <a:lnTo>
                  <a:pt x="0" y="31750"/>
                </a:lnTo>
                <a:cubicBezTo>
                  <a:pt x="0" y="14227"/>
                  <a:pt x="14227" y="0"/>
                  <a:pt x="31750" y="0"/>
                </a:cubicBezTo>
                <a:close/>
              </a:path>
            </a:pathLst>
          </a:custGeom>
          <a:solidFill>
            <a:srgbClr val="F8F9FA"/>
          </a:solidFill>
          <a:ln/>
        </p:spPr>
      </p:sp>
      <p:sp>
        <p:nvSpPr>
          <p:cNvPr id="25" name="Text 23"/>
          <p:cNvSpPr/>
          <p:nvPr/>
        </p:nvSpPr>
        <p:spPr>
          <a:xfrm>
            <a:off x="1051719" y="5274469"/>
            <a:ext cx="1603375" cy="285750"/>
          </a:xfrm>
          <a:prstGeom prst="rect">
            <a:avLst/>
          </a:prstGeom>
          <a:noFill/>
          <a:ln/>
        </p:spPr>
        <p:txBody>
          <a:bodyPr wrap="square" lIns="63500" tIns="63500" rIns="63500" bIns="63500" rtlCol="0" anchor="ctr"/>
          <a:lstStyle/>
          <a:p>
            <a:pPr algn="ctr">
              <a:lnSpc>
                <a:spcPct val="120000"/>
              </a:lnSpc>
            </a:pPr>
            <a:r>
              <a:rPr lang="en-US" sz="875" dirty="0">
                <a:solidFill>
                  <a:srgbClr val="2B2D42"/>
                </a:solidFill>
                <a:latin typeface="Quattrocento Sans" pitchFamily="34" charset="0"/>
                <a:ea typeface="Quattrocento Sans" pitchFamily="34" charset="-122"/>
                <a:cs typeface="Quattrocento Sans" pitchFamily="34" charset="-120"/>
              </a:rPr>
              <a:t>Home loans</a:t>
            </a:r>
            <a:endParaRPr lang="en-US" sz="1600" dirty="0"/>
          </a:p>
        </p:txBody>
      </p:sp>
      <p:sp>
        <p:nvSpPr>
          <p:cNvPr id="26" name="Shape 24"/>
          <p:cNvSpPr/>
          <p:nvPr/>
        </p:nvSpPr>
        <p:spPr>
          <a:xfrm>
            <a:off x="2688146" y="5274469"/>
            <a:ext cx="1547813" cy="285750"/>
          </a:xfrm>
          <a:custGeom>
            <a:avLst/>
            <a:gdLst/>
            <a:ahLst/>
            <a:cxnLst/>
            <a:rect l="l" t="t" r="r" b="b"/>
            <a:pathLst>
              <a:path w="1547813" h="285750">
                <a:moveTo>
                  <a:pt x="31750" y="0"/>
                </a:moveTo>
                <a:lnTo>
                  <a:pt x="1516063" y="0"/>
                </a:lnTo>
                <a:cubicBezTo>
                  <a:pt x="1533598" y="0"/>
                  <a:pt x="1547813" y="14215"/>
                  <a:pt x="1547813" y="31750"/>
                </a:cubicBezTo>
                <a:lnTo>
                  <a:pt x="1547813" y="254000"/>
                </a:lnTo>
                <a:cubicBezTo>
                  <a:pt x="1547813" y="271535"/>
                  <a:pt x="1533598" y="285750"/>
                  <a:pt x="1516063" y="285750"/>
                </a:cubicBezTo>
                <a:lnTo>
                  <a:pt x="31750" y="285750"/>
                </a:lnTo>
                <a:cubicBezTo>
                  <a:pt x="14215" y="285750"/>
                  <a:pt x="0" y="271535"/>
                  <a:pt x="0" y="254000"/>
                </a:cubicBezTo>
                <a:lnTo>
                  <a:pt x="0" y="31750"/>
                </a:lnTo>
                <a:cubicBezTo>
                  <a:pt x="0" y="14227"/>
                  <a:pt x="14227" y="0"/>
                  <a:pt x="31750" y="0"/>
                </a:cubicBezTo>
                <a:close/>
              </a:path>
            </a:pathLst>
          </a:custGeom>
          <a:solidFill>
            <a:srgbClr val="F8F9FA"/>
          </a:solidFill>
          <a:ln/>
        </p:spPr>
      </p:sp>
      <p:sp>
        <p:nvSpPr>
          <p:cNvPr id="27" name="Text 25"/>
          <p:cNvSpPr/>
          <p:nvPr/>
        </p:nvSpPr>
        <p:spPr>
          <a:xfrm>
            <a:off x="2660365" y="5274469"/>
            <a:ext cx="1603375" cy="285750"/>
          </a:xfrm>
          <a:prstGeom prst="rect">
            <a:avLst/>
          </a:prstGeom>
          <a:noFill/>
          <a:ln/>
        </p:spPr>
        <p:txBody>
          <a:bodyPr wrap="square" lIns="63500" tIns="63500" rIns="63500" bIns="63500" rtlCol="0" anchor="ctr"/>
          <a:lstStyle/>
          <a:p>
            <a:pPr algn="ctr">
              <a:lnSpc>
                <a:spcPct val="120000"/>
              </a:lnSpc>
            </a:pPr>
            <a:r>
              <a:rPr lang="en-US" sz="875" dirty="0">
                <a:solidFill>
                  <a:srgbClr val="2B2D42"/>
                </a:solidFill>
                <a:latin typeface="Quattrocento Sans" pitchFamily="34" charset="0"/>
                <a:ea typeface="Quattrocento Sans" pitchFamily="34" charset="-122"/>
                <a:cs typeface="Quattrocento Sans" pitchFamily="34" charset="-120"/>
              </a:rPr>
              <a:t>Education</a:t>
            </a:r>
            <a:endParaRPr lang="en-US" sz="1600" dirty="0"/>
          </a:p>
        </p:txBody>
      </p:sp>
      <p:sp>
        <p:nvSpPr>
          <p:cNvPr id="28" name="Shape 26"/>
          <p:cNvSpPr/>
          <p:nvPr/>
        </p:nvSpPr>
        <p:spPr>
          <a:xfrm>
            <a:off x="4296792" y="5274469"/>
            <a:ext cx="1547813" cy="285750"/>
          </a:xfrm>
          <a:custGeom>
            <a:avLst/>
            <a:gdLst/>
            <a:ahLst/>
            <a:cxnLst/>
            <a:rect l="l" t="t" r="r" b="b"/>
            <a:pathLst>
              <a:path w="1547813" h="285750">
                <a:moveTo>
                  <a:pt x="31750" y="0"/>
                </a:moveTo>
                <a:lnTo>
                  <a:pt x="1516063" y="0"/>
                </a:lnTo>
                <a:cubicBezTo>
                  <a:pt x="1533598" y="0"/>
                  <a:pt x="1547813" y="14215"/>
                  <a:pt x="1547813" y="31750"/>
                </a:cubicBezTo>
                <a:lnTo>
                  <a:pt x="1547813" y="254000"/>
                </a:lnTo>
                <a:cubicBezTo>
                  <a:pt x="1547813" y="271535"/>
                  <a:pt x="1533598" y="285750"/>
                  <a:pt x="1516063" y="285750"/>
                </a:cubicBezTo>
                <a:lnTo>
                  <a:pt x="31750" y="285750"/>
                </a:lnTo>
                <a:cubicBezTo>
                  <a:pt x="14215" y="285750"/>
                  <a:pt x="0" y="271535"/>
                  <a:pt x="0" y="254000"/>
                </a:cubicBezTo>
                <a:lnTo>
                  <a:pt x="0" y="31750"/>
                </a:lnTo>
                <a:cubicBezTo>
                  <a:pt x="0" y="14227"/>
                  <a:pt x="14227" y="0"/>
                  <a:pt x="31750" y="0"/>
                </a:cubicBezTo>
                <a:close/>
              </a:path>
            </a:pathLst>
          </a:custGeom>
          <a:solidFill>
            <a:srgbClr val="F8F9FA"/>
          </a:solidFill>
          <a:ln/>
        </p:spPr>
      </p:sp>
      <p:sp>
        <p:nvSpPr>
          <p:cNvPr id="29" name="Text 27"/>
          <p:cNvSpPr/>
          <p:nvPr/>
        </p:nvSpPr>
        <p:spPr>
          <a:xfrm>
            <a:off x="4269011" y="5274469"/>
            <a:ext cx="1603375" cy="285750"/>
          </a:xfrm>
          <a:prstGeom prst="rect">
            <a:avLst/>
          </a:prstGeom>
          <a:noFill/>
          <a:ln/>
        </p:spPr>
        <p:txBody>
          <a:bodyPr wrap="square" lIns="63500" tIns="63500" rIns="63500" bIns="63500" rtlCol="0" anchor="ctr"/>
          <a:lstStyle/>
          <a:p>
            <a:pPr algn="ctr">
              <a:lnSpc>
                <a:spcPct val="120000"/>
              </a:lnSpc>
            </a:pPr>
            <a:r>
              <a:rPr lang="en-US" sz="875" dirty="0">
                <a:solidFill>
                  <a:srgbClr val="2B2D42"/>
                </a:solidFill>
                <a:latin typeface="Quattrocento Sans" pitchFamily="34" charset="0"/>
                <a:ea typeface="Quattrocento Sans" pitchFamily="34" charset="-122"/>
                <a:cs typeface="Quattrocento Sans" pitchFamily="34" charset="-120"/>
              </a:rPr>
              <a:t>Business</a:t>
            </a:r>
            <a:endParaRPr lang="en-US" sz="1600" dirty="0"/>
          </a:p>
        </p:txBody>
      </p:sp>
      <p:sp>
        <p:nvSpPr>
          <p:cNvPr id="30" name="Shape 28"/>
          <p:cNvSpPr/>
          <p:nvPr/>
        </p:nvSpPr>
        <p:spPr>
          <a:xfrm>
            <a:off x="333375" y="5845969"/>
            <a:ext cx="5667375" cy="1047750"/>
          </a:xfrm>
          <a:custGeom>
            <a:avLst/>
            <a:gdLst/>
            <a:ahLst/>
            <a:cxnLst/>
            <a:rect l="l" t="t" r="r" b="b"/>
            <a:pathLst>
              <a:path w="5667375" h="1047750">
                <a:moveTo>
                  <a:pt x="31750" y="0"/>
                </a:moveTo>
                <a:lnTo>
                  <a:pt x="5572124" y="0"/>
                </a:lnTo>
                <a:cubicBezTo>
                  <a:pt x="5624730" y="0"/>
                  <a:pt x="5667375" y="42645"/>
                  <a:pt x="5667375" y="95251"/>
                </a:cubicBezTo>
                <a:lnTo>
                  <a:pt x="5667375" y="952499"/>
                </a:lnTo>
                <a:cubicBezTo>
                  <a:pt x="5667375" y="1005105"/>
                  <a:pt x="5624730" y="1047750"/>
                  <a:pt x="5572124"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31" name="Shape 29"/>
          <p:cNvSpPr/>
          <p:nvPr/>
        </p:nvSpPr>
        <p:spPr>
          <a:xfrm>
            <a:off x="333375" y="5845969"/>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1A3A5C"/>
          </a:solidFill>
          <a:ln/>
        </p:spPr>
      </p:sp>
      <p:sp>
        <p:nvSpPr>
          <p:cNvPr id="32" name="Shape 30"/>
          <p:cNvSpPr/>
          <p:nvPr/>
        </p:nvSpPr>
        <p:spPr>
          <a:xfrm>
            <a:off x="508000" y="6004719"/>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1A3A5C"/>
          </a:solidFill>
          <a:ln/>
        </p:spPr>
      </p:sp>
      <p:sp>
        <p:nvSpPr>
          <p:cNvPr id="33" name="Shape 31"/>
          <p:cNvSpPr/>
          <p:nvPr/>
        </p:nvSpPr>
        <p:spPr>
          <a:xfrm>
            <a:off x="635000" y="6131719"/>
            <a:ext cx="190500" cy="190500"/>
          </a:xfrm>
          <a:custGeom>
            <a:avLst/>
            <a:gdLst/>
            <a:ahLst/>
            <a:cxnLst/>
            <a:rect l="l" t="t" r="r" b="b"/>
            <a:pathLst>
              <a:path w="190500" h="190500">
                <a:moveTo>
                  <a:pt x="47625" y="35719"/>
                </a:moveTo>
                <a:lnTo>
                  <a:pt x="47625" y="29766"/>
                </a:lnTo>
                <a:cubicBezTo>
                  <a:pt x="47625" y="13320"/>
                  <a:pt x="79623" y="0"/>
                  <a:pt x="119063" y="0"/>
                </a:cubicBezTo>
                <a:cubicBezTo>
                  <a:pt x="158502" y="0"/>
                  <a:pt x="190500" y="13320"/>
                  <a:pt x="190500" y="29766"/>
                </a:cubicBezTo>
                <a:lnTo>
                  <a:pt x="190500" y="35719"/>
                </a:lnTo>
                <a:cubicBezTo>
                  <a:pt x="190500" y="47104"/>
                  <a:pt x="175133" y="57001"/>
                  <a:pt x="152549" y="62024"/>
                </a:cubicBezTo>
                <a:cubicBezTo>
                  <a:pt x="151656" y="60982"/>
                  <a:pt x="150726" y="59978"/>
                  <a:pt x="149796" y="59048"/>
                </a:cubicBezTo>
                <a:cubicBezTo>
                  <a:pt x="144028" y="53355"/>
                  <a:pt x="136587" y="49039"/>
                  <a:pt x="128811" y="45839"/>
                </a:cubicBezTo>
                <a:cubicBezTo>
                  <a:pt x="113221" y="39328"/>
                  <a:pt x="92906" y="35756"/>
                  <a:pt x="71438" y="35756"/>
                </a:cubicBezTo>
                <a:cubicBezTo>
                  <a:pt x="63289" y="35756"/>
                  <a:pt x="55327" y="36277"/>
                  <a:pt x="47699" y="37281"/>
                </a:cubicBezTo>
                <a:cubicBezTo>
                  <a:pt x="47625" y="36798"/>
                  <a:pt x="47625" y="36277"/>
                  <a:pt x="47625" y="35756"/>
                </a:cubicBezTo>
                <a:close/>
                <a:moveTo>
                  <a:pt x="160734" y="131341"/>
                </a:moveTo>
                <a:lnTo>
                  <a:pt x="160734" y="114151"/>
                </a:lnTo>
                <a:cubicBezTo>
                  <a:pt x="166353" y="112700"/>
                  <a:pt x="171636" y="110989"/>
                  <a:pt x="176436" y="108979"/>
                </a:cubicBezTo>
                <a:cubicBezTo>
                  <a:pt x="181347" y="106933"/>
                  <a:pt x="186147" y="104440"/>
                  <a:pt x="190500" y="101426"/>
                </a:cubicBezTo>
                <a:lnTo>
                  <a:pt x="190500" y="107156"/>
                </a:lnTo>
                <a:cubicBezTo>
                  <a:pt x="190500" y="117128"/>
                  <a:pt x="178780" y="125946"/>
                  <a:pt x="160734" y="131341"/>
                </a:cubicBezTo>
                <a:close/>
                <a:moveTo>
                  <a:pt x="160734" y="95622"/>
                </a:moveTo>
                <a:lnTo>
                  <a:pt x="160734" y="83344"/>
                </a:lnTo>
                <a:cubicBezTo>
                  <a:pt x="160734" y="81669"/>
                  <a:pt x="160586" y="80070"/>
                  <a:pt x="160362" y="78507"/>
                </a:cubicBezTo>
                <a:cubicBezTo>
                  <a:pt x="166129" y="77056"/>
                  <a:pt x="171524" y="75307"/>
                  <a:pt x="176436" y="73223"/>
                </a:cubicBezTo>
                <a:cubicBezTo>
                  <a:pt x="181347" y="71140"/>
                  <a:pt x="186147" y="68684"/>
                  <a:pt x="190500" y="65670"/>
                </a:cubicBezTo>
                <a:lnTo>
                  <a:pt x="190500" y="71400"/>
                </a:lnTo>
                <a:cubicBezTo>
                  <a:pt x="190500" y="81372"/>
                  <a:pt x="178780" y="90190"/>
                  <a:pt x="160734" y="95585"/>
                </a:cubicBezTo>
                <a:close/>
                <a:moveTo>
                  <a:pt x="0" y="89297"/>
                </a:moveTo>
                <a:lnTo>
                  <a:pt x="0" y="83344"/>
                </a:lnTo>
                <a:cubicBezTo>
                  <a:pt x="0" y="66898"/>
                  <a:pt x="31998" y="53578"/>
                  <a:pt x="71438" y="53578"/>
                </a:cubicBezTo>
                <a:cubicBezTo>
                  <a:pt x="110877" y="53578"/>
                  <a:pt x="142875" y="66898"/>
                  <a:pt x="142875" y="83344"/>
                </a:cubicBezTo>
                <a:lnTo>
                  <a:pt x="142875" y="89297"/>
                </a:lnTo>
                <a:cubicBezTo>
                  <a:pt x="142875" y="105742"/>
                  <a:pt x="110877" y="119063"/>
                  <a:pt x="71438" y="119063"/>
                </a:cubicBezTo>
                <a:cubicBezTo>
                  <a:pt x="31998" y="119063"/>
                  <a:pt x="0" y="105742"/>
                  <a:pt x="0" y="89297"/>
                </a:cubicBezTo>
                <a:close/>
                <a:moveTo>
                  <a:pt x="142875" y="125016"/>
                </a:moveTo>
                <a:cubicBezTo>
                  <a:pt x="142875" y="141461"/>
                  <a:pt x="110877" y="154781"/>
                  <a:pt x="71438" y="154781"/>
                </a:cubicBezTo>
                <a:cubicBezTo>
                  <a:pt x="31998" y="154781"/>
                  <a:pt x="0" y="141461"/>
                  <a:pt x="0" y="125016"/>
                </a:cubicBezTo>
                <a:lnTo>
                  <a:pt x="0" y="119286"/>
                </a:lnTo>
                <a:cubicBezTo>
                  <a:pt x="4316" y="122300"/>
                  <a:pt x="9116" y="124755"/>
                  <a:pt x="14064" y="126839"/>
                </a:cubicBezTo>
                <a:cubicBezTo>
                  <a:pt x="29654" y="133350"/>
                  <a:pt x="49969" y="136922"/>
                  <a:pt x="71438" y="136922"/>
                </a:cubicBezTo>
                <a:cubicBezTo>
                  <a:pt x="92906" y="136922"/>
                  <a:pt x="113221" y="133313"/>
                  <a:pt x="128811" y="126839"/>
                </a:cubicBezTo>
                <a:cubicBezTo>
                  <a:pt x="133722" y="124792"/>
                  <a:pt x="138522" y="122300"/>
                  <a:pt x="142875" y="119286"/>
                </a:cubicBezTo>
                <a:lnTo>
                  <a:pt x="142875" y="125016"/>
                </a:lnTo>
                <a:close/>
                <a:moveTo>
                  <a:pt x="142875" y="155004"/>
                </a:moveTo>
                <a:lnTo>
                  <a:pt x="142875" y="160734"/>
                </a:lnTo>
                <a:cubicBezTo>
                  <a:pt x="142875" y="177180"/>
                  <a:pt x="110877" y="190500"/>
                  <a:pt x="71438" y="190500"/>
                </a:cubicBezTo>
                <a:cubicBezTo>
                  <a:pt x="31998" y="190500"/>
                  <a:pt x="0" y="177180"/>
                  <a:pt x="0" y="160734"/>
                </a:cubicBezTo>
                <a:lnTo>
                  <a:pt x="0" y="155004"/>
                </a:lnTo>
                <a:cubicBezTo>
                  <a:pt x="4316" y="158018"/>
                  <a:pt x="9116" y="160474"/>
                  <a:pt x="14064" y="162558"/>
                </a:cubicBezTo>
                <a:cubicBezTo>
                  <a:pt x="29654" y="169069"/>
                  <a:pt x="49969" y="172641"/>
                  <a:pt x="71438" y="172641"/>
                </a:cubicBezTo>
                <a:cubicBezTo>
                  <a:pt x="92906" y="172641"/>
                  <a:pt x="113221" y="169032"/>
                  <a:pt x="128811" y="162558"/>
                </a:cubicBezTo>
                <a:cubicBezTo>
                  <a:pt x="133722" y="160511"/>
                  <a:pt x="138522" y="158018"/>
                  <a:pt x="142875" y="155004"/>
                </a:cubicBezTo>
                <a:close/>
              </a:path>
            </a:pathLst>
          </a:custGeom>
          <a:solidFill>
            <a:srgbClr val="FFFFFF"/>
          </a:solidFill>
          <a:ln/>
        </p:spPr>
      </p:sp>
      <p:sp>
        <p:nvSpPr>
          <p:cNvPr id="34" name="Text 32"/>
          <p:cNvSpPr/>
          <p:nvPr/>
        </p:nvSpPr>
        <p:spPr>
          <a:xfrm>
            <a:off x="1079500" y="6004719"/>
            <a:ext cx="485775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Wealth Building</a:t>
            </a:r>
            <a:endParaRPr lang="en-US" sz="1600" dirty="0"/>
          </a:p>
        </p:txBody>
      </p:sp>
      <p:sp>
        <p:nvSpPr>
          <p:cNvPr id="35" name="Text 33"/>
          <p:cNvSpPr/>
          <p:nvPr/>
        </p:nvSpPr>
        <p:spPr>
          <a:xfrm>
            <a:off x="1079500" y="6322219"/>
            <a:ext cx="482600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Savings accounts, CDs, and investment products help grow wealth through compound interest and returns.</a:t>
            </a:r>
            <a:endParaRPr lang="en-US" sz="1600" dirty="0"/>
          </a:p>
        </p:txBody>
      </p:sp>
      <p:sp>
        <p:nvSpPr>
          <p:cNvPr id="36" name="Shape 34"/>
          <p:cNvSpPr/>
          <p:nvPr/>
        </p:nvSpPr>
        <p:spPr>
          <a:xfrm>
            <a:off x="6207125" y="1349375"/>
            <a:ext cx="5667375" cy="1524000"/>
          </a:xfrm>
          <a:custGeom>
            <a:avLst/>
            <a:gdLst/>
            <a:ahLst/>
            <a:cxnLst/>
            <a:rect l="l" t="t" r="r" b="b"/>
            <a:pathLst>
              <a:path w="5667375" h="1524000">
                <a:moveTo>
                  <a:pt x="31750" y="0"/>
                </a:moveTo>
                <a:lnTo>
                  <a:pt x="5572125" y="0"/>
                </a:lnTo>
                <a:cubicBezTo>
                  <a:pt x="5624695" y="0"/>
                  <a:pt x="5667375" y="42680"/>
                  <a:pt x="5667375" y="95250"/>
                </a:cubicBezTo>
                <a:lnTo>
                  <a:pt x="5667375" y="1428750"/>
                </a:lnTo>
                <a:cubicBezTo>
                  <a:pt x="5667375" y="1481320"/>
                  <a:pt x="5624695" y="1524000"/>
                  <a:pt x="5572125" y="1524000"/>
                </a:cubicBezTo>
                <a:lnTo>
                  <a:pt x="31750" y="1524000"/>
                </a:lnTo>
                <a:cubicBezTo>
                  <a:pt x="14215" y="1524000"/>
                  <a:pt x="0" y="1509785"/>
                  <a:pt x="0" y="149225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37" name="Shape 35"/>
          <p:cNvSpPr/>
          <p:nvPr/>
        </p:nvSpPr>
        <p:spPr>
          <a:xfrm>
            <a:off x="6207125" y="1349375"/>
            <a:ext cx="31750" cy="1524000"/>
          </a:xfrm>
          <a:custGeom>
            <a:avLst/>
            <a:gdLst/>
            <a:ahLst/>
            <a:cxnLst/>
            <a:rect l="l" t="t" r="r" b="b"/>
            <a:pathLst>
              <a:path w="31750" h="1524000">
                <a:moveTo>
                  <a:pt x="31750" y="0"/>
                </a:moveTo>
                <a:lnTo>
                  <a:pt x="31750" y="0"/>
                </a:lnTo>
                <a:lnTo>
                  <a:pt x="31750" y="1524000"/>
                </a:lnTo>
                <a:lnTo>
                  <a:pt x="31750" y="1524000"/>
                </a:lnTo>
                <a:cubicBezTo>
                  <a:pt x="14227" y="1524000"/>
                  <a:pt x="0" y="1509773"/>
                  <a:pt x="0" y="1492250"/>
                </a:cubicBezTo>
                <a:lnTo>
                  <a:pt x="0" y="31750"/>
                </a:lnTo>
                <a:cubicBezTo>
                  <a:pt x="0" y="14227"/>
                  <a:pt x="14227" y="0"/>
                  <a:pt x="31750" y="0"/>
                </a:cubicBezTo>
                <a:close/>
              </a:path>
            </a:pathLst>
          </a:custGeom>
          <a:solidFill>
            <a:srgbClr val="2A9D8F"/>
          </a:solidFill>
          <a:ln/>
        </p:spPr>
      </p:sp>
      <p:sp>
        <p:nvSpPr>
          <p:cNvPr id="38" name="Shape 36"/>
          <p:cNvSpPr/>
          <p:nvPr/>
        </p:nvSpPr>
        <p:spPr>
          <a:xfrm>
            <a:off x="6381750" y="1508125"/>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2A9D8F"/>
          </a:solidFill>
          <a:ln/>
        </p:spPr>
      </p:sp>
      <p:sp>
        <p:nvSpPr>
          <p:cNvPr id="39" name="Shape 37"/>
          <p:cNvSpPr/>
          <p:nvPr/>
        </p:nvSpPr>
        <p:spPr>
          <a:xfrm>
            <a:off x="6508750" y="1635125"/>
            <a:ext cx="190500" cy="190500"/>
          </a:xfrm>
          <a:custGeom>
            <a:avLst/>
            <a:gdLst/>
            <a:ahLst/>
            <a:cxnLst/>
            <a:rect l="l" t="t" r="r" b="b"/>
            <a:pathLst>
              <a:path w="190500" h="190500">
                <a:moveTo>
                  <a:pt x="187003" y="56034"/>
                </a:moveTo>
                <a:lnTo>
                  <a:pt x="151284" y="91753"/>
                </a:lnTo>
                <a:cubicBezTo>
                  <a:pt x="147861" y="95176"/>
                  <a:pt x="142763" y="96180"/>
                  <a:pt x="138299" y="94320"/>
                </a:cubicBezTo>
                <a:cubicBezTo>
                  <a:pt x="133834" y="92459"/>
                  <a:pt x="130969" y="88143"/>
                  <a:pt x="130969" y="83344"/>
                </a:cubicBezTo>
                <a:lnTo>
                  <a:pt x="130969" y="59531"/>
                </a:lnTo>
                <a:lnTo>
                  <a:pt x="11906" y="59531"/>
                </a:lnTo>
                <a:cubicBezTo>
                  <a:pt x="5321" y="59531"/>
                  <a:pt x="0" y="54211"/>
                  <a:pt x="0" y="47625"/>
                </a:cubicBezTo>
                <a:cubicBezTo>
                  <a:pt x="0" y="41039"/>
                  <a:pt x="5321" y="35719"/>
                  <a:pt x="11906" y="35719"/>
                </a:cubicBezTo>
                <a:lnTo>
                  <a:pt x="130969" y="35719"/>
                </a:lnTo>
                <a:lnTo>
                  <a:pt x="130969" y="11906"/>
                </a:lnTo>
                <a:cubicBezTo>
                  <a:pt x="130969" y="7107"/>
                  <a:pt x="133871" y="2753"/>
                  <a:pt x="138336" y="893"/>
                </a:cubicBezTo>
                <a:cubicBezTo>
                  <a:pt x="142801" y="-967"/>
                  <a:pt x="147898" y="74"/>
                  <a:pt x="151321" y="3460"/>
                </a:cubicBezTo>
                <a:lnTo>
                  <a:pt x="187040" y="39179"/>
                </a:lnTo>
                <a:cubicBezTo>
                  <a:pt x="191691" y="43830"/>
                  <a:pt x="191691" y="51383"/>
                  <a:pt x="187040" y="56034"/>
                </a:cubicBezTo>
                <a:close/>
                <a:moveTo>
                  <a:pt x="39179" y="187003"/>
                </a:moveTo>
                <a:lnTo>
                  <a:pt x="3460" y="151284"/>
                </a:lnTo>
                <a:cubicBezTo>
                  <a:pt x="-1191" y="146633"/>
                  <a:pt x="-1191" y="139080"/>
                  <a:pt x="3460" y="134429"/>
                </a:cubicBezTo>
                <a:lnTo>
                  <a:pt x="39179" y="98710"/>
                </a:lnTo>
                <a:cubicBezTo>
                  <a:pt x="42602" y="95287"/>
                  <a:pt x="47699" y="94283"/>
                  <a:pt x="52164" y="96143"/>
                </a:cubicBezTo>
                <a:cubicBezTo>
                  <a:pt x="56629" y="98003"/>
                  <a:pt x="59531" y="102357"/>
                  <a:pt x="59531" y="107156"/>
                </a:cubicBezTo>
                <a:lnTo>
                  <a:pt x="59531" y="130969"/>
                </a:lnTo>
                <a:lnTo>
                  <a:pt x="178594" y="130969"/>
                </a:lnTo>
                <a:cubicBezTo>
                  <a:pt x="185179" y="130969"/>
                  <a:pt x="190500" y="136289"/>
                  <a:pt x="190500" y="142875"/>
                </a:cubicBezTo>
                <a:cubicBezTo>
                  <a:pt x="190500" y="149461"/>
                  <a:pt x="185179" y="154781"/>
                  <a:pt x="178594" y="154781"/>
                </a:cubicBezTo>
                <a:lnTo>
                  <a:pt x="59531" y="154781"/>
                </a:lnTo>
                <a:lnTo>
                  <a:pt x="59531" y="178594"/>
                </a:lnTo>
                <a:cubicBezTo>
                  <a:pt x="59531" y="183393"/>
                  <a:pt x="56629" y="187747"/>
                  <a:pt x="52164" y="189607"/>
                </a:cubicBezTo>
                <a:cubicBezTo>
                  <a:pt x="47699" y="191467"/>
                  <a:pt x="42602" y="190426"/>
                  <a:pt x="39179" y="187040"/>
                </a:cubicBezTo>
                <a:close/>
              </a:path>
            </a:pathLst>
          </a:custGeom>
          <a:solidFill>
            <a:srgbClr val="FFFFFF"/>
          </a:solidFill>
          <a:ln/>
        </p:spPr>
      </p:sp>
      <p:sp>
        <p:nvSpPr>
          <p:cNvPr id="40" name="Text 38"/>
          <p:cNvSpPr/>
          <p:nvPr/>
        </p:nvSpPr>
        <p:spPr>
          <a:xfrm>
            <a:off x="6953250" y="1508125"/>
            <a:ext cx="485775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Convenient Transactions</a:t>
            </a:r>
            <a:endParaRPr lang="en-US" sz="1600" dirty="0"/>
          </a:p>
        </p:txBody>
      </p:sp>
      <p:sp>
        <p:nvSpPr>
          <p:cNvPr id="41" name="Text 39"/>
          <p:cNvSpPr/>
          <p:nvPr/>
        </p:nvSpPr>
        <p:spPr>
          <a:xfrm>
            <a:off x="6953250" y="1825625"/>
            <a:ext cx="482600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Easy money management through digital payments, transfers, and automated bill payments.</a:t>
            </a:r>
            <a:endParaRPr lang="en-US" sz="1600" dirty="0"/>
          </a:p>
        </p:txBody>
      </p:sp>
      <p:sp>
        <p:nvSpPr>
          <p:cNvPr id="42" name="Shape 40"/>
          <p:cNvSpPr/>
          <p:nvPr/>
        </p:nvSpPr>
        <p:spPr>
          <a:xfrm>
            <a:off x="6953250" y="2333625"/>
            <a:ext cx="4762500" cy="381000"/>
          </a:xfrm>
          <a:custGeom>
            <a:avLst/>
            <a:gdLst/>
            <a:ahLst/>
            <a:cxnLst/>
            <a:rect l="l" t="t" r="r" b="b"/>
            <a:pathLst>
              <a:path w="4762500" h="381000">
                <a:moveTo>
                  <a:pt x="63501" y="0"/>
                </a:moveTo>
                <a:lnTo>
                  <a:pt x="4698999" y="0"/>
                </a:lnTo>
                <a:cubicBezTo>
                  <a:pt x="4734070" y="0"/>
                  <a:pt x="4762500" y="28430"/>
                  <a:pt x="4762500" y="63501"/>
                </a:cubicBezTo>
                <a:lnTo>
                  <a:pt x="4762500" y="317499"/>
                </a:lnTo>
                <a:cubicBezTo>
                  <a:pt x="4762500" y="352570"/>
                  <a:pt x="4734070" y="381000"/>
                  <a:pt x="4698999" y="381000"/>
                </a:cubicBezTo>
                <a:lnTo>
                  <a:pt x="63501" y="381000"/>
                </a:lnTo>
                <a:cubicBezTo>
                  <a:pt x="28454" y="381000"/>
                  <a:pt x="0" y="352546"/>
                  <a:pt x="0" y="317499"/>
                </a:cubicBezTo>
                <a:lnTo>
                  <a:pt x="0" y="63501"/>
                </a:lnTo>
                <a:cubicBezTo>
                  <a:pt x="0" y="28454"/>
                  <a:pt x="28454" y="0"/>
                  <a:pt x="63501" y="0"/>
                </a:cubicBezTo>
                <a:close/>
              </a:path>
            </a:pathLst>
          </a:custGeom>
          <a:solidFill>
            <a:srgbClr val="F8F9FA"/>
          </a:solidFill>
          <a:ln/>
        </p:spPr>
      </p:sp>
      <p:sp>
        <p:nvSpPr>
          <p:cNvPr id="43" name="Shape 41"/>
          <p:cNvSpPr/>
          <p:nvPr/>
        </p:nvSpPr>
        <p:spPr>
          <a:xfrm>
            <a:off x="7064375" y="2456656"/>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55563" y="39688"/>
                </a:moveTo>
                <a:cubicBezTo>
                  <a:pt x="55563" y="35307"/>
                  <a:pt x="59119" y="31750"/>
                  <a:pt x="63500" y="31750"/>
                </a:cubicBezTo>
                <a:cubicBezTo>
                  <a:pt x="67881" y="31750"/>
                  <a:pt x="71438" y="35307"/>
                  <a:pt x="71438" y="39688"/>
                </a:cubicBezTo>
                <a:cubicBezTo>
                  <a:pt x="71438" y="44068"/>
                  <a:pt x="67881" y="47625"/>
                  <a:pt x="63500" y="47625"/>
                </a:cubicBezTo>
                <a:cubicBezTo>
                  <a:pt x="59119" y="47625"/>
                  <a:pt x="55563" y="44068"/>
                  <a:pt x="55563" y="39688"/>
                </a:cubicBezTo>
                <a:close/>
                <a:moveTo>
                  <a:pt x="53578" y="55563"/>
                </a:moveTo>
                <a:lnTo>
                  <a:pt x="65484" y="55563"/>
                </a:lnTo>
                <a:cubicBezTo>
                  <a:pt x="68783" y="55563"/>
                  <a:pt x="71438" y="58217"/>
                  <a:pt x="71438" y="61516"/>
                </a:cubicBezTo>
                <a:lnTo>
                  <a:pt x="71438" y="83344"/>
                </a:lnTo>
                <a:lnTo>
                  <a:pt x="73422" y="83344"/>
                </a:lnTo>
                <a:cubicBezTo>
                  <a:pt x="76721" y="83344"/>
                  <a:pt x="79375" y="85998"/>
                  <a:pt x="79375" y="89297"/>
                </a:cubicBezTo>
                <a:cubicBezTo>
                  <a:pt x="79375" y="92596"/>
                  <a:pt x="76721" y="95250"/>
                  <a:pt x="73422" y="95250"/>
                </a:cubicBezTo>
                <a:lnTo>
                  <a:pt x="53578" y="95250"/>
                </a:lnTo>
                <a:cubicBezTo>
                  <a:pt x="50279" y="95250"/>
                  <a:pt x="47625" y="92596"/>
                  <a:pt x="47625" y="89297"/>
                </a:cubicBezTo>
                <a:cubicBezTo>
                  <a:pt x="47625" y="85998"/>
                  <a:pt x="50279" y="83344"/>
                  <a:pt x="53578" y="83344"/>
                </a:cubicBezTo>
                <a:lnTo>
                  <a:pt x="59531" y="83344"/>
                </a:lnTo>
                <a:lnTo>
                  <a:pt x="59531" y="67469"/>
                </a:lnTo>
                <a:lnTo>
                  <a:pt x="53578" y="67469"/>
                </a:lnTo>
                <a:cubicBezTo>
                  <a:pt x="50279" y="67469"/>
                  <a:pt x="47625" y="64815"/>
                  <a:pt x="47625" y="61516"/>
                </a:cubicBezTo>
                <a:cubicBezTo>
                  <a:pt x="47625" y="58217"/>
                  <a:pt x="50279" y="55563"/>
                  <a:pt x="53578" y="55563"/>
                </a:cubicBezTo>
                <a:close/>
              </a:path>
            </a:pathLst>
          </a:custGeom>
          <a:solidFill>
            <a:srgbClr val="2A9D8F"/>
          </a:solidFill>
          <a:ln/>
        </p:spPr>
      </p:sp>
      <p:sp>
        <p:nvSpPr>
          <p:cNvPr id="44" name="Text 42"/>
          <p:cNvSpPr/>
          <p:nvPr/>
        </p:nvSpPr>
        <p:spPr>
          <a:xfrm>
            <a:off x="7246938" y="2428875"/>
            <a:ext cx="4437063" cy="190500"/>
          </a:xfrm>
          <a:prstGeom prst="rect">
            <a:avLst/>
          </a:prstGeom>
          <a:noFill/>
          <a:ln/>
        </p:spPr>
        <p:txBody>
          <a:bodyPr wrap="square" lIns="0" tIns="0" rIns="0" bIns="0" rtlCol="0" anchor="ctr"/>
          <a:lstStyle/>
          <a:p>
            <a:pPr>
              <a:lnSpc>
                <a:spcPct val="130000"/>
              </a:lnSpc>
            </a:pPr>
            <a:r>
              <a:rPr lang="en-US" sz="1000" b="1" dirty="0">
                <a:solidFill>
                  <a:srgbClr val="2B2D42"/>
                </a:solidFill>
                <a:latin typeface="Quattrocento Sans" pitchFamily="34" charset="0"/>
                <a:ea typeface="Quattrocento Sans" pitchFamily="34" charset="-122"/>
                <a:cs typeface="Quattrocento Sans" pitchFamily="34" charset="-120"/>
              </a:rPr>
              <a:t>57% of Americans</a:t>
            </a:r>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 use debit cards as their primary payment method</a:t>
            </a:r>
            <a:endParaRPr lang="en-US" sz="1600" dirty="0"/>
          </a:p>
        </p:txBody>
      </p:sp>
      <p:sp>
        <p:nvSpPr>
          <p:cNvPr id="45" name="Shape 43"/>
          <p:cNvSpPr/>
          <p:nvPr/>
        </p:nvSpPr>
        <p:spPr>
          <a:xfrm>
            <a:off x="6207125" y="3000375"/>
            <a:ext cx="5667375" cy="1047750"/>
          </a:xfrm>
          <a:custGeom>
            <a:avLst/>
            <a:gdLst/>
            <a:ahLst/>
            <a:cxnLst/>
            <a:rect l="l" t="t" r="r" b="b"/>
            <a:pathLst>
              <a:path w="5667375" h="1047750">
                <a:moveTo>
                  <a:pt x="31750" y="0"/>
                </a:moveTo>
                <a:lnTo>
                  <a:pt x="5572124" y="0"/>
                </a:lnTo>
                <a:cubicBezTo>
                  <a:pt x="5624730" y="0"/>
                  <a:pt x="5667375" y="42645"/>
                  <a:pt x="5667375" y="95251"/>
                </a:cubicBezTo>
                <a:lnTo>
                  <a:pt x="5667375" y="952499"/>
                </a:lnTo>
                <a:cubicBezTo>
                  <a:pt x="5667375" y="1005105"/>
                  <a:pt x="5624730" y="1047750"/>
                  <a:pt x="5572124"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46" name="Shape 44"/>
          <p:cNvSpPr/>
          <p:nvPr/>
        </p:nvSpPr>
        <p:spPr>
          <a:xfrm>
            <a:off x="6207125" y="3000375"/>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1A3A5C"/>
          </a:solidFill>
          <a:ln/>
        </p:spPr>
      </p:sp>
      <p:sp>
        <p:nvSpPr>
          <p:cNvPr id="47" name="Shape 45"/>
          <p:cNvSpPr/>
          <p:nvPr/>
        </p:nvSpPr>
        <p:spPr>
          <a:xfrm>
            <a:off x="6381750" y="3159125"/>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1A3A5C"/>
          </a:solidFill>
          <a:ln/>
        </p:spPr>
      </p:sp>
      <p:sp>
        <p:nvSpPr>
          <p:cNvPr id="48" name="Shape 46"/>
          <p:cNvSpPr/>
          <p:nvPr/>
        </p:nvSpPr>
        <p:spPr>
          <a:xfrm>
            <a:off x="6508750" y="3286125"/>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FFFFFF"/>
          </a:solidFill>
          <a:ln/>
        </p:spPr>
      </p:sp>
      <p:sp>
        <p:nvSpPr>
          <p:cNvPr id="49" name="Text 47"/>
          <p:cNvSpPr/>
          <p:nvPr/>
        </p:nvSpPr>
        <p:spPr>
          <a:xfrm>
            <a:off x="6953250" y="3159125"/>
            <a:ext cx="485775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Financial Tracking</a:t>
            </a:r>
            <a:endParaRPr lang="en-US" sz="1600" dirty="0"/>
          </a:p>
        </p:txBody>
      </p:sp>
      <p:sp>
        <p:nvSpPr>
          <p:cNvPr id="50" name="Text 48"/>
          <p:cNvSpPr/>
          <p:nvPr/>
        </p:nvSpPr>
        <p:spPr>
          <a:xfrm>
            <a:off x="6953250" y="3476625"/>
            <a:ext cx="482600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Bank statements and apps help monitor spending, create budgets, and achieve financial goals.</a:t>
            </a:r>
            <a:endParaRPr lang="en-US" sz="1600" dirty="0"/>
          </a:p>
        </p:txBody>
      </p:sp>
      <p:sp>
        <p:nvSpPr>
          <p:cNvPr id="51" name="Shape 49"/>
          <p:cNvSpPr/>
          <p:nvPr/>
        </p:nvSpPr>
        <p:spPr>
          <a:xfrm>
            <a:off x="6207125" y="4175125"/>
            <a:ext cx="5667375" cy="1047750"/>
          </a:xfrm>
          <a:custGeom>
            <a:avLst/>
            <a:gdLst/>
            <a:ahLst/>
            <a:cxnLst/>
            <a:rect l="l" t="t" r="r" b="b"/>
            <a:pathLst>
              <a:path w="5667375" h="1047750">
                <a:moveTo>
                  <a:pt x="31750" y="0"/>
                </a:moveTo>
                <a:lnTo>
                  <a:pt x="5572124" y="0"/>
                </a:lnTo>
                <a:cubicBezTo>
                  <a:pt x="5624730" y="0"/>
                  <a:pt x="5667375" y="42645"/>
                  <a:pt x="5667375" y="95251"/>
                </a:cubicBezTo>
                <a:lnTo>
                  <a:pt x="5667375" y="952499"/>
                </a:lnTo>
                <a:cubicBezTo>
                  <a:pt x="5667375" y="1005105"/>
                  <a:pt x="5624730" y="1047750"/>
                  <a:pt x="5572124"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52" name="Shape 50"/>
          <p:cNvSpPr/>
          <p:nvPr/>
        </p:nvSpPr>
        <p:spPr>
          <a:xfrm>
            <a:off x="6207125" y="4175125"/>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2A9D8F"/>
          </a:solidFill>
          <a:ln/>
        </p:spPr>
      </p:sp>
      <p:sp>
        <p:nvSpPr>
          <p:cNvPr id="53" name="Shape 51"/>
          <p:cNvSpPr/>
          <p:nvPr/>
        </p:nvSpPr>
        <p:spPr>
          <a:xfrm>
            <a:off x="6381750" y="4333875"/>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2A9D8F"/>
          </a:solidFill>
          <a:ln/>
        </p:spPr>
      </p:sp>
      <p:sp>
        <p:nvSpPr>
          <p:cNvPr id="54" name="Shape 52"/>
          <p:cNvSpPr/>
          <p:nvPr/>
        </p:nvSpPr>
        <p:spPr>
          <a:xfrm>
            <a:off x="6508750" y="4460875"/>
            <a:ext cx="190500" cy="190500"/>
          </a:xfrm>
          <a:custGeom>
            <a:avLst/>
            <a:gdLst/>
            <a:ahLst/>
            <a:cxnLst/>
            <a:rect l="l" t="t" r="r" b="b"/>
            <a:pathLst>
              <a:path w="190500" h="190500">
                <a:moveTo>
                  <a:pt x="74414" y="17859"/>
                </a:moveTo>
                <a:lnTo>
                  <a:pt x="116086" y="17859"/>
                </a:lnTo>
                <a:cubicBezTo>
                  <a:pt x="117723" y="17859"/>
                  <a:pt x="119063" y="19199"/>
                  <a:pt x="119063" y="20836"/>
                </a:cubicBezTo>
                <a:lnTo>
                  <a:pt x="119063" y="35719"/>
                </a:lnTo>
                <a:lnTo>
                  <a:pt x="71438" y="35719"/>
                </a:lnTo>
                <a:lnTo>
                  <a:pt x="71438" y="20836"/>
                </a:lnTo>
                <a:cubicBezTo>
                  <a:pt x="71438" y="19199"/>
                  <a:pt x="72777" y="17859"/>
                  <a:pt x="74414" y="17859"/>
                </a:cubicBezTo>
                <a:close/>
                <a:moveTo>
                  <a:pt x="53578" y="20836"/>
                </a:moveTo>
                <a:lnTo>
                  <a:pt x="53578" y="35719"/>
                </a:lnTo>
                <a:lnTo>
                  <a:pt x="23812" y="35719"/>
                </a:lnTo>
                <a:cubicBezTo>
                  <a:pt x="10678" y="35719"/>
                  <a:pt x="0" y="46397"/>
                  <a:pt x="0" y="59531"/>
                </a:cubicBezTo>
                <a:lnTo>
                  <a:pt x="0" y="95250"/>
                </a:lnTo>
                <a:lnTo>
                  <a:pt x="190500" y="95250"/>
                </a:lnTo>
                <a:lnTo>
                  <a:pt x="190500" y="59531"/>
                </a:lnTo>
                <a:cubicBezTo>
                  <a:pt x="190500" y="46397"/>
                  <a:pt x="179822" y="35719"/>
                  <a:pt x="166688" y="35719"/>
                </a:cubicBezTo>
                <a:lnTo>
                  <a:pt x="136922" y="35719"/>
                </a:lnTo>
                <a:lnTo>
                  <a:pt x="136922" y="20836"/>
                </a:lnTo>
                <a:cubicBezTo>
                  <a:pt x="136922" y="9339"/>
                  <a:pt x="127583" y="0"/>
                  <a:pt x="116086" y="0"/>
                </a:cubicBezTo>
                <a:lnTo>
                  <a:pt x="74414" y="0"/>
                </a:lnTo>
                <a:cubicBezTo>
                  <a:pt x="62917" y="0"/>
                  <a:pt x="53578" y="9339"/>
                  <a:pt x="53578" y="20836"/>
                </a:cubicBezTo>
                <a:close/>
                <a:moveTo>
                  <a:pt x="190500" y="113109"/>
                </a:moveTo>
                <a:lnTo>
                  <a:pt x="119063" y="113109"/>
                </a:lnTo>
                <a:lnTo>
                  <a:pt x="119063" y="119063"/>
                </a:lnTo>
                <a:cubicBezTo>
                  <a:pt x="119063" y="125648"/>
                  <a:pt x="113742" y="130969"/>
                  <a:pt x="107156" y="130969"/>
                </a:cubicBezTo>
                <a:lnTo>
                  <a:pt x="83344" y="130969"/>
                </a:lnTo>
                <a:cubicBezTo>
                  <a:pt x="76758" y="130969"/>
                  <a:pt x="71438" y="125648"/>
                  <a:pt x="71438" y="119063"/>
                </a:cubicBezTo>
                <a:lnTo>
                  <a:pt x="71438" y="113109"/>
                </a:lnTo>
                <a:lnTo>
                  <a:pt x="0" y="113109"/>
                </a:lnTo>
                <a:lnTo>
                  <a:pt x="0" y="154781"/>
                </a:lnTo>
                <a:cubicBezTo>
                  <a:pt x="0" y="167915"/>
                  <a:pt x="10678" y="178594"/>
                  <a:pt x="23812" y="178594"/>
                </a:cubicBezTo>
                <a:lnTo>
                  <a:pt x="166688" y="178594"/>
                </a:lnTo>
                <a:cubicBezTo>
                  <a:pt x="179822" y="178594"/>
                  <a:pt x="190500" y="167915"/>
                  <a:pt x="190500" y="154781"/>
                </a:cubicBezTo>
                <a:lnTo>
                  <a:pt x="190500" y="113109"/>
                </a:lnTo>
                <a:close/>
              </a:path>
            </a:pathLst>
          </a:custGeom>
          <a:solidFill>
            <a:srgbClr val="FFFFFF"/>
          </a:solidFill>
          <a:ln/>
        </p:spPr>
      </p:sp>
      <p:sp>
        <p:nvSpPr>
          <p:cNvPr id="55" name="Text 53"/>
          <p:cNvSpPr/>
          <p:nvPr/>
        </p:nvSpPr>
        <p:spPr>
          <a:xfrm>
            <a:off x="6953250" y="4333875"/>
            <a:ext cx="485775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Business Growth</a:t>
            </a:r>
            <a:endParaRPr lang="en-US" sz="1600" dirty="0"/>
          </a:p>
        </p:txBody>
      </p:sp>
      <p:sp>
        <p:nvSpPr>
          <p:cNvPr id="56" name="Text 54"/>
          <p:cNvSpPr/>
          <p:nvPr/>
        </p:nvSpPr>
        <p:spPr>
          <a:xfrm>
            <a:off x="6953250" y="4651375"/>
            <a:ext cx="482600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Entrepreneurs access capital, manage cash flow, and expand operations through business banking.</a:t>
            </a:r>
            <a:endParaRPr lang="en-US" sz="1600" dirty="0"/>
          </a:p>
        </p:txBody>
      </p:sp>
      <p:sp>
        <p:nvSpPr>
          <p:cNvPr id="57" name="Shape 55"/>
          <p:cNvSpPr/>
          <p:nvPr/>
        </p:nvSpPr>
        <p:spPr>
          <a:xfrm>
            <a:off x="6207125" y="5349875"/>
            <a:ext cx="5667375" cy="1047750"/>
          </a:xfrm>
          <a:custGeom>
            <a:avLst/>
            <a:gdLst/>
            <a:ahLst/>
            <a:cxnLst/>
            <a:rect l="l" t="t" r="r" b="b"/>
            <a:pathLst>
              <a:path w="5667375" h="1047750">
                <a:moveTo>
                  <a:pt x="31750" y="0"/>
                </a:moveTo>
                <a:lnTo>
                  <a:pt x="5572124" y="0"/>
                </a:lnTo>
                <a:cubicBezTo>
                  <a:pt x="5624730" y="0"/>
                  <a:pt x="5667375" y="42645"/>
                  <a:pt x="5667375" y="95251"/>
                </a:cubicBezTo>
                <a:lnTo>
                  <a:pt x="5667375" y="952499"/>
                </a:lnTo>
                <a:cubicBezTo>
                  <a:pt x="5667375" y="1005105"/>
                  <a:pt x="5624730" y="1047750"/>
                  <a:pt x="5572124" y="1047750"/>
                </a:cubicBezTo>
                <a:lnTo>
                  <a:pt x="31750" y="1047750"/>
                </a:lnTo>
                <a:cubicBezTo>
                  <a:pt x="14215" y="1047750"/>
                  <a:pt x="0" y="1033535"/>
                  <a:pt x="0" y="1016000"/>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58" name="Shape 56"/>
          <p:cNvSpPr/>
          <p:nvPr/>
        </p:nvSpPr>
        <p:spPr>
          <a:xfrm>
            <a:off x="6207125" y="5349875"/>
            <a:ext cx="31750" cy="1047750"/>
          </a:xfrm>
          <a:custGeom>
            <a:avLst/>
            <a:gdLst/>
            <a:ahLst/>
            <a:cxnLst/>
            <a:rect l="l" t="t" r="r" b="b"/>
            <a:pathLst>
              <a:path w="31750" h="1047750">
                <a:moveTo>
                  <a:pt x="31750" y="0"/>
                </a:moveTo>
                <a:lnTo>
                  <a:pt x="31750" y="0"/>
                </a:lnTo>
                <a:lnTo>
                  <a:pt x="31750" y="1047750"/>
                </a:lnTo>
                <a:lnTo>
                  <a:pt x="31750" y="1047750"/>
                </a:lnTo>
                <a:cubicBezTo>
                  <a:pt x="14227" y="1047750"/>
                  <a:pt x="0" y="1033523"/>
                  <a:pt x="0" y="1016000"/>
                </a:cubicBezTo>
                <a:lnTo>
                  <a:pt x="0" y="31750"/>
                </a:lnTo>
                <a:cubicBezTo>
                  <a:pt x="0" y="14227"/>
                  <a:pt x="14227" y="0"/>
                  <a:pt x="31750" y="0"/>
                </a:cubicBezTo>
                <a:close/>
              </a:path>
            </a:pathLst>
          </a:custGeom>
          <a:solidFill>
            <a:srgbClr val="1A3A5C"/>
          </a:solidFill>
          <a:ln/>
        </p:spPr>
      </p:sp>
      <p:sp>
        <p:nvSpPr>
          <p:cNvPr id="59" name="Shape 57"/>
          <p:cNvSpPr/>
          <p:nvPr/>
        </p:nvSpPr>
        <p:spPr>
          <a:xfrm>
            <a:off x="6381750" y="5508625"/>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1A3A5C"/>
          </a:solidFill>
          <a:ln/>
        </p:spPr>
      </p:sp>
      <p:sp>
        <p:nvSpPr>
          <p:cNvPr id="60" name="Shape 58"/>
          <p:cNvSpPr/>
          <p:nvPr/>
        </p:nvSpPr>
        <p:spPr>
          <a:xfrm>
            <a:off x="6508750" y="5635625"/>
            <a:ext cx="190500" cy="190500"/>
          </a:xfrm>
          <a:custGeom>
            <a:avLst/>
            <a:gdLst/>
            <a:ahLst/>
            <a:cxnLst/>
            <a:rect l="l" t="t" r="r" b="b"/>
            <a:pathLst>
              <a:path w="190500" h="190500">
                <a:moveTo>
                  <a:pt x="130932" y="104180"/>
                </a:moveTo>
                <a:lnTo>
                  <a:pt x="59903" y="104180"/>
                </a:lnTo>
                <a:cubicBezTo>
                  <a:pt x="60982" y="128178"/>
                  <a:pt x="66303" y="150279"/>
                  <a:pt x="73856" y="166464"/>
                </a:cubicBezTo>
                <a:cubicBezTo>
                  <a:pt x="78098" y="175580"/>
                  <a:pt x="82674" y="182017"/>
                  <a:pt x="86916" y="185961"/>
                </a:cubicBezTo>
                <a:cubicBezTo>
                  <a:pt x="91083" y="189867"/>
                  <a:pt x="93948" y="190500"/>
                  <a:pt x="95436" y="190500"/>
                </a:cubicBezTo>
                <a:cubicBezTo>
                  <a:pt x="96924" y="190500"/>
                  <a:pt x="99789" y="189867"/>
                  <a:pt x="103956" y="185961"/>
                </a:cubicBezTo>
                <a:cubicBezTo>
                  <a:pt x="108198" y="182017"/>
                  <a:pt x="112775" y="175543"/>
                  <a:pt x="117016" y="166464"/>
                </a:cubicBezTo>
                <a:cubicBezTo>
                  <a:pt x="124569" y="150279"/>
                  <a:pt x="129890" y="128178"/>
                  <a:pt x="130969" y="104180"/>
                </a:cubicBezTo>
                <a:close/>
                <a:moveTo>
                  <a:pt x="59866" y="86320"/>
                </a:moveTo>
                <a:lnTo>
                  <a:pt x="130894" y="86320"/>
                </a:lnTo>
                <a:cubicBezTo>
                  <a:pt x="129853" y="62322"/>
                  <a:pt x="124532" y="40221"/>
                  <a:pt x="116979" y="24036"/>
                </a:cubicBezTo>
                <a:cubicBezTo>
                  <a:pt x="112737" y="14957"/>
                  <a:pt x="108161" y="8483"/>
                  <a:pt x="103919" y="4539"/>
                </a:cubicBezTo>
                <a:cubicBezTo>
                  <a:pt x="99752" y="633"/>
                  <a:pt x="96887" y="0"/>
                  <a:pt x="95399" y="0"/>
                </a:cubicBezTo>
                <a:cubicBezTo>
                  <a:pt x="93911" y="0"/>
                  <a:pt x="91046" y="633"/>
                  <a:pt x="86878" y="4539"/>
                </a:cubicBezTo>
                <a:cubicBezTo>
                  <a:pt x="82637" y="8483"/>
                  <a:pt x="78060" y="14957"/>
                  <a:pt x="73819" y="24036"/>
                </a:cubicBezTo>
                <a:cubicBezTo>
                  <a:pt x="66266" y="40221"/>
                  <a:pt x="60945" y="62322"/>
                  <a:pt x="59866" y="86320"/>
                </a:cubicBezTo>
                <a:close/>
                <a:moveTo>
                  <a:pt x="42007" y="86320"/>
                </a:moveTo>
                <a:cubicBezTo>
                  <a:pt x="43309" y="54471"/>
                  <a:pt x="51532" y="24892"/>
                  <a:pt x="63550" y="5469"/>
                </a:cubicBezTo>
                <a:cubicBezTo>
                  <a:pt x="29282" y="17599"/>
                  <a:pt x="4056" y="48816"/>
                  <a:pt x="558" y="86320"/>
                </a:cubicBezTo>
                <a:lnTo>
                  <a:pt x="42007" y="86320"/>
                </a:lnTo>
                <a:close/>
                <a:moveTo>
                  <a:pt x="558" y="104180"/>
                </a:moveTo>
                <a:cubicBezTo>
                  <a:pt x="4056" y="141684"/>
                  <a:pt x="29282" y="172901"/>
                  <a:pt x="63550" y="185031"/>
                </a:cubicBezTo>
                <a:cubicBezTo>
                  <a:pt x="51532" y="165608"/>
                  <a:pt x="43309" y="136029"/>
                  <a:pt x="42007" y="104180"/>
                </a:cubicBezTo>
                <a:lnTo>
                  <a:pt x="558" y="104180"/>
                </a:lnTo>
                <a:close/>
                <a:moveTo>
                  <a:pt x="148791" y="104180"/>
                </a:moveTo>
                <a:cubicBezTo>
                  <a:pt x="147489" y="136029"/>
                  <a:pt x="139266" y="165608"/>
                  <a:pt x="127248" y="185031"/>
                </a:cubicBezTo>
                <a:cubicBezTo>
                  <a:pt x="161516" y="172864"/>
                  <a:pt x="186742" y="141684"/>
                  <a:pt x="190240" y="104180"/>
                </a:cubicBezTo>
                <a:lnTo>
                  <a:pt x="148791" y="104180"/>
                </a:lnTo>
                <a:close/>
                <a:moveTo>
                  <a:pt x="190240" y="86320"/>
                </a:moveTo>
                <a:cubicBezTo>
                  <a:pt x="186742" y="48816"/>
                  <a:pt x="161516" y="17599"/>
                  <a:pt x="127248" y="5469"/>
                </a:cubicBezTo>
                <a:cubicBezTo>
                  <a:pt x="139266" y="24892"/>
                  <a:pt x="147489" y="54471"/>
                  <a:pt x="148791" y="86320"/>
                </a:cubicBezTo>
                <a:lnTo>
                  <a:pt x="190240" y="86320"/>
                </a:lnTo>
                <a:close/>
              </a:path>
            </a:pathLst>
          </a:custGeom>
          <a:solidFill>
            <a:srgbClr val="FFFFFF"/>
          </a:solidFill>
          <a:ln/>
        </p:spPr>
      </p:sp>
      <p:sp>
        <p:nvSpPr>
          <p:cNvPr id="61" name="Text 59"/>
          <p:cNvSpPr/>
          <p:nvPr/>
        </p:nvSpPr>
        <p:spPr>
          <a:xfrm>
            <a:off x="6953250" y="5508625"/>
            <a:ext cx="485775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Economic Participation</a:t>
            </a:r>
            <a:endParaRPr lang="en-US" sz="1600" dirty="0"/>
          </a:p>
        </p:txBody>
      </p:sp>
      <p:sp>
        <p:nvSpPr>
          <p:cNvPr id="62" name="Text 60"/>
          <p:cNvSpPr/>
          <p:nvPr/>
        </p:nvSpPr>
        <p:spPr>
          <a:xfrm>
            <a:off x="6953250" y="5826125"/>
            <a:ext cx="482600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Banking connects individuals to the formal economy, enabling salary deposits, tax payments, and investments.</a:t>
            </a:r>
            <a:endParaRPr lang="en-US" sz="1600" dirty="0"/>
          </a:p>
        </p:txBody>
      </p:sp>
      <p:sp>
        <p:nvSpPr>
          <p:cNvPr id="63" name="Shape 61"/>
          <p:cNvSpPr/>
          <p:nvPr/>
        </p:nvSpPr>
        <p:spPr>
          <a:xfrm>
            <a:off x="333375" y="7020719"/>
            <a:ext cx="11541125" cy="666750"/>
          </a:xfrm>
          <a:custGeom>
            <a:avLst/>
            <a:gdLst/>
            <a:ahLst/>
            <a:cxnLst/>
            <a:rect l="l" t="t" r="r" b="b"/>
            <a:pathLst>
              <a:path w="11541125" h="666750">
                <a:moveTo>
                  <a:pt x="31750" y="0"/>
                </a:moveTo>
                <a:lnTo>
                  <a:pt x="11477624" y="0"/>
                </a:lnTo>
                <a:cubicBezTo>
                  <a:pt x="11512695" y="0"/>
                  <a:pt x="11541125" y="28430"/>
                  <a:pt x="11541125" y="63501"/>
                </a:cubicBezTo>
                <a:lnTo>
                  <a:pt x="11541125" y="603249"/>
                </a:lnTo>
                <a:cubicBezTo>
                  <a:pt x="11541125" y="638320"/>
                  <a:pt x="11512695" y="666750"/>
                  <a:pt x="11477624" y="666750"/>
                </a:cubicBezTo>
                <a:lnTo>
                  <a:pt x="31750" y="666750"/>
                </a:lnTo>
                <a:cubicBezTo>
                  <a:pt x="14215" y="666750"/>
                  <a:pt x="0" y="652535"/>
                  <a:pt x="0" y="635000"/>
                </a:cubicBezTo>
                <a:lnTo>
                  <a:pt x="0" y="31750"/>
                </a:lnTo>
                <a:cubicBezTo>
                  <a:pt x="0" y="14227"/>
                  <a:pt x="14227" y="0"/>
                  <a:pt x="31750" y="0"/>
                </a:cubicBezTo>
                <a:close/>
              </a:path>
            </a:pathLst>
          </a:custGeom>
          <a:solidFill>
            <a:srgbClr val="1A3A5C">
              <a:alpha val="5098"/>
            </a:srgbClr>
          </a:solidFill>
          <a:ln/>
        </p:spPr>
      </p:sp>
      <p:sp>
        <p:nvSpPr>
          <p:cNvPr id="64" name="Shape 62"/>
          <p:cNvSpPr/>
          <p:nvPr/>
        </p:nvSpPr>
        <p:spPr>
          <a:xfrm>
            <a:off x="333375" y="7020719"/>
            <a:ext cx="31750" cy="666750"/>
          </a:xfrm>
          <a:custGeom>
            <a:avLst/>
            <a:gdLst/>
            <a:ahLst/>
            <a:cxnLst/>
            <a:rect l="l" t="t" r="r" b="b"/>
            <a:pathLst>
              <a:path w="31750" h="666750">
                <a:moveTo>
                  <a:pt x="31750" y="0"/>
                </a:moveTo>
                <a:lnTo>
                  <a:pt x="31750" y="0"/>
                </a:lnTo>
                <a:lnTo>
                  <a:pt x="31750" y="666750"/>
                </a:lnTo>
                <a:lnTo>
                  <a:pt x="31750" y="666750"/>
                </a:lnTo>
                <a:cubicBezTo>
                  <a:pt x="14227" y="666750"/>
                  <a:pt x="0" y="652523"/>
                  <a:pt x="0" y="635000"/>
                </a:cubicBezTo>
                <a:lnTo>
                  <a:pt x="0" y="31750"/>
                </a:lnTo>
                <a:cubicBezTo>
                  <a:pt x="0" y="14227"/>
                  <a:pt x="14227" y="0"/>
                  <a:pt x="31750" y="0"/>
                </a:cubicBezTo>
                <a:close/>
              </a:path>
            </a:pathLst>
          </a:custGeom>
          <a:solidFill>
            <a:srgbClr val="1A3A5C"/>
          </a:solidFill>
          <a:ln/>
        </p:spPr>
      </p:sp>
      <p:sp>
        <p:nvSpPr>
          <p:cNvPr id="65" name="Shape 63"/>
          <p:cNvSpPr/>
          <p:nvPr/>
        </p:nvSpPr>
        <p:spPr>
          <a:xfrm>
            <a:off x="500063" y="7183438"/>
            <a:ext cx="111125" cy="127000"/>
          </a:xfrm>
          <a:custGeom>
            <a:avLst/>
            <a:gdLst/>
            <a:ahLst/>
            <a:cxnLst/>
            <a:rect l="l" t="t" r="r" b="b"/>
            <a:pathLst>
              <a:path w="111125" h="127000">
                <a:moveTo>
                  <a:pt x="0" y="53578"/>
                </a:moveTo>
                <a:cubicBezTo>
                  <a:pt x="0" y="37133"/>
                  <a:pt x="13320" y="23812"/>
                  <a:pt x="29766" y="23812"/>
                </a:cubicBezTo>
                <a:lnTo>
                  <a:pt x="31750" y="23812"/>
                </a:lnTo>
                <a:cubicBezTo>
                  <a:pt x="36140" y="23812"/>
                  <a:pt x="39688" y="27360"/>
                  <a:pt x="39688" y="31750"/>
                </a:cubicBezTo>
                <a:cubicBezTo>
                  <a:pt x="39688" y="36140"/>
                  <a:pt x="36140" y="39688"/>
                  <a:pt x="31750" y="39688"/>
                </a:cubicBezTo>
                <a:lnTo>
                  <a:pt x="29766" y="39688"/>
                </a:lnTo>
                <a:cubicBezTo>
                  <a:pt x="22101" y="39688"/>
                  <a:pt x="15875" y="45913"/>
                  <a:pt x="15875" y="53578"/>
                </a:cubicBezTo>
                <a:lnTo>
                  <a:pt x="15875" y="55563"/>
                </a:lnTo>
                <a:lnTo>
                  <a:pt x="31750" y="55563"/>
                </a:lnTo>
                <a:cubicBezTo>
                  <a:pt x="40506" y="55563"/>
                  <a:pt x="47625" y="62681"/>
                  <a:pt x="47625" y="71438"/>
                </a:cubicBezTo>
                <a:lnTo>
                  <a:pt x="47625" y="87313"/>
                </a:lnTo>
                <a:cubicBezTo>
                  <a:pt x="47625" y="96069"/>
                  <a:pt x="40506" y="103188"/>
                  <a:pt x="31750" y="103188"/>
                </a:cubicBezTo>
                <a:lnTo>
                  <a:pt x="15875" y="103188"/>
                </a:lnTo>
                <a:cubicBezTo>
                  <a:pt x="7119" y="103188"/>
                  <a:pt x="0" y="96069"/>
                  <a:pt x="0" y="87313"/>
                </a:cubicBezTo>
                <a:lnTo>
                  <a:pt x="0" y="53578"/>
                </a:lnTo>
                <a:close/>
                <a:moveTo>
                  <a:pt x="63500" y="53578"/>
                </a:moveTo>
                <a:cubicBezTo>
                  <a:pt x="63500" y="37133"/>
                  <a:pt x="76820" y="23812"/>
                  <a:pt x="93266" y="23812"/>
                </a:cubicBezTo>
                <a:lnTo>
                  <a:pt x="95250" y="23812"/>
                </a:lnTo>
                <a:cubicBezTo>
                  <a:pt x="99640" y="23812"/>
                  <a:pt x="103188" y="27360"/>
                  <a:pt x="103188" y="31750"/>
                </a:cubicBezTo>
                <a:cubicBezTo>
                  <a:pt x="103188" y="36140"/>
                  <a:pt x="99640" y="39688"/>
                  <a:pt x="95250" y="39688"/>
                </a:cubicBezTo>
                <a:lnTo>
                  <a:pt x="93266" y="39688"/>
                </a:lnTo>
                <a:cubicBezTo>
                  <a:pt x="85601" y="39688"/>
                  <a:pt x="79375" y="45913"/>
                  <a:pt x="79375" y="53578"/>
                </a:cubicBezTo>
                <a:lnTo>
                  <a:pt x="79375" y="55563"/>
                </a:lnTo>
                <a:lnTo>
                  <a:pt x="95250" y="55563"/>
                </a:lnTo>
                <a:cubicBezTo>
                  <a:pt x="104006" y="55563"/>
                  <a:pt x="111125" y="62681"/>
                  <a:pt x="111125" y="71438"/>
                </a:cubicBezTo>
                <a:lnTo>
                  <a:pt x="111125" y="87313"/>
                </a:lnTo>
                <a:cubicBezTo>
                  <a:pt x="111125" y="96069"/>
                  <a:pt x="104006" y="103188"/>
                  <a:pt x="95250" y="103188"/>
                </a:cubicBezTo>
                <a:lnTo>
                  <a:pt x="79375" y="103188"/>
                </a:lnTo>
                <a:cubicBezTo>
                  <a:pt x="70619" y="103188"/>
                  <a:pt x="63500" y="96069"/>
                  <a:pt x="63500" y="87313"/>
                </a:cubicBezTo>
                <a:lnTo>
                  <a:pt x="63500" y="53578"/>
                </a:lnTo>
                <a:close/>
              </a:path>
            </a:pathLst>
          </a:custGeom>
          <a:solidFill>
            <a:srgbClr val="2A9D8F"/>
          </a:solidFill>
          <a:ln/>
        </p:spPr>
      </p:sp>
      <p:sp>
        <p:nvSpPr>
          <p:cNvPr id="66" name="Text 64"/>
          <p:cNvSpPr/>
          <p:nvPr/>
        </p:nvSpPr>
        <p:spPr>
          <a:xfrm>
            <a:off x="674688" y="7147719"/>
            <a:ext cx="11136313" cy="412750"/>
          </a:xfrm>
          <a:prstGeom prst="rect">
            <a:avLst/>
          </a:prstGeom>
          <a:noFill/>
          <a:ln/>
        </p:spPr>
        <p:txBody>
          <a:bodyPr wrap="square" lIns="0" tIns="0" rIns="0" bIns="0" rtlCol="0" anchor="ctr"/>
          <a:lstStyle/>
          <a:p>
            <a:pPr>
              <a:lnSpc>
                <a:spcPct val="140000"/>
              </a:lnSpc>
            </a:pPr>
            <a:r>
              <a:rPr lang="en-US" sz="1000" b="1" dirty="0">
                <a:solidFill>
                  <a:srgbClr val="2B2D42"/>
                </a:solidFill>
                <a:latin typeface="Quattrocento Sans" pitchFamily="34" charset="0"/>
                <a:ea typeface="Quattrocento Sans" pitchFamily="34" charset="-122"/>
                <a:cs typeface="Quattrocento Sans" pitchFamily="34" charset="-120"/>
              </a:rPr>
              <a:t>Speaker Note:</a:t>
            </a:r>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 Ask students to imagine life without a bank account—how would they receive paychecks, pay bills, or build credit? Emphasize that banking isn't just about storing money; it's about accessing opportunities and protecting financial assets. Share that 1.4 billion adults worldwide remain unbanked.</a:t>
            </a:r>
            <a:endParaRPr lang="en-US" sz="16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2A9D8F"/>
                </a:solidFill>
                <a:latin typeface="Liter" pitchFamily="34" charset="0"/>
                <a:ea typeface="Liter" pitchFamily="34" charset="-122"/>
                <a:cs typeface="Liter" pitchFamily="34" charset="-120"/>
              </a:rPr>
              <a:t>CHAPTER 11</a:t>
            </a:r>
            <a:endParaRPr lang="en-US" sz="1600" dirty="0"/>
          </a:p>
        </p:txBody>
      </p:sp>
      <p:sp>
        <p:nvSpPr>
          <p:cNvPr id="3" name="Text 1"/>
          <p:cNvSpPr/>
          <p:nvPr/>
        </p:nvSpPr>
        <p:spPr>
          <a:xfrm>
            <a:off x="317500" y="571500"/>
            <a:ext cx="11747500" cy="476250"/>
          </a:xfrm>
          <a:prstGeom prst="rect">
            <a:avLst/>
          </a:prstGeom>
          <a:noFill/>
          <a:ln/>
        </p:spPr>
        <p:txBody>
          <a:bodyPr wrap="square" lIns="0" tIns="0" rIns="0" bIns="0" rtlCol="0" anchor="ctr"/>
          <a:lstStyle/>
          <a:p>
            <a:pPr>
              <a:lnSpc>
                <a:spcPct val="100000"/>
              </a:lnSpc>
            </a:pPr>
            <a:r>
              <a:rPr lang="en-US" sz="3000" b="1" dirty="0">
                <a:solidFill>
                  <a:srgbClr val="1A3A5C"/>
                </a:solidFill>
                <a:latin typeface="Oranienbaum" pitchFamily="34" charset="0"/>
                <a:ea typeface="Oranienbaum" pitchFamily="34" charset="-122"/>
                <a:cs typeface="Oranienbaum" pitchFamily="34" charset="-120"/>
              </a:rPr>
              <a:t>Challenges in Banking Sector</a:t>
            </a:r>
            <a:endParaRPr lang="en-US" sz="1600" dirty="0"/>
          </a:p>
        </p:txBody>
      </p:sp>
      <p:sp>
        <p:nvSpPr>
          <p:cNvPr id="4" name="Shape 2"/>
          <p:cNvSpPr/>
          <p:nvPr/>
        </p:nvSpPr>
        <p:spPr>
          <a:xfrm>
            <a:off x="317500" y="1174750"/>
            <a:ext cx="762000" cy="47625"/>
          </a:xfrm>
          <a:custGeom>
            <a:avLst/>
            <a:gdLst/>
            <a:ahLst/>
            <a:cxnLst/>
            <a:rect l="l" t="t" r="r" b="b"/>
            <a:pathLst>
              <a:path w="762000" h="47625">
                <a:moveTo>
                  <a:pt x="0" y="0"/>
                </a:moveTo>
                <a:lnTo>
                  <a:pt x="762000" y="0"/>
                </a:lnTo>
                <a:lnTo>
                  <a:pt x="762000" y="47625"/>
                </a:lnTo>
                <a:lnTo>
                  <a:pt x="0" y="47625"/>
                </a:lnTo>
                <a:lnTo>
                  <a:pt x="0" y="0"/>
                </a:lnTo>
                <a:close/>
              </a:path>
            </a:pathLst>
          </a:custGeom>
          <a:solidFill>
            <a:srgbClr val="2A9D8F"/>
          </a:solidFill>
          <a:ln/>
        </p:spPr>
      </p:sp>
      <p:sp>
        <p:nvSpPr>
          <p:cNvPr id="5" name="Shape 3"/>
          <p:cNvSpPr/>
          <p:nvPr/>
        </p:nvSpPr>
        <p:spPr>
          <a:xfrm>
            <a:off x="317500" y="1349375"/>
            <a:ext cx="5683250" cy="1166813"/>
          </a:xfrm>
          <a:custGeom>
            <a:avLst/>
            <a:gdLst/>
            <a:ahLst/>
            <a:cxnLst/>
            <a:rect l="l" t="t" r="r" b="b"/>
            <a:pathLst>
              <a:path w="5683250" h="1166813">
                <a:moveTo>
                  <a:pt x="95247" y="0"/>
                </a:moveTo>
                <a:lnTo>
                  <a:pt x="5588003" y="0"/>
                </a:lnTo>
                <a:cubicBezTo>
                  <a:pt x="5640607" y="0"/>
                  <a:pt x="5683250" y="42643"/>
                  <a:pt x="5683250" y="95247"/>
                </a:cubicBezTo>
                <a:lnTo>
                  <a:pt x="5683250" y="1071566"/>
                </a:lnTo>
                <a:cubicBezTo>
                  <a:pt x="5683250" y="1124169"/>
                  <a:pt x="5640607" y="1166813"/>
                  <a:pt x="5588003" y="1166813"/>
                </a:cubicBezTo>
                <a:lnTo>
                  <a:pt x="95247" y="1166813"/>
                </a:lnTo>
                <a:cubicBezTo>
                  <a:pt x="42643" y="1166813"/>
                  <a:pt x="0" y="1124169"/>
                  <a:pt x="0" y="1071566"/>
                </a:cubicBezTo>
                <a:lnTo>
                  <a:pt x="0" y="95247"/>
                </a:lnTo>
                <a:cubicBezTo>
                  <a:pt x="0" y="42643"/>
                  <a:pt x="42643" y="0"/>
                  <a:pt x="95247" y="0"/>
                </a:cubicBezTo>
                <a:close/>
              </a:path>
            </a:pathLst>
          </a:custGeom>
          <a:gradFill rotWithShape="1" flip="none">
            <a:gsLst>
              <a:gs pos="0">
                <a:srgbClr val="1A3A5C"/>
              </a:gs>
              <a:gs pos="100000">
                <a:srgbClr val="2A9D8F"/>
              </a:gs>
            </a:gsLst>
            <a:lin ang="0" scaled="1"/>
          </a:gradFill>
          <a:ln/>
          <a:effectLst>
            <a:outerShdw sx="100000" sy="100000" kx="0" ky="0" algn="bl" rotWithShape="0" blurRad="119063" dist="79375" dir="5400000">
              <a:srgbClr val="000000">
                <a:alpha val="10196"/>
              </a:srgbClr>
            </a:outerShdw>
          </a:effectLst>
        </p:spPr>
      </p:sp>
      <p:sp>
        <p:nvSpPr>
          <p:cNvPr id="6" name="Shape 4"/>
          <p:cNvSpPr/>
          <p:nvPr/>
        </p:nvSpPr>
        <p:spPr>
          <a:xfrm>
            <a:off x="508000" y="1531938"/>
            <a:ext cx="238125" cy="238125"/>
          </a:xfrm>
          <a:custGeom>
            <a:avLst/>
            <a:gdLst/>
            <a:ahLst/>
            <a:cxnLst/>
            <a:rect l="l" t="t" r="r" b="b"/>
            <a:pathLst>
              <a:path w="238125" h="238125">
                <a:moveTo>
                  <a:pt x="119062" y="0"/>
                </a:moveTo>
                <a:cubicBezTo>
                  <a:pt x="125899" y="0"/>
                  <a:pt x="132178" y="3767"/>
                  <a:pt x="135434" y="9767"/>
                </a:cubicBezTo>
                <a:lnTo>
                  <a:pt x="235893" y="195802"/>
                </a:lnTo>
                <a:cubicBezTo>
                  <a:pt x="239009" y="201569"/>
                  <a:pt x="238869" y="208545"/>
                  <a:pt x="235521" y="214173"/>
                </a:cubicBezTo>
                <a:cubicBezTo>
                  <a:pt x="232172" y="219801"/>
                  <a:pt x="226079" y="223242"/>
                  <a:pt x="219521" y="223242"/>
                </a:cubicBezTo>
                <a:lnTo>
                  <a:pt x="18604" y="223242"/>
                </a:lnTo>
                <a:cubicBezTo>
                  <a:pt x="12046" y="223242"/>
                  <a:pt x="6000" y="219801"/>
                  <a:pt x="2604" y="214173"/>
                </a:cubicBezTo>
                <a:cubicBezTo>
                  <a:pt x="-791" y="208545"/>
                  <a:pt x="-884" y="201569"/>
                  <a:pt x="2232" y="195802"/>
                </a:cubicBezTo>
                <a:lnTo>
                  <a:pt x="102691" y="9767"/>
                </a:lnTo>
                <a:cubicBezTo>
                  <a:pt x="105947" y="3767"/>
                  <a:pt x="112226" y="0"/>
                  <a:pt x="119062" y="0"/>
                </a:cubicBezTo>
                <a:close/>
                <a:moveTo>
                  <a:pt x="119062" y="78135"/>
                </a:moveTo>
                <a:cubicBezTo>
                  <a:pt x="112877" y="78135"/>
                  <a:pt x="107900" y="83111"/>
                  <a:pt x="107900" y="89297"/>
                </a:cubicBezTo>
                <a:lnTo>
                  <a:pt x="107900" y="141387"/>
                </a:lnTo>
                <a:cubicBezTo>
                  <a:pt x="107900" y="147572"/>
                  <a:pt x="112877" y="152549"/>
                  <a:pt x="119062" y="152549"/>
                </a:cubicBezTo>
                <a:cubicBezTo>
                  <a:pt x="125248" y="152549"/>
                  <a:pt x="130225" y="147572"/>
                  <a:pt x="130225" y="141387"/>
                </a:cubicBezTo>
                <a:lnTo>
                  <a:pt x="130225" y="89297"/>
                </a:lnTo>
                <a:cubicBezTo>
                  <a:pt x="130225" y="83111"/>
                  <a:pt x="125248" y="78135"/>
                  <a:pt x="119062" y="78135"/>
                </a:cubicBezTo>
                <a:close/>
                <a:moveTo>
                  <a:pt x="131480" y="178594"/>
                </a:moveTo>
                <a:cubicBezTo>
                  <a:pt x="131763" y="173984"/>
                  <a:pt x="129464" y="169599"/>
                  <a:pt x="125513" y="167209"/>
                </a:cubicBezTo>
                <a:cubicBezTo>
                  <a:pt x="121561" y="164819"/>
                  <a:pt x="116610" y="164819"/>
                  <a:pt x="112659" y="167209"/>
                </a:cubicBezTo>
                <a:cubicBezTo>
                  <a:pt x="108707" y="169599"/>
                  <a:pt x="106409" y="173984"/>
                  <a:pt x="106691" y="178594"/>
                </a:cubicBezTo>
                <a:cubicBezTo>
                  <a:pt x="106409" y="183203"/>
                  <a:pt x="108707" y="187589"/>
                  <a:pt x="112659" y="189979"/>
                </a:cubicBezTo>
                <a:cubicBezTo>
                  <a:pt x="116610" y="192369"/>
                  <a:pt x="121561" y="192369"/>
                  <a:pt x="125513" y="189979"/>
                </a:cubicBezTo>
                <a:cubicBezTo>
                  <a:pt x="129464" y="187589"/>
                  <a:pt x="131763" y="183203"/>
                  <a:pt x="131480" y="178594"/>
                </a:cubicBezTo>
                <a:close/>
              </a:path>
            </a:pathLst>
          </a:custGeom>
          <a:solidFill>
            <a:srgbClr val="FFFFFF"/>
          </a:solidFill>
          <a:ln/>
        </p:spPr>
      </p:sp>
      <p:sp>
        <p:nvSpPr>
          <p:cNvPr id="7" name="Text 5"/>
          <p:cNvSpPr/>
          <p:nvPr/>
        </p:nvSpPr>
        <p:spPr>
          <a:xfrm>
            <a:off x="777875" y="1508125"/>
            <a:ext cx="5183188" cy="285750"/>
          </a:xfrm>
          <a:prstGeom prst="rect">
            <a:avLst/>
          </a:prstGeom>
          <a:noFill/>
          <a:ln/>
        </p:spPr>
        <p:txBody>
          <a:bodyPr wrap="square" lIns="0" tIns="0" rIns="0" bIns="0" rtlCol="0" anchor="ctr"/>
          <a:lstStyle/>
          <a:p>
            <a:pPr>
              <a:lnSpc>
                <a:spcPct val="100000"/>
              </a:lnSpc>
            </a:pPr>
            <a:r>
              <a:rPr lang="en-US" sz="1875" b="1" dirty="0">
                <a:solidFill>
                  <a:srgbClr val="FFFFFF"/>
                </a:solidFill>
                <a:latin typeface="Liter" pitchFamily="34" charset="0"/>
                <a:ea typeface="Liter" pitchFamily="34" charset="-122"/>
                <a:cs typeface="Liter" pitchFamily="34" charset="-120"/>
              </a:rPr>
              <a:t>Current Industry Challenges</a:t>
            </a:r>
            <a:endParaRPr lang="en-US" sz="1600" dirty="0"/>
          </a:p>
        </p:txBody>
      </p:sp>
      <p:sp>
        <p:nvSpPr>
          <p:cNvPr id="8" name="Text 6"/>
          <p:cNvSpPr/>
          <p:nvPr/>
        </p:nvSpPr>
        <p:spPr>
          <a:xfrm>
            <a:off x="476250" y="1889125"/>
            <a:ext cx="5437188" cy="468313"/>
          </a:xfrm>
          <a:prstGeom prst="rect">
            <a:avLst/>
          </a:prstGeom>
          <a:noFill/>
          <a:ln/>
        </p:spPr>
        <p:txBody>
          <a:bodyPr wrap="square" lIns="0" tIns="0" rIns="0" bIns="0" rtlCol="0" anchor="ctr"/>
          <a:lstStyle/>
          <a:p>
            <a:pPr>
              <a:lnSpc>
                <a:spcPct val="140000"/>
              </a:lnSpc>
            </a:pPr>
            <a:r>
              <a:rPr lang="en-US" sz="1125" dirty="0">
                <a:solidFill>
                  <a:srgbClr val="FFFFFF"/>
                </a:solidFill>
                <a:latin typeface="Quattrocento Sans" pitchFamily="34" charset="0"/>
                <a:ea typeface="Quattrocento Sans" pitchFamily="34" charset="-122"/>
                <a:cs typeface="Quattrocento Sans" pitchFamily="34" charset="-120"/>
              </a:rPr>
              <a:t>The banking industry faces multiple challenges from technology, regulation, competition, and evolving customer expectations.</a:t>
            </a:r>
            <a:endParaRPr lang="en-US" sz="1600" dirty="0"/>
          </a:p>
        </p:txBody>
      </p:sp>
      <p:sp>
        <p:nvSpPr>
          <p:cNvPr id="9" name="Shape 7"/>
          <p:cNvSpPr/>
          <p:nvPr/>
        </p:nvSpPr>
        <p:spPr>
          <a:xfrm>
            <a:off x="317500" y="2655094"/>
            <a:ext cx="5683250" cy="1889125"/>
          </a:xfrm>
          <a:custGeom>
            <a:avLst/>
            <a:gdLst/>
            <a:ahLst/>
            <a:cxnLst/>
            <a:rect l="l" t="t" r="r" b="b"/>
            <a:pathLst>
              <a:path w="5683250" h="1889125">
                <a:moveTo>
                  <a:pt x="31750" y="0"/>
                </a:moveTo>
                <a:lnTo>
                  <a:pt x="5651500" y="0"/>
                </a:lnTo>
                <a:cubicBezTo>
                  <a:pt x="5669023" y="0"/>
                  <a:pt x="5683250" y="14227"/>
                  <a:pt x="5683250" y="31750"/>
                </a:cubicBezTo>
                <a:lnTo>
                  <a:pt x="5683250" y="1793875"/>
                </a:lnTo>
                <a:cubicBezTo>
                  <a:pt x="5683250" y="1846480"/>
                  <a:pt x="5640605" y="1889125"/>
                  <a:pt x="5588000" y="1889125"/>
                </a:cubicBezTo>
                <a:lnTo>
                  <a:pt x="95250" y="1889125"/>
                </a:lnTo>
                <a:cubicBezTo>
                  <a:pt x="42645" y="1889125"/>
                  <a:pt x="0" y="1846480"/>
                  <a:pt x="0" y="1793875"/>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10" name="Shape 8"/>
          <p:cNvSpPr/>
          <p:nvPr/>
        </p:nvSpPr>
        <p:spPr>
          <a:xfrm>
            <a:off x="317500" y="2655094"/>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1A3A5C"/>
          </a:solidFill>
          <a:ln/>
        </p:spPr>
      </p:sp>
      <p:sp>
        <p:nvSpPr>
          <p:cNvPr id="11" name="Shape 9"/>
          <p:cNvSpPr/>
          <p:nvPr/>
        </p:nvSpPr>
        <p:spPr>
          <a:xfrm>
            <a:off x="476250" y="2829719"/>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1A3A5C"/>
          </a:solidFill>
          <a:ln/>
        </p:spPr>
      </p:sp>
      <p:sp>
        <p:nvSpPr>
          <p:cNvPr id="12" name="Shape 10"/>
          <p:cNvSpPr/>
          <p:nvPr/>
        </p:nvSpPr>
        <p:spPr>
          <a:xfrm>
            <a:off x="598289" y="2964656"/>
            <a:ext cx="267891" cy="238125"/>
          </a:xfrm>
          <a:custGeom>
            <a:avLst/>
            <a:gdLst/>
            <a:ahLst/>
            <a:cxnLst/>
            <a:rect l="l" t="t" r="r" b="b"/>
            <a:pathLst>
              <a:path w="267891" h="238125">
                <a:moveTo>
                  <a:pt x="104180" y="115342"/>
                </a:moveTo>
                <a:cubicBezTo>
                  <a:pt x="134982" y="115342"/>
                  <a:pt x="159990" y="90334"/>
                  <a:pt x="159990" y="59531"/>
                </a:cubicBezTo>
                <a:cubicBezTo>
                  <a:pt x="159990" y="28729"/>
                  <a:pt x="134982" y="3721"/>
                  <a:pt x="104180" y="3721"/>
                </a:cubicBezTo>
                <a:cubicBezTo>
                  <a:pt x="73377" y="3721"/>
                  <a:pt x="48369" y="28729"/>
                  <a:pt x="48369" y="59531"/>
                </a:cubicBezTo>
                <a:cubicBezTo>
                  <a:pt x="48369" y="90334"/>
                  <a:pt x="73377" y="115342"/>
                  <a:pt x="104180" y="115342"/>
                </a:cubicBezTo>
                <a:close/>
                <a:moveTo>
                  <a:pt x="90367" y="141387"/>
                </a:moveTo>
                <a:cubicBezTo>
                  <a:pt x="44555" y="141387"/>
                  <a:pt x="7441" y="178501"/>
                  <a:pt x="7441" y="224312"/>
                </a:cubicBezTo>
                <a:cubicBezTo>
                  <a:pt x="7441" y="231939"/>
                  <a:pt x="13627" y="238125"/>
                  <a:pt x="21255" y="238125"/>
                </a:cubicBezTo>
                <a:lnTo>
                  <a:pt x="138224" y="238125"/>
                </a:lnTo>
                <a:cubicBezTo>
                  <a:pt x="121388" y="218312"/>
                  <a:pt x="111621" y="192779"/>
                  <a:pt x="111621" y="165757"/>
                </a:cubicBezTo>
                <a:lnTo>
                  <a:pt x="111621" y="151293"/>
                </a:lnTo>
                <a:cubicBezTo>
                  <a:pt x="111621" y="147898"/>
                  <a:pt x="112086" y="144549"/>
                  <a:pt x="112970" y="141387"/>
                </a:cubicBezTo>
                <a:lnTo>
                  <a:pt x="90367" y="141387"/>
                </a:lnTo>
                <a:close/>
                <a:moveTo>
                  <a:pt x="207104" y="227195"/>
                </a:moveTo>
                <a:lnTo>
                  <a:pt x="200918" y="230125"/>
                </a:lnTo>
                <a:lnTo>
                  <a:pt x="200918" y="142642"/>
                </a:lnTo>
                <a:lnTo>
                  <a:pt x="245566" y="157525"/>
                </a:lnTo>
                <a:lnTo>
                  <a:pt x="245566" y="166641"/>
                </a:lnTo>
                <a:cubicBezTo>
                  <a:pt x="245566" y="192593"/>
                  <a:pt x="230591" y="216173"/>
                  <a:pt x="207104" y="227242"/>
                </a:cubicBezTo>
                <a:close/>
                <a:moveTo>
                  <a:pt x="196221" y="120690"/>
                </a:moveTo>
                <a:lnTo>
                  <a:pt x="144131" y="138038"/>
                </a:lnTo>
                <a:cubicBezTo>
                  <a:pt x="138038" y="140084"/>
                  <a:pt x="133945" y="145759"/>
                  <a:pt x="133945" y="152177"/>
                </a:cubicBezTo>
                <a:lnTo>
                  <a:pt x="133945" y="166641"/>
                </a:lnTo>
                <a:cubicBezTo>
                  <a:pt x="133945" y="201244"/>
                  <a:pt x="153944" y="232730"/>
                  <a:pt x="185198" y="247427"/>
                </a:cubicBezTo>
                <a:lnTo>
                  <a:pt x="193802" y="251473"/>
                </a:lnTo>
                <a:cubicBezTo>
                  <a:pt x="196035" y="252496"/>
                  <a:pt x="198453" y="253054"/>
                  <a:pt x="200871" y="253054"/>
                </a:cubicBezTo>
                <a:cubicBezTo>
                  <a:pt x="203290" y="253054"/>
                  <a:pt x="205755" y="252496"/>
                  <a:pt x="207941" y="251473"/>
                </a:cubicBezTo>
                <a:lnTo>
                  <a:pt x="216545" y="247427"/>
                </a:lnTo>
                <a:cubicBezTo>
                  <a:pt x="247892" y="232683"/>
                  <a:pt x="267891" y="201197"/>
                  <a:pt x="267891" y="166594"/>
                </a:cubicBezTo>
                <a:lnTo>
                  <a:pt x="267891" y="152130"/>
                </a:lnTo>
                <a:cubicBezTo>
                  <a:pt x="267891" y="145712"/>
                  <a:pt x="263798" y="140038"/>
                  <a:pt x="257705" y="137992"/>
                </a:cubicBezTo>
                <a:lnTo>
                  <a:pt x="205615" y="120644"/>
                </a:lnTo>
                <a:cubicBezTo>
                  <a:pt x="202546" y="119621"/>
                  <a:pt x="199244" y="119621"/>
                  <a:pt x="196221" y="120644"/>
                </a:cubicBezTo>
                <a:close/>
              </a:path>
            </a:pathLst>
          </a:custGeom>
          <a:solidFill>
            <a:srgbClr val="FFFFFF"/>
          </a:solidFill>
          <a:ln/>
        </p:spPr>
      </p:sp>
      <p:sp>
        <p:nvSpPr>
          <p:cNvPr id="13" name="Text 11"/>
          <p:cNvSpPr/>
          <p:nvPr/>
        </p:nvSpPr>
        <p:spPr>
          <a:xfrm>
            <a:off x="1111250" y="2829719"/>
            <a:ext cx="482600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Cybersecurity Threats</a:t>
            </a:r>
            <a:endParaRPr lang="en-US" sz="1600" dirty="0"/>
          </a:p>
        </p:txBody>
      </p:sp>
      <p:sp>
        <p:nvSpPr>
          <p:cNvPr id="14" name="Text 12"/>
          <p:cNvSpPr/>
          <p:nvPr/>
        </p:nvSpPr>
        <p:spPr>
          <a:xfrm>
            <a:off x="1111250" y="3147219"/>
            <a:ext cx="4794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Banks face constant attacks from hackers, ransomware, and phishing schemes targeting customer data and funds.</a:t>
            </a:r>
            <a:endParaRPr lang="en-US" sz="1600" dirty="0"/>
          </a:p>
        </p:txBody>
      </p:sp>
      <p:sp>
        <p:nvSpPr>
          <p:cNvPr id="15" name="Shape 13"/>
          <p:cNvSpPr/>
          <p:nvPr/>
        </p:nvSpPr>
        <p:spPr>
          <a:xfrm>
            <a:off x="476250" y="3655219"/>
            <a:ext cx="5365750" cy="730250"/>
          </a:xfrm>
          <a:custGeom>
            <a:avLst/>
            <a:gdLst/>
            <a:ahLst/>
            <a:cxnLst/>
            <a:rect l="l" t="t" r="r" b="b"/>
            <a:pathLst>
              <a:path w="5365750" h="730250">
                <a:moveTo>
                  <a:pt x="63503" y="0"/>
                </a:moveTo>
                <a:lnTo>
                  <a:pt x="5302247" y="0"/>
                </a:lnTo>
                <a:cubicBezTo>
                  <a:pt x="5337319" y="0"/>
                  <a:pt x="5365750" y="28431"/>
                  <a:pt x="5365750" y="63503"/>
                </a:cubicBezTo>
                <a:lnTo>
                  <a:pt x="5365750" y="666747"/>
                </a:lnTo>
                <a:cubicBezTo>
                  <a:pt x="5365750" y="701819"/>
                  <a:pt x="5337319" y="730250"/>
                  <a:pt x="5302247" y="730250"/>
                </a:cubicBezTo>
                <a:lnTo>
                  <a:pt x="63503" y="730250"/>
                </a:lnTo>
                <a:cubicBezTo>
                  <a:pt x="28431" y="730250"/>
                  <a:pt x="0" y="701819"/>
                  <a:pt x="0" y="666747"/>
                </a:cubicBezTo>
                <a:lnTo>
                  <a:pt x="0" y="63503"/>
                </a:lnTo>
                <a:cubicBezTo>
                  <a:pt x="0" y="28455"/>
                  <a:pt x="28455" y="0"/>
                  <a:pt x="63503" y="0"/>
                </a:cubicBezTo>
                <a:close/>
              </a:path>
            </a:pathLst>
          </a:custGeom>
          <a:solidFill>
            <a:srgbClr val="F8F9FA"/>
          </a:solidFill>
          <a:ln/>
        </p:spPr>
      </p:sp>
      <p:sp>
        <p:nvSpPr>
          <p:cNvPr id="16" name="Text 14"/>
          <p:cNvSpPr/>
          <p:nvPr/>
        </p:nvSpPr>
        <p:spPr>
          <a:xfrm>
            <a:off x="603250" y="3813969"/>
            <a:ext cx="1285875" cy="190500"/>
          </a:xfrm>
          <a:prstGeom prst="rect">
            <a:avLst/>
          </a:prstGeom>
          <a:noFill/>
          <a:ln/>
        </p:spPr>
        <p:txBody>
          <a:bodyPr wrap="square" lIns="0" tIns="0" rIns="0" bIns="0" rtlCol="0" anchor="ctr"/>
          <a:lstStyle/>
          <a:p>
            <a:pPr>
              <a:lnSpc>
                <a:spcPct val="130000"/>
              </a:lnSpc>
            </a:pPr>
            <a:r>
              <a:rPr lang="en-US" sz="1000" b="1" dirty="0">
                <a:solidFill>
                  <a:srgbClr val="2B2D42"/>
                </a:solidFill>
                <a:latin typeface="Quattrocento Sans" pitchFamily="34" charset="0"/>
                <a:ea typeface="Quattrocento Sans" pitchFamily="34" charset="-122"/>
                <a:cs typeface="Quattrocento Sans" pitchFamily="34" charset="-120"/>
              </a:rPr>
              <a:t>Global cyber incidents</a:t>
            </a:r>
            <a:endParaRPr lang="en-US" sz="1600" dirty="0"/>
          </a:p>
        </p:txBody>
      </p:sp>
      <p:sp>
        <p:nvSpPr>
          <p:cNvPr id="17" name="Text 15"/>
          <p:cNvSpPr/>
          <p:nvPr/>
        </p:nvSpPr>
        <p:spPr>
          <a:xfrm>
            <a:off x="5375486" y="3782219"/>
            <a:ext cx="436563" cy="254000"/>
          </a:xfrm>
          <a:prstGeom prst="rect">
            <a:avLst/>
          </a:prstGeom>
          <a:noFill/>
          <a:ln/>
        </p:spPr>
        <p:txBody>
          <a:bodyPr wrap="square" lIns="0" tIns="0" rIns="0" bIns="0" rtlCol="0" anchor="ctr"/>
          <a:lstStyle/>
          <a:p>
            <a:pPr>
              <a:lnSpc>
                <a:spcPct val="110000"/>
              </a:lnSpc>
            </a:pPr>
            <a:r>
              <a:rPr lang="en-US" sz="1500" b="1" dirty="0">
                <a:solidFill>
                  <a:srgbClr val="2A9D8F"/>
                </a:solidFill>
                <a:latin typeface="Liter" pitchFamily="34" charset="0"/>
                <a:ea typeface="Liter" pitchFamily="34" charset="-122"/>
                <a:cs typeface="Liter" pitchFamily="34" charset="-120"/>
              </a:rPr>
              <a:t>14%</a:t>
            </a:r>
            <a:endParaRPr lang="en-US" sz="1600" dirty="0"/>
          </a:p>
        </p:txBody>
      </p:sp>
      <p:sp>
        <p:nvSpPr>
          <p:cNvPr id="18" name="Text 16"/>
          <p:cNvSpPr/>
          <p:nvPr/>
        </p:nvSpPr>
        <p:spPr>
          <a:xfrm>
            <a:off x="603250" y="4099719"/>
            <a:ext cx="5167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of users affected globally in 2024</a:t>
            </a:r>
            <a:endParaRPr lang="en-US" sz="1600" dirty="0"/>
          </a:p>
        </p:txBody>
      </p:sp>
      <p:sp>
        <p:nvSpPr>
          <p:cNvPr id="19" name="Shape 17"/>
          <p:cNvSpPr/>
          <p:nvPr/>
        </p:nvSpPr>
        <p:spPr>
          <a:xfrm>
            <a:off x="317500" y="4687094"/>
            <a:ext cx="5683250" cy="1444625"/>
          </a:xfrm>
          <a:custGeom>
            <a:avLst/>
            <a:gdLst/>
            <a:ahLst/>
            <a:cxnLst/>
            <a:rect l="l" t="t" r="r" b="b"/>
            <a:pathLst>
              <a:path w="5683250" h="1444625">
                <a:moveTo>
                  <a:pt x="31750" y="0"/>
                </a:moveTo>
                <a:lnTo>
                  <a:pt x="5651500" y="0"/>
                </a:lnTo>
                <a:cubicBezTo>
                  <a:pt x="5669035" y="0"/>
                  <a:pt x="5683250" y="14215"/>
                  <a:pt x="5683250" y="31750"/>
                </a:cubicBezTo>
                <a:lnTo>
                  <a:pt x="5683250" y="1349381"/>
                </a:lnTo>
                <a:cubicBezTo>
                  <a:pt x="5683250" y="1401983"/>
                  <a:pt x="5640608" y="1444625"/>
                  <a:pt x="5588006" y="1444625"/>
                </a:cubicBezTo>
                <a:lnTo>
                  <a:pt x="95244" y="1444625"/>
                </a:lnTo>
                <a:cubicBezTo>
                  <a:pt x="42642" y="1444625"/>
                  <a:pt x="0" y="1401983"/>
                  <a:pt x="0" y="1349381"/>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20" name="Shape 18"/>
          <p:cNvSpPr/>
          <p:nvPr/>
        </p:nvSpPr>
        <p:spPr>
          <a:xfrm>
            <a:off x="317500" y="4687094"/>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2A9D8F"/>
          </a:solidFill>
          <a:ln/>
        </p:spPr>
      </p:sp>
      <p:sp>
        <p:nvSpPr>
          <p:cNvPr id="21" name="Shape 19"/>
          <p:cNvSpPr/>
          <p:nvPr/>
        </p:nvSpPr>
        <p:spPr>
          <a:xfrm>
            <a:off x="476250" y="4861719"/>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2A9D8F"/>
          </a:solidFill>
          <a:ln/>
        </p:spPr>
      </p:sp>
      <p:sp>
        <p:nvSpPr>
          <p:cNvPr id="22" name="Shape 20"/>
          <p:cNvSpPr/>
          <p:nvPr/>
        </p:nvSpPr>
        <p:spPr>
          <a:xfrm>
            <a:off x="598289" y="4996656"/>
            <a:ext cx="267891" cy="238125"/>
          </a:xfrm>
          <a:custGeom>
            <a:avLst/>
            <a:gdLst/>
            <a:ahLst/>
            <a:cxnLst/>
            <a:rect l="l" t="t" r="r" b="b"/>
            <a:pathLst>
              <a:path w="267891" h="238125">
                <a:moveTo>
                  <a:pt x="78879" y="71344"/>
                </a:moveTo>
                <a:lnTo>
                  <a:pt x="70182" y="62647"/>
                </a:lnTo>
                <a:cubicBezTo>
                  <a:pt x="64368" y="56834"/>
                  <a:pt x="64368" y="47392"/>
                  <a:pt x="70182" y="41579"/>
                </a:cubicBezTo>
                <a:lnTo>
                  <a:pt x="123527" y="-11813"/>
                </a:lnTo>
                <a:cubicBezTo>
                  <a:pt x="129341" y="-17627"/>
                  <a:pt x="138782" y="-17627"/>
                  <a:pt x="144596" y="-11813"/>
                </a:cubicBezTo>
                <a:lnTo>
                  <a:pt x="153293" y="-3070"/>
                </a:lnTo>
                <a:cubicBezTo>
                  <a:pt x="159107" y="2744"/>
                  <a:pt x="159107" y="12185"/>
                  <a:pt x="153293" y="17999"/>
                </a:cubicBezTo>
                <a:lnTo>
                  <a:pt x="99947" y="71344"/>
                </a:lnTo>
                <a:cubicBezTo>
                  <a:pt x="94134" y="77158"/>
                  <a:pt x="84693" y="77158"/>
                  <a:pt x="78879" y="71344"/>
                </a:cubicBezTo>
                <a:close/>
                <a:moveTo>
                  <a:pt x="128364" y="98459"/>
                </a:moveTo>
                <a:lnTo>
                  <a:pt x="113760" y="83855"/>
                </a:lnTo>
                <a:lnTo>
                  <a:pt x="165850" y="31766"/>
                </a:lnTo>
                <a:lnTo>
                  <a:pt x="221382" y="87297"/>
                </a:lnTo>
                <a:lnTo>
                  <a:pt x="169292" y="139387"/>
                </a:lnTo>
                <a:lnTo>
                  <a:pt x="154688" y="124783"/>
                </a:lnTo>
                <a:lnTo>
                  <a:pt x="46788" y="232683"/>
                </a:lnTo>
                <a:cubicBezTo>
                  <a:pt x="39532" y="239939"/>
                  <a:pt x="27766" y="239939"/>
                  <a:pt x="20464" y="232683"/>
                </a:cubicBezTo>
                <a:cubicBezTo>
                  <a:pt x="13162" y="225428"/>
                  <a:pt x="13208" y="213661"/>
                  <a:pt x="20464" y="206359"/>
                </a:cubicBezTo>
                <a:lnTo>
                  <a:pt x="128364" y="98459"/>
                </a:lnTo>
                <a:close/>
                <a:moveTo>
                  <a:pt x="181803" y="174222"/>
                </a:moveTo>
                <a:cubicBezTo>
                  <a:pt x="175989" y="168408"/>
                  <a:pt x="175989" y="158967"/>
                  <a:pt x="181803" y="153153"/>
                </a:cubicBezTo>
                <a:lnTo>
                  <a:pt x="235148" y="99808"/>
                </a:lnTo>
                <a:cubicBezTo>
                  <a:pt x="240962" y="93994"/>
                  <a:pt x="250403" y="93994"/>
                  <a:pt x="256217" y="99808"/>
                </a:cubicBezTo>
                <a:lnTo>
                  <a:pt x="264914" y="108505"/>
                </a:lnTo>
                <a:cubicBezTo>
                  <a:pt x="270728" y="114319"/>
                  <a:pt x="270728" y="123760"/>
                  <a:pt x="264914" y="129573"/>
                </a:cubicBezTo>
                <a:lnTo>
                  <a:pt x="211568" y="182966"/>
                </a:lnTo>
                <a:cubicBezTo>
                  <a:pt x="205755" y="188779"/>
                  <a:pt x="196314" y="188779"/>
                  <a:pt x="190500" y="182966"/>
                </a:cubicBezTo>
                <a:lnTo>
                  <a:pt x="181803" y="174268"/>
                </a:lnTo>
                <a:close/>
              </a:path>
            </a:pathLst>
          </a:custGeom>
          <a:solidFill>
            <a:srgbClr val="FFFFFF"/>
          </a:solidFill>
          <a:ln/>
        </p:spPr>
      </p:sp>
      <p:sp>
        <p:nvSpPr>
          <p:cNvPr id="23" name="Text 21"/>
          <p:cNvSpPr/>
          <p:nvPr/>
        </p:nvSpPr>
        <p:spPr>
          <a:xfrm>
            <a:off x="1111250" y="4861719"/>
            <a:ext cx="482600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Regulatory Compliance</a:t>
            </a:r>
            <a:endParaRPr lang="en-US" sz="1600" dirty="0"/>
          </a:p>
        </p:txBody>
      </p:sp>
      <p:sp>
        <p:nvSpPr>
          <p:cNvPr id="24" name="Text 22"/>
          <p:cNvSpPr/>
          <p:nvPr/>
        </p:nvSpPr>
        <p:spPr>
          <a:xfrm>
            <a:off x="1111250" y="5179219"/>
            <a:ext cx="4794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Increasing regulations around data privacy, anti-money laundering (AML), and ESG reporting create compliance burdens.</a:t>
            </a:r>
            <a:endParaRPr lang="en-US" sz="1600" dirty="0"/>
          </a:p>
        </p:txBody>
      </p:sp>
      <p:sp>
        <p:nvSpPr>
          <p:cNvPr id="25" name="Shape 23"/>
          <p:cNvSpPr/>
          <p:nvPr/>
        </p:nvSpPr>
        <p:spPr>
          <a:xfrm>
            <a:off x="476250" y="5687219"/>
            <a:ext cx="1746250" cy="285750"/>
          </a:xfrm>
          <a:custGeom>
            <a:avLst/>
            <a:gdLst/>
            <a:ahLst/>
            <a:cxnLst/>
            <a:rect l="l" t="t" r="r" b="b"/>
            <a:pathLst>
              <a:path w="1746250" h="285750">
                <a:moveTo>
                  <a:pt x="31750" y="0"/>
                </a:moveTo>
                <a:lnTo>
                  <a:pt x="1714500" y="0"/>
                </a:lnTo>
                <a:cubicBezTo>
                  <a:pt x="1732035" y="0"/>
                  <a:pt x="1746250" y="14215"/>
                  <a:pt x="1746250" y="31750"/>
                </a:cubicBezTo>
                <a:lnTo>
                  <a:pt x="1746250" y="254000"/>
                </a:lnTo>
                <a:cubicBezTo>
                  <a:pt x="1746250" y="271535"/>
                  <a:pt x="1732035" y="285750"/>
                  <a:pt x="1714500" y="285750"/>
                </a:cubicBezTo>
                <a:lnTo>
                  <a:pt x="31750" y="285750"/>
                </a:lnTo>
                <a:cubicBezTo>
                  <a:pt x="14215" y="285750"/>
                  <a:pt x="0" y="271535"/>
                  <a:pt x="0" y="254000"/>
                </a:cubicBezTo>
                <a:lnTo>
                  <a:pt x="0" y="31750"/>
                </a:lnTo>
                <a:cubicBezTo>
                  <a:pt x="0" y="14227"/>
                  <a:pt x="14227" y="0"/>
                  <a:pt x="31750" y="0"/>
                </a:cubicBezTo>
                <a:close/>
              </a:path>
            </a:pathLst>
          </a:custGeom>
          <a:solidFill>
            <a:srgbClr val="F8F9FA"/>
          </a:solidFill>
          <a:ln/>
        </p:spPr>
      </p:sp>
      <p:sp>
        <p:nvSpPr>
          <p:cNvPr id="26" name="Text 24"/>
          <p:cNvSpPr/>
          <p:nvPr/>
        </p:nvSpPr>
        <p:spPr>
          <a:xfrm>
            <a:off x="448469" y="5687219"/>
            <a:ext cx="1801813" cy="285750"/>
          </a:xfrm>
          <a:prstGeom prst="rect">
            <a:avLst/>
          </a:prstGeom>
          <a:noFill/>
          <a:ln/>
        </p:spPr>
        <p:txBody>
          <a:bodyPr wrap="square" lIns="63500" tIns="63500" rIns="63500" bIns="63500" rtlCol="0" anchor="ctr"/>
          <a:lstStyle/>
          <a:p>
            <a:pPr algn="ctr">
              <a:lnSpc>
                <a:spcPct val="120000"/>
              </a:lnSpc>
            </a:pPr>
            <a:r>
              <a:rPr lang="en-US" sz="875" dirty="0">
                <a:solidFill>
                  <a:srgbClr val="2B2D42"/>
                </a:solidFill>
                <a:latin typeface="Quattrocento Sans" pitchFamily="34" charset="0"/>
                <a:ea typeface="Quattrocento Sans" pitchFamily="34" charset="-122"/>
                <a:cs typeface="Quattrocento Sans" pitchFamily="34" charset="-120"/>
              </a:rPr>
              <a:t>GDPR</a:t>
            </a:r>
            <a:endParaRPr lang="en-US" sz="1600" dirty="0"/>
          </a:p>
        </p:txBody>
      </p:sp>
      <p:sp>
        <p:nvSpPr>
          <p:cNvPr id="27" name="Shape 25"/>
          <p:cNvSpPr/>
          <p:nvPr/>
        </p:nvSpPr>
        <p:spPr>
          <a:xfrm>
            <a:off x="2286000" y="5687219"/>
            <a:ext cx="1746250" cy="285750"/>
          </a:xfrm>
          <a:custGeom>
            <a:avLst/>
            <a:gdLst/>
            <a:ahLst/>
            <a:cxnLst/>
            <a:rect l="l" t="t" r="r" b="b"/>
            <a:pathLst>
              <a:path w="1746250" h="285750">
                <a:moveTo>
                  <a:pt x="31750" y="0"/>
                </a:moveTo>
                <a:lnTo>
                  <a:pt x="1714500" y="0"/>
                </a:lnTo>
                <a:cubicBezTo>
                  <a:pt x="1732035" y="0"/>
                  <a:pt x="1746250" y="14215"/>
                  <a:pt x="1746250" y="31750"/>
                </a:cubicBezTo>
                <a:lnTo>
                  <a:pt x="1746250" y="254000"/>
                </a:lnTo>
                <a:cubicBezTo>
                  <a:pt x="1746250" y="271535"/>
                  <a:pt x="1732035" y="285750"/>
                  <a:pt x="1714500" y="285750"/>
                </a:cubicBezTo>
                <a:lnTo>
                  <a:pt x="31750" y="285750"/>
                </a:lnTo>
                <a:cubicBezTo>
                  <a:pt x="14215" y="285750"/>
                  <a:pt x="0" y="271535"/>
                  <a:pt x="0" y="254000"/>
                </a:cubicBezTo>
                <a:lnTo>
                  <a:pt x="0" y="31750"/>
                </a:lnTo>
                <a:cubicBezTo>
                  <a:pt x="0" y="14227"/>
                  <a:pt x="14227" y="0"/>
                  <a:pt x="31750" y="0"/>
                </a:cubicBezTo>
                <a:close/>
              </a:path>
            </a:pathLst>
          </a:custGeom>
          <a:solidFill>
            <a:srgbClr val="F8F9FA"/>
          </a:solidFill>
          <a:ln/>
        </p:spPr>
      </p:sp>
      <p:sp>
        <p:nvSpPr>
          <p:cNvPr id="28" name="Text 26"/>
          <p:cNvSpPr/>
          <p:nvPr/>
        </p:nvSpPr>
        <p:spPr>
          <a:xfrm>
            <a:off x="2258219" y="5687219"/>
            <a:ext cx="1801813" cy="285750"/>
          </a:xfrm>
          <a:prstGeom prst="rect">
            <a:avLst/>
          </a:prstGeom>
          <a:noFill/>
          <a:ln/>
        </p:spPr>
        <p:txBody>
          <a:bodyPr wrap="square" lIns="63500" tIns="63500" rIns="63500" bIns="63500" rtlCol="0" anchor="ctr"/>
          <a:lstStyle/>
          <a:p>
            <a:pPr algn="ctr">
              <a:lnSpc>
                <a:spcPct val="120000"/>
              </a:lnSpc>
            </a:pPr>
            <a:r>
              <a:rPr lang="en-US" sz="875" dirty="0">
                <a:solidFill>
                  <a:srgbClr val="2B2D42"/>
                </a:solidFill>
                <a:latin typeface="Quattrocento Sans" pitchFamily="34" charset="0"/>
                <a:ea typeface="Quattrocento Sans" pitchFamily="34" charset="-122"/>
                <a:cs typeface="Quattrocento Sans" pitchFamily="34" charset="-120"/>
              </a:rPr>
              <a:t>KYC</a:t>
            </a:r>
            <a:endParaRPr lang="en-US" sz="1600" dirty="0"/>
          </a:p>
        </p:txBody>
      </p:sp>
      <p:sp>
        <p:nvSpPr>
          <p:cNvPr id="29" name="Shape 27"/>
          <p:cNvSpPr/>
          <p:nvPr/>
        </p:nvSpPr>
        <p:spPr>
          <a:xfrm>
            <a:off x="4095750" y="5687219"/>
            <a:ext cx="1746250" cy="285750"/>
          </a:xfrm>
          <a:custGeom>
            <a:avLst/>
            <a:gdLst/>
            <a:ahLst/>
            <a:cxnLst/>
            <a:rect l="l" t="t" r="r" b="b"/>
            <a:pathLst>
              <a:path w="1746250" h="285750">
                <a:moveTo>
                  <a:pt x="31750" y="0"/>
                </a:moveTo>
                <a:lnTo>
                  <a:pt x="1714500" y="0"/>
                </a:lnTo>
                <a:cubicBezTo>
                  <a:pt x="1732035" y="0"/>
                  <a:pt x="1746250" y="14215"/>
                  <a:pt x="1746250" y="31750"/>
                </a:cubicBezTo>
                <a:lnTo>
                  <a:pt x="1746250" y="254000"/>
                </a:lnTo>
                <a:cubicBezTo>
                  <a:pt x="1746250" y="271535"/>
                  <a:pt x="1732035" y="285750"/>
                  <a:pt x="1714500" y="285750"/>
                </a:cubicBezTo>
                <a:lnTo>
                  <a:pt x="31750" y="285750"/>
                </a:lnTo>
                <a:cubicBezTo>
                  <a:pt x="14215" y="285750"/>
                  <a:pt x="0" y="271535"/>
                  <a:pt x="0" y="254000"/>
                </a:cubicBezTo>
                <a:lnTo>
                  <a:pt x="0" y="31750"/>
                </a:lnTo>
                <a:cubicBezTo>
                  <a:pt x="0" y="14227"/>
                  <a:pt x="14227" y="0"/>
                  <a:pt x="31750" y="0"/>
                </a:cubicBezTo>
                <a:close/>
              </a:path>
            </a:pathLst>
          </a:custGeom>
          <a:solidFill>
            <a:srgbClr val="F8F9FA"/>
          </a:solidFill>
          <a:ln/>
        </p:spPr>
      </p:sp>
      <p:sp>
        <p:nvSpPr>
          <p:cNvPr id="30" name="Text 28"/>
          <p:cNvSpPr/>
          <p:nvPr/>
        </p:nvSpPr>
        <p:spPr>
          <a:xfrm>
            <a:off x="4067969" y="5687219"/>
            <a:ext cx="1801813" cy="285750"/>
          </a:xfrm>
          <a:prstGeom prst="rect">
            <a:avLst/>
          </a:prstGeom>
          <a:noFill/>
          <a:ln/>
        </p:spPr>
        <p:txBody>
          <a:bodyPr wrap="square" lIns="63500" tIns="63500" rIns="63500" bIns="63500" rtlCol="0" anchor="ctr"/>
          <a:lstStyle/>
          <a:p>
            <a:pPr algn="ctr">
              <a:lnSpc>
                <a:spcPct val="120000"/>
              </a:lnSpc>
            </a:pPr>
            <a:r>
              <a:rPr lang="en-US" sz="875" dirty="0">
                <a:solidFill>
                  <a:srgbClr val="2B2D42"/>
                </a:solidFill>
                <a:latin typeface="Quattrocento Sans" pitchFamily="34" charset="0"/>
                <a:ea typeface="Quattrocento Sans" pitchFamily="34" charset="-122"/>
                <a:cs typeface="Quattrocento Sans" pitchFamily="34" charset="-120"/>
              </a:rPr>
              <a:t>Basel III</a:t>
            </a:r>
            <a:endParaRPr lang="en-US" sz="1600" dirty="0"/>
          </a:p>
        </p:txBody>
      </p:sp>
      <p:sp>
        <p:nvSpPr>
          <p:cNvPr id="31" name="Shape 29"/>
          <p:cNvSpPr/>
          <p:nvPr/>
        </p:nvSpPr>
        <p:spPr>
          <a:xfrm>
            <a:off x="6191250" y="1365250"/>
            <a:ext cx="5683250" cy="1619250"/>
          </a:xfrm>
          <a:custGeom>
            <a:avLst/>
            <a:gdLst/>
            <a:ahLst/>
            <a:cxnLst/>
            <a:rect l="l" t="t" r="r" b="b"/>
            <a:pathLst>
              <a:path w="5683250" h="1619250">
                <a:moveTo>
                  <a:pt x="31750" y="0"/>
                </a:moveTo>
                <a:lnTo>
                  <a:pt x="5651500" y="0"/>
                </a:lnTo>
                <a:cubicBezTo>
                  <a:pt x="5669023" y="0"/>
                  <a:pt x="5683250" y="14227"/>
                  <a:pt x="5683250" y="31750"/>
                </a:cubicBezTo>
                <a:lnTo>
                  <a:pt x="5683250" y="1524006"/>
                </a:lnTo>
                <a:cubicBezTo>
                  <a:pt x="5683250" y="1576608"/>
                  <a:pt x="5640608" y="1619250"/>
                  <a:pt x="5588006" y="1619250"/>
                </a:cubicBezTo>
                <a:lnTo>
                  <a:pt x="95244" y="1619250"/>
                </a:lnTo>
                <a:cubicBezTo>
                  <a:pt x="42678" y="1619250"/>
                  <a:pt x="0" y="1576572"/>
                  <a:pt x="0" y="1524006"/>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32" name="Shape 30"/>
          <p:cNvSpPr/>
          <p:nvPr/>
        </p:nvSpPr>
        <p:spPr>
          <a:xfrm>
            <a:off x="6191250" y="1365250"/>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1A3A5C"/>
          </a:solidFill>
          <a:ln/>
        </p:spPr>
      </p:sp>
      <p:sp>
        <p:nvSpPr>
          <p:cNvPr id="33" name="Shape 31"/>
          <p:cNvSpPr/>
          <p:nvPr/>
        </p:nvSpPr>
        <p:spPr>
          <a:xfrm>
            <a:off x="6350000" y="1539875"/>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1A3A5C"/>
          </a:solidFill>
          <a:ln/>
        </p:spPr>
      </p:sp>
      <p:sp>
        <p:nvSpPr>
          <p:cNvPr id="34" name="Shape 32"/>
          <p:cNvSpPr/>
          <p:nvPr/>
        </p:nvSpPr>
        <p:spPr>
          <a:xfrm>
            <a:off x="6472039" y="1674813"/>
            <a:ext cx="267891" cy="238125"/>
          </a:xfrm>
          <a:custGeom>
            <a:avLst/>
            <a:gdLst/>
            <a:ahLst/>
            <a:cxnLst/>
            <a:rect l="l" t="t" r="r" b="b"/>
            <a:pathLst>
              <a:path w="267891" h="238125">
                <a:moveTo>
                  <a:pt x="115342" y="40928"/>
                </a:moveTo>
                <a:lnTo>
                  <a:pt x="152549" y="40928"/>
                </a:lnTo>
                <a:lnTo>
                  <a:pt x="152549" y="63252"/>
                </a:lnTo>
                <a:lnTo>
                  <a:pt x="115342" y="63252"/>
                </a:lnTo>
                <a:lnTo>
                  <a:pt x="115342" y="40928"/>
                </a:lnTo>
                <a:close/>
                <a:moveTo>
                  <a:pt x="111621" y="14883"/>
                </a:moveTo>
                <a:cubicBezTo>
                  <a:pt x="99296" y="14883"/>
                  <a:pt x="89297" y="24882"/>
                  <a:pt x="89297" y="37207"/>
                </a:cubicBezTo>
                <a:lnTo>
                  <a:pt x="89297" y="66973"/>
                </a:lnTo>
                <a:cubicBezTo>
                  <a:pt x="89297" y="79297"/>
                  <a:pt x="99296" y="89297"/>
                  <a:pt x="111621" y="89297"/>
                </a:cubicBezTo>
                <a:lnTo>
                  <a:pt x="119062" y="89297"/>
                </a:lnTo>
                <a:lnTo>
                  <a:pt x="119062" y="104180"/>
                </a:lnTo>
                <a:lnTo>
                  <a:pt x="14883" y="104180"/>
                </a:lnTo>
                <a:cubicBezTo>
                  <a:pt x="6651" y="104180"/>
                  <a:pt x="0" y="110830"/>
                  <a:pt x="0" y="119062"/>
                </a:cubicBezTo>
                <a:cubicBezTo>
                  <a:pt x="0" y="127295"/>
                  <a:pt x="6651" y="133945"/>
                  <a:pt x="14883" y="133945"/>
                </a:cubicBezTo>
                <a:lnTo>
                  <a:pt x="59531" y="133945"/>
                </a:lnTo>
                <a:lnTo>
                  <a:pt x="59531" y="148828"/>
                </a:lnTo>
                <a:lnTo>
                  <a:pt x="52090" y="148828"/>
                </a:lnTo>
                <a:cubicBezTo>
                  <a:pt x="39765" y="148828"/>
                  <a:pt x="29766" y="158828"/>
                  <a:pt x="29766" y="171152"/>
                </a:cubicBezTo>
                <a:lnTo>
                  <a:pt x="29766" y="200918"/>
                </a:lnTo>
                <a:cubicBezTo>
                  <a:pt x="29766" y="213243"/>
                  <a:pt x="39765" y="223242"/>
                  <a:pt x="52090" y="223242"/>
                </a:cubicBezTo>
                <a:lnTo>
                  <a:pt x="96738" y="223242"/>
                </a:lnTo>
                <a:cubicBezTo>
                  <a:pt x="109063" y="223242"/>
                  <a:pt x="119062" y="213243"/>
                  <a:pt x="119062" y="200918"/>
                </a:cubicBezTo>
                <a:lnTo>
                  <a:pt x="119062" y="171152"/>
                </a:lnTo>
                <a:cubicBezTo>
                  <a:pt x="119062" y="158828"/>
                  <a:pt x="109063" y="148828"/>
                  <a:pt x="96738" y="148828"/>
                </a:cubicBezTo>
                <a:lnTo>
                  <a:pt x="89297" y="148828"/>
                </a:lnTo>
                <a:lnTo>
                  <a:pt x="89297" y="133945"/>
                </a:lnTo>
                <a:lnTo>
                  <a:pt x="178594" y="133945"/>
                </a:lnTo>
                <a:lnTo>
                  <a:pt x="178594" y="148828"/>
                </a:lnTo>
                <a:lnTo>
                  <a:pt x="171152" y="148828"/>
                </a:lnTo>
                <a:cubicBezTo>
                  <a:pt x="158828" y="148828"/>
                  <a:pt x="148828" y="158828"/>
                  <a:pt x="148828" y="171152"/>
                </a:cubicBezTo>
                <a:lnTo>
                  <a:pt x="148828" y="200918"/>
                </a:lnTo>
                <a:cubicBezTo>
                  <a:pt x="148828" y="213243"/>
                  <a:pt x="158828" y="223242"/>
                  <a:pt x="171152" y="223242"/>
                </a:cubicBezTo>
                <a:lnTo>
                  <a:pt x="215801" y="223242"/>
                </a:lnTo>
                <a:cubicBezTo>
                  <a:pt x="228126" y="223242"/>
                  <a:pt x="238125" y="213243"/>
                  <a:pt x="238125" y="200918"/>
                </a:cubicBezTo>
                <a:lnTo>
                  <a:pt x="238125" y="171152"/>
                </a:lnTo>
                <a:cubicBezTo>
                  <a:pt x="238125" y="158828"/>
                  <a:pt x="228126" y="148828"/>
                  <a:pt x="215801" y="148828"/>
                </a:cubicBezTo>
                <a:lnTo>
                  <a:pt x="208359" y="148828"/>
                </a:lnTo>
                <a:lnTo>
                  <a:pt x="208359" y="133945"/>
                </a:lnTo>
                <a:lnTo>
                  <a:pt x="253008" y="133945"/>
                </a:lnTo>
                <a:cubicBezTo>
                  <a:pt x="261240" y="133945"/>
                  <a:pt x="267891" y="127295"/>
                  <a:pt x="267891" y="119062"/>
                </a:cubicBezTo>
                <a:cubicBezTo>
                  <a:pt x="267891" y="110830"/>
                  <a:pt x="261240" y="104180"/>
                  <a:pt x="253008" y="104180"/>
                </a:cubicBezTo>
                <a:lnTo>
                  <a:pt x="148828" y="104180"/>
                </a:lnTo>
                <a:lnTo>
                  <a:pt x="148828" y="89297"/>
                </a:lnTo>
                <a:lnTo>
                  <a:pt x="156270" y="89297"/>
                </a:lnTo>
                <a:cubicBezTo>
                  <a:pt x="168594" y="89297"/>
                  <a:pt x="178594" y="79297"/>
                  <a:pt x="178594" y="66973"/>
                </a:cubicBezTo>
                <a:lnTo>
                  <a:pt x="178594" y="37207"/>
                </a:lnTo>
                <a:cubicBezTo>
                  <a:pt x="178594" y="24882"/>
                  <a:pt x="168594" y="14883"/>
                  <a:pt x="156270" y="14883"/>
                </a:cubicBezTo>
                <a:lnTo>
                  <a:pt x="111621" y="14883"/>
                </a:lnTo>
                <a:close/>
                <a:moveTo>
                  <a:pt x="208359" y="174873"/>
                </a:moveTo>
                <a:lnTo>
                  <a:pt x="212080" y="174873"/>
                </a:lnTo>
                <a:lnTo>
                  <a:pt x="212080" y="197197"/>
                </a:lnTo>
                <a:lnTo>
                  <a:pt x="174873" y="197197"/>
                </a:lnTo>
                <a:lnTo>
                  <a:pt x="174873" y="174873"/>
                </a:lnTo>
                <a:lnTo>
                  <a:pt x="208359" y="174873"/>
                </a:lnTo>
                <a:close/>
                <a:moveTo>
                  <a:pt x="89297" y="174873"/>
                </a:moveTo>
                <a:lnTo>
                  <a:pt x="93018" y="174873"/>
                </a:lnTo>
                <a:lnTo>
                  <a:pt x="93018" y="197197"/>
                </a:lnTo>
                <a:lnTo>
                  <a:pt x="55811" y="197197"/>
                </a:lnTo>
                <a:lnTo>
                  <a:pt x="55811" y="174873"/>
                </a:lnTo>
                <a:lnTo>
                  <a:pt x="89297" y="174873"/>
                </a:lnTo>
                <a:close/>
              </a:path>
            </a:pathLst>
          </a:custGeom>
          <a:solidFill>
            <a:srgbClr val="FFFFFF"/>
          </a:solidFill>
          <a:ln/>
        </p:spPr>
      </p:sp>
      <p:sp>
        <p:nvSpPr>
          <p:cNvPr id="35" name="Text 33"/>
          <p:cNvSpPr/>
          <p:nvPr/>
        </p:nvSpPr>
        <p:spPr>
          <a:xfrm>
            <a:off x="6985000" y="1539875"/>
            <a:ext cx="482600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Third-Party Risks</a:t>
            </a:r>
            <a:endParaRPr lang="en-US" sz="1600" dirty="0"/>
          </a:p>
        </p:txBody>
      </p:sp>
      <p:sp>
        <p:nvSpPr>
          <p:cNvPr id="36" name="Text 34"/>
          <p:cNvSpPr/>
          <p:nvPr/>
        </p:nvSpPr>
        <p:spPr>
          <a:xfrm>
            <a:off x="6985000" y="1857375"/>
            <a:ext cx="4794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Banks rely on hundreds of vendors for technology and services, creating vulnerabilities in the supply chain.</a:t>
            </a:r>
            <a:endParaRPr lang="en-US" sz="1600" dirty="0"/>
          </a:p>
        </p:txBody>
      </p:sp>
      <p:sp>
        <p:nvSpPr>
          <p:cNvPr id="37" name="Shape 35"/>
          <p:cNvSpPr/>
          <p:nvPr/>
        </p:nvSpPr>
        <p:spPr>
          <a:xfrm>
            <a:off x="6350000" y="2365375"/>
            <a:ext cx="5365750" cy="460375"/>
          </a:xfrm>
          <a:custGeom>
            <a:avLst/>
            <a:gdLst/>
            <a:ahLst/>
            <a:cxnLst/>
            <a:rect l="l" t="t" r="r" b="b"/>
            <a:pathLst>
              <a:path w="5365750" h="460375">
                <a:moveTo>
                  <a:pt x="63500" y="0"/>
                </a:moveTo>
                <a:lnTo>
                  <a:pt x="5302250" y="0"/>
                </a:lnTo>
                <a:cubicBezTo>
                  <a:pt x="5337320" y="0"/>
                  <a:pt x="5365750" y="28430"/>
                  <a:pt x="5365750" y="63500"/>
                </a:cubicBezTo>
                <a:lnTo>
                  <a:pt x="5365750" y="396875"/>
                </a:lnTo>
                <a:cubicBezTo>
                  <a:pt x="5365750" y="431945"/>
                  <a:pt x="5337320" y="460375"/>
                  <a:pt x="5302250" y="460375"/>
                </a:cubicBezTo>
                <a:lnTo>
                  <a:pt x="63500" y="460375"/>
                </a:lnTo>
                <a:cubicBezTo>
                  <a:pt x="28430" y="460375"/>
                  <a:pt x="0" y="431945"/>
                  <a:pt x="0" y="396875"/>
                </a:cubicBezTo>
                <a:lnTo>
                  <a:pt x="0" y="63500"/>
                </a:lnTo>
                <a:cubicBezTo>
                  <a:pt x="0" y="28453"/>
                  <a:pt x="28453" y="0"/>
                  <a:pt x="63500" y="0"/>
                </a:cubicBezTo>
                <a:close/>
              </a:path>
            </a:pathLst>
          </a:custGeom>
          <a:solidFill>
            <a:srgbClr val="F8F9FA"/>
          </a:solidFill>
          <a:ln/>
        </p:spPr>
      </p:sp>
      <p:sp>
        <p:nvSpPr>
          <p:cNvPr id="38" name="Shape 36"/>
          <p:cNvSpPr/>
          <p:nvPr/>
        </p:nvSpPr>
        <p:spPr>
          <a:xfrm>
            <a:off x="6492875" y="2528094"/>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63500" y="33734"/>
                </a:moveTo>
                <a:cubicBezTo>
                  <a:pt x="66799" y="33734"/>
                  <a:pt x="69453" y="36388"/>
                  <a:pt x="69453" y="39688"/>
                </a:cubicBezTo>
                <a:lnTo>
                  <a:pt x="69453" y="67469"/>
                </a:lnTo>
                <a:cubicBezTo>
                  <a:pt x="69453" y="70768"/>
                  <a:pt x="66799" y="73422"/>
                  <a:pt x="63500" y="73422"/>
                </a:cubicBezTo>
                <a:cubicBezTo>
                  <a:pt x="60201" y="73422"/>
                  <a:pt x="57547" y="70768"/>
                  <a:pt x="57547" y="67469"/>
                </a:cubicBezTo>
                <a:lnTo>
                  <a:pt x="57547" y="39688"/>
                </a:lnTo>
                <a:cubicBezTo>
                  <a:pt x="57547" y="36388"/>
                  <a:pt x="60201" y="33734"/>
                  <a:pt x="63500" y="33734"/>
                </a:cubicBezTo>
                <a:close/>
                <a:moveTo>
                  <a:pt x="56877" y="87313"/>
                </a:moveTo>
                <a:cubicBezTo>
                  <a:pt x="56726" y="84854"/>
                  <a:pt x="57952" y="82515"/>
                  <a:pt x="60060" y="81241"/>
                </a:cubicBezTo>
                <a:cubicBezTo>
                  <a:pt x="62167" y="79966"/>
                  <a:pt x="64808" y="79966"/>
                  <a:pt x="66915" y="81241"/>
                </a:cubicBezTo>
                <a:cubicBezTo>
                  <a:pt x="69023" y="82515"/>
                  <a:pt x="70249" y="84854"/>
                  <a:pt x="70098" y="87313"/>
                </a:cubicBezTo>
                <a:cubicBezTo>
                  <a:pt x="70249" y="89771"/>
                  <a:pt x="69023" y="92110"/>
                  <a:pt x="66915" y="93384"/>
                </a:cubicBezTo>
                <a:cubicBezTo>
                  <a:pt x="64808" y="94659"/>
                  <a:pt x="62167" y="94659"/>
                  <a:pt x="60060" y="93384"/>
                </a:cubicBezTo>
                <a:cubicBezTo>
                  <a:pt x="57952" y="92110"/>
                  <a:pt x="56726" y="89771"/>
                  <a:pt x="56877" y="87313"/>
                </a:cubicBezTo>
                <a:close/>
              </a:path>
            </a:pathLst>
          </a:custGeom>
          <a:solidFill>
            <a:srgbClr val="2A9D8F"/>
          </a:solidFill>
          <a:ln/>
        </p:spPr>
      </p:sp>
      <p:sp>
        <p:nvSpPr>
          <p:cNvPr id="39" name="Text 37"/>
          <p:cNvSpPr/>
          <p:nvPr/>
        </p:nvSpPr>
        <p:spPr>
          <a:xfrm>
            <a:off x="6675438" y="2492375"/>
            <a:ext cx="4976813" cy="206375"/>
          </a:xfrm>
          <a:prstGeom prst="rect">
            <a:avLst/>
          </a:prstGeom>
          <a:noFill/>
          <a:ln/>
        </p:spPr>
        <p:txBody>
          <a:bodyPr wrap="square" lIns="0" tIns="0" rIns="0" bIns="0" rtlCol="0" anchor="ctr"/>
          <a:lstStyle/>
          <a:p>
            <a:pPr>
              <a:lnSpc>
                <a:spcPct val="140000"/>
              </a:lnSpc>
            </a:pPr>
            <a:r>
              <a:rPr lang="en-US" sz="1000" b="1" dirty="0">
                <a:solidFill>
                  <a:srgbClr val="2B2D42"/>
                </a:solidFill>
                <a:latin typeface="Quattrocento Sans" pitchFamily="34" charset="0"/>
                <a:ea typeface="Quattrocento Sans" pitchFamily="34" charset="-122"/>
                <a:cs typeface="Quattrocento Sans" pitchFamily="34" charset="-120"/>
              </a:rPr>
              <a:t>Only 32%</a:t>
            </a:r>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 of vendors receive ongoing monitoring</a:t>
            </a:r>
            <a:endParaRPr lang="en-US" sz="1600" dirty="0"/>
          </a:p>
        </p:txBody>
      </p:sp>
      <p:sp>
        <p:nvSpPr>
          <p:cNvPr id="40" name="Shape 38"/>
          <p:cNvSpPr/>
          <p:nvPr/>
        </p:nvSpPr>
        <p:spPr>
          <a:xfrm>
            <a:off x="6191250" y="3127375"/>
            <a:ext cx="5683250" cy="1539875"/>
          </a:xfrm>
          <a:custGeom>
            <a:avLst/>
            <a:gdLst/>
            <a:ahLst/>
            <a:cxnLst/>
            <a:rect l="l" t="t" r="r" b="b"/>
            <a:pathLst>
              <a:path w="5683250" h="1539875">
                <a:moveTo>
                  <a:pt x="31750" y="0"/>
                </a:moveTo>
                <a:lnTo>
                  <a:pt x="5651500" y="0"/>
                </a:lnTo>
                <a:cubicBezTo>
                  <a:pt x="5669035" y="0"/>
                  <a:pt x="5683250" y="14215"/>
                  <a:pt x="5683250" y="31750"/>
                </a:cubicBezTo>
                <a:lnTo>
                  <a:pt x="5683250" y="1444618"/>
                </a:lnTo>
                <a:cubicBezTo>
                  <a:pt x="5683250" y="1497227"/>
                  <a:pt x="5640602" y="1539875"/>
                  <a:pt x="5587993" y="1539875"/>
                </a:cubicBezTo>
                <a:lnTo>
                  <a:pt x="95257" y="1539875"/>
                </a:lnTo>
                <a:cubicBezTo>
                  <a:pt x="42648" y="1539875"/>
                  <a:pt x="0" y="1497227"/>
                  <a:pt x="0" y="1444618"/>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41" name="Shape 39"/>
          <p:cNvSpPr/>
          <p:nvPr/>
        </p:nvSpPr>
        <p:spPr>
          <a:xfrm>
            <a:off x="6191250" y="3127375"/>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2A9D8F"/>
          </a:solidFill>
          <a:ln/>
        </p:spPr>
      </p:sp>
      <p:sp>
        <p:nvSpPr>
          <p:cNvPr id="42" name="Shape 40"/>
          <p:cNvSpPr/>
          <p:nvPr/>
        </p:nvSpPr>
        <p:spPr>
          <a:xfrm>
            <a:off x="6350000" y="330200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2A9D8F"/>
          </a:solidFill>
          <a:ln/>
        </p:spPr>
      </p:sp>
      <p:sp>
        <p:nvSpPr>
          <p:cNvPr id="43" name="Shape 41"/>
          <p:cNvSpPr/>
          <p:nvPr/>
        </p:nvSpPr>
        <p:spPr>
          <a:xfrm>
            <a:off x="6457156" y="3436938"/>
            <a:ext cx="297656" cy="238125"/>
          </a:xfrm>
          <a:custGeom>
            <a:avLst/>
            <a:gdLst/>
            <a:ahLst/>
            <a:cxnLst/>
            <a:rect l="l" t="t" r="r" b="b"/>
            <a:pathLst>
              <a:path w="297656" h="238125">
                <a:moveTo>
                  <a:pt x="29766" y="44648"/>
                </a:moveTo>
                <a:cubicBezTo>
                  <a:pt x="29766" y="28231"/>
                  <a:pt x="43114" y="14883"/>
                  <a:pt x="59531" y="14883"/>
                </a:cubicBezTo>
                <a:lnTo>
                  <a:pt x="238125" y="14883"/>
                </a:lnTo>
                <a:cubicBezTo>
                  <a:pt x="254543" y="14883"/>
                  <a:pt x="267891" y="28231"/>
                  <a:pt x="267891" y="44648"/>
                </a:cubicBezTo>
                <a:lnTo>
                  <a:pt x="267891" y="156270"/>
                </a:lnTo>
                <a:lnTo>
                  <a:pt x="238125" y="156270"/>
                </a:lnTo>
                <a:lnTo>
                  <a:pt x="238125" y="44648"/>
                </a:lnTo>
                <a:lnTo>
                  <a:pt x="59531" y="44648"/>
                </a:lnTo>
                <a:lnTo>
                  <a:pt x="59531" y="156270"/>
                </a:lnTo>
                <a:lnTo>
                  <a:pt x="29766" y="156270"/>
                </a:lnTo>
                <a:lnTo>
                  <a:pt x="29766" y="44648"/>
                </a:lnTo>
                <a:close/>
                <a:moveTo>
                  <a:pt x="0" y="187523"/>
                </a:moveTo>
                <a:cubicBezTo>
                  <a:pt x="0" y="182594"/>
                  <a:pt x="4000" y="178594"/>
                  <a:pt x="8930" y="178594"/>
                </a:cubicBezTo>
                <a:lnTo>
                  <a:pt x="288727" y="178594"/>
                </a:lnTo>
                <a:cubicBezTo>
                  <a:pt x="293656" y="178594"/>
                  <a:pt x="297656" y="182594"/>
                  <a:pt x="297656" y="187523"/>
                </a:cubicBezTo>
                <a:cubicBezTo>
                  <a:pt x="297656" y="207243"/>
                  <a:pt x="281657" y="223242"/>
                  <a:pt x="261938" y="223242"/>
                </a:cubicBezTo>
                <a:lnTo>
                  <a:pt x="35719" y="223242"/>
                </a:lnTo>
                <a:cubicBezTo>
                  <a:pt x="15999" y="223242"/>
                  <a:pt x="0" y="207243"/>
                  <a:pt x="0" y="187523"/>
                </a:cubicBezTo>
                <a:close/>
                <a:moveTo>
                  <a:pt x="130690" y="97203"/>
                </a:moveTo>
                <a:lnTo>
                  <a:pt x="116272" y="111621"/>
                </a:lnTo>
                <a:lnTo>
                  <a:pt x="130690" y="126039"/>
                </a:lnTo>
                <a:cubicBezTo>
                  <a:pt x="135062" y="130411"/>
                  <a:pt x="135062" y="137480"/>
                  <a:pt x="130690" y="141805"/>
                </a:cubicBezTo>
                <a:cubicBezTo>
                  <a:pt x="126318" y="146131"/>
                  <a:pt x="119249" y="146177"/>
                  <a:pt x="114923" y="141805"/>
                </a:cubicBezTo>
                <a:lnTo>
                  <a:pt x="92599" y="119481"/>
                </a:lnTo>
                <a:cubicBezTo>
                  <a:pt x="88227" y="115109"/>
                  <a:pt x="88227" y="108040"/>
                  <a:pt x="92599" y="103715"/>
                </a:cubicBezTo>
                <a:lnTo>
                  <a:pt x="114923" y="81390"/>
                </a:lnTo>
                <a:cubicBezTo>
                  <a:pt x="119295" y="77019"/>
                  <a:pt x="126364" y="77019"/>
                  <a:pt x="130690" y="81390"/>
                </a:cubicBezTo>
                <a:cubicBezTo>
                  <a:pt x="135015" y="85762"/>
                  <a:pt x="135062" y="92832"/>
                  <a:pt x="130690" y="97157"/>
                </a:cubicBezTo>
                <a:close/>
                <a:moveTo>
                  <a:pt x="182780" y="81390"/>
                </a:moveTo>
                <a:lnTo>
                  <a:pt x="205104" y="103715"/>
                </a:lnTo>
                <a:cubicBezTo>
                  <a:pt x="209476" y="108086"/>
                  <a:pt x="209476" y="115156"/>
                  <a:pt x="205104" y="119481"/>
                </a:cubicBezTo>
                <a:lnTo>
                  <a:pt x="182780" y="141805"/>
                </a:lnTo>
                <a:cubicBezTo>
                  <a:pt x="178408" y="146177"/>
                  <a:pt x="171338" y="146177"/>
                  <a:pt x="167013" y="141805"/>
                </a:cubicBezTo>
                <a:cubicBezTo>
                  <a:pt x="162688" y="137433"/>
                  <a:pt x="162641" y="130364"/>
                  <a:pt x="167013" y="126039"/>
                </a:cubicBezTo>
                <a:lnTo>
                  <a:pt x="181431" y="111621"/>
                </a:lnTo>
                <a:lnTo>
                  <a:pt x="167013" y="97203"/>
                </a:lnTo>
                <a:cubicBezTo>
                  <a:pt x="162641" y="92832"/>
                  <a:pt x="162641" y="85762"/>
                  <a:pt x="167013" y="81437"/>
                </a:cubicBezTo>
                <a:cubicBezTo>
                  <a:pt x="171385" y="77112"/>
                  <a:pt x="178454" y="77065"/>
                  <a:pt x="182780" y="81437"/>
                </a:cubicBezTo>
                <a:close/>
              </a:path>
            </a:pathLst>
          </a:custGeom>
          <a:solidFill>
            <a:srgbClr val="FFFFFF"/>
          </a:solidFill>
          <a:ln/>
        </p:spPr>
      </p:sp>
      <p:sp>
        <p:nvSpPr>
          <p:cNvPr id="44" name="Text 42"/>
          <p:cNvSpPr/>
          <p:nvPr/>
        </p:nvSpPr>
        <p:spPr>
          <a:xfrm>
            <a:off x="6985000" y="3302000"/>
            <a:ext cx="482600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Legacy Systems</a:t>
            </a:r>
            <a:endParaRPr lang="en-US" sz="1600" dirty="0"/>
          </a:p>
        </p:txBody>
      </p:sp>
      <p:sp>
        <p:nvSpPr>
          <p:cNvPr id="45" name="Text 43"/>
          <p:cNvSpPr/>
          <p:nvPr/>
        </p:nvSpPr>
        <p:spPr>
          <a:xfrm>
            <a:off x="6985000" y="3619500"/>
            <a:ext cx="4794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Many banks operate on outdated technology infrastructure that is costly to maintain and difficult to modernize.</a:t>
            </a:r>
            <a:endParaRPr lang="en-US" sz="1600" dirty="0"/>
          </a:p>
        </p:txBody>
      </p:sp>
      <p:sp>
        <p:nvSpPr>
          <p:cNvPr id="46" name="Shape 44"/>
          <p:cNvSpPr/>
          <p:nvPr/>
        </p:nvSpPr>
        <p:spPr>
          <a:xfrm>
            <a:off x="6350000" y="4127500"/>
            <a:ext cx="5365750" cy="381000"/>
          </a:xfrm>
          <a:custGeom>
            <a:avLst/>
            <a:gdLst/>
            <a:ahLst/>
            <a:cxnLst/>
            <a:rect l="l" t="t" r="r" b="b"/>
            <a:pathLst>
              <a:path w="5365750" h="381000">
                <a:moveTo>
                  <a:pt x="63501" y="0"/>
                </a:moveTo>
                <a:lnTo>
                  <a:pt x="5302249" y="0"/>
                </a:lnTo>
                <a:cubicBezTo>
                  <a:pt x="5337320" y="0"/>
                  <a:pt x="5365750" y="28430"/>
                  <a:pt x="5365750" y="63501"/>
                </a:cubicBezTo>
                <a:lnTo>
                  <a:pt x="5365750" y="317499"/>
                </a:lnTo>
                <a:cubicBezTo>
                  <a:pt x="5365750" y="352570"/>
                  <a:pt x="5337320" y="381000"/>
                  <a:pt x="5302249" y="381000"/>
                </a:cubicBezTo>
                <a:lnTo>
                  <a:pt x="63501" y="381000"/>
                </a:lnTo>
                <a:cubicBezTo>
                  <a:pt x="28454" y="381000"/>
                  <a:pt x="0" y="352546"/>
                  <a:pt x="0" y="317499"/>
                </a:cubicBezTo>
                <a:lnTo>
                  <a:pt x="0" y="63501"/>
                </a:lnTo>
                <a:cubicBezTo>
                  <a:pt x="0" y="28454"/>
                  <a:pt x="28454" y="0"/>
                  <a:pt x="63501" y="0"/>
                </a:cubicBezTo>
                <a:close/>
              </a:path>
            </a:pathLst>
          </a:custGeom>
          <a:solidFill>
            <a:srgbClr val="F8F9FA"/>
          </a:solidFill>
          <a:ln/>
        </p:spPr>
      </p:sp>
      <p:sp>
        <p:nvSpPr>
          <p:cNvPr id="47" name="Text 45"/>
          <p:cNvSpPr/>
          <p:nvPr/>
        </p:nvSpPr>
        <p:spPr>
          <a:xfrm>
            <a:off x="6445250" y="4222750"/>
            <a:ext cx="5238750" cy="190500"/>
          </a:xfrm>
          <a:prstGeom prst="rect">
            <a:avLst/>
          </a:prstGeom>
          <a:noFill/>
          <a:ln/>
        </p:spPr>
        <p:txBody>
          <a:bodyPr wrap="square" lIns="0" tIns="0" rIns="0" bIns="0" rtlCol="0" anchor="ctr"/>
          <a:lstStyle/>
          <a:p>
            <a:pPr>
              <a:lnSpc>
                <a:spcPct val="130000"/>
              </a:lnSpc>
            </a:pPr>
            <a:r>
              <a:rPr lang="en-US" sz="1000" b="1" dirty="0">
                <a:solidFill>
                  <a:srgbClr val="2B2D42"/>
                </a:solidFill>
                <a:latin typeface="Quattrocento Sans" pitchFamily="34" charset="0"/>
                <a:ea typeface="Quattrocento Sans" pitchFamily="34" charset="-122"/>
                <a:cs typeface="Quattrocento Sans" pitchFamily="34" charset="-120"/>
              </a:rPr>
              <a:t>Challenge:</a:t>
            </a:r>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 Integrating modern APIs with 30+ year old mainframe systems</a:t>
            </a:r>
            <a:endParaRPr lang="en-US" sz="1600" dirty="0"/>
          </a:p>
        </p:txBody>
      </p:sp>
      <p:sp>
        <p:nvSpPr>
          <p:cNvPr id="48" name="Shape 46"/>
          <p:cNvSpPr/>
          <p:nvPr/>
        </p:nvSpPr>
        <p:spPr>
          <a:xfrm>
            <a:off x="6191250" y="4810125"/>
            <a:ext cx="5683250" cy="1444625"/>
          </a:xfrm>
          <a:custGeom>
            <a:avLst/>
            <a:gdLst/>
            <a:ahLst/>
            <a:cxnLst/>
            <a:rect l="l" t="t" r="r" b="b"/>
            <a:pathLst>
              <a:path w="5683250" h="1444625">
                <a:moveTo>
                  <a:pt x="31750" y="0"/>
                </a:moveTo>
                <a:lnTo>
                  <a:pt x="5651500" y="0"/>
                </a:lnTo>
                <a:cubicBezTo>
                  <a:pt x="5669035" y="0"/>
                  <a:pt x="5683250" y="14215"/>
                  <a:pt x="5683250" y="31750"/>
                </a:cubicBezTo>
                <a:lnTo>
                  <a:pt x="5683250" y="1349381"/>
                </a:lnTo>
                <a:cubicBezTo>
                  <a:pt x="5683250" y="1401983"/>
                  <a:pt x="5640608" y="1444625"/>
                  <a:pt x="5588006" y="1444625"/>
                </a:cubicBezTo>
                <a:lnTo>
                  <a:pt x="95244" y="1444625"/>
                </a:lnTo>
                <a:cubicBezTo>
                  <a:pt x="42642" y="1444625"/>
                  <a:pt x="0" y="1401983"/>
                  <a:pt x="0" y="1349381"/>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49" name="Shape 47"/>
          <p:cNvSpPr/>
          <p:nvPr/>
        </p:nvSpPr>
        <p:spPr>
          <a:xfrm>
            <a:off x="6191250" y="4810125"/>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1A3A5C"/>
          </a:solidFill>
          <a:ln/>
        </p:spPr>
      </p:sp>
      <p:sp>
        <p:nvSpPr>
          <p:cNvPr id="50" name="Shape 48"/>
          <p:cNvSpPr/>
          <p:nvPr/>
        </p:nvSpPr>
        <p:spPr>
          <a:xfrm>
            <a:off x="6350000" y="498475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1A3A5C"/>
          </a:solidFill>
          <a:ln/>
        </p:spPr>
      </p:sp>
      <p:sp>
        <p:nvSpPr>
          <p:cNvPr id="51" name="Shape 49"/>
          <p:cNvSpPr/>
          <p:nvPr/>
        </p:nvSpPr>
        <p:spPr>
          <a:xfrm>
            <a:off x="6486922" y="5119688"/>
            <a:ext cx="238125" cy="238125"/>
          </a:xfrm>
          <a:custGeom>
            <a:avLst/>
            <a:gdLst/>
            <a:ahLst/>
            <a:cxnLst/>
            <a:rect l="l" t="t" r="r" b="b"/>
            <a:pathLst>
              <a:path w="238125" h="238125">
                <a:moveTo>
                  <a:pt x="59531" y="148828"/>
                </a:moveTo>
                <a:lnTo>
                  <a:pt x="11395" y="148828"/>
                </a:lnTo>
                <a:cubicBezTo>
                  <a:pt x="-186" y="148828"/>
                  <a:pt x="-7302" y="136224"/>
                  <a:pt x="-1349" y="126271"/>
                </a:cubicBezTo>
                <a:lnTo>
                  <a:pt x="23254" y="85251"/>
                </a:lnTo>
                <a:cubicBezTo>
                  <a:pt x="27301" y="78507"/>
                  <a:pt x="34556" y="74414"/>
                  <a:pt x="42416" y="74414"/>
                </a:cubicBezTo>
                <a:lnTo>
                  <a:pt x="86599" y="74414"/>
                </a:lnTo>
                <a:cubicBezTo>
                  <a:pt x="121993" y="14464"/>
                  <a:pt x="174780" y="11441"/>
                  <a:pt x="210080" y="16604"/>
                </a:cubicBezTo>
                <a:cubicBezTo>
                  <a:pt x="216033" y="17487"/>
                  <a:pt x="220684" y="22138"/>
                  <a:pt x="221521" y="28045"/>
                </a:cubicBezTo>
                <a:cubicBezTo>
                  <a:pt x="226684" y="63345"/>
                  <a:pt x="223661" y="116132"/>
                  <a:pt x="163711" y="151526"/>
                </a:cubicBezTo>
                <a:lnTo>
                  <a:pt x="163711" y="195709"/>
                </a:lnTo>
                <a:cubicBezTo>
                  <a:pt x="163711" y="203569"/>
                  <a:pt x="159618" y="210824"/>
                  <a:pt x="152874" y="214871"/>
                </a:cubicBezTo>
                <a:lnTo>
                  <a:pt x="111854" y="239474"/>
                </a:lnTo>
                <a:cubicBezTo>
                  <a:pt x="101947" y="245427"/>
                  <a:pt x="89297" y="238265"/>
                  <a:pt x="89297" y="226730"/>
                </a:cubicBezTo>
                <a:lnTo>
                  <a:pt x="89297" y="178594"/>
                </a:lnTo>
                <a:cubicBezTo>
                  <a:pt x="89297" y="162176"/>
                  <a:pt x="75949" y="148828"/>
                  <a:pt x="59531" y="148828"/>
                </a:cubicBezTo>
                <a:lnTo>
                  <a:pt x="59485" y="148828"/>
                </a:lnTo>
                <a:close/>
                <a:moveTo>
                  <a:pt x="186035" y="74414"/>
                </a:moveTo>
                <a:cubicBezTo>
                  <a:pt x="186035" y="62093"/>
                  <a:pt x="176032" y="52090"/>
                  <a:pt x="163711" y="52090"/>
                </a:cubicBezTo>
                <a:cubicBezTo>
                  <a:pt x="151390" y="52090"/>
                  <a:pt x="141387" y="62093"/>
                  <a:pt x="141387" y="74414"/>
                </a:cubicBezTo>
                <a:cubicBezTo>
                  <a:pt x="141387" y="86735"/>
                  <a:pt x="151390" y="96738"/>
                  <a:pt x="163711" y="96738"/>
                </a:cubicBezTo>
                <a:cubicBezTo>
                  <a:pt x="176032" y="96738"/>
                  <a:pt x="186035" y="86735"/>
                  <a:pt x="186035" y="74414"/>
                </a:cubicBezTo>
                <a:close/>
              </a:path>
            </a:pathLst>
          </a:custGeom>
          <a:solidFill>
            <a:srgbClr val="FFFFFF"/>
          </a:solidFill>
          <a:ln/>
        </p:spPr>
      </p:sp>
      <p:sp>
        <p:nvSpPr>
          <p:cNvPr id="52" name="Text 50"/>
          <p:cNvSpPr/>
          <p:nvPr/>
        </p:nvSpPr>
        <p:spPr>
          <a:xfrm>
            <a:off x="6985000" y="4984750"/>
            <a:ext cx="482600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FinTech Competition</a:t>
            </a:r>
            <a:endParaRPr lang="en-US" sz="1600" dirty="0"/>
          </a:p>
        </p:txBody>
      </p:sp>
      <p:sp>
        <p:nvSpPr>
          <p:cNvPr id="53" name="Text 51"/>
          <p:cNvSpPr/>
          <p:nvPr/>
        </p:nvSpPr>
        <p:spPr>
          <a:xfrm>
            <a:off x="6985000" y="5302250"/>
            <a:ext cx="4794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Agile FinTech startups and neobanks offer better user experiences, lower fees, and innovative services.</a:t>
            </a:r>
            <a:endParaRPr lang="en-US" sz="1600" dirty="0"/>
          </a:p>
        </p:txBody>
      </p:sp>
      <p:sp>
        <p:nvSpPr>
          <p:cNvPr id="54" name="Shape 52"/>
          <p:cNvSpPr/>
          <p:nvPr/>
        </p:nvSpPr>
        <p:spPr>
          <a:xfrm>
            <a:off x="6350000" y="5810250"/>
            <a:ext cx="2651125" cy="285750"/>
          </a:xfrm>
          <a:custGeom>
            <a:avLst/>
            <a:gdLst/>
            <a:ahLst/>
            <a:cxnLst/>
            <a:rect l="l" t="t" r="r" b="b"/>
            <a:pathLst>
              <a:path w="2651125" h="285750">
                <a:moveTo>
                  <a:pt x="31750" y="0"/>
                </a:moveTo>
                <a:lnTo>
                  <a:pt x="2619375" y="0"/>
                </a:lnTo>
                <a:cubicBezTo>
                  <a:pt x="2636910" y="0"/>
                  <a:pt x="2651125" y="14215"/>
                  <a:pt x="2651125" y="31750"/>
                </a:cubicBezTo>
                <a:lnTo>
                  <a:pt x="2651125" y="254000"/>
                </a:lnTo>
                <a:cubicBezTo>
                  <a:pt x="2651125" y="271535"/>
                  <a:pt x="2636910" y="285750"/>
                  <a:pt x="2619375" y="285750"/>
                </a:cubicBezTo>
                <a:lnTo>
                  <a:pt x="31750" y="285750"/>
                </a:lnTo>
                <a:cubicBezTo>
                  <a:pt x="14215" y="285750"/>
                  <a:pt x="0" y="271535"/>
                  <a:pt x="0" y="254000"/>
                </a:cubicBezTo>
                <a:lnTo>
                  <a:pt x="0" y="31750"/>
                </a:lnTo>
                <a:cubicBezTo>
                  <a:pt x="0" y="14227"/>
                  <a:pt x="14227" y="0"/>
                  <a:pt x="31750" y="0"/>
                </a:cubicBezTo>
                <a:close/>
              </a:path>
            </a:pathLst>
          </a:custGeom>
          <a:solidFill>
            <a:srgbClr val="F8F9FA"/>
          </a:solidFill>
          <a:ln/>
        </p:spPr>
      </p:sp>
      <p:sp>
        <p:nvSpPr>
          <p:cNvPr id="55" name="Text 53"/>
          <p:cNvSpPr/>
          <p:nvPr/>
        </p:nvSpPr>
        <p:spPr>
          <a:xfrm>
            <a:off x="6322219" y="5810250"/>
            <a:ext cx="2706688" cy="285750"/>
          </a:xfrm>
          <a:prstGeom prst="rect">
            <a:avLst/>
          </a:prstGeom>
          <a:noFill/>
          <a:ln/>
        </p:spPr>
        <p:txBody>
          <a:bodyPr wrap="square" lIns="63500" tIns="63500" rIns="63500" bIns="63500" rtlCol="0" anchor="ctr"/>
          <a:lstStyle/>
          <a:p>
            <a:pPr algn="ctr">
              <a:lnSpc>
                <a:spcPct val="120000"/>
              </a:lnSpc>
            </a:pPr>
            <a:r>
              <a:rPr lang="en-US" sz="875" dirty="0">
                <a:solidFill>
                  <a:srgbClr val="2B2D42"/>
                </a:solidFill>
                <a:latin typeface="Quattrocento Sans" pitchFamily="34" charset="0"/>
                <a:ea typeface="Quattrocento Sans" pitchFamily="34" charset="-122"/>
                <a:cs typeface="Quattrocento Sans" pitchFamily="34" charset="-120"/>
              </a:rPr>
              <a:t>Lower costs</a:t>
            </a:r>
            <a:endParaRPr lang="en-US" sz="1600" dirty="0"/>
          </a:p>
        </p:txBody>
      </p:sp>
      <p:sp>
        <p:nvSpPr>
          <p:cNvPr id="56" name="Shape 54"/>
          <p:cNvSpPr/>
          <p:nvPr/>
        </p:nvSpPr>
        <p:spPr>
          <a:xfrm>
            <a:off x="9064625" y="5810250"/>
            <a:ext cx="2651125" cy="285750"/>
          </a:xfrm>
          <a:custGeom>
            <a:avLst/>
            <a:gdLst/>
            <a:ahLst/>
            <a:cxnLst/>
            <a:rect l="l" t="t" r="r" b="b"/>
            <a:pathLst>
              <a:path w="2651125" h="285750">
                <a:moveTo>
                  <a:pt x="31750" y="0"/>
                </a:moveTo>
                <a:lnTo>
                  <a:pt x="2619375" y="0"/>
                </a:lnTo>
                <a:cubicBezTo>
                  <a:pt x="2636910" y="0"/>
                  <a:pt x="2651125" y="14215"/>
                  <a:pt x="2651125" y="31750"/>
                </a:cubicBezTo>
                <a:lnTo>
                  <a:pt x="2651125" y="254000"/>
                </a:lnTo>
                <a:cubicBezTo>
                  <a:pt x="2651125" y="271535"/>
                  <a:pt x="2636910" y="285750"/>
                  <a:pt x="2619375" y="285750"/>
                </a:cubicBezTo>
                <a:lnTo>
                  <a:pt x="31750" y="285750"/>
                </a:lnTo>
                <a:cubicBezTo>
                  <a:pt x="14215" y="285750"/>
                  <a:pt x="0" y="271535"/>
                  <a:pt x="0" y="254000"/>
                </a:cubicBezTo>
                <a:lnTo>
                  <a:pt x="0" y="31750"/>
                </a:lnTo>
                <a:cubicBezTo>
                  <a:pt x="0" y="14227"/>
                  <a:pt x="14227" y="0"/>
                  <a:pt x="31750" y="0"/>
                </a:cubicBezTo>
                <a:close/>
              </a:path>
            </a:pathLst>
          </a:custGeom>
          <a:solidFill>
            <a:srgbClr val="F8F9FA"/>
          </a:solidFill>
          <a:ln/>
        </p:spPr>
      </p:sp>
      <p:sp>
        <p:nvSpPr>
          <p:cNvPr id="57" name="Text 55"/>
          <p:cNvSpPr/>
          <p:nvPr/>
        </p:nvSpPr>
        <p:spPr>
          <a:xfrm>
            <a:off x="9036844" y="5810250"/>
            <a:ext cx="2706688" cy="285750"/>
          </a:xfrm>
          <a:prstGeom prst="rect">
            <a:avLst/>
          </a:prstGeom>
          <a:noFill/>
          <a:ln/>
        </p:spPr>
        <p:txBody>
          <a:bodyPr wrap="square" lIns="63500" tIns="63500" rIns="63500" bIns="63500" rtlCol="0" anchor="ctr"/>
          <a:lstStyle/>
          <a:p>
            <a:pPr algn="ctr">
              <a:lnSpc>
                <a:spcPct val="120000"/>
              </a:lnSpc>
            </a:pPr>
            <a:r>
              <a:rPr lang="en-US" sz="875" dirty="0">
                <a:solidFill>
                  <a:srgbClr val="2B2D42"/>
                </a:solidFill>
                <a:latin typeface="Quattrocento Sans" pitchFamily="34" charset="0"/>
                <a:ea typeface="Quattrocento Sans" pitchFamily="34" charset="-122"/>
                <a:cs typeface="Quattrocento Sans" pitchFamily="34" charset="-120"/>
              </a:rPr>
              <a:t>Better UX</a:t>
            </a:r>
            <a:endParaRPr lang="en-US" sz="1600" dirty="0"/>
          </a:p>
        </p:txBody>
      </p:sp>
      <p:sp>
        <p:nvSpPr>
          <p:cNvPr id="58" name="Shape 56"/>
          <p:cNvSpPr/>
          <p:nvPr/>
        </p:nvSpPr>
        <p:spPr>
          <a:xfrm>
            <a:off x="333375" y="6381750"/>
            <a:ext cx="11541125" cy="666750"/>
          </a:xfrm>
          <a:custGeom>
            <a:avLst/>
            <a:gdLst/>
            <a:ahLst/>
            <a:cxnLst/>
            <a:rect l="l" t="t" r="r" b="b"/>
            <a:pathLst>
              <a:path w="11541125" h="666750">
                <a:moveTo>
                  <a:pt x="31750" y="0"/>
                </a:moveTo>
                <a:lnTo>
                  <a:pt x="11477624" y="0"/>
                </a:lnTo>
                <a:cubicBezTo>
                  <a:pt x="11512695" y="0"/>
                  <a:pt x="11541125" y="28430"/>
                  <a:pt x="11541125" y="63501"/>
                </a:cubicBezTo>
                <a:lnTo>
                  <a:pt x="11541125" y="603249"/>
                </a:lnTo>
                <a:cubicBezTo>
                  <a:pt x="11541125" y="638320"/>
                  <a:pt x="11512695" y="666750"/>
                  <a:pt x="11477624" y="666750"/>
                </a:cubicBezTo>
                <a:lnTo>
                  <a:pt x="31750" y="666750"/>
                </a:lnTo>
                <a:cubicBezTo>
                  <a:pt x="14215" y="666750"/>
                  <a:pt x="0" y="652535"/>
                  <a:pt x="0" y="635000"/>
                </a:cubicBezTo>
                <a:lnTo>
                  <a:pt x="0" y="31750"/>
                </a:lnTo>
                <a:cubicBezTo>
                  <a:pt x="0" y="14227"/>
                  <a:pt x="14227" y="0"/>
                  <a:pt x="31750" y="0"/>
                </a:cubicBezTo>
                <a:close/>
              </a:path>
            </a:pathLst>
          </a:custGeom>
          <a:solidFill>
            <a:srgbClr val="1A3A5C">
              <a:alpha val="5098"/>
            </a:srgbClr>
          </a:solidFill>
          <a:ln/>
        </p:spPr>
      </p:sp>
      <p:sp>
        <p:nvSpPr>
          <p:cNvPr id="59" name="Shape 57"/>
          <p:cNvSpPr/>
          <p:nvPr/>
        </p:nvSpPr>
        <p:spPr>
          <a:xfrm>
            <a:off x="333375" y="6381750"/>
            <a:ext cx="31750" cy="666750"/>
          </a:xfrm>
          <a:custGeom>
            <a:avLst/>
            <a:gdLst/>
            <a:ahLst/>
            <a:cxnLst/>
            <a:rect l="l" t="t" r="r" b="b"/>
            <a:pathLst>
              <a:path w="31750" h="666750">
                <a:moveTo>
                  <a:pt x="31750" y="0"/>
                </a:moveTo>
                <a:lnTo>
                  <a:pt x="31750" y="0"/>
                </a:lnTo>
                <a:lnTo>
                  <a:pt x="31750" y="666750"/>
                </a:lnTo>
                <a:lnTo>
                  <a:pt x="31750" y="666750"/>
                </a:lnTo>
                <a:cubicBezTo>
                  <a:pt x="14227" y="666750"/>
                  <a:pt x="0" y="652523"/>
                  <a:pt x="0" y="635000"/>
                </a:cubicBezTo>
                <a:lnTo>
                  <a:pt x="0" y="31750"/>
                </a:lnTo>
                <a:cubicBezTo>
                  <a:pt x="0" y="14227"/>
                  <a:pt x="14227" y="0"/>
                  <a:pt x="31750" y="0"/>
                </a:cubicBezTo>
                <a:close/>
              </a:path>
            </a:pathLst>
          </a:custGeom>
          <a:solidFill>
            <a:srgbClr val="1A3A5C"/>
          </a:solidFill>
          <a:ln/>
        </p:spPr>
      </p:sp>
      <p:sp>
        <p:nvSpPr>
          <p:cNvPr id="60" name="Shape 58"/>
          <p:cNvSpPr/>
          <p:nvPr/>
        </p:nvSpPr>
        <p:spPr>
          <a:xfrm>
            <a:off x="500063" y="6544469"/>
            <a:ext cx="111125" cy="127000"/>
          </a:xfrm>
          <a:custGeom>
            <a:avLst/>
            <a:gdLst/>
            <a:ahLst/>
            <a:cxnLst/>
            <a:rect l="l" t="t" r="r" b="b"/>
            <a:pathLst>
              <a:path w="111125" h="127000">
                <a:moveTo>
                  <a:pt x="0" y="53578"/>
                </a:moveTo>
                <a:cubicBezTo>
                  <a:pt x="0" y="37133"/>
                  <a:pt x="13320" y="23812"/>
                  <a:pt x="29766" y="23812"/>
                </a:cubicBezTo>
                <a:lnTo>
                  <a:pt x="31750" y="23812"/>
                </a:lnTo>
                <a:cubicBezTo>
                  <a:pt x="36140" y="23812"/>
                  <a:pt x="39688" y="27360"/>
                  <a:pt x="39688" y="31750"/>
                </a:cubicBezTo>
                <a:cubicBezTo>
                  <a:pt x="39688" y="36140"/>
                  <a:pt x="36140" y="39688"/>
                  <a:pt x="31750" y="39688"/>
                </a:cubicBezTo>
                <a:lnTo>
                  <a:pt x="29766" y="39688"/>
                </a:lnTo>
                <a:cubicBezTo>
                  <a:pt x="22101" y="39688"/>
                  <a:pt x="15875" y="45913"/>
                  <a:pt x="15875" y="53578"/>
                </a:cubicBezTo>
                <a:lnTo>
                  <a:pt x="15875" y="55563"/>
                </a:lnTo>
                <a:lnTo>
                  <a:pt x="31750" y="55563"/>
                </a:lnTo>
                <a:cubicBezTo>
                  <a:pt x="40506" y="55563"/>
                  <a:pt x="47625" y="62681"/>
                  <a:pt x="47625" y="71438"/>
                </a:cubicBezTo>
                <a:lnTo>
                  <a:pt x="47625" y="87313"/>
                </a:lnTo>
                <a:cubicBezTo>
                  <a:pt x="47625" y="96069"/>
                  <a:pt x="40506" y="103188"/>
                  <a:pt x="31750" y="103188"/>
                </a:cubicBezTo>
                <a:lnTo>
                  <a:pt x="15875" y="103188"/>
                </a:lnTo>
                <a:cubicBezTo>
                  <a:pt x="7119" y="103188"/>
                  <a:pt x="0" y="96069"/>
                  <a:pt x="0" y="87313"/>
                </a:cubicBezTo>
                <a:lnTo>
                  <a:pt x="0" y="53578"/>
                </a:lnTo>
                <a:close/>
                <a:moveTo>
                  <a:pt x="63500" y="53578"/>
                </a:moveTo>
                <a:cubicBezTo>
                  <a:pt x="63500" y="37133"/>
                  <a:pt x="76820" y="23812"/>
                  <a:pt x="93266" y="23812"/>
                </a:cubicBezTo>
                <a:lnTo>
                  <a:pt x="95250" y="23812"/>
                </a:lnTo>
                <a:cubicBezTo>
                  <a:pt x="99640" y="23812"/>
                  <a:pt x="103188" y="27360"/>
                  <a:pt x="103188" y="31750"/>
                </a:cubicBezTo>
                <a:cubicBezTo>
                  <a:pt x="103188" y="36140"/>
                  <a:pt x="99640" y="39688"/>
                  <a:pt x="95250" y="39688"/>
                </a:cubicBezTo>
                <a:lnTo>
                  <a:pt x="93266" y="39688"/>
                </a:lnTo>
                <a:cubicBezTo>
                  <a:pt x="85601" y="39688"/>
                  <a:pt x="79375" y="45913"/>
                  <a:pt x="79375" y="53578"/>
                </a:cubicBezTo>
                <a:lnTo>
                  <a:pt x="79375" y="55563"/>
                </a:lnTo>
                <a:lnTo>
                  <a:pt x="95250" y="55563"/>
                </a:lnTo>
                <a:cubicBezTo>
                  <a:pt x="104006" y="55563"/>
                  <a:pt x="111125" y="62681"/>
                  <a:pt x="111125" y="71438"/>
                </a:cubicBezTo>
                <a:lnTo>
                  <a:pt x="111125" y="87313"/>
                </a:lnTo>
                <a:cubicBezTo>
                  <a:pt x="111125" y="96069"/>
                  <a:pt x="104006" y="103188"/>
                  <a:pt x="95250" y="103188"/>
                </a:cubicBezTo>
                <a:lnTo>
                  <a:pt x="79375" y="103188"/>
                </a:lnTo>
                <a:cubicBezTo>
                  <a:pt x="70619" y="103188"/>
                  <a:pt x="63500" y="96069"/>
                  <a:pt x="63500" y="87313"/>
                </a:cubicBezTo>
                <a:lnTo>
                  <a:pt x="63500" y="53578"/>
                </a:lnTo>
                <a:close/>
              </a:path>
            </a:pathLst>
          </a:custGeom>
          <a:solidFill>
            <a:srgbClr val="2A9D8F"/>
          </a:solidFill>
          <a:ln/>
        </p:spPr>
      </p:sp>
      <p:sp>
        <p:nvSpPr>
          <p:cNvPr id="61" name="Text 59"/>
          <p:cNvSpPr/>
          <p:nvPr/>
        </p:nvSpPr>
        <p:spPr>
          <a:xfrm>
            <a:off x="674688" y="6508750"/>
            <a:ext cx="11136313" cy="412750"/>
          </a:xfrm>
          <a:prstGeom prst="rect">
            <a:avLst/>
          </a:prstGeom>
          <a:noFill/>
          <a:ln/>
        </p:spPr>
        <p:txBody>
          <a:bodyPr wrap="square" lIns="0" tIns="0" rIns="0" bIns="0" rtlCol="0" anchor="ctr"/>
          <a:lstStyle/>
          <a:p>
            <a:pPr>
              <a:lnSpc>
                <a:spcPct val="140000"/>
              </a:lnSpc>
            </a:pPr>
            <a:r>
              <a:rPr lang="en-US" sz="1000" b="1" dirty="0">
                <a:solidFill>
                  <a:srgbClr val="2B2D42"/>
                </a:solidFill>
                <a:latin typeface="Quattrocento Sans" pitchFamily="34" charset="0"/>
                <a:ea typeface="Quattrocento Sans" pitchFamily="34" charset="-122"/>
                <a:cs typeface="Quattrocento Sans" pitchFamily="34" charset="-120"/>
              </a:rPr>
              <a:t>Speaker Note:</a:t>
            </a:r>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 Emphasize that cybersecurity is the #1 concern—banks spend billions annually on protection. Discuss how regulations, while necessary, create costs that are passed to consumers. The FinTech challenge is real: traditional banks must innovate or lose market share to agile competitors.</a:t>
            </a:r>
            <a:endParaRPr lang="en-US" sz="16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2A9D8F"/>
                </a:solidFill>
                <a:latin typeface="Liter" pitchFamily="34" charset="0"/>
                <a:ea typeface="Liter" pitchFamily="34" charset="-122"/>
                <a:cs typeface="Liter" pitchFamily="34" charset="-120"/>
              </a:rPr>
              <a:t>CHAPTER 12</a:t>
            </a:r>
            <a:endParaRPr lang="en-US" sz="1600" dirty="0"/>
          </a:p>
        </p:txBody>
      </p:sp>
      <p:sp>
        <p:nvSpPr>
          <p:cNvPr id="3" name="Text 1"/>
          <p:cNvSpPr/>
          <p:nvPr/>
        </p:nvSpPr>
        <p:spPr>
          <a:xfrm>
            <a:off x="317500" y="571500"/>
            <a:ext cx="11747500" cy="476250"/>
          </a:xfrm>
          <a:prstGeom prst="rect">
            <a:avLst/>
          </a:prstGeom>
          <a:noFill/>
          <a:ln/>
        </p:spPr>
        <p:txBody>
          <a:bodyPr wrap="square" lIns="0" tIns="0" rIns="0" bIns="0" rtlCol="0" anchor="ctr"/>
          <a:lstStyle/>
          <a:p>
            <a:pPr>
              <a:lnSpc>
                <a:spcPct val="100000"/>
              </a:lnSpc>
            </a:pPr>
            <a:r>
              <a:rPr lang="en-US" sz="3000" b="1" dirty="0">
                <a:solidFill>
                  <a:srgbClr val="1A3A5C"/>
                </a:solidFill>
                <a:latin typeface="Oranienbaum" pitchFamily="34" charset="0"/>
                <a:ea typeface="Oranienbaum" pitchFamily="34" charset="-122"/>
                <a:cs typeface="Oranienbaum" pitchFamily="34" charset="-120"/>
              </a:rPr>
              <a:t>Future of Banking</a:t>
            </a:r>
            <a:endParaRPr lang="en-US" sz="1600" dirty="0"/>
          </a:p>
        </p:txBody>
      </p:sp>
      <p:sp>
        <p:nvSpPr>
          <p:cNvPr id="4" name="Shape 2"/>
          <p:cNvSpPr/>
          <p:nvPr/>
        </p:nvSpPr>
        <p:spPr>
          <a:xfrm>
            <a:off x="317500" y="1174750"/>
            <a:ext cx="762000" cy="47625"/>
          </a:xfrm>
          <a:custGeom>
            <a:avLst/>
            <a:gdLst/>
            <a:ahLst/>
            <a:cxnLst/>
            <a:rect l="l" t="t" r="r" b="b"/>
            <a:pathLst>
              <a:path w="762000" h="47625">
                <a:moveTo>
                  <a:pt x="0" y="0"/>
                </a:moveTo>
                <a:lnTo>
                  <a:pt x="762000" y="0"/>
                </a:lnTo>
                <a:lnTo>
                  <a:pt x="762000" y="47625"/>
                </a:lnTo>
                <a:lnTo>
                  <a:pt x="0" y="47625"/>
                </a:lnTo>
                <a:lnTo>
                  <a:pt x="0" y="0"/>
                </a:lnTo>
                <a:close/>
              </a:path>
            </a:pathLst>
          </a:custGeom>
          <a:solidFill>
            <a:srgbClr val="2A9D8F"/>
          </a:solidFill>
          <a:ln/>
        </p:spPr>
      </p:sp>
      <p:sp>
        <p:nvSpPr>
          <p:cNvPr id="5" name="Shape 3"/>
          <p:cNvSpPr/>
          <p:nvPr/>
        </p:nvSpPr>
        <p:spPr>
          <a:xfrm>
            <a:off x="317500" y="1349375"/>
            <a:ext cx="5683250" cy="1166813"/>
          </a:xfrm>
          <a:custGeom>
            <a:avLst/>
            <a:gdLst/>
            <a:ahLst/>
            <a:cxnLst/>
            <a:rect l="l" t="t" r="r" b="b"/>
            <a:pathLst>
              <a:path w="5683250" h="1166813">
                <a:moveTo>
                  <a:pt x="95247" y="0"/>
                </a:moveTo>
                <a:lnTo>
                  <a:pt x="5588003" y="0"/>
                </a:lnTo>
                <a:cubicBezTo>
                  <a:pt x="5640607" y="0"/>
                  <a:pt x="5683250" y="42643"/>
                  <a:pt x="5683250" y="95247"/>
                </a:cubicBezTo>
                <a:lnTo>
                  <a:pt x="5683250" y="1071566"/>
                </a:lnTo>
                <a:cubicBezTo>
                  <a:pt x="5683250" y="1124169"/>
                  <a:pt x="5640607" y="1166813"/>
                  <a:pt x="5588003" y="1166813"/>
                </a:cubicBezTo>
                <a:lnTo>
                  <a:pt x="95247" y="1166813"/>
                </a:lnTo>
                <a:cubicBezTo>
                  <a:pt x="42643" y="1166813"/>
                  <a:pt x="0" y="1124169"/>
                  <a:pt x="0" y="1071566"/>
                </a:cubicBezTo>
                <a:lnTo>
                  <a:pt x="0" y="95247"/>
                </a:lnTo>
                <a:cubicBezTo>
                  <a:pt x="0" y="42643"/>
                  <a:pt x="42643" y="0"/>
                  <a:pt x="95247" y="0"/>
                </a:cubicBezTo>
                <a:close/>
              </a:path>
            </a:pathLst>
          </a:custGeom>
          <a:gradFill rotWithShape="1" flip="none">
            <a:gsLst>
              <a:gs pos="0">
                <a:srgbClr val="1A3A5C"/>
              </a:gs>
              <a:gs pos="100000">
                <a:srgbClr val="2A9D8F"/>
              </a:gs>
            </a:gsLst>
            <a:lin ang="2700000" scaled="1"/>
          </a:gradFill>
          <a:ln/>
          <a:effectLst>
            <a:outerShdw sx="100000" sy="100000" kx="0" ky="0" algn="bl" rotWithShape="0" blurRad="119063" dist="79375" dir="5400000">
              <a:srgbClr val="000000">
                <a:alpha val="10196"/>
              </a:srgbClr>
            </a:outerShdw>
          </a:effectLst>
        </p:spPr>
      </p:sp>
      <p:sp>
        <p:nvSpPr>
          <p:cNvPr id="6" name="Shape 4"/>
          <p:cNvSpPr/>
          <p:nvPr/>
        </p:nvSpPr>
        <p:spPr>
          <a:xfrm>
            <a:off x="508000" y="1531938"/>
            <a:ext cx="238125" cy="238125"/>
          </a:xfrm>
          <a:custGeom>
            <a:avLst/>
            <a:gdLst/>
            <a:ahLst/>
            <a:cxnLst/>
            <a:rect l="l" t="t" r="r" b="b"/>
            <a:pathLst>
              <a:path w="238125" h="238125">
                <a:moveTo>
                  <a:pt x="59531" y="148828"/>
                </a:moveTo>
                <a:lnTo>
                  <a:pt x="11395" y="148828"/>
                </a:lnTo>
                <a:cubicBezTo>
                  <a:pt x="-186" y="148828"/>
                  <a:pt x="-7302" y="136224"/>
                  <a:pt x="-1349" y="126271"/>
                </a:cubicBezTo>
                <a:lnTo>
                  <a:pt x="23254" y="85251"/>
                </a:lnTo>
                <a:cubicBezTo>
                  <a:pt x="27301" y="78507"/>
                  <a:pt x="34556" y="74414"/>
                  <a:pt x="42416" y="74414"/>
                </a:cubicBezTo>
                <a:lnTo>
                  <a:pt x="86599" y="74414"/>
                </a:lnTo>
                <a:cubicBezTo>
                  <a:pt x="121993" y="14464"/>
                  <a:pt x="174780" y="11441"/>
                  <a:pt x="210080" y="16604"/>
                </a:cubicBezTo>
                <a:cubicBezTo>
                  <a:pt x="216033" y="17487"/>
                  <a:pt x="220684" y="22138"/>
                  <a:pt x="221521" y="28045"/>
                </a:cubicBezTo>
                <a:cubicBezTo>
                  <a:pt x="226684" y="63345"/>
                  <a:pt x="223661" y="116132"/>
                  <a:pt x="163711" y="151526"/>
                </a:cubicBezTo>
                <a:lnTo>
                  <a:pt x="163711" y="195709"/>
                </a:lnTo>
                <a:cubicBezTo>
                  <a:pt x="163711" y="203569"/>
                  <a:pt x="159618" y="210824"/>
                  <a:pt x="152874" y="214871"/>
                </a:cubicBezTo>
                <a:lnTo>
                  <a:pt x="111854" y="239474"/>
                </a:lnTo>
                <a:cubicBezTo>
                  <a:pt x="101947" y="245427"/>
                  <a:pt x="89297" y="238265"/>
                  <a:pt x="89297" y="226730"/>
                </a:cubicBezTo>
                <a:lnTo>
                  <a:pt x="89297" y="178594"/>
                </a:lnTo>
                <a:cubicBezTo>
                  <a:pt x="89297" y="162176"/>
                  <a:pt x="75949" y="148828"/>
                  <a:pt x="59531" y="148828"/>
                </a:cubicBezTo>
                <a:lnTo>
                  <a:pt x="59485" y="148828"/>
                </a:lnTo>
                <a:close/>
                <a:moveTo>
                  <a:pt x="186035" y="74414"/>
                </a:moveTo>
                <a:cubicBezTo>
                  <a:pt x="186035" y="62093"/>
                  <a:pt x="176032" y="52090"/>
                  <a:pt x="163711" y="52090"/>
                </a:cubicBezTo>
                <a:cubicBezTo>
                  <a:pt x="151390" y="52090"/>
                  <a:pt x="141387" y="62093"/>
                  <a:pt x="141387" y="74414"/>
                </a:cubicBezTo>
                <a:cubicBezTo>
                  <a:pt x="141387" y="86735"/>
                  <a:pt x="151390" y="96738"/>
                  <a:pt x="163711" y="96738"/>
                </a:cubicBezTo>
                <a:cubicBezTo>
                  <a:pt x="176032" y="96738"/>
                  <a:pt x="186035" y="86735"/>
                  <a:pt x="186035" y="74414"/>
                </a:cubicBezTo>
                <a:close/>
              </a:path>
            </a:pathLst>
          </a:custGeom>
          <a:solidFill>
            <a:srgbClr val="FFFFFF"/>
          </a:solidFill>
          <a:ln/>
        </p:spPr>
      </p:sp>
      <p:sp>
        <p:nvSpPr>
          <p:cNvPr id="7" name="Text 5"/>
          <p:cNvSpPr/>
          <p:nvPr/>
        </p:nvSpPr>
        <p:spPr>
          <a:xfrm>
            <a:off x="777875" y="1508125"/>
            <a:ext cx="5183188" cy="285750"/>
          </a:xfrm>
          <a:prstGeom prst="rect">
            <a:avLst/>
          </a:prstGeom>
          <a:noFill/>
          <a:ln/>
        </p:spPr>
        <p:txBody>
          <a:bodyPr wrap="square" lIns="0" tIns="0" rIns="0" bIns="0" rtlCol="0" anchor="ctr"/>
          <a:lstStyle/>
          <a:p>
            <a:pPr>
              <a:lnSpc>
                <a:spcPct val="100000"/>
              </a:lnSpc>
            </a:pPr>
            <a:r>
              <a:rPr lang="en-US" sz="1875" b="1" dirty="0">
                <a:solidFill>
                  <a:srgbClr val="FFFFFF"/>
                </a:solidFill>
                <a:latin typeface="Liter" pitchFamily="34" charset="0"/>
                <a:ea typeface="Liter" pitchFamily="34" charset="-122"/>
                <a:cs typeface="Liter" pitchFamily="34" charset="-120"/>
              </a:rPr>
              <a:t>What's Next in Banking</a:t>
            </a:r>
            <a:endParaRPr lang="en-US" sz="1600" dirty="0"/>
          </a:p>
        </p:txBody>
      </p:sp>
      <p:sp>
        <p:nvSpPr>
          <p:cNvPr id="8" name="Text 6"/>
          <p:cNvSpPr/>
          <p:nvPr/>
        </p:nvSpPr>
        <p:spPr>
          <a:xfrm>
            <a:off x="476250" y="1889125"/>
            <a:ext cx="5437188" cy="468313"/>
          </a:xfrm>
          <a:prstGeom prst="rect">
            <a:avLst/>
          </a:prstGeom>
          <a:noFill/>
          <a:ln/>
        </p:spPr>
        <p:txBody>
          <a:bodyPr wrap="square" lIns="0" tIns="0" rIns="0" bIns="0" rtlCol="0" anchor="ctr"/>
          <a:lstStyle/>
          <a:p>
            <a:pPr>
              <a:lnSpc>
                <a:spcPct val="140000"/>
              </a:lnSpc>
            </a:pPr>
            <a:r>
              <a:rPr lang="en-US" sz="1125" dirty="0">
                <a:solidFill>
                  <a:srgbClr val="FFFFFF"/>
                </a:solidFill>
                <a:latin typeface="Quattrocento Sans" pitchFamily="34" charset="0"/>
                <a:ea typeface="Quattrocento Sans" pitchFamily="34" charset="-122"/>
                <a:cs typeface="Quattrocento Sans" pitchFamily="34" charset="-120"/>
              </a:rPr>
              <a:t>Emerging technologies and shifting consumer expectations are reshaping the future of financial services.</a:t>
            </a:r>
            <a:endParaRPr lang="en-US" sz="1600" dirty="0"/>
          </a:p>
        </p:txBody>
      </p:sp>
      <p:sp>
        <p:nvSpPr>
          <p:cNvPr id="9" name="Shape 7"/>
          <p:cNvSpPr/>
          <p:nvPr/>
        </p:nvSpPr>
        <p:spPr>
          <a:xfrm>
            <a:off x="317500" y="2655094"/>
            <a:ext cx="5683250" cy="1825625"/>
          </a:xfrm>
          <a:custGeom>
            <a:avLst/>
            <a:gdLst/>
            <a:ahLst/>
            <a:cxnLst/>
            <a:rect l="l" t="t" r="r" b="b"/>
            <a:pathLst>
              <a:path w="5683250" h="1825625">
                <a:moveTo>
                  <a:pt x="31750" y="0"/>
                </a:moveTo>
                <a:lnTo>
                  <a:pt x="5651500" y="0"/>
                </a:lnTo>
                <a:cubicBezTo>
                  <a:pt x="5669023" y="0"/>
                  <a:pt x="5683250" y="14227"/>
                  <a:pt x="5683250" y="31750"/>
                </a:cubicBezTo>
                <a:lnTo>
                  <a:pt x="5683250" y="1730382"/>
                </a:lnTo>
                <a:cubicBezTo>
                  <a:pt x="5683250" y="1782983"/>
                  <a:pt x="5640608" y="1825625"/>
                  <a:pt x="5588007" y="1825625"/>
                </a:cubicBezTo>
                <a:lnTo>
                  <a:pt x="95243" y="1825625"/>
                </a:lnTo>
                <a:cubicBezTo>
                  <a:pt x="42642" y="1825625"/>
                  <a:pt x="0" y="1782983"/>
                  <a:pt x="0" y="1730382"/>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10" name="Shape 8"/>
          <p:cNvSpPr/>
          <p:nvPr/>
        </p:nvSpPr>
        <p:spPr>
          <a:xfrm>
            <a:off x="317500" y="2655094"/>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1A3A5C"/>
          </a:solidFill>
          <a:ln/>
        </p:spPr>
      </p:sp>
      <p:sp>
        <p:nvSpPr>
          <p:cNvPr id="11" name="Shape 9"/>
          <p:cNvSpPr/>
          <p:nvPr/>
        </p:nvSpPr>
        <p:spPr>
          <a:xfrm>
            <a:off x="476250" y="2829719"/>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1A3A5C"/>
          </a:solidFill>
          <a:ln/>
        </p:spPr>
      </p:sp>
      <p:sp>
        <p:nvSpPr>
          <p:cNvPr id="12" name="Shape 10"/>
          <p:cNvSpPr/>
          <p:nvPr/>
        </p:nvSpPr>
        <p:spPr>
          <a:xfrm>
            <a:off x="613172" y="2964656"/>
            <a:ext cx="238125" cy="238125"/>
          </a:xfrm>
          <a:custGeom>
            <a:avLst/>
            <a:gdLst/>
            <a:ahLst/>
            <a:cxnLst/>
            <a:rect l="l" t="t" r="r" b="b"/>
            <a:pathLst>
              <a:path w="238125" h="238125">
                <a:moveTo>
                  <a:pt x="55811" y="26045"/>
                </a:moveTo>
                <a:cubicBezTo>
                  <a:pt x="55811" y="11674"/>
                  <a:pt x="67484" y="0"/>
                  <a:pt x="81855" y="0"/>
                </a:cubicBezTo>
                <a:lnTo>
                  <a:pt x="93018" y="0"/>
                </a:lnTo>
                <a:cubicBezTo>
                  <a:pt x="101250" y="0"/>
                  <a:pt x="107900" y="6651"/>
                  <a:pt x="107900" y="14883"/>
                </a:cubicBezTo>
                <a:lnTo>
                  <a:pt x="107900" y="223242"/>
                </a:lnTo>
                <a:cubicBezTo>
                  <a:pt x="107900" y="231474"/>
                  <a:pt x="101250" y="238125"/>
                  <a:pt x="93018" y="238125"/>
                </a:cubicBezTo>
                <a:lnTo>
                  <a:pt x="78135" y="238125"/>
                </a:lnTo>
                <a:cubicBezTo>
                  <a:pt x="64275" y="238125"/>
                  <a:pt x="52601" y="228637"/>
                  <a:pt x="49299" y="215801"/>
                </a:cubicBezTo>
                <a:cubicBezTo>
                  <a:pt x="48974" y="215801"/>
                  <a:pt x="48695" y="215801"/>
                  <a:pt x="48369" y="215801"/>
                </a:cubicBezTo>
                <a:cubicBezTo>
                  <a:pt x="27812" y="215801"/>
                  <a:pt x="11162" y="199151"/>
                  <a:pt x="11162" y="178594"/>
                </a:cubicBezTo>
                <a:cubicBezTo>
                  <a:pt x="11162" y="170222"/>
                  <a:pt x="13953" y="162502"/>
                  <a:pt x="18604" y="156270"/>
                </a:cubicBezTo>
                <a:cubicBezTo>
                  <a:pt x="9581" y="149479"/>
                  <a:pt x="3721" y="138689"/>
                  <a:pt x="3721" y="126504"/>
                </a:cubicBezTo>
                <a:cubicBezTo>
                  <a:pt x="3721" y="112133"/>
                  <a:pt x="11906" y="99622"/>
                  <a:pt x="23813" y="93436"/>
                </a:cubicBezTo>
                <a:cubicBezTo>
                  <a:pt x="20510" y="87855"/>
                  <a:pt x="18604" y="81344"/>
                  <a:pt x="18604" y="74414"/>
                </a:cubicBezTo>
                <a:cubicBezTo>
                  <a:pt x="18604" y="53857"/>
                  <a:pt x="35254" y="37207"/>
                  <a:pt x="55811" y="37207"/>
                </a:cubicBezTo>
                <a:lnTo>
                  <a:pt x="55811" y="26045"/>
                </a:lnTo>
                <a:close/>
                <a:moveTo>
                  <a:pt x="182314" y="26045"/>
                </a:moveTo>
                <a:lnTo>
                  <a:pt x="182314" y="37207"/>
                </a:lnTo>
                <a:cubicBezTo>
                  <a:pt x="202871" y="37207"/>
                  <a:pt x="219521" y="53857"/>
                  <a:pt x="219521" y="74414"/>
                </a:cubicBezTo>
                <a:cubicBezTo>
                  <a:pt x="219521" y="81390"/>
                  <a:pt x="217615" y="87902"/>
                  <a:pt x="214313" y="93436"/>
                </a:cubicBezTo>
                <a:cubicBezTo>
                  <a:pt x="226265" y="99622"/>
                  <a:pt x="234404" y="112086"/>
                  <a:pt x="234404" y="126504"/>
                </a:cubicBezTo>
                <a:cubicBezTo>
                  <a:pt x="234404" y="138689"/>
                  <a:pt x="228544" y="149479"/>
                  <a:pt x="219521" y="156270"/>
                </a:cubicBezTo>
                <a:cubicBezTo>
                  <a:pt x="224172" y="162502"/>
                  <a:pt x="226963" y="170222"/>
                  <a:pt x="226963" y="178594"/>
                </a:cubicBezTo>
                <a:cubicBezTo>
                  <a:pt x="226963" y="199151"/>
                  <a:pt x="210313" y="215801"/>
                  <a:pt x="189756" y="215801"/>
                </a:cubicBezTo>
                <a:cubicBezTo>
                  <a:pt x="189430" y="215801"/>
                  <a:pt x="189151" y="215801"/>
                  <a:pt x="188826" y="215801"/>
                </a:cubicBezTo>
                <a:cubicBezTo>
                  <a:pt x="185524" y="228637"/>
                  <a:pt x="173850" y="238125"/>
                  <a:pt x="159990" y="238125"/>
                </a:cubicBezTo>
                <a:lnTo>
                  <a:pt x="145107" y="238125"/>
                </a:lnTo>
                <a:cubicBezTo>
                  <a:pt x="136875" y="238125"/>
                  <a:pt x="130225" y="231474"/>
                  <a:pt x="130225" y="223242"/>
                </a:cubicBezTo>
                <a:lnTo>
                  <a:pt x="130225" y="14883"/>
                </a:lnTo>
                <a:cubicBezTo>
                  <a:pt x="130225" y="6651"/>
                  <a:pt x="136875" y="0"/>
                  <a:pt x="145107" y="0"/>
                </a:cubicBezTo>
                <a:lnTo>
                  <a:pt x="156270" y="0"/>
                </a:lnTo>
                <a:cubicBezTo>
                  <a:pt x="170641" y="0"/>
                  <a:pt x="182314" y="11674"/>
                  <a:pt x="182314" y="26045"/>
                </a:cubicBezTo>
                <a:close/>
              </a:path>
            </a:pathLst>
          </a:custGeom>
          <a:solidFill>
            <a:srgbClr val="FFFFFF"/>
          </a:solidFill>
          <a:ln/>
        </p:spPr>
      </p:sp>
      <p:sp>
        <p:nvSpPr>
          <p:cNvPr id="13" name="Text 11"/>
          <p:cNvSpPr/>
          <p:nvPr/>
        </p:nvSpPr>
        <p:spPr>
          <a:xfrm>
            <a:off x="1111250" y="2829719"/>
            <a:ext cx="482600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AI-Powered Personalization</a:t>
            </a:r>
            <a:endParaRPr lang="en-US" sz="1600" dirty="0"/>
          </a:p>
        </p:txBody>
      </p:sp>
      <p:sp>
        <p:nvSpPr>
          <p:cNvPr id="14" name="Text 12"/>
          <p:cNvSpPr/>
          <p:nvPr/>
        </p:nvSpPr>
        <p:spPr>
          <a:xfrm>
            <a:off x="1111250" y="3147219"/>
            <a:ext cx="4794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Hyper-personalized financial advice, predictive analytics, and automated wealth management will become standard.</a:t>
            </a:r>
            <a:endParaRPr lang="en-US" sz="1600" dirty="0"/>
          </a:p>
        </p:txBody>
      </p:sp>
      <p:sp>
        <p:nvSpPr>
          <p:cNvPr id="15" name="Shape 13"/>
          <p:cNvSpPr/>
          <p:nvPr/>
        </p:nvSpPr>
        <p:spPr>
          <a:xfrm>
            <a:off x="476250" y="3655219"/>
            <a:ext cx="5365750" cy="666750"/>
          </a:xfrm>
          <a:custGeom>
            <a:avLst/>
            <a:gdLst/>
            <a:ahLst/>
            <a:cxnLst/>
            <a:rect l="l" t="t" r="r" b="b"/>
            <a:pathLst>
              <a:path w="5365750" h="666750">
                <a:moveTo>
                  <a:pt x="63501" y="0"/>
                </a:moveTo>
                <a:lnTo>
                  <a:pt x="5302249" y="0"/>
                </a:lnTo>
                <a:cubicBezTo>
                  <a:pt x="5337320" y="0"/>
                  <a:pt x="5365750" y="28430"/>
                  <a:pt x="5365750" y="63501"/>
                </a:cubicBezTo>
                <a:lnTo>
                  <a:pt x="5365750" y="603249"/>
                </a:lnTo>
                <a:cubicBezTo>
                  <a:pt x="5365750" y="638320"/>
                  <a:pt x="5337320" y="666750"/>
                  <a:pt x="5302249" y="666750"/>
                </a:cubicBezTo>
                <a:lnTo>
                  <a:pt x="63501" y="666750"/>
                </a:lnTo>
                <a:cubicBezTo>
                  <a:pt x="28430" y="666750"/>
                  <a:pt x="0" y="638320"/>
                  <a:pt x="0" y="603249"/>
                </a:cubicBezTo>
                <a:lnTo>
                  <a:pt x="0" y="63501"/>
                </a:lnTo>
                <a:cubicBezTo>
                  <a:pt x="0" y="28454"/>
                  <a:pt x="28454" y="0"/>
                  <a:pt x="63501" y="0"/>
                </a:cubicBezTo>
                <a:close/>
              </a:path>
            </a:pathLst>
          </a:custGeom>
          <a:solidFill>
            <a:srgbClr val="F8F9FA"/>
          </a:solidFill>
          <a:ln/>
        </p:spPr>
      </p:sp>
      <p:sp>
        <p:nvSpPr>
          <p:cNvPr id="16" name="Shape 14"/>
          <p:cNvSpPr/>
          <p:nvPr/>
        </p:nvSpPr>
        <p:spPr>
          <a:xfrm>
            <a:off x="603250" y="3782219"/>
            <a:ext cx="238125" cy="190500"/>
          </a:xfrm>
          <a:custGeom>
            <a:avLst/>
            <a:gdLst/>
            <a:ahLst/>
            <a:cxnLst/>
            <a:rect l="l" t="t" r="r" b="b"/>
            <a:pathLst>
              <a:path w="238125" h="190500">
                <a:moveTo>
                  <a:pt x="130969" y="0"/>
                </a:moveTo>
                <a:cubicBezTo>
                  <a:pt x="130969" y="-6586"/>
                  <a:pt x="125648" y="-11906"/>
                  <a:pt x="119063" y="-11906"/>
                </a:cubicBezTo>
                <a:cubicBezTo>
                  <a:pt x="112477" y="-11906"/>
                  <a:pt x="107156" y="-6586"/>
                  <a:pt x="107156" y="0"/>
                </a:cubicBezTo>
                <a:lnTo>
                  <a:pt x="107156" y="23812"/>
                </a:lnTo>
                <a:lnTo>
                  <a:pt x="71438" y="23812"/>
                </a:lnTo>
                <a:cubicBezTo>
                  <a:pt x="51718" y="23812"/>
                  <a:pt x="35719" y="39812"/>
                  <a:pt x="35719" y="59531"/>
                </a:cubicBezTo>
                <a:lnTo>
                  <a:pt x="35719" y="142875"/>
                </a:lnTo>
                <a:cubicBezTo>
                  <a:pt x="35719" y="162595"/>
                  <a:pt x="51718" y="178594"/>
                  <a:pt x="71438" y="178594"/>
                </a:cubicBezTo>
                <a:lnTo>
                  <a:pt x="166688" y="178594"/>
                </a:lnTo>
                <a:cubicBezTo>
                  <a:pt x="186407" y="178594"/>
                  <a:pt x="202406" y="162595"/>
                  <a:pt x="202406" y="142875"/>
                </a:cubicBezTo>
                <a:lnTo>
                  <a:pt x="202406" y="59531"/>
                </a:lnTo>
                <a:cubicBezTo>
                  <a:pt x="202406" y="39812"/>
                  <a:pt x="186407" y="23812"/>
                  <a:pt x="166688" y="23812"/>
                </a:cubicBezTo>
                <a:lnTo>
                  <a:pt x="130969" y="23812"/>
                </a:lnTo>
                <a:lnTo>
                  <a:pt x="130969" y="0"/>
                </a:lnTo>
                <a:close/>
                <a:moveTo>
                  <a:pt x="59531" y="136922"/>
                </a:moveTo>
                <a:cubicBezTo>
                  <a:pt x="59531" y="131973"/>
                  <a:pt x="63512" y="127992"/>
                  <a:pt x="68461" y="127992"/>
                </a:cubicBezTo>
                <a:lnTo>
                  <a:pt x="80367" y="127992"/>
                </a:lnTo>
                <a:cubicBezTo>
                  <a:pt x="85316" y="127992"/>
                  <a:pt x="89297" y="131973"/>
                  <a:pt x="89297" y="136922"/>
                </a:cubicBezTo>
                <a:cubicBezTo>
                  <a:pt x="89297" y="141870"/>
                  <a:pt x="85316" y="145852"/>
                  <a:pt x="80367" y="145852"/>
                </a:cubicBezTo>
                <a:lnTo>
                  <a:pt x="68461" y="145852"/>
                </a:lnTo>
                <a:cubicBezTo>
                  <a:pt x="63512" y="145852"/>
                  <a:pt x="59531" y="141870"/>
                  <a:pt x="59531" y="136922"/>
                </a:cubicBezTo>
                <a:close/>
                <a:moveTo>
                  <a:pt x="104180" y="136922"/>
                </a:moveTo>
                <a:cubicBezTo>
                  <a:pt x="104180" y="131973"/>
                  <a:pt x="108161" y="127992"/>
                  <a:pt x="113109" y="127992"/>
                </a:cubicBezTo>
                <a:lnTo>
                  <a:pt x="125016" y="127992"/>
                </a:lnTo>
                <a:cubicBezTo>
                  <a:pt x="129964" y="127992"/>
                  <a:pt x="133945" y="131973"/>
                  <a:pt x="133945" y="136922"/>
                </a:cubicBezTo>
                <a:cubicBezTo>
                  <a:pt x="133945" y="141870"/>
                  <a:pt x="129964" y="145852"/>
                  <a:pt x="125016" y="145852"/>
                </a:cubicBezTo>
                <a:lnTo>
                  <a:pt x="113109" y="145852"/>
                </a:lnTo>
                <a:cubicBezTo>
                  <a:pt x="108161" y="145852"/>
                  <a:pt x="104180" y="141870"/>
                  <a:pt x="104180" y="136922"/>
                </a:cubicBezTo>
                <a:close/>
                <a:moveTo>
                  <a:pt x="148828" y="136922"/>
                </a:moveTo>
                <a:cubicBezTo>
                  <a:pt x="148828" y="131973"/>
                  <a:pt x="152809" y="127992"/>
                  <a:pt x="157758" y="127992"/>
                </a:cubicBezTo>
                <a:lnTo>
                  <a:pt x="169664" y="127992"/>
                </a:lnTo>
                <a:cubicBezTo>
                  <a:pt x="174613" y="127992"/>
                  <a:pt x="178594" y="131973"/>
                  <a:pt x="178594" y="136922"/>
                </a:cubicBezTo>
                <a:cubicBezTo>
                  <a:pt x="178594" y="141870"/>
                  <a:pt x="174613" y="145852"/>
                  <a:pt x="169664" y="145852"/>
                </a:cubicBezTo>
                <a:lnTo>
                  <a:pt x="157758" y="145852"/>
                </a:lnTo>
                <a:cubicBezTo>
                  <a:pt x="152809" y="145852"/>
                  <a:pt x="148828" y="141870"/>
                  <a:pt x="148828" y="136922"/>
                </a:cubicBezTo>
                <a:close/>
                <a:moveTo>
                  <a:pt x="83344" y="65484"/>
                </a:moveTo>
                <a:cubicBezTo>
                  <a:pt x="93201" y="65484"/>
                  <a:pt x="101203" y="73487"/>
                  <a:pt x="101203" y="83344"/>
                </a:cubicBezTo>
                <a:cubicBezTo>
                  <a:pt x="101203" y="93201"/>
                  <a:pt x="93201" y="101203"/>
                  <a:pt x="83344" y="101203"/>
                </a:cubicBezTo>
                <a:cubicBezTo>
                  <a:pt x="73487" y="101203"/>
                  <a:pt x="65484" y="93201"/>
                  <a:pt x="65484" y="83344"/>
                </a:cubicBezTo>
                <a:cubicBezTo>
                  <a:pt x="65484" y="73487"/>
                  <a:pt x="73487" y="65484"/>
                  <a:pt x="83344" y="65484"/>
                </a:cubicBezTo>
                <a:close/>
                <a:moveTo>
                  <a:pt x="136922" y="83344"/>
                </a:moveTo>
                <a:cubicBezTo>
                  <a:pt x="136922" y="73487"/>
                  <a:pt x="144924" y="65484"/>
                  <a:pt x="154781" y="65484"/>
                </a:cubicBezTo>
                <a:cubicBezTo>
                  <a:pt x="164638" y="65484"/>
                  <a:pt x="172641" y="73487"/>
                  <a:pt x="172641" y="83344"/>
                </a:cubicBezTo>
                <a:cubicBezTo>
                  <a:pt x="172641" y="93201"/>
                  <a:pt x="164638" y="101203"/>
                  <a:pt x="154781" y="101203"/>
                </a:cubicBezTo>
                <a:cubicBezTo>
                  <a:pt x="144924" y="101203"/>
                  <a:pt x="136922" y="93201"/>
                  <a:pt x="136922" y="83344"/>
                </a:cubicBezTo>
                <a:close/>
                <a:moveTo>
                  <a:pt x="23812" y="83344"/>
                </a:moveTo>
                <a:cubicBezTo>
                  <a:pt x="23812" y="76758"/>
                  <a:pt x="18492" y="71438"/>
                  <a:pt x="11906" y="71438"/>
                </a:cubicBezTo>
                <a:cubicBezTo>
                  <a:pt x="5321" y="71438"/>
                  <a:pt x="0" y="76758"/>
                  <a:pt x="0" y="83344"/>
                </a:cubicBezTo>
                <a:lnTo>
                  <a:pt x="0" y="119063"/>
                </a:lnTo>
                <a:cubicBezTo>
                  <a:pt x="0" y="125648"/>
                  <a:pt x="5321" y="130969"/>
                  <a:pt x="11906" y="130969"/>
                </a:cubicBezTo>
                <a:cubicBezTo>
                  <a:pt x="18492" y="130969"/>
                  <a:pt x="23812" y="125648"/>
                  <a:pt x="23812" y="119063"/>
                </a:cubicBezTo>
                <a:lnTo>
                  <a:pt x="23812" y="83344"/>
                </a:lnTo>
                <a:close/>
                <a:moveTo>
                  <a:pt x="226219" y="71438"/>
                </a:moveTo>
                <a:cubicBezTo>
                  <a:pt x="219633" y="71438"/>
                  <a:pt x="214313" y="76758"/>
                  <a:pt x="214313" y="83344"/>
                </a:cubicBezTo>
                <a:lnTo>
                  <a:pt x="214313" y="119063"/>
                </a:lnTo>
                <a:cubicBezTo>
                  <a:pt x="214313" y="125648"/>
                  <a:pt x="219633" y="130969"/>
                  <a:pt x="226219" y="130969"/>
                </a:cubicBezTo>
                <a:cubicBezTo>
                  <a:pt x="232804" y="130969"/>
                  <a:pt x="238125" y="125648"/>
                  <a:pt x="238125" y="119063"/>
                </a:cubicBezTo>
                <a:lnTo>
                  <a:pt x="238125" y="83344"/>
                </a:lnTo>
                <a:cubicBezTo>
                  <a:pt x="238125" y="76758"/>
                  <a:pt x="232804" y="71438"/>
                  <a:pt x="226219" y="71438"/>
                </a:cubicBezTo>
                <a:close/>
              </a:path>
            </a:pathLst>
          </a:custGeom>
          <a:solidFill>
            <a:srgbClr val="2A9D8F"/>
          </a:solidFill>
          <a:ln/>
        </p:spPr>
      </p:sp>
      <p:sp>
        <p:nvSpPr>
          <p:cNvPr id="17" name="Text 15"/>
          <p:cNvSpPr/>
          <p:nvPr/>
        </p:nvSpPr>
        <p:spPr>
          <a:xfrm>
            <a:off x="936625" y="3782219"/>
            <a:ext cx="754063" cy="190500"/>
          </a:xfrm>
          <a:prstGeom prst="rect">
            <a:avLst/>
          </a:prstGeom>
          <a:noFill/>
          <a:ln/>
        </p:spPr>
        <p:txBody>
          <a:bodyPr wrap="square" lIns="0" tIns="0" rIns="0" bIns="0" rtlCol="0" anchor="ctr"/>
          <a:lstStyle/>
          <a:p>
            <a:pPr>
              <a:lnSpc>
                <a:spcPct val="130000"/>
              </a:lnSpc>
            </a:pPr>
            <a:r>
              <a:rPr lang="en-US" sz="1000" b="1" dirty="0">
                <a:solidFill>
                  <a:srgbClr val="2B2D42"/>
                </a:solidFill>
                <a:latin typeface="Quattrocento Sans" pitchFamily="34" charset="0"/>
                <a:ea typeface="Quattrocento Sans" pitchFamily="34" charset="-122"/>
                <a:cs typeface="Quattrocento Sans" pitchFamily="34" charset="-120"/>
              </a:rPr>
              <a:t>AI Assistants</a:t>
            </a:r>
            <a:endParaRPr lang="en-US" sz="1600" dirty="0"/>
          </a:p>
        </p:txBody>
      </p:sp>
      <p:sp>
        <p:nvSpPr>
          <p:cNvPr id="18" name="Text 16"/>
          <p:cNvSpPr/>
          <p:nvPr/>
        </p:nvSpPr>
        <p:spPr>
          <a:xfrm>
            <a:off x="603250" y="4036219"/>
            <a:ext cx="5167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24/7 personalized financial coaching and automated decision-making</a:t>
            </a:r>
            <a:endParaRPr lang="en-US" sz="1600" dirty="0"/>
          </a:p>
        </p:txBody>
      </p:sp>
      <p:sp>
        <p:nvSpPr>
          <p:cNvPr id="19" name="Shape 17"/>
          <p:cNvSpPr/>
          <p:nvPr/>
        </p:nvSpPr>
        <p:spPr>
          <a:xfrm>
            <a:off x="317500" y="4623594"/>
            <a:ext cx="5683250" cy="1444625"/>
          </a:xfrm>
          <a:custGeom>
            <a:avLst/>
            <a:gdLst/>
            <a:ahLst/>
            <a:cxnLst/>
            <a:rect l="l" t="t" r="r" b="b"/>
            <a:pathLst>
              <a:path w="5683250" h="1444625">
                <a:moveTo>
                  <a:pt x="31750" y="0"/>
                </a:moveTo>
                <a:lnTo>
                  <a:pt x="5651500" y="0"/>
                </a:lnTo>
                <a:cubicBezTo>
                  <a:pt x="5669035" y="0"/>
                  <a:pt x="5683250" y="14215"/>
                  <a:pt x="5683250" y="31750"/>
                </a:cubicBezTo>
                <a:lnTo>
                  <a:pt x="5683250" y="1349381"/>
                </a:lnTo>
                <a:cubicBezTo>
                  <a:pt x="5683250" y="1401983"/>
                  <a:pt x="5640608" y="1444625"/>
                  <a:pt x="5588006" y="1444625"/>
                </a:cubicBezTo>
                <a:lnTo>
                  <a:pt x="95244" y="1444625"/>
                </a:lnTo>
                <a:cubicBezTo>
                  <a:pt x="42642" y="1444625"/>
                  <a:pt x="0" y="1401983"/>
                  <a:pt x="0" y="1349381"/>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20" name="Shape 18"/>
          <p:cNvSpPr/>
          <p:nvPr/>
        </p:nvSpPr>
        <p:spPr>
          <a:xfrm>
            <a:off x="317500" y="4623594"/>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2A9D8F"/>
          </a:solidFill>
          <a:ln/>
        </p:spPr>
      </p:sp>
      <p:sp>
        <p:nvSpPr>
          <p:cNvPr id="21" name="Shape 19"/>
          <p:cNvSpPr/>
          <p:nvPr/>
        </p:nvSpPr>
        <p:spPr>
          <a:xfrm>
            <a:off x="476250" y="4798219"/>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2A9D8F"/>
          </a:solidFill>
          <a:ln/>
        </p:spPr>
      </p:sp>
      <p:sp>
        <p:nvSpPr>
          <p:cNvPr id="22" name="Shape 20"/>
          <p:cNvSpPr/>
          <p:nvPr/>
        </p:nvSpPr>
        <p:spPr>
          <a:xfrm>
            <a:off x="613172" y="4933156"/>
            <a:ext cx="238125" cy="238125"/>
          </a:xfrm>
          <a:custGeom>
            <a:avLst/>
            <a:gdLst/>
            <a:ahLst/>
            <a:cxnLst/>
            <a:rect l="l" t="t" r="r" b="b"/>
            <a:pathLst>
              <a:path w="238125" h="238125">
                <a:moveTo>
                  <a:pt x="59531" y="44648"/>
                </a:moveTo>
                <a:lnTo>
                  <a:pt x="59531" y="37207"/>
                </a:lnTo>
                <a:cubicBezTo>
                  <a:pt x="59531" y="16650"/>
                  <a:pt x="99529" y="0"/>
                  <a:pt x="148828" y="0"/>
                </a:cubicBezTo>
                <a:cubicBezTo>
                  <a:pt x="198127" y="0"/>
                  <a:pt x="238125" y="16650"/>
                  <a:pt x="238125" y="37207"/>
                </a:cubicBezTo>
                <a:lnTo>
                  <a:pt x="238125" y="44648"/>
                </a:lnTo>
                <a:cubicBezTo>
                  <a:pt x="238125" y="58880"/>
                  <a:pt x="218917" y="71251"/>
                  <a:pt x="190686" y="77530"/>
                </a:cubicBezTo>
                <a:cubicBezTo>
                  <a:pt x="189570" y="76228"/>
                  <a:pt x="188407" y="74972"/>
                  <a:pt x="187244" y="73809"/>
                </a:cubicBezTo>
                <a:cubicBezTo>
                  <a:pt x="180036" y="66694"/>
                  <a:pt x="170734" y="61299"/>
                  <a:pt x="161013" y="57299"/>
                </a:cubicBezTo>
                <a:cubicBezTo>
                  <a:pt x="141526" y="49160"/>
                  <a:pt x="116132" y="44695"/>
                  <a:pt x="89297" y="44695"/>
                </a:cubicBezTo>
                <a:cubicBezTo>
                  <a:pt x="79111" y="44695"/>
                  <a:pt x="69159" y="45346"/>
                  <a:pt x="59624" y="46602"/>
                </a:cubicBezTo>
                <a:cubicBezTo>
                  <a:pt x="59531" y="45997"/>
                  <a:pt x="59531" y="45346"/>
                  <a:pt x="59531" y="44695"/>
                </a:cubicBezTo>
                <a:close/>
                <a:moveTo>
                  <a:pt x="200918" y="164176"/>
                </a:moveTo>
                <a:lnTo>
                  <a:pt x="200918" y="142689"/>
                </a:lnTo>
                <a:cubicBezTo>
                  <a:pt x="207941" y="140875"/>
                  <a:pt x="214545" y="138736"/>
                  <a:pt x="220545" y="136224"/>
                </a:cubicBezTo>
                <a:cubicBezTo>
                  <a:pt x="226684" y="133666"/>
                  <a:pt x="232683" y="130550"/>
                  <a:pt x="238125" y="126783"/>
                </a:cubicBezTo>
                <a:lnTo>
                  <a:pt x="238125" y="133945"/>
                </a:lnTo>
                <a:cubicBezTo>
                  <a:pt x="238125" y="146410"/>
                  <a:pt x="223475" y="157432"/>
                  <a:pt x="200918" y="164176"/>
                </a:cubicBezTo>
                <a:close/>
                <a:moveTo>
                  <a:pt x="200918" y="119528"/>
                </a:moveTo>
                <a:lnTo>
                  <a:pt x="200918" y="104180"/>
                </a:lnTo>
                <a:cubicBezTo>
                  <a:pt x="200918" y="102087"/>
                  <a:pt x="200732" y="100087"/>
                  <a:pt x="200453" y="98134"/>
                </a:cubicBezTo>
                <a:cubicBezTo>
                  <a:pt x="207662" y="96320"/>
                  <a:pt x="214406" y="94134"/>
                  <a:pt x="220545" y="91529"/>
                </a:cubicBezTo>
                <a:cubicBezTo>
                  <a:pt x="226684" y="88925"/>
                  <a:pt x="232683" y="85855"/>
                  <a:pt x="238125" y="82088"/>
                </a:cubicBezTo>
                <a:lnTo>
                  <a:pt x="238125" y="89250"/>
                </a:lnTo>
                <a:cubicBezTo>
                  <a:pt x="238125" y="101715"/>
                  <a:pt x="223475" y="112737"/>
                  <a:pt x="200918" y="119481"/>
                </a:cubicBezTo>
                <a:close/>
                <a:moveTo>
                  <a:pt x="0" y="111621"/>
                </a:moveTo>
                <a:lnTo>
                  <a:pt x="0" y="104180"/>
                </a:lnTo>
                <a:cubicBezTo>
                  <a:pt x="0" y="83623"/>
                  <a:pt x="39998" y="66973"/>
                  <a:pt x="89297" y="66973"/>
                </a:cubicBezTo>
                <a:cubicBezTo>
                  <a:pt x="138596" y="66973"/>
                  <a:pt x="178594" y="83623"/>
                  <a:pt x="178594" y="104180"/>
                </a:cubicBezTo>
                <a:lnTo>
                  <a:pt x="178594" y="111621"/>
                </a:lnTo>
                <a:cubicBezTo>
                  <a:pt x="178594" y="132178"/>
                  <a:pt x="138596" y="148828"/>
                  <a:pt x="89297" y="148828"/>
                </a:cubicBezTo>
                <a:cubicBezTo>
                  <a:pt x="39998" y="148828"/>
                  <a:pt x="0" y="132178"/>
                  <a:pt x="0" y="111621"/>
                </a:cubicBezTo>
                <a:close/>
                <a:moveTo>
                  <a:pt x="178594" y="156270"/>
                </a:moveTo>
                <a:cubicBezTo>
                  <a:pt x="178594" y="176826"/>
                  <a:pt x="138596" y="193477"/>
                  <a:pt x="89297" y="193477"/>
                </a:cubicBezTo>
                <a:cubicBezTo>
                  <a:pt x="39998" y="193477"/>
                  <a:pt x="0" y="176826"/>
                  <a:pt x="0" y="156270"/>
                </a:cubicBezTo>
                <a:lnTo>
                  <a:pt x="0" y="149107"/>
                </a:lnTo>
                <a:cubicBezTo>
                  <a:pt x="5395" y="152874"/>
                  <a:pt x="11395" y="155944"/>
                  <a:pt x="17580" y="158548"/>
                </a:cubicBezTo>
                <a:cubicBezTo>
                  <a:pt x="37068" y="166688"/>
                  <a:pt x="62461" y="171152"/>
                  <a:pt x="89297" y="171152"/>
                </a:cubicBezTo>
                <a:cubicBezTo>
                  <a:pt x="116132" y="171152"/>
                  <a:pt x="141526" y="166641"/>
                  <a:pt x="161013" y="158548"/>
                </a:cubicBezTo>
                <a:cubicBezTo>
                  <a:pt x="167153" y="155990"/>
                  <a:pt x="173152" y="152874"/>
                  <a:pt x="178594" y="149107"/>
                </a:cubicBezTo>
                <a:lnTo>
                  <a:pt x="178594" y="156270"/>
                </a:lnTo>
                <a:close/>
                <a:moveTo>
                  <a:pt x="178594" y="193756"/>
                </a:moveTo>
                <a:lnTo>
                  <a:pt x="178594" y="200918"/>
                </a:lnTo>
                <a:cubicBezTo>
                  <a:pt x="178594" y="221475"/>
                  <a:pt x="138596" y="238125"/>
                  <a:pt x="89297" y="238125"/>
                </a:cubicBezTo>
                <a:cubicBezTo>
                  <a:pt x="39998" y="238125"/>
                  <a:pt x="0" y="221475"/>
                  <a:pt x="0" y="200918"/>
                </a:cubicBezTo>
                <a:lnTo>
                  <a:pt x="0" y="193756"/>
                </a:lnTo>
                <a:cubicBezTo>
                  <a:pt x="5395" y="197523"/>
                  <a:pt x="11395" y="200592"/>
                  <a:pt x="17580" y="203197"/>
                </a:cubicBezTo>
                <a:cubicBezTo>
                  <a:pt x="37068" y="211336"/>
                  <a:pt x="62461" y="215801"/>
                  <a:pt x="89297" y="215801"/>
                </a:cubicBezTo>
                <a:cubicBezTo>
                  <a:pt x="116132" y="215801"/>
                  <a:pt x="141526" y="211289"/>
                  <a:pt x="161013" y="203197"/>
                </a:cubicBezTo>
                <a:cubicBezTo>
                  <a:pt x="167153" y="200639"/>
                  <a:pt x="173152" y="197523"/>
                  <a:pt x="178594" y="193756"/>
                </a:cubicBezTo>
                <a:close/>
              </a:path>
            </a:pathLst>
          </a:custGeom>
          <a:solidFill>
            <a:srgbClr val="FFFFFF"/>
          </a:solidFill>
          <a:ln/>
        </p:spPr>
      </p:sp>
      <p:sp>
        <p:nvSpPr>
          <p:cNvPr id="23" name="Text 21"/>
          <p:cNvSpPr/>
          <p:nvPr/>
        </p:nvSpPr>
        <p:spPr>
          <a:xfrm>
            <a:off x="1111250" y="4798219"/>
            <a:ext cx="482600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Central Bank Digital Currencies</a:t>
            </a:r>
            <a:endParaRPr lang="en-US" sz="1600" dirty="0"/>
          </a:p>
        </p:txBody>
      </p:sp>
      <p:sp>
        <p:nvSpPr>
          <p:cNvPr id="24" name="Text 22"/>
          <p:cNvSpPr/>
          <p:nvPr/>
        </p:nvSpPr>
        <p:spPr>
          <a:xfrm>
            <a:off x="1111250" y="5115719"/>
            <a:ext cx="4794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CBDCs will transform how money is issued, distributed, and used, offering faster, cheaper, and more secure transactions.</a:t>
            </a:r>
            <a:endParaRPr lang="en-US" sz="1600" dirty="0"/>
          </a:p>
        </p:txBody>
      </p:sp>
      <p:sp>
        <p:nvSpPr>
          <p:cNvPr id="25" name="Shape 23"/>
          <p:cNvSpPr/>
          <p:nvPr/>
        </p:nvSpPr>
        <p:spPr>
          <a:xfrm>
            <a:off x="476250" y="5623719"/>
            <a:ext cx="1746250" cy="285750"/>
          </a:xfrm>
          <a:custGeom>
            <a:avLst/>
            <a:gdLst/>
            <a:ahLst/>
            <a:cxnLst/>
            <a:rect l="l" t="t" r="r" b="b"/>
            <a:pathLst>
              <a:path w="1746250" h="285750">
                <a:moveTo>
                  <a:pt x="31750" y="0"/>
                </a:moveTo>
                <a:lnTo>
                  <a:pt x="1714500" y="0"/>
                </a:lnTo>
                <a:cubicBezTo>
                  <a:pt x="1732035" y="0"/>
                  <a:pt x="1746250" y="14215"/>
                  <a:pt x="1746250" y="31750"/>
                </a:cubicBezTo>
                <a:lnTo>
                  <a:pt x="1746250" y="254000"/>
                </a:lnTo>
                <a:cubicBezTo>
                  <a:pt x="1746250" y="271535"/>
                  <a:pt x="1732035" y="285750"/>
                  <a:pt x="1714500" y="285750"/>
                </a:cubicBezTo>
                <a:lnTo>
                  <a:pt x="31750" y="285750"/>
                </a:lnTo>
                <a:cubicBezTo>
                  <a:pt x="14215" y="285750"/>
                  <a:pt x="0" y="271535"/>
                  <a:pt x="0" y="254000"/>
                </a:cubicBezTo>
                <a:lnTo>
                  <a:pt x="0" y="31750"/>
                </a:lnTo>
                <a:cubicBezTo>
                  <a:pt x="0" y="14227"/>
                  <a:pt x="14227" y="0"/>
                  <a:pt x="31750" y="0"/>
                </a:cubicBezTo>
                <a:close/>
              </a:path>
            </a:pathLst>
          </a:custGeom>
          <a:solidFill>
            <a:srgbClr val="F8F9FA"/>
          </a:solidFill>
          <a:ln/>
        </p:spPr>
      </p:sp>
      <p:sp>
        <p:nvSpPr>
          <p:cNvPr id="26" name="Text 24"/>
          <p:cNvSpPr/>
          <p:nvPr/>
        </p:nvSpPr>
        <p:spPr>
          <a:xfrm>
            <a:off x="448469" y="5623719"/>
            <a:ext cx="1801813" cy="285750"/>
          </a:xfrm>
          <a:prstGeom prst="rect">
            <a:avLst/>
          </a:prstGeom>
          <a:noFill/>
          <a:ln/>
        </p:spPr>
        <p:txBody>
          <a:bodyPr wrap="square" lIns="63500" tIns="63500" rIns="63500" bIns="63500" rtlCol="0" anchor="ctr"/>
          <a:lstStyle/>
          <a:p>
            <a:pPr algn="ctr">
              <a:lnSpc>
                <a:spcPct val="120000"/>
              </a:lnSpc>
            </a:pPr>
            <a:r>
              <a:rPr lang="en-US" sz="875" dirty="0">
                <a:solidFill>
                  <a:srgbClr val="2B2D42"/>
                </a:solidFill>
                <a:latin typeface="Quattrocento Sans" pitchFamily="34" charset="0"/>
                <a:ea typeface="Quattrocento Sans" pitchFamily="34" charset="-122"/>
                <a:cs typeface="Quattrocento Sans" pitchFamily="34" charset="-120"/>
              </a:rPr>
              <a:t>China (e-CNY)</a:t>
            </a:r>
            <a:endParaRPr lang="en-US" sz="1600" dirty="0"/>
          </a:p>
        </p:txBody>
      </p:sp>
      <p:sp>
        <p:nvSpPr>
          <p:cNvPr id="27" name="Shape 25"/>
          <p:cNvSpPr/>
          <p:nvPr/>
        </p:nvSpPr>
        <p:spPr>
          <a:xfrm>
            <a:off x="2286000" y="5623719"/>
            <a:ext cx="1746250" cy="285750"/>
          </a:xfrm>
          <a:custGeom>
            <a:avLst/>
            <a:gdLst/>
            <a:ahLst/>
            <a:cxnLst/>
            <a:rect l="l" t="t" r="r" b="b"/>
            <a:pathLst>
              <a:path w="1746250" h="285750">
                <a:moveTo>
                  <a:pt x="31750" y="0"/>
                </a:moveTo>
                <a:lnTo>
                  <a:pt x="1714500" y="0"/>
                </a:lnTo>
                <a:cubicBezTo>
                  <a:pt x="1732035" y="0"/>
                  <a:pt x="1746250" y="14215"/>
                  <a:pt x="1746250" y="31750"/>
                </a:cubicBezTo>
                <a:lnTo>
                  <a:pt x="1746250" y="254000"/>
                </a:lnTo>
                <a:cubicBezTo>
                  <a:pt x="1746250" y="271535"/>
                  <a:pt x="1732035" y="285750"/>
                  <a:pt x="1714500" y="285750"/>
                </a:cubicBezTo>
                <a:lnTo>
                  <a:pt x="31750" y="285750"/>
                </a:lnTo>
                <a:cubicBezTo>
                  <a:pt x="14215" y="285750"/>
                  <a:pt x="0" y="271535"/>
                  <a:pt x="0" y="254000"/>
                </a:cubicBezTo>
                <a:lnTo>
                  <a:pt x="0" y="31750"/>
                </a:lnTo>
                <a:cubicBezTo>
                  <a:pt x="0" y="14227"/>
                  <a:pt x="14227" y="0"/>
                  <a:pt x="31750" y="0"/>
                </a:cubicBezTo>
                <a:close/>
              </a:path>
            </a:pathLst>
          </a:custGeom>
          <a:solidFill>
            <a:srgbClr val="F8F9FA"/>
          </a:solidFill>
          <a:ln/>
        </p:spPr>
      </p:sp>
      <p:sp>
        <p:nvSpPr>
          <p:cNvPr id="28" name="Text 26"/>
          <p:cNvSpPr/>
          <p:nvPr/>
        </p:nvSpPr>
        <p:spPr>
          <a:xfrm>
            <a:off x="2258219" y="5623719"/>
            <a:ext cx="1801813" cy="285750"/>
          </a:xfrm>
          <a:prstGeom prst="rect">
            <a:avLst/>
          </a:prstGeom>
          <a:noFill/>
          <a:ln/>
        </p:spPr>
        <p:txBody>
          <a:bodyPr wrap="square" lIns="63500" tIns="63500" rIns="63500" bIns="63500" rtlCol="0" anchor="ctr"/>
          <a:lstStyle/>
          <a:p>
            <a:pPr algn="ctr">
              <a:lnSpc>
                <a:spcPct val="120000"/>
              </a:lnSpc>
            </a:pPr>
            <a:r>
              <a:rPr lang="en-US" sz="875" dirty="0">
                <a:solidFill>
                  <a:srgbClr val="2B2D42"/>
                </a:solidFill>
                <a:latin typeface="Quattrocento Sans" pitchFamily="34" charset="0"/>
                <a:ea typeface="Quattrocento Sans" pitchFamily="34" charset="-122"/>
                <a:cs typeface="Quattrocento Sans" pitchFamily="34" charset="-120"/>
              </a:rPr>
              <a:t>EU (Digital Euro)</a:t>
            </a:r>
            <a:endParaRPr lang="en-US" sz="1600" dirty="0"/>
          </a:p>
        </p:txBody>
      </p:sp>
      <p:sp>
        <p:nvSpPr>
          <p:cNvPr id="29" name="Shape 27"/>
          <p:cNvSpPr/>
          <p:nvPr/>
        </p:nvSpPr>
        <p:spPr>
          <a:xfrm>
            <a:off x="4095750" y="5623719"/>
            <a:ext cx="1746250" cy="285750"/>
          </a:xfrm>
          <a:custGeom>
            <a:avLst/>
            <a:gdLst/>
            <a:ahLst/>
            <a:cxnLst/>
            <a:rect l="l" t="t" r="r" b="b"/>
            <a:pathLst>
              <a:path w="1746250" h="285750">
                <a:moveTo>
                  <a:pt x="31750" y="0"/>
                </a:moveTo>
                <a:lnTo>
                  <a:pt x="1714500" y="0"/>
                </a:lnTo>
                <a:cubicBezTo>
                  <a:pt x="1732035" y="0"/>
                  <a:pt x="1746250" y="14215"/>
                  <a:pt x="1746250" y="31750"/>
                </a:cubicBezTo>
                <a:lnTo>
                  <a:pt x="1746250" y="254000"/>
                </a:lnTo>
                <a:cubicBezTo>
                  <a:pt x="1746250" y="271535"/>
                  <a:pt x="1732035" y="285750"/>
                  <a:pt x="1714500" y="285750"/>
                </a:cubicBezTo>
                <a:lnTo>
                  <a:pt x="31750" y="285750"/>
                </a:lnTo>
                <a:cubicBezTo>
                  <a:pt x="14215" y="285750"/>
                  <a:pt x="0" y="271535"/>
                  <a:pt x="0" y="254000"/>
                </a:cubicBezTo>
                <a:lnTo>
                  <a:pt x="0" y="31750"/>
                </a:lnTo>
                <a:cubicBezTo>
                  <a:pt x="0" y="14227"/>
                  <a:pt x="14227" y="0"/>
                  <a:pt x="31750" y="0"/>
                </a:cubicBezTo>
                <a:close/>
              </a:path>
            </a:pathLst>
          </a:custGeom>
          <a:solidFill>
            <a:srgbClr val="F8F9FA"/>
          </a:solidFill>
          <a:ln/>
        </p:spPr>
      </p:sp>
      <p:sp>
        <p:nvSpPr>
          <p:cNvPr id="30" name="Text 28"/>
          <p:cNvSpPr/>
          <p:nvPr/>
        </p:nvSpPr>
        <p:spPr>
          <a:xfrm>
            <a:off x="4067969" y="5623719"/>
            <a:ext cx="1801813" cy="285750"/>
          </a:xfrm>
          <a:prstGeom prst="rect">
            <a:avLst/>
          </a:prstGeom>
          <a:noFill/>
          <a:ln/>
        </p:spPr>
        <p:txBody>
          <a:bodyPr wrap="square" lIns="63500" tIns="63500" rIns="63500" bIns="63500" rtlCol="0" anchor="ctr"/>
          <a:lstStyle/>
          <a:p>
            <a:pPr algn="ctr">
              <a:lnSpc>
                <a:spcPct val="120000"/>
              </a:lnSpc>
            </a:pPr>
            <a:r>
              <a:rPr lang="en-US" sz="875" dirty="0">
                <a:solidFill>
                  <a:srgbClr val="2B2D42"/>
                </a:solidFill>
                <a:latin typeface="Quattrocento Sans" pitchFamily="34" charset="0"/>
                <a:ea typeface="Quattrocento Sans" pitchFamily="34" charset="-122"/>
                <a:cs typeface="Quattrocento Sans" pitchFamily="34" charset="-120"/>
              </a:rPr>
              <a:t>India (e-Rupee)</a:t>
            </a:r>
            <a:endParaRPr lang="en-US" sz="1600" dirty="0"/>
          </a:p>
        </p:txBody>
      </p:sp>
      <p:sp>
        <p:nvSpPr>
          <p:cNvPr id="31" name="Shape 29"/>
          <p:cNvSpPr/>
          <p:nvPr/>
        </p:nvSpPr>
        <p:spPr>
          <a:xfrm>
            <a:off x="6191250" y="1365250"/>
            <a:ext cx="5683250" cy="1539875"/>
          </a:xfrm>
          <a:custGeom>
            <a:avLst/>
            <a:gdLst/>
            <a:ahLst/>
            <a:cxnLst/>
            <a:rect l="l" t="t" r="r" b="b"/>
            <a:pathLst>
              <a:path w="5683250" h="1539875">
                <a:moveTo>
                  <a:pt x="31750" y="0"/>
                </a:moveTo>
                <a:lnTo>
                  <a:pt x="5651500" y="0"/>
                </a:lnTo>
                <a:cubicBezTo>
                  <a:pt x="5669035" y="0"/>
                  <a:pt x="5683250" y="14215"/>
                  <a:pt x="5683250" y="31750"/>
                </a:cubicBezTo>
                <a:lnTo>
                  <a:pt x="5683250" y="1444618"/>
                </a:lnTo>
                <a:cubicBezTo>
                  <a:pt x="5683250" y="1497227"/>
                  <a:pt x="5640602" y="1539875"/>
                  <a:pt x="5587993" y="1539875"/>
                </a:cubicBezTo>
                <a:lnTo>
                  <a:pt x="95257" y="1539875"/>
                </a:lnTo>
                <a:cubicBezTo>
                  <a:pt x="42648" y="1539875"/>
                  <a:pt x="0" y="1497227"/>
                  <a:pt x="0" y="1444618"/>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32" name="Shape 30"/>
          <p:cNvSpPr/>
          <p:nvPr/>
        </p:nvSpPr>
        <p:spPr>
          <a:xfrm>
            <a:off x="6191250" y="1365250"/>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1A3A5C"/>
          </a:solidFill>
          <a:ln/>
        </p:spPr>
      </p:sp>
      <p:sp>
        <p:nvSpPr>
          <p:cNvPr id="33" name="Shape 31"/>
          <p:cNvSpPr/>
          <p:nvPr/>
        </p:nvSpPr>
        <p:spPr>
          <a:xfrm>
            <a:off x="6350000" y="1539875"/>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1A3A5C"/>
          </a:solidFill>
          <a:ln/>
        </p:spPr>
      </p:sp>
      <p:sp>
        <p:nvSpPr>
          <p:cNvPr id="34" name="Shape 32"/>
          <p:cNvSpPr/>
          <p:nvPr/>
        </p:nvSpPr>
        <p:spPr>
          <a:xfrm>
            <a:off x="6501805" y="1674813"/>
            <a:ext cx="208359" cy="238125"/>
          </a:xfrm>
          <a:custGeom>
            <a:avLst/>
            <a:gdLst/>
            <a:ahLst/>
            <a:cxnLst/>
            <a:rect l="l" t="t" r="r" b="b"/>
            <a:pathLst>
              <a:path w="208359" h="238125">
                <a:moveTo>
                  <a:pt x="104180" y="185477"/>
                </a:moveTo>
                <a:cubicBezTo>
                  <a:pt x="98692" y="187849"/>
                  <a:pt x="93297" y="189988"/>
                  <a:pt x="87948" y="191756"/>
                </a:cubicBezTo>
                <a:cubicBezTo>
                  <a:pt x="95715" y="207476"/>
                  <a:pt x="102366" y="208359"/>
                  <a:pt x="104180" y="208359"/>
                </a:cubicBezTo>
                <a:cubicBezTo>
                  <a:pt x="105994" y="208359"/>
                  <a:pt x="112598" y="207476"/>
                  <a:pt x="120411" y="191756"/>
                </a:cubicBezTo>
                <a:cubicBezTo>
                  <a:pt x="115109" y="189942"/>
                  <a:pt x="109668" y="187849"/>
                  <a:pt x="104180" y="185477"/>
                </a:cubicBezTo>
                <a:close/>
                <a:moveTo>
                  <a:pt x="192546" y="119062"/>
                </a:moveTo>
                <a:cubicBezTo>
                  <a:pt x="207894" y="140084"/>
                  <a:pt x="213150" y="161339"/>
                  <a:pt x="203522" y="178594"/>
                </a:cubicBezTo>
                <a:cubicBezTo>
                  <a:pt x="194128" y="195476"/>
                  <a:pt x="174454" y="201523"/>
                  <a:pt x="149944" y="198686"/>
                </a:cubicBezTo>
                <a:cubicBezTo>
                  <a:pt x="139712" y="222917"/>
                  <a:pt x="124039" y="238125"/>
                  <a:pt x="104180" y="238125"/>
                </a:cubicBezTo>
                <a:cubicBezTo>
                  <a:pt x="84320" y="238125"/>
                  <a:pt x="68647" y="222917"/>
                  <a:pt x="58415" y="198686"/>
                </a:cubicBezTo>
                <a:cubicBezTo>
                  <a:pt x="33905" y="201523"/>
                  <a:pt x="14232" y="195476"/>
                  <a:pt x="4837" y="178594"/>
                </a:cubicBezTo>
                <a:cubicBezTo>
                  <a:pt x="-4790" y="161339"/>
                  <a:pt x="465" y="140084"/>
                  <a:pt x="15813" y="119062"/>
                </a:cubicBezTo>
                <a:cubicBezTo>
                  <a:pt x="465" y="98041"/>
                  <a:pt x="-4790" y="76786"/>
                  <a:pt x="4837" y="59531"/>
                </a:cubicBezTo>
                <a:cubicBezTo>
                  <a:pt x="14232" y="42649"/>
                  <a:pt x="33905" y="36602"/>
                  <a:pt x="58415" y="39439"/>
                </a:cubicBezTo>
                <a:cubicBezTo>
                  <a:pt x="68647" y="15208"/>
                  <a:pt x="84274" y="0"/>
                  <a:pt x="104180" y="0"/>
                </a:cubicBezTo>
                <a:cubicBezTo>
                  <a:pt x="124085" y="0"/>
                  <a:pt x="139712" y="15208"/>
                  <a:pt x="149944" y="39439"/>
                </a:cubicBezTo>
                <a:cubicBezTo>
                  <a:pt x="174454" y="36602"/>
                  <a:pt x="194128" y="42602"/>
                  <a:pt x="203522" y="59531"/>
                </a:cubicBezTo>
                <a:cubicBezTo>
                  <a:pt x="213150" y="76786"/>
                  <a:pt x="207894" y="98041"/>
                  <a:pt x="192546" y="119062"/>
                </a:cubicBezTo>
                <a:close/>
                <a:moveTo>
                  <a:pt x="161944" y="150409"/>
                </a:moveTo>
                <a:cubicBezTo>
                  <a:pt x="161153" y="157014"/>
                  <a:pt x="160130" y="163432"/>
                  <a:pt x="158828" y="169571"/>
                </a:cubicBezTo>
                <a:cubicBezTo>
                  <a:pt x="173617" y="170222"/>
                  <a:pt x="176780" y="165525"/>
                  <a:pt x="177524" y="164130"/>
                </a:cubicBezTo>
                <a:cubicBezTo>
                  <a:pt x="178594" y="162176"/>
                  <a:pt x="180780" y="155804"/>
                  <a:pt x="171990" y="141759"/>
                </a:cubicBezTo>
                <a:cubicBezTo>
                  <a:pt x="168827" y="144689"/>
                  <a:pt x="165478" y="147572"/>
                  <a:pt x="161944" y="150409"/>
                </a:cubicBezTo>
                <a:close/>
                <a:moveTo>
                  <a:pt x="158828" y="68600"/>
                </a:moveTo>
                <a:cubicBezTo>
                  <a:pt x="160130" y="74693"/>
                  <a:pt x="161153" y="81111"/>
                  <a:pt x="161944" y="87762"/>
                </a:cubicBezTo>
                <a:cubicBezTo>
                  <a:pt x="165478" y="90599"/>
                  <a:pt x="168827" y="93483"/>
                  <a:pt x="171990" y="96413"/>
                </a:cubicBezTo>
                <a:cubicBezTo>
                  <a:pt x="180780" y="82367"/>
                  <a:pt x="178594" y="75949"/>
                  <a:pt x="177524" y="74042"/>
                </a:cubicBezTo>
                <a:cubicBezTo>
                  <a:pt x="176780" y="72693"/>
                  <a:pt x="173617" y="67996"/>
                  <a:pt x="158828" y="68600"/>
                </a:cubicBezTo>
                <a:close/>
                <a:moveTo>
                  <a:pt x="120411" y="46369"/>
                </a:moveTo>
                <a:cubicBezTo>
                  <a:pt x="112598" y="30649"/>
                  <a:pt x="105994" y="29766"/>
                  <a:pt x="104180" y="29766"/>
                </a:cubicBezTo>
                <a:cubicBezTo>
                  <a:pt x="102366" y="29766"/>
                  <a:pt x="95762" y="30649"/>
                  <a:pt x="87948" y="46369"/>
                </a:cubicBezTo>
                <a:cubicBezTo>
                  <a:pt x="93250" y="48183"/>
                  <a:pt x="98692" y="50276"/>
                  <a:pt x="104180" y="52648"/>
                </a:cubicBezTo>
                <a:cubicBezTo>
                  <a:pt x="109668" y="50276"/>
                  <a:pt x="115063" y="48137"/>
                  <a:pt x="120411" y="46369"/>
                </a:cubicBezTo>
                <a:close/>
                <a:moveTo>
                  <a:pt x="46462" y="87716"/>
                </a:moveTo>
                <a:cubicBezTo>
                  <a:pt x="47253" y="81065"/>
                  <a:pt x="48276" y="74693"/>
                  <a:pt x="49578" y="68554"/>
                </a:cubicBezTo>
                <a:cubicBezTo>
                  <a:pt x="34789" y="67903"/>
                  <a:pt x="31626" y="72600"/>
                  <a:pt x="30882" y="73995"/>
                </a:cubicBezTo>
                <a:cubicBezTo>
                  <a:pt x="29812" y="75949"/>
                  <a:pt x="27626" y="82321"/>
                  <a:pt x="36416" y="96366"/>
                </a:cubicBezTo>
                <a:cubicBezTo>
                  <a:pt x="39579" y="93436"/>
                  <a:pt x="42928" y="90553"/>
                  <a:pt x="46462" y="87716"/>
                </a:cubicBezTo>
                <a:close/>
                <a:moveTo>
                  <a:pt x="36370" y="141759"/>
                </a:moveTo>
                <a:cubicBezTo>
                  <a:pt x="27580" y="155804"/>
                  <a:pt x="29766" y="162223"/>
                  <a:pt x="30835" y="164130"/>
                </a:cubicBezTo>
                <a:cubicBezTo>
                  <a:pt x="31579" y="165478"/>
                  <a:pt x="34742" y="170176"/>
                  <a:pt x="49532" y="169571"/>
                </a:cubicBezTo>
                <a:cubicBezTo>
                  <a:pt x="48230" y="163478"/>
                  <a:pt x="47206" y="157060"/>
                  <a:pt x="46416" y="150409"/>
                </a:cubicBezTo>
                <a:cubicBezTo>
                  <a:pt x="42881" y="147572"/>
                  <a:pt x="39532" y="144689"/>
                  <a:pt x="36370" y="141759"/>
                </a:cubicBezTo>
                <a:close/>
                <a:moveTo>
                  <a:pt x="141387" y="119062"/>
                </a:moveTo>
                <a:cubicBezTo>
                  <a:pt x="141387" y="98527"/>
                  <a:pt x="124715" y="81855"/>
                  <a:pt x="104180" y="81855"/>
                </a:cubicBezTo>
                <a:cubicBezTo>
                  <a:pt x="83645" y="81855"/>
                  <a:pt x="66973" y="98527"/>
                  <a:pt x="66973" y="119062"/>
                </a:cubicBezTo>
                <a:cubicBezTo>
                  <a:pt x="66973" y="139598"/>
                  <a:pt x="83645" y="156270"/>
                  <a:pt x="104180" y="156270"/>
                </a:cubicBezTo>
                <a:cubicBezTo>
                  <a:pt x="124715" y="156270"/>
                  <a:pt x="141387" y="139598"/>
                  <a:pt x="141387" y="119062"/>
                </a:cubicBezTo>
                <a:close/>
                <a:moveTo>
                  <a:pt x="104180" y="104180"/>
                </a:moveTo>
                <a:cubicBezTo>
                  <a:pt x="112394" y="104180"/>
                  <a:pt x="119062" y="110848"/>
                  <a:pt x="119062" y="119062"/>
                </a:cubicBezTo>
                <a:cubicBezTo>
                  <a:pt x="119062" y="127277"/>
                  <a:pt x="112394" y="133945"/>
                  <a:pt x="104180" y="133945"/>
                </a:cubicBezTo>
                <a:cubicBezTo>
                  <a:pt x="95966" y="133945"/>
                  <a:pt x="89297" y="127277"/>
                  <a:pt x="89297" y="119062"/>
                </a:cubicBezTo>
                <a:cubicBezTo>
                  <a:pt x="89297" y="110848"/>
                  <a:pt x="95966" y="104180"/>
                  <a:pt x="104180" y="104180"/>
                </a:cubicBezTo>
                <a:close/>
              </a:path>
            </a:pathLst>
          </a:custGeom>
          <a:solidFill>
            <a:srgbClr val="FFFFFF"/>
          </a:solidFill>
          <a:ln/>
        </p:spPr>
      </p:sp>
      <p:sp>
        <p:nvSpPr>
          <p:cNvPr id="35" name="Text 33"/>
          <p:cNvSpPr/>
          <p:nvPr/>
        </p:nvSpPr>
        <p:spPr>
          <a:xfrm>
            <a:off x="6985000" y="1539875"/>
            <a:ext cx="482600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Quantum Computing</a:t>
            </a:r>
            <a:endParaRPr lang="en-US" sz="1600" dirty="0"/>
          </a:p>
        </p:txBody>
      </p:sp>
      <p:sp>
        <p:nvSpPr>
          <p:cNvPr id="36" name="Text 34"/>
          <p:cNvSpPr/>
          <p:nvPr/>
        </p:nvSpPr>
        <p:spPr>
          <a:xfrm>
            <a:off x="6985000" y="1857375"/>
            <a:ext cx="4794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Quantum technology will revolutionize encryption, risk modeling, and fraud detection—but also poses new security threats.</a:t>
            </a:r>
            <a:endParaRPr lang="en-US" sz="1600" dirty="0"/>
          </a:p>
        </p:txBody>
      </p:sp>
      <p:sp>
        <p:nvSpPr>
          <p:cNvPr id="37" name="Shape 35"/>
          <p:cNvSpPr/>
          <p:nvPr/>
        </p:nvSpPr>
        <p:spPr>
          <a:xfrm>
            <a:off x="6350000" y="2365375"/>
            <a:ext cx="5365750" cy="381000"/>
          </a:xfrm>
          <a:custGeom>
            <a:avLst/>
            <a:gdLst/>
            <a:ahLst/>
            <a:cxnLst/>
            <a:rect l="l" t="t" r="r" b="b"/>
            <a:pathLst>
              <a:path w="5365750" h="381000">
                <a:moveTo>
                  <a:pt x="63501" y="0"/>
                </a:moveTo>
                <a:lnTo>
                  <a:pt x="5302249" y="0"/>
                </a:lnTo>
                <a:cubicBezTo>
                  <a:pt x="5337320" y="0"/>
                  <a:pt x="5365750" y="28430"/>
                  <a:pt x="5365750" y="63501"/>
                </a:cubicBezTo>
                <a:lnTo>
                  <a:pt x="5365750" y="317499"/>
                </a:lnTo>
                <a:cubicBezTo>
                  <a:pt x="5365750" y="352570"/>
                  <a:pt x="5337320" y="381000"/>
                  <a:pt x="5302249" y="381000"/>
                </a:cubicBezTo>
                <a:lnTo>
                  <a:pt x="63501" y="381000"/>
                </a:lnTo>
                <a:cubicBezTo>
                  <a:pt x="28454" y="381000"/>
                  <a:pt x="0" y="352546"/>
                  <a:pt x="0" y="317499"/>
                </a:cubicBezTo>
                <a:lnTo>
                  <a:pt x="0" y="63501"/>
                </a:lnTo>
                <a:cubicBezTo>
                  <a:pt x="0" y="28454"/>
                  <a:pt x="28454" y="0"/>
                  <a:pt x="63501" y="0"/>
                </a:cubicBezTo>
                <a:close/>
              </a:path>
            </a:pathLst>
          </a:custGeom>
          <a:solidFill>
            <a:srgbClr val="F8F9FA"/>
          </a:solidFill>
          <a:ln/>
        </p:spPr>
      </p:sp>
      <p:sp>
        <p:nvSpPr>
          <p:cNvPr id="38" name="Text 36"/>
          <p:cNvSpPr/>
          <p:nvPr/>
        </p:nvSpPr>
        <p:spPr>
          <a:xfrm>
            <a:off x="6445250" y="2460625"/>
            <a:ext cx="5238750" cy="190500"/>
          </a:xfrm>
          <a:prstGeom prst="rect">
            <a:avLst/>
          </a:prstGeom>
          <a:noFill/>
          <a:ln/>
        </p:spPr>
        <p:txBody>
          <a:bodyPr wrap="square" lIns="0" tIns="0" rIns="0" bIns="0" rtlCol="0" anchor="ctr"/>
          <a:lstStyle/>
          <a:p>
            <a:pPr>
              <a:lnSpc>
                <a:spcPct val="130000"/>
              </a:lnSpc>
            </a:pPr>
            <a:r>
              <a:rPr lang="en-US" sz="1000" b="1" dirty="0">
                <a:solidFill>
                  <a:srgbClr val="2B2D42"/>
                </a:solidFill>
                <a:latin typeface="Quattrocento Sans" pitchFamily="34" charset="0"/>
                <a:ea typeface="Quattrocento Sans" pitchFamily="34" charset="-122"/>
                <a:cs typeface="Quattrocento Sans" pitchFamily="34" charset="-120"/>
              </a:rPr>
              <a:t>Timeline:</a:t>
            </a:r>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 Quantum-ready security expected by 2030</a:t>
            </a:r>
            <a:endParaRPr lang="en-US" sz="1600" dirty="0"/>
          </a:p>
        </p:txBody>
      </p:sp>
      <p:sp>
        <p:nvSpPr>
          <p:cNvPr id="39" name="Shape 37"/>
          <p:cNvSpPr/>
          <p:nvPr/>
        </p:nvSpPr>
        <p:spPr>
          <a:xfrm>
            <a:off x="6191250" y="3048000"/>
            <a:ext cx="5683250" cy="1539875"/>
          </a:xfrm>
          <a:custGeom>
            <a:avLst/>
            <a:gdLst/>
            <a:ahLst/>
            <a:cxnLst/>
            <a:rect l="l" t="t" r="r" b="b"/>
            <a:pathLst>
              <a:path w="5683250" h="1539875">
                <a:moveTo>
                  <a:pt x="31750" y="0"/>
                </a:moveTo>
                <a:lnTo>
                  <a:pt x="5651500" y="0"/>
                </a:lnTo>
                <a:cubicBezTo>
                  <a:pt x="5669035" y="0"/>
                  <a:pt x="5683250" y="14215"/>
                  <a:pt x="5683250" y="31750"/>
                </a:cubicBezTo>
                <a:lnTo>
                  <a:pt x="5683250" y="1444618"/>
                </a:lnTo>
                <a:cubicBezTo>
                  <a:pt x="5683250" y="1497227"/>
                  <a:pt x="5640602" y="1539875"/>
                  <a:pt x="5587993" y="1539875"/>
                </a:cubicBezTo>
                <a:lnTo>
                  <a:pt x="95257" y="1539875"/>
                </a:lnTo>
                <a:cubicBezTo>
                  <a:pt x="42648" y="1539875"/>
                  <a:pt x="0" y="1497227"/>
                  <a:pt x="0" y="1444618"/>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40" name="Shape 38"/>
          <p:cNvSpPr/>
          <p:nvPr/>
        </p:nvSpPr>
        <p:spPr>
          <a:xfrm>
            <a:off x="6191250" y="3048000"/>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2A9D8F"/>
          </a:solidFill>
          <a:ln/>
        </p:spPr>
      </p:sp>
      <p:sp>
        <p:nvSpPr>
          <p:cNvPr id="41" name="Shape 39"/>
          <p:cNvSpPr/>
          <p:nvPr/>
        </p:nvSpPr>
        <p:spPr>
          <a:xfrm>
            <a:off x="6350000" y="3222625"/>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2A9D8F"/>
          </a:solidFill>
          <a:ln/>
        </p:spPr>
      </p:sp>
      <p:sp>
        <p:nvSpPr>
          <p:cNvPr id="42" name="Shape 40"/>
          <p:cNvSpPr/>
          <p:nvPr/>
        </p:nvSpPr>
        <p:spPr>
          <a:xfrm>
            <a:off x="6486922" y="3357563"/>
            <a:ext cx="238125" cy="238125"/>
          </a:xfrm>
          <a:custGeom>
            <a:avLst/>
            <a:gdLst/>
            <a:ahLst/>
            <a:cxnLst/>
            <a:rect l="l" t="t" r="r" b="b"/>
            <a:pathLst>
              <a:path w="238125" h="238125">
                <a:moveTo>
                  <a:pt x="219196" y="3116"/>
                </a:moveTo>
                <a:cubicBezTo>
                  <a:pt x="222172" y="279"/>
                  <a:pt x="226498" y="-744"/>
                  <a:pt x="230498" y="558"/>
                </a:cubicBezTo>
                <a:cubicBezTo>
                  <a:pt x="235055" y="2093"/>
                  <a:pt x="238125" y="6372"/>
                  <a:pt x="238125" y="11162"/>
                </a:cubicBezTo>
                <a:lnTo>
                  <a:pt x="238125" y="98087"/>
                </a:lnTo>
                <a:cubicBezTo>
                  <a:pt x="238125" y="159107"/>
                  <a:pt x="187849" y="208359"/>
                  <a:pt x="127062" y="208359"/>
                </a:cubicBezTo>
                <a:cubicBezTo>
                  <a:pt x="91250" y="208359"/>
                  <a:pt x="60368" y="185338"/>
                  <a:pt x="49160" y="153153"/>
                </a:cubicBezTo>
                <a:cubicBezTo>
                  <a:pt x="32696" y="167478"/>
                  <a:pt x="22324" y="188547"/>
                  <a:pt x="22324" y="212080"/>
                </a:cubicBezTo>
                <a:cubicBezTo>
                  <a:pt x="22324" y="218266"/>
                  <a:pt x="17348" y="223242"/>
                  <a:pt x="11162" y="223242"/>
                </a:cubicBezTo>
                <a:cubicBezTo>
                  <a:pt x="4976" y="223242"/>
                  <a:pt x="0" y="218266"/>
                  <a:pt x="0" y="212080"/>
                </a:cubicBezTo>
                <a:cubicBezTo>
                  <a:pt x="0" y="177245"/>
                  <a:pt x="17766" y="146549"/>
                  <a:pt x="44695" y="128504"/>
                </a:cubicBezTo>
                <a:cubicBezTo>
                  <a:pt x="61113" y="117528"/>
                  <a:pt x="80693" y="111621"/>
                  <a:pt x="100459" y="111621"/>
                </a:cubicBezTo>
                <a:lnTo>
                  <a:pt x="137666" y="111621"/>
                </a:lnTo>
                <a:cubicBezTo>
                  <a:pt x="143852" y="111621"/>
                  <a:pt x="148828" y="106645"/>
                  <a:pt x="148828" y="100459"/>
                </a:cubicBezTo>
                <a:cubicBezTo>
                  <a:pt x="148828" y="94273"/>
                  <a:pt x="143852" y="89297"/>
                  <a:pt x="137666" y="89297"/>
                </a:cubicBezTo>
                <a:lnTo>
                  <a:pt x="100459" y="89297"/>
                </a:lnTo>
                <a:cubicBezTo>
                  <a:pt x="81995" y="89297"/>
                  <a:pt x="64508" y="93390"/>
                  <a:pt x="48834" y="100692"/>
                </a:cubicBezTo>
                <a:cubicBezTo>
                  <a:pt x="59671" y="68135"/>
                  <a:pt x="90320" y="44648"/>
                  <a:pt x="126504" y="44648"/>
                </a:cubicBezTo>
                <a:cubicBezTo>
                  <a:pt x="157386" y="44648"/>
                  <a:pt x="180361" y="34370"/>
                  <a:pt x="195662" y="24185"/>
                </a:cubicBezTo>
                <a:cubicBezTo>
                  <a:pt x="204592" y="18231"/>
                  <a:pt x="212173" y="11116"/>
                  <a:pt x="219242" y="3116"/>
                </a:cubicBezTo>
                <a:close/>
              </a:path>
            </a:pathLst>
          </a:custGeom>
          <a:solidFill>
            <a:srgbClr val="FFFFFF"/>
          </a:solidFill>
          <a:ln/>
        </p:spPr>
      </p:sp>
      <p:sp>
        <p:nvSpPr>
          <p:cNvPr id="43" name="Text 41"/>
          <p:cNvSpPr/>
          <p:nvPr/>
        </p:nvSpPr>
        <p:spPr>
          <a:xfrm>
            <a:off x="6985000" y="3222625"/>
            <a:ext cx="482600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Sustainable Finance</a:t>
            </a:r>
            <a:endParaRPr lang="en-US" sz="1600" dirty="0"/>
          </a:p>
        </p:txBody>
      </p:sp>
      <p:sp>
        <p:nvSpPr>
          <p:cNvPr id="44" name="Text 42"/>
          <p:cNvSpPr/>
          <p:nvPr/>
        </p:nvSpPr>
        <p:spPr>
          <a:xfrm>
            <a:off x="6985000" y="3540125"/>
            <a:ext cx="4794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Green banking, ESG investing, and climate-risk assessment will become integral to banking operations.</a:t>
            </a:r>
            <a:endParaRPr lang="en-US" sz="1600" dirty="0"/>
          </a:p>
        </p:txBody>
      </p:sp>
      <p:sp>
        <p:nvSpPr>
          <p:cNvPr id="45" name="Shape 43"/>
          <p:cNvSpPr/>
          <p:nvPr/>
        </p:nvSpPr>
        <p:spPr>
          <a:xfrm>
            <a:off x="6350000" y="4048125"/>
            <a:ext cx="5365750" cy="381000"/>
          </a:xfrm>
          <a:custGeom>
            <a:avLst/>
            <a:gdLst/>
            <a:ahLst/>
            <a:cxnLst/>
            <a:rect l="l" t="t" r="r" b="b"/>
            <a:pathLst>
              <a:path w="5365750" h="381000">
                <a:moveTo>
                  <a:pt x="63501" y="0"/>
                </a:moveTo>
                <a:lnTo>
                  <a:pt x="5302249" y="0"/>
                </a:lnTo>
                <a:cubicBezTo>
                  <a:pt x="5337320" y="0"/>
                  <a:pt x="5365750" y="28430"/>
                  <a:pt x="5365750" y="63501"/>
                </a:cubicBezTo>
                <a:lnTo>
                  <a:pt x="5365750" y="317499"/>
                </a:lnTo>
                <a:cubicBezTo>
                  <a:pt x="5365750" y="352570"/>
                  <a:pt x="5337320" y="381000"/>
                  <a:pt x="5302249" y="381000"/>
                </a:cubicBezTo>
                <a:lnTo>
                  <a:pt x="63501" y="381000"/>
                </a:lnTo>
                <a:cubicBezTo>
                  <a:pt x="28454" y="381000"/>
                  <a:pt x="0" y="352546"/>
                  <a:pt x="0" y="317499"/>
                </a:cubicBezTo>
                <a:lnTo>
                  <a:pt x="0" y="63501"/>
                </a:lnTo>
                <a:cubicBezTo>
                  <a:pt x="0" y="28454"/>
                  <a:pt x="28454" y="0"/>
                  <a:pt x="63501" y="0"/>
                </a:cubicBezTo>
                <a:close/>
              </a:path>
            </a:pathLst>
          </a:custGeom>
          <a:solidFill>
            <a:srgbClr val="F8F9FA"/>
          </a:solidFill>
          <a:ln/>
        </p:spPr>
      </p:sp>
      <p:sp>
        <p:nvSpPr>
          <p:cNvPr id="46" name="Text 44"/>
          <p:cNvSpPr/>
          <p:nvPr/>
        </p:nvSpPr>
        <p:spPr>
          <a:xfrm>
            <a:off x="6445250" y="4143375"/>
            <a:ext cx="5238750" cy="190500"/>
          </a:xfrm>
          <a:prstGeom prst="rect">
            <a:avLst/>
          </a:prstGeom>
          <a:noFill/>
          <a:ln/>
        </p:spPr>
        <p:txBody>
          <a:bodyPr wrap="square" lIns="0" tIns="0" rIns="0" bIns="0" rtlCol="0" anchor="ctr"/>
          <a:lstStyle/>
          <a:p>
            <a:pPr>
              <a:lnSpc>
                <a:spcPct val="130000"/>
              </a:lnSpc>
            </a:pPr>
            <a:r>
              <a:rPr lang="en-US" sz="1000" b="1" dirty="0">
                <a:solidFill>
                  <a:srgbClr val="2B2D42"/>
                </a:solidFill>
                <a:latin typeface="Quattrocento Sans" pitchFamily="34" charset="0"/>
                <a:ea typeface="Quattrocento Sans" pitchFamily="34" charset="-122"/>
                <a:cs typeface="Quattrocento Sans" pitchFamily="34" charset="-120"/>
              </a:rPr>
              <a:t>Trend:</a:t>
            </a:r>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 Banks are committing to net-zero portfolios by 2050</a:t>
            </a:r>
            <a:endParaRPr lang="en-US" sz="1600" dirty="0"/>
          </a:p>
        </p:txBody>
      </p:sp>
      <p:sp>
        <p:nvSpPr>
          <p:cNvPr id="47" name="Shape 45"/>
          <p:cNvSpPr/>
          <p:nvPr/>
        </p:nvSpPr>
        <p:spPr>
          <a:xfrm>
            <a:off x="6191250" y="4730750"/>
            <a:ext cx="5683250" cy="1539875"/>
          </a:xfrm>
          <a:custGeom>
            <a:avLst/>
            <a:gdLst/>
            <a:ahLst/>
            <a:cxnLst/>
            <a:rect l="l" t="t" r="r" b="b"/>
            <a:pathLst>
              <a:path w="5683250" h="1539875">
                <a:moveTo>
                  <a:pt x="31750" y="0"/>
                </a:moveTo>
                <a:lnTo>
                  <a:pt x="5651500" y="0"/>
                </a:lnTo>
                <a:cubicBezTo>
                  <a:pt x="5669035" y="0"/>
                  <a:pt x="5683250" y="14215"/>
                  <a:pt x="5683250" y="31750"/>
                </a:cubicBezTo>
                <a:lnTo>
                  <a:pt x="5683250" y="1444618"/>
                </a:lnTo>
                <a:cubicBezTo>
                  <a:pt x="5683250" y="1497227"/>
                  <a:pt x="5640602" y="1539875"/>
                  <a:pt x="5587993" y="1539875"/>
                </a:cubicBezTo>
                <a:lnTo>
                  <a:pt x="95257" y="1539875"/>
                </a:lnTo>
                <a:cubicBezTo>
                  <a:pt x="42648" y="1539875"/>
                  <a:pt x="0" y="1497227"/>
                  <a:pt x="0" y="1444618"/>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48" name="Shape 46"/>
          <p:cNvSpPr/>
          <p:nvPr/>
        </p:nvSpPr>
        <p:spPr>
          <a:xfrm>
            <a:off x="6191250" y="4730750"/>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1A3A5C"/>
          </a:solidFill>
          <a:ln/>
        </p:spPr>
      </p:sp>
      <p:sp>
        <p:nvSpPr>
          <p:cNvPr id="49" name="Shape 47"/>
          <p:cNvSpPr/>
          <p:nvPr/>
        </p:nvSpPr>
        <p:spPr>
          <a:xfrm>
            <a:off x="6350000" y="4905375"/>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1A3A5C"/>
          </a:solidFill>
          <a:ln/>
        </p:spPr>
      </p:sp>
      <p:sp>
        <p:nvSpPr>
          <p:cNvPr id="50" name="Shape 48"/>
          <p:cNvSpPr/>
          <p:nvPr/>
        </p:nvSpPr>
        <p:spPr>
          <a:xfrm>
            <a:off x="6486922" y="5040313"/>
            <a:ext cx="238125" cy="238125"/>
          </a:xfrm>
          <a:custGeom>
            <a:avLst/>
            <a:gdLst/>
            <a:ahLst/>
            <a:cxnLst/>
            <a:rect l="l" t="t" r="r" b="b"/>
            <a:pathLst>
              <a:path w="238125" h="238125">
                <a:moveTo>
                  <a:pt x="104180" y="0"/>
                </a:moveTo>
                <a:cubicBezTo>
                  <a:pt x="120597" y="0"/>
                  <a:pt x="133945" y="9999"/>
                  <a:pt x="133945" y="22324"/>
                </a:cubicBezTo>
                <a:cubicBezTo>
                  <a:pt x="133945" y="27161"/>
                  <a:pt x="131899" y="31626"/>
                  <a:pt x="128364" y="35300"/>
                </a:cubicBezTo>
                <a:cubicBezTo>
                  <a:pt x="125295" y="38509"/>
                  <a:pt x="122783" y="42416"/>
                  <a:pt x="122783" y="46881"/>
                </a:cubicBezTo>
                <a:cubicBezTo>
                  <a:pt x="122783" y="53857"/>
                  <a:pt x="128457" y="59531"/>
                  <a:pt x="135434" y="59531"/>
                </a:cubicBezTo>
                <a:lnTo>
                  <a:pt x="156270" y="59531"/>
                </a:lnTo>
                <a:cubicBezTo>
                  <a:pt x="168594" y="59531"/>
                  <a:pt x="178594" y="69531"/>
                  <a:pt x="178594" y="81855"/>
                </a:cubicBezTo>
                <a:lnTo>
                  <a:pt x="178594" y="102691"/>
                </a:lnTo>
                <a:cubicBezTo>
                  <a:pt x="178594" y="109668"/>
                  <a:pt x="184268" y="115342"/>
                  <a:pt x="191244" y="115342"/>
                </a:cubicBezTo>
                <a:cubicBezTo>
                  <a:pt x="195662" y="115342"/>
                  <a:pt x="199616" y="112830"/>
                  <a:pt x="202825" y="109761"/>
                </a:cubicBezTo>
                <a:cubicBezTo>
                  <a:pt x="206499" y="106273"/>
                  <a:pt x="210964" y="104180"/>
                  <a:pt x="215801" y="104180"/>
                </a:cubicBezTo>
                <a:cubicBezTo>
                  <a:pt x="228126" y="104180"/>
                  <a:pt x="238125" y="117528"/>
                  <a:pt x="238125" y="133945"/>
                </a:cubicBezTo>
                <a:cubicBezTo>
                  <a:pt x="238125" y="150363"/>
                  <a:pt x="228126" y="163711"/>
                  <a:pt x="215801" y="163711"/>
                </a:cubicBezTo>
                <a:cubicBezTo>
                  <a:pt x="210964" y="163711"/>
                  <a:pt x="206453" y="161665"/>
                  <a:pt x="202825" y="158130"/>
                </a:cubicBezTo>
                <a:cubicBezTo>
                  <a:pt x="199616" y="155060"/>
                  <a:pt x="195709" y="152549"/>
                  <a:pt x="191244" y="152549"/>
                </a:cubicBezTo>
                <a:cubicBezTo>
                  <a:pt x="184268" y="152549"/>
                  <a:pt x="178594" y="158223"/>
                  <a:pt x="178594" y="165199"/>
                </a:cubicBezTo>
                <a:lnTo>
                  <a:pt x="178594" y="215801"/>
                </a:lnTo>
                <a:cubicBezTo>
                  <a:pt x="178594" y="228126"/>
                  <a:pt x="168594" y="238125"/>
                  <a:pt x="156270" y="238125"/>
                </a:cubicBezTo>
                <a:lnTo>
                  <a:pt x="129853" y="238125"/>
                </a:lnTo>
                <a:cubicBezTo>
                  <a:pt x="123899" y="238125"/>
                  <a:pt x="119062" y="233288"/>
                  <a:pt x="119062" y="227335"/>
                </a:cubicBezTo>
                <a:cubicBezTo>
                  <a:pt x="119062" y="223056"/>
                  <a:pt x="121760" y="219289"/>
                  <a:pt x="125202" y="216731"/>
                </a:cubicBezTo>
                <a:cubicBezTo>
                  <a:pt x="130597" y="212685"/>
                  <a:pt x="133945" y="207104"/>
                  <a:pt x="133945" y="200918"/>
                </a:cubicBezTo>
                <a:cubicBezTo>
                  <a:pt x="133945" y="188593"/>
                  <a:pt x="120597" y="178594"/>
                  <a:pt x="104180" y="178594"/>
                </a:cubicBezTo>
                <a:cubicBezTo>
                  <a:pt x="87762" y="178594"/>
                  <a:pt x="74414" y="188593"/>
                  <a:pt x="74414" y="200918"/>
                </a:cubicBezTo>
                <a:cubicBezTo>
                  <a:pt x="74414" y="207104"/>
                  <a:pt x="77763" y="212685"/>
                  <a:pt x="83158" y="216731"/>
                </a:cubicBezTo>
                <a:cubicBezTo>
                  <a:pt x="86599" y="219289"/>
                  <a:pt x="89297" y="223010"/>
                  <a:pt x="89297" y="227335"/>
                </a:cubicBezTo>
                <a:cubicBezTo>
                  <a:pt x="89297" y="233288"/>
                  <a:pt x="84460" y="238125"/>
                  <a:pt x="78507" y="238125"/>
                </a:cubicBezTo>
                <a:lnTo>
                  <a:pt x="22324" y="238125"/>
                </a:lnTo>
                <a:cubicBezTo>
                  <a:pt x="9999" y="238125"/>
                  <a:pt x="0" y="228126"/>
                  <a:pt x="0" y="215801"/>
                </a:cubicBezTo>
                <a:lnTo>
                  <a:pt x="0" y="159618"/>
                </a:lnTo>
                <a:cubicBezTo>
                  <a:pt x="0" y="153665"/>
                  <a:pt x="4837" y="148828"/>
                  <a:pt x="10790" y="148828"/>
                </a:cubicBezTo>
                <a:cubicBezTo>
                  <a:pt x="15069" y="148828"/>
                  <a:pt x="18836" y="151526"/>
                  <a:pt x="21394" y="154967"/>
                </a:cubicBezTo>
                <a:cubicBezTo>
                  <a:pt x="25440" y="160362"/>
                  <a:pt x="31021" y="163711"/>
                  <a:pt x="37207" y="163711"/>
                </a:cubicBezTo>
                <a:cubicBezTo>
                  <a:pt x="49532" y="163711"/>
                  <a:pt x="59531" y="150363"/>
                  <a:pt x="59531" y="133945"/>
                </a:cubicBezTo>
                <a:cubicBezTo>
                  <a:pt x="59531" y="117528"/>
                  <a:pt x="49532" y="104180"/>
                  <a:pt x="37207" y="104180"/>
                </a:cubicBezTo>
                <a:cubicBezTo>
                  <a:pt x="31021" y="104180"/>
                  <a:pt x="25440" y="107528"/>
                  <a:pt x="21394" y="112923"/>
                </a:cubicBezTo>
                <a:cubicBezTo>
                  <a:pt x="18836" y="116365"/>
                  <a:pt x="15115" y="119062"/>
                  <a:pt x="10790" y="119062"/>
                </a:cubicBezTo>
                <a:cubicBezTo>
                  <a:pt x="4837" y="119062"/>
                  <a:pt x="0" y="114226"/>
                  <a:pt x="0" y="108272"/>
                </a:cubicBezTo>
                <a:lnTo>
                  <a:pt x="0" y="81855"/>
                </a:lnTo>
                <a:cubicBezTo>
                  <a:pt x="0" y="69531"/>
                  <a:pt x="9999" y="59531"/>
                  <a:pt x="22324" y="59531"/>
                </a:cubicBezTo>
                <a:lnTo>
                  <a:pt x="72926" y="59531"/>
                </a:lnTo>
                <a:cubicBezTo>
                  <a:pt x="79902" y="59531"/>
                  <a:pt x="85576" y="53857"/>
                  <a:pt x="85576" y="46881"/>
                </a:cubicBezTo>
                <a:cubicBezTo>
                  <a:pt x="85576" y="42463"/>
                  <a:pt x="83065" y="38509"/>
                  <a:pt x="79995" y="35300"/>
                </a:cubicBezTo>
                <a:cubicBezTo>
                  <a:pt x="76507" y="31626"/>
                  <a:pt x="74414" y="27161"/>
                  <a:pt x="74414" y="22324"/>
                </a:cubicBezTo>
                <a:cubicBezTo>
                  <a:pt x="74414" y="9999"/>
                  <a:pt x="87762" y="0"/>
                  <a:pt x="104180" y="0"/>
                </a:cubicBezTo>
                <a:close/>
              </a:path>
            </a:pathLst>
          </a:custGeom>
          <a:solidFill>
            <a:srgbClr val="FFFFFF"/>
          </a:solidFill>
          <a:ln/>
        </p:spPr>
      </p:sp>
      <p:sp>
        <p:nvSpPr>
          <p:cNvPr id="51" name="Text 49"/>
          <p:cNvSpPr/>
          <p:nvPr/>
        </p:nvSpPr>
        <p:spPr>
          <a:xfrm>
            <a:off x="6985000" y="4905375"/>
            <a:ext cx="482600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Embedded Finance</a:t>
            </a:r>
            <a:endParaRPr lang="en-US" sz="1600" dirty="0"/>
          </a:p>
        </p:txBody>
      </p:sp>
      <p:sp>
        <p:nvSpPr>
          <p:cNvPr id="52" name="Text 50"/>
          <p:cNvSpPr/>
          <p:nvPr/>
        </p:nvSpPr>
        <p:spPr>
          <a:xfrm>
            <a:off x="6985000" y="5222875"/>
            <a:ext cx="4794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Banking services will be seamlessly integrated into non-financial platforms—shopping, travel, healthcare.</a:t>
            </a:r>
            <a:endParaRPr lang="en-US" sz="1600" dirty="0"/>
          </a:p>
        </p:txBody>
      </p:sp>
      <p:sp>
        <p:nvSpPr>
          <p:cNvPr id="53" name="Shape 51"/>
          <p:cNvSpPr/>
          <p:nvPr/>
        </p:nvSpPr>
        <p:spPr>
          <a:xfrm>
            <a:off x="6350000" y="5730875"/>
            <a:ext cx="5365750" cy="381000"/>
          </a:xfrm>
          <a:custGeom>
            <a:avLst/>
            <a:gdLst/>
            <a:ahLst/>
            <a:cxnLst/>
            <a:rect l="l" t="t" r="r" b="b"/>
            <a:pathLst>
              <a:path w="5365750" h="381000">
                <a:moveTo>
                  <a:pt x="63501" y="0"/>
                </a:moveTo>
                <a:lnTo>
                  <a:pt x="5302249" y="0"/>
                </a:lnTo>
                <a:cubicBezTo>
                  <a:pt x="5337320" y="0"/>
                  <a:pt x="5365750" y="28430"/>
                  <a:pt x="5365750" y="63501"/>
                </a:cubicBezTo>
                <a:lnTo>
                  <a:pt x="5365750" y="317499"/>
                </a:lnTo>
                <a:cubicBezTo>
                  <a:pt x="5365750" y="352570"/>
                  <a:pt x="5337320" y="381000"/>
                  <a:pt x="5302249" y="381000"/>
                </a:cubicBezTo>
                <a:lnTo>
                  <a:pt x="63501" y="381000"/>
                </a:lnTo>
                <a:cubicBezTo>
                  <a:pt x="28454" y="381000"/>
                  <a:pt x="0" y="352546"/>
                  <a:pt x="0" y="317499"/>
                </a:cubicBezTo>
                <a:lnTo>
                  <a:pt x="0" y="63501"/>
                </a:lnTo>
                <a:cubicBezTo>
                  <a:pt x="0" y="28454"/>
                  <a:pt x="28454" y="0"/>
                  <a:pt x="63501" y="0"/>
                </a:cubicBezTo>
                <a:close/>
              </a:path>
            </a:pathLst>
          </a:custGeom>
          <a:solidFill>
            <a:srgbClr val="F8F9FA"/>
          </a:solidFill>
          <a:ln/>
        </p:spPr>
      </p:sp>
      <p:sp>
        <p:nvSpPr>
          <p:cNvPr id="54" name="Text 52"/>
          <p:cNvSpPr/>
          <p:nvPr/>
        </p:nvSpPr>
        <p:spPr>
          <a:xfrm>
            <a:off x="6445250" y="5826125"/>
            <a:ext cx="5238750" cy="190500"/>
          </a:xfrm>
          <a:prstGeom prst="rect">
            <a:avLst/>
          </a:prstGeom>
          <a:noFill/>
          <a:ln/>
        </p:spPr>
        <p:txBody>
          <a:bodyPr wrap="square" lIns="0" tIns="0" rIns="0" bIns="0" rtlCol="0" anchor="ctr"/>
          <a:lstStyle/>
          <a:p>
            <a:pPr>
              <a:lnSpc>
                <a:spcPct val="130000"/>
              </a:lnSpc>
            </a:pPr>
            <a:r>
              <a:rPr lang="en-US" sz="1000" b="1" dirty="0">
                <a:solidFill>
                  <a:srgbClr val="2B2D42"/>
                </a:solidFill>
                <a:latin typeface="Quattrocento Sans" pitchFamily="34" charset="0"/>
                <a:ea typeface="Quattrocento Sans" pitchFamily="34" charset="-122"/>
                <a:cs typeface="Quattrocento Sans" pitchFamily="34" charset="-120"/>
              </a:rPr>
              <a:t>Example:</a:t>
            </a:r>
            <a:pPr>
              <a:lnSpc>
                <a:spcPct val="130000"/>
              </a:lnSpc>
            </a:pPr>
            <a:r>
              <a:rPr lang="en-US" sz="1000" dirty="0">
                <a:solidFill>
                  <a:srgbClr val="2B2D42"/>
                </a:solidFill>
                <a:latin typeface="Quattrocento Sans" pitchFamily="34" charset="0"/>
                <a:ea typeface="Quattrocento Sans" pitchFamily="34" charset="-122"/>
                <a:cs typeface="Quattrocento Sans" pitchFamily="34" charset="-120"/>
              </a:rPr>
              <a:t> Buy-now-pay-later at checkout, insurance when booking flights</a:t>
            </a:r>
            <a:endParaRPr lang="en-US" sz="1600" dirty="0"/>
          </a:p>
        </p:txBody>
      </p:sp>
      <p:sp>
        <p:nvSpPr>
          <p:cNvPr id="55" name="Shape 53"/>
          <p:cNvSpPr/>
          <p:nvPr/>
        </p:nvSpPr>
        <p:spPr>
          <a:xfrm>
            <a:off x="6191250" y="6413500"/>
            <a:ext cx="5683250" cy="1158875"/>
          </a:xfrm>
          <a:custGeom>
            <a:avLst/>
            <a:gdLst/>
            <a:ahLst/>
            <a:cxnLst/>
            <a:rect l="l" t="t" r="r" b="b"/>
            <a:pathLst>
              <a:path w="5683250" h="1158875">
                <a:moveTo>
                  <a:pt x="31750" y="0"/>
                </a:moveTo>
                <a:lnTo>
                  <a:pt x="5651500" y="0"/>
                </a:lnTo>
                <a:cubicBezTo>
                  <a:pt x="5669023" y="0"/>
                  <a:pt x="5683250" y="14227"/>
                  <a:pt x="5683250" y="31750"/>
                </a:cubicBezTo>
                <a:lnTo>
                  <a:pt x="5683250" y="1063627"/>
                </a:lnTo>
                <a:cubicBezTo>
                  <a:pt x="5683250" y="1116231"/>
                  <a:pt x="5640606" y="1158875"/>
                  <a:pt x="5588002" y="1158875"/>
                </a:cubicBezTo>
                <a:lnTo>
                  <a:pt x="95248" y="1158875"/>
                </a:lnTo>
                <a:cubicBezTo>
                  <a:pt x="42644" y="1158875"/>
                  <a:pt x="0" y="1116231"/>
                  <a:pt x="0" y="1063627"/>
                </a:cubicBezTo>
                <a:lnTo>
                  <a:pt x="0" y="31750"/>
                </a:lnTo>
                <a:cubicBezTo>
                  <a:pt x="0" y="14227"/>
                  <a:pt x="14227" y="0"/>
                  <a:pt x="31750" y="0"/>
                </a:cubicBezTo>
                <a:close/>
              </a:path>
            </a:pathLst>
          </a:custGeom>
          <a:solidFill>
            <a:srgbClr val="FFFFFF"/>
          </a:solidFill>
          <a:ln/>
          <a:effectLst>
            <a:outerShdw sx="100000" sy="100000" kx="0" ky="0" algn="bl" rotWithShape="0" blurRad="47625" dist="31750" dir="5400000">
              <a:srgbClr val="000000">
                <a:alpha val="10196"/>
              </a:srgbClr>
            </a:outerShdw>
          </a:effectLst>
        </p:spPr>
      </p:sp>
      <p:sp>
        <p:nvSpPr>
          <p:cNvPr id="56" name="Shape 54"/>
          <p:cNvSpPr/>
          <p:nvPr/>
        </p:nvSpPr>
        <p:spPr>
          <a:xfrm>
            <a:off x="6191250" y="6413500"/>
            <a:ext cx="5683250" cy="31750"/>
          </a:xfrm>
          <a:custGeom>
            <a:avLst/>
            <a:gdLst/>
            <a:ahLst/>
            <a:cxnLst/>
            <a:rect l="l" t="t" r="r" b="b"/>
            <a:pathLst>
              <a:path w="5683250" h="31750">
                <a:moveTo>
                  <a:pt x="31750" y="0"/>
                </a:moveTo>
                <a:lnTo>
                  <a:pt x="5651500" y="0"/>
                </a:lnTo>
                <a:cubicBezTo>
                  <a:pt x="5669023" y="0"/>
                  <a:pt x="5683250" y="14227"/>
                  <a:pt x="5683250" y="31750"/>
                </a:cubicBezTo>
                <a:lnTo>
                  <a:pt x="5683250" y="31750"/>
                </a:lnTo>
                <a:lnTo>
                  <a:pt x="0" y="31750"/>
                </a:lnTo>
                <a:lnTo>
                  <a:pt x="0" y="31750"/>
                </a:lnTo>
                <a:cubicBezTo>
                  <a:pt x="0" y="14227"/>
                  <a:pt x="14227" y="0"/>
                  <a:pt x="31750" y="0"/>
                </a:cubicBezTo>
                <a:close/>
              </a:path>
            </a:pathLst>
          </a:custGeom>
          <a:solidFill>
            <a:srgbClr val="2A9D8F"/>
          </a:solidFill>
          <a:ln/>
        </p:spPr>
      </p:sp>
      <p:sp>
        <p:nvSpPr>
          <p:cNvPr id="57" name="Shape 55"/>
          <p:cNvSpPr/>
          <p:nvPr/>
        </p:nvSpPr>
        <p:spPr>
          <a:xfrm>
            <a:off x="6350000" y="6588125"/>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2A9D8F"/>
          </a:solidFill>
          <a:ln/>
        </p:spPr>
      </p:sp>
      <p:sp>
        <p:nvSpPr>
          <p:cNvPr id="58" name="Shape 56"/>
          <p:cNvSpPr/>
          <p:nvPr/>
        </p:nvSpPr>
        <p:spPr>
          <a:xfrm>
            <a:off x="6501805" y="6723063"/>
            <a:ext cx="208359" cy="238125"/>
          </a:xfrm>
          <a:custGeom>
            <a:avLst/>
            <a:gdLst/>
            <a:ahLst/>
            <a:cxnLst/>
            <a:rect l="l" t="t" r="r" b="b"/>
            <a:pathLst>
              <a:path w="208359" h="238125">
                <a:moveTo>
                  <a:pt x="133945" y="29766"/>
                </a:moveTo>
                <a:lnTo>
                  <a:pt x="163711" y="29766"/>
                </a:lnTo>
                <a:lnTo>
                  <a:pt x="163711" y="223242"/>
                </a:lnTo>
                <a:cubicBezTo>
                  <a:pt x="163711" y="231474"/>
                  <a:pt x="170362" y="238125"/>
                  <a:pt x="178594" y="238125"/>
                </a:cubicBezTo>
                <a:lnTo>
                  <a:pt x="193477" y="238125"/>
                </a:lnTo>
                <a:cubicBezTo>
                  <a:pt x="201709" y="238125"/>
                  <a:pt x="208359" y="231474"/>
                  <a:pt x="208359" y="223242"/>
                </a:cubicBezTo>
                <a:cubicBezTo>
                  <a:pt x="208359" y="215010"/>
                  <a:pt x="201709" y="208359"/>
                  <a:pt x="193477" y="208359"/>
                </a:cubicBezTo>
                <a:lnTo>
                  <a:pt x="193477" y="29766"/>
                </a:lnTo>
                <a:cubicBezTo>
                  <a:pt x="193477" y="13348"/>
                  <a:pt x="180129" y="0"/>
                  <a:pt x="163711" y="0"/>
                </a:cubicBezTo>
                <a:lnTo>
                  <a:pt x="119062" y="0"/>
                </a:lnTo>
                <a:lnTo>
                  <a:pt x="119062" y="0"/>
                </a:lnTo>
                <a:lnTo>
                  <a:pt x="44648" y="0"/>
                </a:lnTo>
                <a:cubicBezTo>
                  <a:pt x="28231" y="0"/>
                  <a:pt x="14883" y="13348"/>
                  <a:pt x="14883" y="29766"/>
                </a:cubicBezTo>
                <a:lnTo>
                  <a:pt x="14883" y="208359"/>
                </a:lnTo>
                <a:cubicBezTo>
                  <a:pt x="6651" y="208359"/>
                  <a:pt x="0" y="215010"/>
                  <a:pt x="0" y="223242"/>
                </a:cubicBezTo>
                <a:cubicBezTo>
                  <a:pt x="0" y="231474"/>
                  <a:pt x="6651" y="238125"/>
                  <a:pt x="14883" y="238125"/>
                </a:cubicBezTo>
                <a:lnTo>
                  <a:pt x="119062" y="238125"/>
                </a:lnTo>
                <a:cubicBezTo>
                  <a:pt x="127295" y="238125"/>
                  <a:pt x="133945" y="231474"/>
                  <a:pt x="133945" y="223242"/>
                </a:cubicBezTo>
                <a:lnTo>
                  <a:pt x="133945" y="29766"/>
                </a:lnTo>
                <a:close/>
                <a:moveTo>
                  <a:pt x="74414" y="119062"/>
                </a:moveTo>
                <a:cubicBezTo>
                  <a:pt x="74414" y="110848"/>
                  <a:pt x="81083" y="104180"/>
                  <a:pt x="89297" y="104180"/>
                </a:cubicBezTo>
                <a:cubicBezTo>
                  <a:pt x="97511" y="104180"/>
                  <a:pt x="104180" y="110848"/>
                  <a:pt x="104180" y="119062"/>
                </a:cubicBezTo>
                <a:cubicBezTo>
                  <a:pt x="104180" y="127277"/>
                  <a:pt x="97511" y="133945"/>
                  <a:pt x="89297" y="133945"/>
                </a:cubicBezTo>
                <a:cubicBezTo>
                  <a:pt x="81083" y="133945"/>
                  <a:pt x="74414" y="127277"/>
                  <a:pt x="74414" y="119062"/>
                </a:cubicBezTo>
                <a:close/>
              </a:path>
            </a:pathLst>
          </a:custGeom>
          <a:solidFill>
            <a:srgbClr val="FFFFFF"/>
          </a:solidFill>
          <a:ln/>
        </p:spPr>
      </p:sp>
      <p:sp>
        <p:nvSpPr>
          <p:cNvPr id="59" name="Text 57"/>
          <p:cNvSpPr/>
          <p:nvPr/>
        </p:nvSpPr>
        <p:spPr>
          <a:xfrm>
            <a:off x="6985000" y="6588125"/>
            <a:ext cx="4826000" cy="254000"/>
          </a:xfrm>
          <a:prstGeom prst="rect">
            <a:avLst/>
          </a:prstGeom>
          <a:noFill/>
          <a:ln/>
        </p:spPr>
        <p:txBody>
          <a:bodyPr wrap="square" lIns="0" tIns="0" rIns="0" bIns="0" rtlCol="0" anchor="ctr"/>
          <a:lstStyle/>
          <a:p>
            <a:pPr>
              <a:lnSpc>
                <a:spcPct val="110000"/>
              </a:lnSpc>
            </a:pPr>
            <a:r>
              <a:rPr lang="en-US" sz="1500" b="1" dirty="0">
                <a:solidFill>
                  <a:srgbClr val="1A3A5C"/>
                </a:solidFill>
                <a:latin typeface="Liter" pitchFamily="34" charset="0"/>
                <a:ea typeface="Liter" pitchFamily="34" charset="-122"/>
                <a:cs typeface="Liter" pitchFamily="34" charset="-120"/>
              </a:rPr>
              <a:t>Open Banking Ecosystems</a:t>
            </a:r>
            <a:endParaRPr lang="en-US" sz="1600" dirty="0"/>
          </a:p>
        </p:txBody>
      </p:sp>
      <p:sp>
        <p:nvSpPr>
          <p:cNvPr id="60" name="Text 58"/>
          <p:cNvSpPr/>
          <p:nvPr/>
        </p:nvSpPr>
        <p:spPr>
          <a:xfrm>
            <a:off x="6985000" y="6905625"/>
            <a:ext cx="4794250" cy="412750"/>
          </a:xfrm>
          <a:prstGeom prst="rect">
            <a:avLst/>
          </a:prstGeom>
          <a:noFill/>
          <a:ln/>
        </p:spPr>
        <p:txBody>
          <a:bodyPr wrap="square" lIns="0" tIns="0" rIns="0" bIns="0" rtlCol="0" anchor="ctr"/>
          <a:lstStyle/>
          <a:p>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Collaborative platforms will enable seamless data sharing between banks, FinTechs, and third-party providers.</a:t>
            </a:r>
            <a:endParaRPr lang="en-US" sz="1600" dirty="0"/>
          </a:p>
        </p:txBody>
      </p:sp>
      <p:sp>
        <p:nvSpPr>
          <p:cNvPr id="61" name="Shape 59"/>
          <p:cNvSpPr/>
          <p:nvPr/>
        </p:nvSpPr>
        <p:spPr>
          <a:xfrm>
            <a:off x="333375" y="7699375"/>
            <a:ext cx="11541125" cy="666750"/>
          </a:xfrm>
          <a:custGeom>
            <a:avLst/>
            <a:gdLst/>
            <a:ahLst/>
            <a:cxnLst/>
            <a:rect l="l" t="t" r="r" b="b"/>
            <a:pathLst>
              <a:path w="11541125" h="666750">
                <a:moveTo>
                  <a:pt x="31750" y="0"/>
                </a:moveTo>
                <a:lnTo>
                  <a:pt x="11477624" y="0"/>
                </a:lnTo>
                <a:cubicBezTo>
                  <a:pt x="11512695" y="0"/>
                  <a:pt x="11541125" y="28430"/>
                  <a:pt x="11541125" y="63501"/>
                </a:cubicBezTo>
                <a:lnTo>
                  <a:pt x="11541125" y="603249"/>
                </a:lnTo>
                <a:cubicBezTo>
                  <a:pt x="11541125" y="638320"/>
                  <a:pt x="11512695" y="666750"/>
                  <a:pt x="11477624" y="666750"/>
                </a:cubicBezTo>
                <a:lnTo>
                  <a:pt x="31750" y="666750"/>
                </a:lnTo>
                <a:cubicBezTo>
                  <a:pt x="14215" y="666750"/>
                  <a:pt x="0" y="652535"/>
                  <a:pt x="0" y="635000"/>
                </a:cubicBezTo>
                <a:lnTo>
                  <a:pt x="0" y="31750"/>
                </a:lnTo>
                <a:cubicBezTo>
                  <a:pt x="0" y="14227"/>
                  <a:pt x="14227" y="0"/>
                  <a:pt x="31750" y="0"/>
                </a:cubicBezTo>
                <a:close/>
              </a:path>
            </a:pathLst>
          </a:custGeom>
          <a:solidFill>
            <a:srgbClr val="1A3A5C">
              <a:alpha val="5098"/>
            </a:srgbClr>
          </a:solidFill>
          <a:ln/>
        </p:spPr>
      </p:sp>
      <p:sp>
        <p:nvSpPr>
          <p:cNvPr id="62" name="Shape 60"/>
          <p:cNvSpPr/>
          <p:nvPr/>
        </p:nvSpPr>
        <p:spPr>
          <a:xfrm>
            <a:off x="333375" y="7699375"/>
            <a:ext cx="31750" cy="666750"/>
          </a:xfrm>
          <a:custGeom>
            <a:avLst/>
            <a:gdLst/>
            <a:ahLst/>
            <a:cxnLst/>
            <a:rect l="l" t="t" r="r" b="b"/>
            <a:pathLst>
              <a:path w="31750" h="666750">
                <a:moveTo>
                  <a:pt x="31750" y="0"/>
                </a:moveTo>
                <a:lnTo>
                  <a:pt x="31750" y="0"/>
                </a:lnTo>
                <a:lnTo>
                  <a:pt x="31750" y="666750"/>
                </a:lnTo>
                <a:lnTo>
                  <a:pt x="31750" y="666750"/>
                </a:lnTo>
                <a:cubicBezTo>
                  <a:pt x="14227" y="666750"/>
                  <a:pt x="0" y="652523"/>
                  <a:pt x="0" y="635000"/>
                </a:cubicBezTo>
                <a:lnTo>
                  <a:pt x="0" y="31750"/>
                </a:lnTo>
                <a:cubicBezTo>
                  <a:pt x="0" y="14227"/>
                  <a:pt x="14227" y="0"/>
                  <a:pt x="31750" y="0"/>
                </a:cubicBezTo>
                <a:close/>
              </a:path>
            </a:pathLst>
          </a:custGeom>
          <a:solidFill>
            <a:srgbClr val="1A3A5C"/>
          </a:solidFill>
          <a:ln/>
        </p:spPr>
      </p:sp>
      <p:sp>
        <p:nvSpPr>
          <p:cNvPr id="63" name="Shape 61"/>
          <p:cNvSpPr/>
          <p:nvPr/>
        </p:nvSpPr>
        <p:spPr>
          <a:xfrm>
            <a:off x="500063" y="7862094"/>
            <a:ext cx="111125" cy="127000"/>
          </a:xfrm>
          <a:custGeom>
            <a:avLst/>
            <a:gdLst/>
            <a:ahLst/>
            <a:cxnLst/>
            <a:rect l="l" t="t" r="r" b="b"/>
            <a:pathLst>
              <a:path w="111125" h="127000">
                <a:moveTo>
                  <a:pt x="0" y="53578"/>
                </a:moveTo>
                <a:cubicBezTo>
                  <a:pt x="0" y="37133"/>
                  <a:pt x="13320" y="23812"/>
                  <a:pt x="29766" y="23812"/>
                </a:cubicBezTo>
                <a:lnTo>
                  <a:pt x="31750" y="23812"/>
                </a:lnTo>
                <a:cubicBezTo>
                  <a:pt x="36140" y="23812"/>
                  <a:pt x="39688" y="27360"/>
                  <a:pt x="39688" y="31750"/>
                </a:cubicBezTo>
                <a:cubicBezTo>
                  <a:pt x="39688" y="36140"/>
                  <a:pt x="36140" y="39688"/>
                  <a:pt x="31750" y="39688"/>
                </a:cubicBezTo>
                <a:lnTo>
                  <a:pt x="29766" y="39688"/>
                </a:lnTo>
                <a:cubicBezTo>
                  <a:pt x="22101" y="39688"/>
                  <a:pt x="15875" y="45913"/>
                  <a:pt x="15875" y="53578"/>
                </a:cubicBezTo>
                <a:lnTo>
                  <a:pt x="15875" y="55563"/>
                </a:lnTo>
                <a:lnTo>
                  <a:pt x="31750" y="55563"/>
                </a:lnTo>
                <a:cubicBezTo>
                  <a:pt x="40506" y="55563"/>
                  <a:pt x="47625" y="62681"/>
                  <a:pt x="47625" y="71438"/>
                </a:cubicBezTo>
                <a:lnTo>
                  <a:pt x="47625" y="87313"/>
                </a:lnTo>
                <a:cubicBezTo>
                  <a:pt x="47625" y="96069"/>
                  <a:pt x="40506" y="103188"/>
                  <a:pt x="31750" y="103188"/>
                </a:cubicBezTo>
                <a:lnTo>
                  <a:pt x="15875" y="103188"/>
                </a:lnTo>
                <a:cubicBezTo>
                  <a:pt x="7119" y="103188"/>
                  <a:pt x="0" y="96069"/>
                  <a:pt x="0" y="87313"/>
                </a:cubicBezTo>
                <a:lnTo>
                  <a:pt x="0" y="53578"/>
                </a:lnTo>
                <a:close/>
                <a:moveTo>
                  <a:pt x="63500" y="53578"/>
                </a:moveTo>
                <a:cubicBezTo>
                  <a:pt x="63500" y="37133"/>
                  <a:pt x="76820" y="23812"/>
                  <a:pt x="93266" y="23812"/>
                </a:cubicBezTo>
                <a:lnTo>
                  <a:pt x="95250" y="23812"/>
                </a:lnTo>
                <a:cubicBezTo>
                  <a:pt x="99640" y="23812"/>
                  <a:pt x="103188" y="27360"/>
                  <a:pt x="103188" y="31750"/>
                </a:cubicBezTo>
                <a:cubicBezTo>
                  <a:pt x="103188" y="36140"/>
                  <a:pt x="99640" y="39688"/>
                  <a:pt x="95250" y="39688"/>
                </a:cubicBezTo>
                <a:lnTo>
                  <a:pt x="93266" y="39688"/>
                </a:lnTo>
                <a:cubicBezTo>
                  <a:pt x="85601" y="39688"/>
                  <a:pt x="79375" y="45913"/>
                  <a:pt x="79375" y="53578"/>
                </a:cubicBezTo>
                <a:lnTo>
                  <a:pt x="79375" y="55563"/>
                </a:lnTo>
                <a:lnTo>
                  <a:pt x="95250" y="55563"/>
                </a:lnTo>
                <a:cubicBezTo>
                  <a:pt x="104006" y="55563"/>
                  <a:pt x="111125" y="62681"/>
                  <a:pt x="111125" y="71438"/>
                </a:cubicBezTo>
                <a:lnTo>
                  <a:pt x="111125" y="87313"/>
                </a:lnTo>
                <a:cubicBezTo>
                  <a:pt x="111125" y="96069"/>
                  <a:pt x="104006" y="103188"/>
                  <a:pt x="95250" y="103188"/>
                </a:cubicBezTo>
                <a:lnTo>
                  <a:pt x="79375" y="103188"/>
                </a:lnTo>
                <a:cubicBezTo>
                  <a:pt x="70619" y="103188"/>
                  <a:pt x="63500" y="96069"/>
                  <a:pt x="63500" y="87313"/>
                </a:cubicBezTo>
                <a:lnTo>
                  <a:pt x="63500" y="53578"/>
                </a:lnTo>
                <a:close/>
              </a:path>
            </a:pathLst>
          </a:custGeom>
          <a:solidFill>
            <a:srgbClr val="2A9D8F"/>
          </a:solidFill>
          <a:ln/>
        </p:spPr>
      </p:sp>
      <p:sp>
        <p:nvSpPr>
          <p:cNvPr id="64" name="Text 62"/>
          <p:cNvSpPr/>
          <p:nvPr/>
        </p:nvSpPr>
        <p:spPr>
          <a:xfrm>
            <a:off x="674688" y="7826375"/>
            <a:ext cx="11136313" cy="412750"/>
          </a:xfrm>
          <a:prstGeom prst="rect">
            <a:avLst/>
          </a:prstGeom>
          <a:noFill/>
          <a:ln/>
        </p:spPr>
        <p:txBody>
          <a:bodyPr wrap="square" lIns="0" tIns="0" rIns="0" bIns="0" rtlCol="0" anchor="ctr"/>
          <a:lstStyle/>
          <a:p>
            <a:pPr>
              <a:lnSpc>
                <a:spcPct val="140000"/>
              </a:lnSpc>
            </a:pPr>
            <a:r>
              <a:rPr lang="en-US" sz="1000" b="1" dirty="0">
                <a:solidFill>
                  <a:srgbClr val="2B2D42"/>
                </a:solidFill>
                <a:latin typeface="Quattrocento Sans" pitchFamily="34" charset="0"/>
                <a:ea typeface="Quattrocento Sans" pitchFamily="34" charset="-122"/>
                <a:cs typeface="Quattrocento Sans" pitchFamily="34" charset="-120"/>
              </a:rPr>
              <a:t>Speaker Note:</a:t>
            </a:r>
            <a:pPr>
              <a:lnSpc>
                <a:spcPct val="140000"/>
              </a:lnSpc>
            </a:pPr>
            <a:r>
              <a:rPr lang="en-US" sz="1000" dirty="0">
                <a:solidFill>
                  <a:srgbClr val="2B2D42"/>
                </a:solidFill>
                <a:latin typeface="Quattrocento Sans" pitchFamily="34" charset="0"/>
                <a:ea typeface="Quattrocento Sans" pitchFamily="34" charset="-122"/>
                <a:cs typeface="Quattrocento Sans" pitchFamily="34" charset="-120"/>
              </a:rPr>
              <a:t> Paint a picture of banking in 2030: AI assistants managing finances, CBDCs replacing cash, quantum-secure transactions, and banking embedded in everyday activities. Emphasize that the future is about invisible, intelligent, and inclusive banking.</a:t>
            </a:r>
            <a:endParaRPr lang="en-US" sz="16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3A5C"/>
        </a:solidFill>
      </p:bgPr>
    </p:bg>
    <p:spTree>
      <p:nvGrpSpPr>
        <p:cNvPr id="1" name=""/>
        <p:cNvGrpSpPr/>
        <p:nvPr/>
      </p:nvGrpSpPr>
      <p:grpSpPr>
        <a:xfrm>
          <a:off x="0" y="0"/>
          <a:ext cx="0" cy="0"/>
          <a:chOff x="0" y="0"/>
          <a:chExt cx="0" cy="0"/>
        </a:xfrm>
      </p:grpSpPr>
      <p:pic>
        <p:nvPicPr>
          <p:cNvPr id="2" name="Image 0" descr="https://kimi-web-img.moonshot.cn/img/thumbs.dreamstime.com/96fccdd55bc0e63d728cca3760747f1d741582a3.jpg">    </p:cNvPr>
          <p:cNvPicPr>
            <a:picLocks noChangeAspect="1"/>
          </p:cNvPicPr>
          <p:nvPr/>
        </p:nvPicPr>
        <p:blipFill>
          <a:blip r:embed="rId1">
            <a:alphaModFix amt="20000"/>
          </a:blip>
          <a:srcRect l="0" r="0"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A3A5C">
                  <a:alpha val="95000"/>
                </a:srgbClr>
              </a:gs>
              <a:gs pos="50000">
                <a:srgbClr val="1A3A5C">
                  <a:alpha val="90000"/>
                </a:srgbClr>
              </a:gs>
              <a:gs pos="100000">
                <a:srgbClr val="2A9D8F">
                  <a:alpha val="80000"/>
                </a:srgbClr>
              </a:gs>
            </a:gsLst>
            <a:lin ang="2700000" scaled="1"/>
          </a:gradFill>
          <a:ln/>
        </p:spPr>
      </p:sp>
      <p:sp>
        <p:nvSpPr>
          <p:cNvPr id="4" name="Shape 1"/>
          <p:cNvSpPr/>
          <p:nvPr/>
        </p:nvSpPr>
        <p:spPr>
          <a:xfrm>
            <a:off x="385763" y="23813"/>
            <a:ext cx="1657350" cy="504825"/>
          </a:xfrm>
          <a:custGeom>
            <a:avLst/>
            <a:gdLst/>
            <a:ahLst/>
            <a:cxnLst/>
            <a:rect l="l" t="t" r="r" b="b"/>
            <a:pathLst>
              <a:path w="1657350" h="504825">
                <a:moveTo>
                  <a:pt x="252413" y="0"/>
                </a:moveTo>
                <a:lnTo>
                  <a:pt x="1404938" y="0"/>
                </a:lnTo>
                <a:cubicBezTo>
                  <a:pt x="1544248" y="0"/>
                  <a:pt x="1657350" y="113102"/>
                  <a:pt x="1657350" y="252413"/>
                </a:cubicBezTo>
                <a:lnTo>
                  <a:pt x="1657350" y="252413"/>
                </a:lnTo>
                <a:cubicBezTo>
                  <a:pt x="1657350" y="391723"/>
                  <a:pt x="1544248" y="504825"/>
                  <a:pt x="1404938" y="504825"/>
                </a:cubicBezTo>
                <a:lnTo>
                  <a:pt x="252413" y="504825"/>
                </a:lnTo>
                <a:cubicBezTo>
                  <a:pt x="113102" y="504825"/>
                  <a:pt x="0" y="391723"/>
                  <a:pt x="0" y="252413"/>
                </a:cubicBezTo>
                <a:lnTo>
                  <a:pt x="0" y="252413"/>
                </a:lnTo>
                <a:cubicBezTo>
                  <a:pt x="0" y="113102"/>
                  <a:pt x="113102" y="0"/>
                  <a:pt x="252412" y="0"/>
                </a:cubicBezTo>
                <a:close/>
              </a:path>
            </a:pathLst>
          </a:custGeom>
          <a:solidFill>
            <a:srgbClr val="2A9D8F">
              <a:alpha val="20000"/>
            </a:srgbClr>
          </a:solidFill>
          <a:ln w="12700">
            <a:solidFill>
              <a:srgbClr val="2A9D8F">
                <a:alpha val="40000"/>
              </a:srgbClr>
            </a:solidFill>
            <a:prstDash val="solid"/>
          </a:ln>
        </p:spPr>
      </p:sp>
      <p:sp>
        <p:nvSpPr>
          <p:cNvPr id="5" name="Text 2"/>
          <p:cNvSpPr/>
          <p:nvPr/>
        </p:nvSpPr>
        <p:spPr>
          <a:xfrm>
            <a:off x="619125" y="152400"/>
            <a:ext cx="1276276" cy="242888"/>
          </a:xfrm>
          <a:prstGeom prst="rect">
            <a:avLst/>
          </a:prstGeom>
          <a:noFill/>
          <a:ln/>
        </p:spPr>
        <p:txBody>
          <a:bodyPr wrap="square" lIns="0" tIns="0" rIns="0" bIns="0" rtlCol="0" anchor="ctr"/>
          <a:lstStyle/>
          <a:p>
            <a:pPr>
              <a:lnSpc>
                <a:spcPct val="130000"/>
              </a:lnSpc>
            </a:pPr>
            <a:r>
              <a:rPr lang="en-US" sz="1350" b="1" spc="68" kern="0" dirty="0">
                <a:solidFill>
                  <a:srgbClr val="2A9D8F"/>
                </a:solidFill>
                <a:latin typeface="Liter" pitchFamily="34" charset="0"/>
                <a:ea typeface="Liter" pitchFamily="34" charset="-122"/>
                <a:cs typeface="Liter" pitchFamily="34" charset="-120"/>
              </a:rPr>
              <a:t>CONCLUSION</a:t>
            </a:r>
            <a:endParaRPr lang="en-US" sz="1600" dirty="0"/>
          </a:p>
        </p:txBody>
      </p:sp>
      <p:sp>
        <p:nvSpPr>
          <p:cNvPr id="6" name="Text 3"/>
          <p:cNvSpPr/>
          <p:nvPr/>
        </p:nvSpPr>
        <p:spPr>
          <a:xfrm>
            <a:off x="381000" y="762000"/>
            <a:ext cx="11715750" cy="714375"/>
          </a:xfrm>
          <a:prstGeom prst="rect">
            <a:avLst/>
          </a:prstGeom>
          <a:noFill/>
          <a:ln/>
        </p:spPr>
        <p:txBody>
          <a:bodyPr wrap="square" lIns="0" tIns="0" rIns="0" bIns="0" rtlCol="0" anchor="ctr"/>
          <a:lstStyle/>
          <a:p>
            <a:pPr>
              <a:lnSpc>
                <a:spcPct val="100000"/>
              </a:lnSpc>
            </a:pPr>
            <a:r>
              <a:rPr lang="en-US" sz="4500" b="1" dirty="0">
                <a:solidFill>
                  <a:srgbClr val="EDF2F4"/>
                </a:solidFill>
                <a:latin typeface="Oranienbaum" pitchFamily="34" charset="0"/>
                <a:ea typeface="Oranienbaum" pitchFamily="34" charset="-122"/>
                <a:cs typeface="Oranienbaum" pitchFamily="34" charset="-120"/>
              </a:rPr>
              <a:t>Key Takeaways</a:t>
            </a:r>
            <a:endParaRPr lang="en-US" sz="1600" dirty="0"/>
          </a:p>
        </p:txBody>
      </p:sp>
      <p:sp>
        <p:nvSpPr>
          <p:cNvPr id="7" name="Shape 4"/>
          <p:cNvSpPr/>
          <p:nvPr/>
        </p:nvSpPr>
        <p:spPr>
          <a:xfrm>
            <a:off x="381000" y="1628775"/>
            <a:ext cx="1219200" cy="57150"/>
          </a:xfrm>
          <a:custGeom>
            <a:avLst/>
            <a:gdLst/>
            <a:ahLst/>
            <a:cxnLst/>
            <a:rect l="l" t="t" r="r" b="b"/>
            <a:pathLst>
              <a:path w="1219200" h="57150">
                <a:moveTo>
                  <a:pt x="0" y="0"/>
                </a:moveTo>
                <a:lnTo>
                  <a:pt x="1219200" y="0"/>
                </a:lnTo>
                <a:lnTo>
                  <a:pt x="1219200" y="57150"/>
                </a:lnTo>
                <a:lnTo>
                  <a:pt x="0" y="57150"/>
                </a:lnTo>
                <a:lnTo>
                  <a:pt x="0" y="0"/>
                </a:lnTo>
                <a:close/>
              </a:path>
            </a:pathLst>
          </a:custGeom>
          <a:solidFill>
            <a:srgbClr val="2A9D8F"/>
          </a:solidFill>
          <a:ln/>
        </p:spPr>
      </p:sp>
      <p:sp>
        <p:nvSpPr>
          <p:cNvPr id="8" name="Shape 5"/>
          <p:cNvSpPr/>
          <p:nvPr/>
        </p:nvSpPr>
        <p:spPr>
          <a:xfrm>
            <a:off x="385763" y="1919288"/>
            <a:ext cx="5610225" cy="1266825"/>
          </a:xfrm>
          <a:custGeom>
            <a:avLst/>
            <a:gdLst/>
            <a:ahLst/>
            <a:cxnLst/>
            <a:rect l="l" t="t" r="r" b="b"/>
            <a:pathLst>
              <a:path w="5610225" h="1266825">
                <a:moveTo>
                  <a:pt x="114306" y="0"/>
                </a:moveTo>
                <a:lnTo>
                  <a:pt x="5495919" y="0"/>
                </a:lnTo>
                <a:cubicBezTo>
                  <a:pt x="5559049" y="0"/>
                  <a:pt x="5610225" y="51176"/>
                  <a:pt x="5610225" y="114306"/>
                </a:cubicBezTo>
                <a:lnTo>
                  <a:pt x="5610225" y="1152519"/>
                </a:lnTo>
                <a:cubicBezTo>
                  <a:pt x="5610225" y="1215649"/>
                  <a:pt x="5559049" y="1266825"/>
                  <a:pt x="5495919" y="1266825"/>
                </a:cubicBezTo>
                <a:lnTo>
                  <a:pt x="114306" y="1266825"/>
                </a:lnTo>
                <a:cubicBezTo>
                  <a:pt x="51176" y="1266825"/>
                  <a:pt x="0" y="1215649"/>
                  <a:pt x="0" y="1152519"/>
                </a:cubicBezTo>
                <a:lnTo>
                  <a:pt x="0" y="114306"/>
                </a:lnTo>
                <a:cubicBezTo>
                  <a:pt x="0" y="51219"/>
                  <a:pt x="51219" y="0"/>
                  <a:pt x="114306" y="0"/>
                </a:cubicBezTo>
                <a:close/>
              </a:path>
            </a:pathLst>
          </a:custGeom>
          <a:solidFill>
            <a:srgbClr val="FFFFFF">
              <a:alpha val="10196"/>
            </a:srgbClr>
          </a:solidFill>
          <a:ln w="12700">
            <a:solidFill>
              <a:srgbClr val="FFFFFF">
                <a:alpha val="20000"/>
              </a:srgbClr>
            </a:solidFill>
            <a:prstDash val="solid"/>
          </a:ln>
        </p:spPr>
      </p:sp>
      <p:sp>
        <p:nvSpPr>
          <p:cNvPr id="9" name="Shape 6"/>
          <p:cNvSpPr/>
          <p:nvPr/>
        </p:nvSpPr>
        <p:spPr>
          <a:xfrm>
            <a:off x="581025" y="21145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2A9D8F"/>
          </a:solidFill>
          <a:ln/>
        </p:spPr>
      </p:sp>
      <p:sp>
        <p:nvSpPr>
          <p:cNvPr id="10" name="Shape 7"/>
          <p:cNvSpPr/>
          <p:nvPr/>
        </p:nvSpPr>
        <p:spPr>
          <a:xfrm>
            <a:off x="733425" y="2266950"/>
            <a:ext cx="228600" cy="228600"/>
          </a:xfrm>
          <a:custGeom>
            <a:avLst/>
            <a:gdLst/>
            <a:ahLst/>
            <a:cxnLst/>
            <a:rect l="l" t="t" r="r" b="b"/>
            <a:pathLst>
              <a:path w="228600" h="228600">
                <a:moveTo>
                  <a:pt x="121399" y="9019"/>
                </a:moveTo>
                <a:cubicBezTo>
                  <a:pt x="117024" y="6519"/>
                  <a:pt x="111621" y="6519"/>
                  <a:pt x="107201" y="9019"/>
                </a:cubicBezTo>
                <a:lnTo>
                  <a:pt x="7188" y="66169"/>
                </a:lnTo>
                <a:cubicBezTo>
                  <a:pt x="1563" y="69384"/>
                  <a:pt x="-1206" y="75992"/>
                  <a:pt x="446" y="82242"/>
                </a:cubicBezTo>
                <a:cubicBezTo>
                  <a:pt x="2098" y="88493"/>
                  <a:pt x="7813" y="92869"/>
                  <a:pt x="14288" y="92869"/>
                </a:cubicBezTo>
                <a:lnTo>
                  <a:pt x="28575" y="92869"/>
                </a:lnTo>
                <a:lnTo>
                  <a:pt x="28575" y="185738"/>
                </a:lnTo>
                <a:lnTo>
                  <a:pt x="28575" y="185738"/>
                </a:lnTo>
                <a:lnTo>
                  <a:pt x="5715" y="202883"/>
                </a:lnTo>
                <a:cubicBezTo>
                  <a:pt x="2098" y="205561"/>
                  <a:pt x="0" y="209803"/>
                  <a:pt x="0" y="214313"/>
                </a:cubicBezTo>
                <a:cubicBezTo>
                  <a:pt x="0" y="222215"/>
                  <a:pt x="6385" y="228600"/>
                  <a:pt x="14288" y="228600"/>
                </a:cubicBezTo>
                <a:lnTo>
                  <a:pt x="214313" y="228600"/>
                </a:lnTo>
                <a:cubicBezTo>
                  <a:pt x="222215" y="228600"/>
                  <a:pt x="228600" y="222215"/>
                  <a:pt x="228600" y="214313"/>
                </a:cubicBezTo>
                <a:cubicBezTo>
                  <a:pt x="228600" y="209803"/>
                  <a:pt x="226502" y="205561"/>
                  <a:pt x="222885" y="202883"/>
                </a:cubicBezTo>
                <a:lnTo>
                  <a:pt x="200025" y="185738"/>
                </a:lnTo>
                <a:lnTo>
                  <a:pt x="200025" y="92869"/>
                </a:lnTo>
                <a:lnTo>
                  <a:pt x="214313" y="92869"/>
                </a:lnTo>
                <a:cubicBezTo>
                  <a:pt x="220787" y="92869"/>
                  <a:pt x="226457" y="88493"/>
                  <a:pt x="228109" y="82242"/>
                </a:cubicBezTo>
                <a:cubicBezTo>
                  <a:pt x="229761" y="75992"/>
                  <a:pt x="226993" y="69384"/>
                  <a:pt x="221367" y="66169"/>
                </a:cubicBezTo>
                <a:lnTo>
                  <a:pt x="121354" y="9019"/>
                </a:lnTo>
                <a:close/>
                <a:moveTo>
                  <a:pt x="178594" y="92869"/>
                </a:moveTo>
                <a:lnTo>
                  <a:pt x="178594" y="185738"/>
                </a:lnTo>
                <a:lnTo>
                  <a:pt x="150019" y="185738"/>
                </a:lnTo>
                <a:lnTo>
                  <a:pt x="150019" y="92869"/>
                </a:lnTo>
                <a:lnTo>
                  <a:pt x="178594" y="92869"/>
                </a:lnTo>
                <a:close/>
                <a:moveTo>
                  <a:pt x="128588" y="92869"/>
                </a:moveTo>
                <a:lnTo>
                  <a:pt x="128588" y="185738"/>
                </a:lnTo>
                <a:lnTo>
                  <a:pt x="100013" y="185738"/>
                </a:lnTo>
                <a:lnTo>
                  <a:pt x="100013" y="92869"/>
                </a:lnTo>
                <a:lnTo>
                  <a:pt x="128588" y="92869"/>
                </a:lnTo>
                <a:close/>
                <a:moveTo>
                  <a:pt x="78581" y="92869"/>
                </a:moveTo>
                <a:lnTo>
                  <a:pt x="78581" y="185738"/>
                </a:lnTo>
                <a:lnTo>
                  <a:pt x="50006" y="185738"/>
                </a:lnTo>
                <a:lnTo>
                  <a:pt x="50006" y="92869"/>
                </a:lnTo>
                <a:lnTo>
                  <a:pt x="78581" y="92869"/>
                </a:lnTo>
                <a:close/>
                <a:moveTo>
                  <a:pt x="114300" y="42863"/>
                </a:moveTo>
                <a:cubicBezTo>
                  <a:pt x="122185" y="42863"/>
                  <a:pt x="128588" y="49265"/>
                  <a:pt x="128588" y="57150"/>
                </a:cubicBezTo>
                <a:cubicBezTo>
                  <a:pt x="128588" y="65035"/>
                  <a:pt x="122185" y="71438"/>
                  <a:pt x="114300" y="71438"/>
                </a:cubicBezTo>
                <a:cubicBezTo>
                  <a:pt x="106415" y="71438"/>
                  <a:pt x="100013" y="65035"/>
                  <a:pt x="100013" y="57150"/>
                </a:cubicBezTo>
                <a:cubicBezTo>
                  <a:pt x="100013" y="49265"/>
                  <a:pt x="106415" y="42863"/>
                  <a:pt x="114300" y="42863"/>
                </a:cubicBezTo>
                <a:close/>
              </a:path>
            </a:pathLst>
          </a:custGeom>
          <a:solidFill>
            <a:srgbClr val="FFFFFF"/>
          </a:solidFill>
          <a:ln/>
        </p:spPr>
      </p:sp>
      <p:sp>
        <p:nvSpPr>
          <p:cNvPr id="11" name="Text 8"/>
          <p:cNvSpPr/>
          <p:nvPr/>
        </p:nvSpPr>
        <p:spPr>
          <a:xfrm>
            <a:off x="1266825" y="2114550"/>
            <a:ext cx="4648200" cy="304800"/>
          </a:xfrm>
          <a:prstGeom prst="rect">
            <a:avLst/>
          </a:prstGeom>
          <a:noFill/>
          <a:ln/>
        </p:spPr>
        <p:txBody>
          <a:bodyPr wrap="square" lIns="0" tIns="0" rIns="0" bIns="0" rtlCol="0" anchor="ctr"/>
          <a:lstStyle/>
          <a:p>
            <a:pPr>
              <a:lnSpc>
                <a:spcPct val="110000"/>
              </a:lnSpc>
            </a:pPr>
            <a:r>
              <a:rPr lang="en-US" sz="1800" b="1" dirty="0">
                <a:solidFill>
                  <a:srgbClr val="EDF2F4"/>
                </a:solidFill>
                <a:latin typeface="Liter" pitchFamily="34" charset="0"/>
                <a:ea typeface="Liter" pitchFamily="34" charset="-122"/>
                <a:cs typeface="Liter" pitchFamily="34" charset="-120"/>
              </a:rPr>
              <a:t>Banking is Essential</a:t>
            </a:r>
            <a:endParaRPr lang="en-US" sz="1600" dirty="0"/>
          </a:p>
        </p:txBody>
      </p:sp>
      <p:sp>
        <p:nvSpPr>
          <p:cNvPr id="12" name="Text 9"/>
          <p:cNvSpPr/>
          <p:nvPr/>
        </p:nvSpPr>
        <p:spPr>
          <a:xfrm>
            <a:off x="1266825" y="2495550"/>
            <a:ext cx="4610100" cy="495300"/>
          </a:xfrm>
          <a:prstGeom prst="rect">
            <a:avLst/>
          </a:prstGeom>
          <a:noFill/>
          <a:ln/>
        </p:spPr>
        <p:txBody>
          <a:bodyPr wrap="square" lIns="0" tIns="0" rIns="0" bIns="0" rtlCol="0" anchor="ctr"/>
          <a:lstStyle/>
          <a:p>
            <a:pPr>
              <a:lnSpc>
                <a:spcPct val="140000"/>
              </a:lnSpc>
            </a:pPr>
            <a:r>
              <a:rPr lang="en-US" sz="1200" dirty="0">
                <a:solidFill>
                  <a:srgbClr val="EDF2F4">
                    <a:alpha val="90000"/>
                  </a:srgbClr>
                </a:solidFill>
                <a:latin typeface="Quattrocento Sans" pitchFamily="34" charset="0"/>
                <a:ea typeface="Quattrocento Sans" pitchFamily="34" charset="-122"/>
                <a:cs typeface="Quattrocento Sans" pitchFamily="34" charset="-120"/>
              </a:rPr>
              <a:t>Banks are the backbone of modern economies, facilitating growth, providing security, and enabling financial inclusion.</a:t>
            </a:r>
            <a:endParaRPr lang="en-US" sz="1600" dirty="0"/>
          </a:p>
        </p:txBody>
      </p:sp>
      <p:sp>
        <p:nvSpPr>
          <p:cNvPr id="13" name="Shape 10"/>
          <p:cNvSpPr/>
          <p:nvPr/>
        </p:nvSpPr>
        <p:spPr>
          <a:xfrm>
            <a:off x="6196013" y="1919288"/>
            <a:ext cx="5610225" cy="1266825"/>
          </a:xfrm>
          <a:custGeom>
            <a:avLst/>
            <a:gdLst/>
            <a:ahLst/>
            <a:cxnLst/>
            <a:rect l="l" t="t" r="r" b="b"/>
            <a:pathLst>
              <a:path w="5610225" h="1266825">
                <a:moveTo>
                  <a:pt x="114306" y="0"/>
                </a:moveTo>
                <a:lnTo>
                  <a:pt x="5495919" y="0"/>
                </a:lnTo>
                <a:cubicBezTo>
                  <a:pt x="5559049" y="0"/>
                  <a:pt x="5610225" y="51176"/>
                  <a:pt x="5610225" y="114306"/>
                </a:cubicBezTo>
                <a:lnTo>
                  <a:pt x="5610225" y="1152519"/>
                </a:lnTo>
                <a:cubicBezTo>
                  <a:pt x="5610225" y="1215649"/>
                  <a:pt x="5559049" y="1266825"/>
                  <a:pt x="5495919" y="1266825"/>
                </a:cubicBezTo>
                <a:lnTo>
                  <a:pt x="114306" y="1266825"/>
                </a:lnTo>
                <a:cubicBezTo>
                  <a:pt x="51176" y="1266825"/>
                  <a:pt x="0" y="1215649"/>
                  <a:pt x="0" y="1152519"/>
                </a:cubicBezTo>
                <a:lnTo>
                  <a:pt x="0" y="114306"/>
                </a:lnTo>
                <a:cubicBezTo>
                  <a:pt x="0" y="51219"/>
                  <a:pt x="51219" y="0"/>
                  <a:pt x="114306" y="0"/>
                </a:cubicBezTo>
                <a:close/>
              </a:path>
            </a:pathLst>
          </a:custGeom>
          <a:solidFill>
            <a:srgbClr val="FFFFFF">
              <a:alpha val="10196"/>
            </a:srgbClr>
          </a:solidFill>
          <a:ln w="12700">
            <a:solidFill>
              <a:srgbClr val="FFFFFF">
                <a:alpha val="20000"/>
              </a:srgbClr>
            </a:solidFill>
            <a:prstDash val="solid"/>
          </a:ln>
        </p:spPr>
      </p:sp>
      <p:sp>
        <p:nvSpPr>
          <p:cNvPr id="14" name="Shape 11"/>
          <p:cNvSpPr/>
          <p:nvPr/>
        </p:nvSpPr>
        <p:spPr>
          <a:xfrm>
            <a:off x="6391275" y="21145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2A9D8F"/>
          </a:solidFill>
          <a:ln/>
        </p:spPr>
      </p:sp>
      <p:sp>
        <p:nvSpPr>
          <p:cNvPr id="15" name="Shape 12"/>
          <p:cNvSpPr/>
          <p:nvPr/>
        </p:nvSpPr>
        <p:spPr>
          <a:xfrm>
            <a:off x="6543675" y="2266950"/>
            <a:ext cx="228600" cy="228600"/>
          </a:xfrm>
          <a:custGeom>
            <a:avLst/>
            <a:gdLst/>
            <a:ahLst/>
            <a:cxnLst/>
            <a:rect l="l" t="t" r="r" b="b"/>
            <a:pathLst>
              <a:path w="228600" h="228600">
                <a:moveTo>
                  <a:pt x="224403" y="67241"/>
                </a:moveTo>
                <a:lnTo>
                  <a:pt x="181541" y="110103"/>
                </a:lnTo>
                <a:cubicBezTo>
                  <a:pt x="177433" y="114211"/>
                  <a:pt x="171316" y="115416"/>
                  <a:pt x="165958" y="113184"/>
                </a:cubicBezTo>
                <a:cubicBezTo>
                  <a:pt x="160600" y="110951"/>
                  <a:pt x="157163" y="105772"/>
                  <a:pt x="157163" y="100013"/>
                </a:cubicBezTo>
                <a:lnTo>
                  <a:pt x="157163" y="71438"/>
                </a:lnTo>
                <a:lnTo>
                  <a:pt x="14288" y="71438"/>
                </a:lnTo>
                <a:cubicBezTo>
                  <a:pt x="6385" y="71438"/>
                  <a:pt x="0" y="65053"/>
                  <a:pt x="0" y="57150"/>
                </a:cubicBezTo>
                <a:cubicBezTo>
                  <a:pt x="0" y="49247"/>
                  <a:pt x="6385" y="42863"/>
                  <a:pt x="14288" y="42863"/>
                </a:cubicBezTo>
                <a:lnTo>
                  <a:pt x="157163" y="42863"/>
                </a:lnTo>
                <a:lnTo>
                  <a:pt x="157163" y="14288"/>
                </a:lnTo>
                <a:cubicBezTo>
                  <a:pt x="157163" y="8528"/>
                  <a:pt x="160645" y="3304"/>
                  <a:pt x="166003" y="1072"/>
                </a:cubicBezTo>
                <a:cubicBezTo>
                  <a:pt x="171361" y="-1161"/>
                  <a:pt x="177478" y="89"/>
                  <a:pt x="181585" y="4152"/>
                </a:cubicBezTo>
                <a:lnTo>
                  <a:pt x="224448" y="47015"/>
                </a:lnTo>
                <a:cubicBezTo>
                  <a:pt x="230029" y="52596"/>
                  <a:pt x="230029" y="61659"/>
                  <a:pt x="224448" y="67241"/>
                </a:cubicBezTo>
                <a:close/>
                <a:moveTo>
                  <a:pt x="47015" y="224403"/>
                </a:moveTo>
                <a:lnTo>
                  <a:pt x="4152" y="181541"/>
                </a:lnTo>
                <a:cubicBezTo>
                  <a:pt x="-1429" y="175959"/>
                  <a:pt x="-1429" y="166896"/>
                  <a:pt x="4152" y="161315"/>
                </a:cubicBezTo>
                <a:lnTo>
                  <a:pt x="47015" y="118452"/>
                </a:lnTo>
                <a:cubicBezTo>
                  <a:pt x="51122" y="114345"/>
                  <a:pt x="57239" y="113139"/>
                  <a:pt x="62597" y="115372"/>
                </a:cubicBezTo>
                <a:cubicBezTo>
                  <a:pt x="67955" y="117604"/>
                  <a:pt x="71438" y="122828"/>
                  <a:pt x="71438" y="128588"/>
                </a:cubicBezTo>
                <a:lnTo>
                  <a:pt x="71438" y="157163"/>
                </a:lnTo>
                <a:lnTo>
                  <a:pt x="214313" y="157163"/>
                </a:lnTo>
                <a:cubicBezTo>
                  <a:pt x="222215" y="157163"/>
                  <a:pt x="228600" y="163547"/>
                  <a:pt x="228600" y="171450"/>
                </a:cubicBezTo>
                <a:cubicBezTo>
                  <a:pt x="228600" y="179353"/>
                  <a:pt x="222215" y="185738"/>
                  <a:pt x="214313" y="185738"/>
                </a:cubicBezTo>
                <a:lnTo>
                  <a:pt x="71438" y="185738"/>
                </a:lnTo>
                <a:lnTo>
                  <a:pt x="71438" y="214313"/>
                </a:lnTo>
                <a:cubicBezTo>
                  <a:pt x="71438" y="220072"/>
                  <a:pt x="67955" y="225296"/>
                  <a:pt x="62597" y="227528"/>
                </a:cubicBezTo>
                <a:cubicBezTo>
                  <a:pt x="57239" y="229761"/>
                  <a:pt x="51122" y="228511"/>
                  <a:pt x="47015" y="224448"/>
                </a:cubicBezTo>
                <a:close/>
              </a:path>
            </a:pathLst>
          </a:custGeom>
          <a:solidFill>
            <a:srgbClr val="FFFFFF"/>
          </a:solidFill>
          <a:ln/>
        </p:spPr>
      </p:sp>
      <p:sp>
        <p:nvSpPr>
          <p:cNvPr id="16" name="Text 13"/>
          <p:cNvSpPr/>
          <p:nvPr/>
        </p:nvSpPr>
        <p:spPr>
          <a:xfrm>
            <a:off x="7077075" y="2114550"/>
            <a:ext cx="4648200" cy="304800"/>
          </a:xfrm>
          <a:prstGeom prst="rect">
            <a:avLst/>
          </a:prstGeom>
          <a:noFill/>
          <a:ln/>
        </p:spPr>
        <p:txBody>
          <a:bodyPr wrap="square" lIns="0" tIns="0" rIns="0" bIns="0" rtlCol="0" anchor="ctr"/>
          <a:lstStyle/>
          <a:p>
            <a:pPr>
              <a:lnSpc>
                <a:spcPct val="110000"/>
              </a:lnSpc>
            </a:pPr>
            <a:r>
              <a:rPr lang="en-US" sz="1800" b="1" dirty="0">
                <a:solidFill>
                  <a:srgbClr val="EDF2F4"/>
                </a:solidFill>
                <a:latin typeface="Liter" pitchFamily="34" charset="0"/>
                <a:ea typeface="Liter" pitchFamily="34" charset="-122"/>
                <a:cs typeface="Liter" pitchFamily="34" charset="-120"/>
              </a:rPr>
              <a:t>Evolution is Constant</a:t>
            </a:r>
            <a:endParaRPr lang="en-US" sz="1600" dirty="0"/>
          </a:p>
        </p:txBody>
      </p:sp>
      <p:sp>
        <p:nvSpPr>
          <p:cNvPr id="17" name="Text 14"/>
          <p:cNvSpPr/>
          <p:nvPr/>
        </p:nvSpPr>
        <p:spPr>
          <a:xfrm>
            <a:off x="7077075" y="2495550"/>
            <a:ext cx="4610100" cy="495300"/>
          </a:xfrm>
          <a:prstGeom prst="rect">
            <a:avLst/>
          </a:prstGeom>
          <a:noFill/>
          <a:ln/>
        </p:spPr>
        <p:txBody>
          <a:bodyPr wrap="square" lIns="0" tIns="0" rIns="0" bIns="0" rtlCol="0" anchor="ctr"/>
          <a:lstStyle/>
          <a:p>
            <a:pPr>
              <a:lnSpc>
                <a:spcPct val="140000"/>
              </a:lnSpc>
            </a:pPr>
            <a:r>
              <a:rPr lang="en-US" sz="1200" dirty="0">
                <a:solidFill>
                  <a:srgbClr val="EDF2F4">
                    <a:alpha val="90000"/>
                  </a:srgbClr>
                </a:solidFill>
                <a:latin typeface="Quattrocento Sans" pitchFamily="34" charset="0"/>
                <a:ea typeface="Quattrocento Sans" pitchFamily="34" charset="-122"/>
                <a:cs typeface="Quattrocento Sans" pitchFamily="34" charset="-120"/>
              </a:rPr>
              <a:t>From goldsmiths to digital apps, banking continuously adapts to technology and changing customer needs.</a:t>
            </a:r>
            <a:endParaRPr lang="en-US" sz="1600" dirty="0"/>
          </a:p>
        </p:txBody>
      </p:sp>
      <p:sp>
        <p:nvSpPr>
          <p:cNvPr id="18" name="Shape 15"/>
          <p:cNvSpPr/>
          <p:nvPr/>
        </p:nvSpPr>
        <p:spPr>
          <a:xfrm>
            <a:off x="385763" y="3386138"/>
            <a:ext cx="5610225" cy="1266825"/>
          </a:xfrm>
          <a:custGeom>
            <a:avLst/>
            <a:gdLst/>
            <a:ahLst/>
            <a:cxnLst/>
            <a:rect l="l" t="t" r="r" b="b"/>
            <a:pathLst>
              <a:path w="5610225" h="1266825">
                <a:moveTo>
                  <a:pt x="114306" y="0"/>
                </a:moveTo>
                <a:lnTo>
                  <a:pt x="5495919" y="0"/>
                </a:lnTo>
                <a:cubicBezTo>
                  <a:pt x="5559049" y="0"/>
                  <a:pt x="5610225" y="51176"/>
                  <a:pt x="5610225" y="114306"/>
                </a:cubicBezTo>
                <a:lnTo>
                  <a:pt x="5610225" y="1152519"/>
                </a:lnTo>
                <a:cubicBezTo>
                  <a:pt x="5610225" y="1215649"/>
                  <a:pt x="5559049" y="1266825"/>
                  <a:pt x="5495919" y="1266825"/>
                </a:cubicBezTo>
                <a:lnTo>
                  <a:pt x="114306" y="1266825"/>
                </a:lnTo>
                <a:cubicBezTo>
                  <a:pt x="51176" y="1266825"/>
                  <a:pt x="0" y="1215649"/>
                  <a:pt x="0" y="1152519"/>
                </a:cubicBezTo>
                <a:lnTo>
                  <a:pt x="0" y="114306"/>
                </a:lnTo>
                <a:cubicBezTo>
                  <a:pt x="0" y="51219"/>
                  <a:pt x="51219" y="0"/>
                  <a:pt x="114306" y="0"/>
                </a:cubicBezTo>
                <a:close/>
              </a:path>
            </a:pathLst>
          </a:custGeom>
          <a:solidFill>
            <a:srgbClr val="FFFFFF">
              <a:alpha val="10196"/>
            </a:srgbClr>
          </a:solidFill>
          <a:ln w="12700">
            <a:solidFill>
              <a:srgbClr val="FFFFFF">
                <a:alpha val="20000"/>
              </a:srgbClr>
            </a:solidFill>
            <a:prstDash val="solid"/>
          </a:ln>
        </p:spPr>
      </p:sp>
      <p:sp>
        <p:nvSpPr>
          <p:cNvPr id="19" name="Shape 16"/>
          <p:cNvSpPr/>
          <p:nvPr/>
        </p:nvSpPr>
        <p:spPr>
          <a:xfrm>
            <a:off x="581025" y="35814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2A9D8F"/>
          </a:solidFill>
          <a:ln/>
        </p:spPr>
      </p:sp>
      <p:sp>
        <p:nvSpPr>
          <p:cNvPr id="20" name="Shape 17"/>
          <p:cNvSpPr/>
          <p:nvPr/>
        </p:nvSpPr>
        <p:spPr>
          <a:xfrm>
            <a:off x="762000" y="3733800"/>
            <a:ext cx="171450" cy="228600"/>
          </a:xfrm>
          <a:custGeom>
            <a:avLst/>
            <a:gdLst/>
            <a:ahLst/>
            <a:cxnLst/>
            <a:rect l="l" t="t" r="r" b="b"/>
            <a:pathLst>
              <a:path w="171450" h="228600">
                <a:moveTo>
                  <a:pt x="7144" y="28575"/>
                </a:moveTo>
                <a:cubicBezTo>
                  <a:pt x="7144" y="12814"/>
                  <a:pt x="19958" y="0"/>
                  <a:pt x="35719" y="0"/>
                </a:cubicBezTo>
                <a:lnTo>
                  <a:pt x="135731" y="0"/>
                </a:lnTo>
                <a:cubicBezTo>
                  <a:pt x="151492" y="0"/>
                  <a:pt x="164306" y="12814"/>
                  <a:pt x="164306" y="28575"/>
                </a:cubicBezTo>
                <a:lnTo>
                  <a:pt x="164306" y="200025"/>
                </a:lnTo>
                <a:cubicBezTo>
                  <a:pt x="164306" y="215786"/>
                  <a:pt x="151492" y="228600"/>
                  <a:pt x="135731" y="228600"/>
                </a:cubicBezTo>
                <a:lnTo>
                  <a:pt x="35719" y="228600"/>
                </a:lnTo>
                <a:cubicBezTo>
                  <a:pt x="19958" y="228600"/>
                  <a:pt x="7144" y="215786"/>
                  <a:pt x="7144" y="200025"/>
                </a:cubicBezTo>
                <a:lnTo>
                  <a:pt x="7144" y="28575"/>
                </a:lnTo>
                <a:close/>
                <a:moveTo>
                  <a:pt x="35719" y="28575"/>
                </a:moveTo>
                <a:lnTo>
                  <a:pt x="35719" y="164306"/>
                </a:lnTo>
                <a:lnTo>
                  <a:pt x="135731" y="164306"/>
                </a:lnTo>
                <a:lnTo>
                  <a:pt x="135731" y="28575"/>
                </a:lnTo>
                <a:lnTo>
                  <a:pt x="35719" y="28575"/>
                </a:lnTo>
                <a:close/>
                <a:moveTo>
                  <a:pt x="85725" y="210741"/>
                </a:moveTo>
                <a:cubicBezTo>
                  <a:pt x="93628" y="210741"/>
                  <a:pt x="100013" y="204356"/>
                  <a:pt x="100013" y="196453"/>
                </a:cubicBezTo>
                <a:cubicBezTo>
                  <a:pt x="100013" y="188550"/>
                  <a:pt x="93628" y="182166"/>
                  <a:pt x="85725" y="182166"/>
                </a:cubicBezTo>
                <a:cubicBezTo>
                  <a:pt x="77822" y="182166"/>
                  <a:pt x="71438" y="188550"/>
                  <a:pt x="71438" y="196453"/>
                </a:cubicBezTo>
                <a:cubicBezTo>
                  <a:pt x="71438" y="204356"/>
                  <a:pt x="77822" y="210741"/>
                  <a:pt x="85725" y="210741"/>
                </a:cubicBezTo>
                <a:close/>
              </a:path>
            </a:pathLst>
          </a:custGeom>
          <a:solidFill>
            <a:srgbClr val="FFFFFF"/>
          </a:solidFill>
          <a:ln/>
        </p:spPr>
      </p:sp>
      <p:sp>
        <p:nvSpPr>
          <p:cNvPr id="21" name="Text 18"/>
          <p:cNvSpPr/>
          <p:nvPr/>
        </p:nvSpPr>
        <p:spPr>
          <a:xfrm>
            <a:off x="1266825" y="3581400"/>
            <a:ext cx="4648200" cy="304800"/>
          </a:xfrm>
          <a:prstGeom prst="rect">
            <a:avLst/>
          </a:prstGeom>
          <a:noFill/>
          <a:ln/>
        </p:spPr>
        <p:txBody>
          <a:bodyPr wrap="square" lIns="0" tIns="0" rIns="0" bIns="0" rtlCol="0" anchor="ctr"/>
          <a:lstStyle/>
          <a:p>
            <a:pPr>
              <a:lnSpc>
                <a:spcPct val="110000"/>
              </a:lnSpc>
            </a:pPr>
            <a:r>
              <a:rPr lang="en-US" sz="1800" b="1" dirty="0">
                <a:solidFill>
                  <a:srgbClr val="EDF2F4"/>
                </a:solidFill>
                <a:latin typeface="Liter" pitchFamily="34" charset="0"/>
                <a:ea typeface="Liter" pitchFamily="34" charset="-122"/>
                <a:cs typeface="Liter" pitchFamily="34" charset="-120"/>
              </a:rPr>
              <a:t>Digital is the Future</a:t>
            </a:r>
            <a:endParaRPr lang="en-US" sz="1600" dirty="0"/>
          </a:p>
        </p:txBody>
      </p:sp>
      <p:sp>
        <p:nvSpPr>
          <p:cNvPr id="22" name="Text 19"/>
          <p:cNvSpPr/>
          <p:nvPr/>
        </p:nvSpPr>
        <p:spPr>
          <a:xfrm>
            <a:off x="1266825" y="3962400"/>
            <a:ext cx="4610100" cy="495300"/>
          </a:xfrm>
          <a:prstGeom prst="rect">
            <a:avLst/>
          </a:prstGeom>
          <a:noFill/>
          <a:ln/>
        </p:spPr>
        <p:txBody>
          <a:bodyPr wrap="square" lIns="0" tIns="0" rIns="0" bIns="0" rtlCol="0" anchor="ctr"/>
          <a:lstStyle/>
          <a:p>
            <a:pPr>
              <a:lnSpc>
                <a:spcPct val="140000"/>
              </a:lnSpc>
            </a:pPr>
            <a:r>
              <a:rPr lang="en-US" sz="1200" dirty="0">
                <a:solidFill>
                  <a:srgbClr val="EDF2F4">
                    <a:alpha val="90000"/>
                  </a:srgbClr>
                </a:solidFill>
                <a:latin typeface="Quattrocento Sans" pitchFamily="34" charset="0"/>
                <a:ea typeface="Quattrocento Sans" pitchFamily="34" charset="-122"/>
                <a:cs typeface="Quattrocento Sans" pitchFamily="34" charset="-120"/>
              </a:rPr>
              <a:t>Mobile banking, AI, blockchain, and open banking are reshaping how we interact with financial services.</a:t>
            </a:r>
            <a:endParaRPr lang="en-US" sz="1600" dirty="0"/>
          </a:p>
        </p:txBody>
      </p:sp>
      <p:sp>
        <p:nvSpPr>
          <p:cNvPr id="23" name="Shape 20"/>
          <p:cNvSpPr/>
          <p:nvPr/>
        </p:nvSpPr>
        <p:spPr>
          <a:xfrm>
            <a:off x="6196013" y="3386138"/>
            <a:ext cx="5610225" cy="1266825"/>
          </a:xfrm>
          <a:custGeom>
            <a:avLst/>
            <a:gdLst/>
            <a:ahLst/>
            <a:cxnLst/>
            <a:rect l="l" t="t" r="r" b="b"/>
            <a:pathLst>
              <a:path w="5610225" h="1266825">
                <a:moveTo>
                  <a:pt x="114306" y="0"/>
                </a:moveTo>
                <a:lnTo>
                  <a:pt x="5495919" y="0"/>
                </a:lnTo>
                <a:cubicBezTo>
                  <a:pt x="5559049" y="0"/>
                  <a:pt x="5610225" y="51176"/>
                  <a:pt x="5610225" y="114306"/>
                </a:cubicBezTo>
                <a:lnTo>
                  <a:pt x="5610225" y="1152519"/>
                </a:lnTo>
                <a:cubicBezTo>
                  <a:pt x="5610225" y="1215649"/>
                  <a:pt x="5559049" y="1266825"/>
                  <a:pt x="5495919" y="1266825"/>
                </a:cubicBezTo>
                <a:lnTo>
                  <a:pt x="114306" y="1266825"/>
                </a:lnTo>
                <a:cubicBezTo>
                  <a:pt x="51176" y="1266825"/>
                  <a:pt x="0" y="1215649"/>
                  <a:pt x="0" y="1152519"/>
                </a:cubicBezTo>
                <a:lnTo>
                  <a:pt x="0" y="114306"/>
                </a:lnTo>
                <a:cubicBezTo>
                  <a:pt x="0" y="51219"/>
                  <a:pt x="51219" y="0"/>
                  <a:pt x="114306" y="0"/>
                </a:cubicBezTo>
                <a:close/>
              </a:path>
            </a:pathLst>
          </a:custGeom>
          <a:solidFill>
            <a:srgbClr val="FFFFFF">
              <a:alpha val="10196"/>
            </a:srgbClr>
          </a:solidFill>
          <a:ln w="12700">
            <a:solidFill>
              <a:srgbClr val="FFFFFF">
                <a:alpha val="20000"/>
              </a:srgbClr>
            </a:solidFill>
            <a:prstDash val="solid"/>
          </a:ln>
        </p:spPr>
      </p:sp>
      <p:sp>
        <p:nvSpPr>
          <p:cNvPr id="24" name="Shape 21"/>
          <p:cNvSpPr/>
          <p:nvPr/>
        </p:nvSpPr>
        <p:spPr>
          <a:xfrm>
            <a:off x="6391275" y="35814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2A9D8F"/>
          </a:solidFill>
          <a:ln/>
        </p:spPr>
      </p:sp>
      <p:sp>
        <p:nvSpPr>
          <p:cNvPr id="25" name="Shape 22"/>
          <p:cNvSpPr/>
          <p:nvPr/>
        </p:nvSpPr>
        <p:spPr>
          <a:xfrm>
            <a:off x="6557963" y="3733800"/>
            <a:ext cx="200025" cy="228600"/>
          </a:xfrm>
          <a:custGeom>
            <a:avLst/>
            <a:gdLst/>
            <a:ahLst/>
            <a:cxnLst/>
            <a:rect l="l" t="t" r="r" b="b"/>
            <a:pathLst>
              <a:path w="200025" h="228600">
                <a:moveTo>
                  <a:pt x="107737" y="-5804"/>
                </a:moveTo>
                <a:cubicBezTo>
                  <a:pt x="102647" y="-6831"/>
                  <a:pt x="97423" y="-6831"/>
                  <a:pt x="92333" y="-5804"/>
                </a:cubicBezTo>
                <a:lnTo>
                  <a:pt x="8617" y="10939"/>
                </a:lnTo>
                <a:cubicBezTo>
                  <a:pt x="3617" y="11921"/>
                  <a:pt x="0" y="16341"/>
                  <a:pt x="0" y="21431"/>
                </a:cubicBezTo>
                <a:cubicBezTo>
                  <a:pt x="0" y="26030"/>
                  <a:pt x="2902" y="30048"/>
                  <a:pt x="7144" y="31522"/>
                </a:cubicBezTo>
                <a:lnTo>
                  <a:pt x="7144" y="64294"/>
                </a:lnTo>
                <a:lnTo>
                  <a:pt x="134" y="99387"/>
                </a:lnTo>
                <a:cubicBezTo>
                  <a:pt x="45" y="99789"/>
                  <a:pt x="0" y="100236"/>
                  <a:pt x="0" y="100682"/>
                </a:cubicBezTo>
                <a:cubicBezTo>
                  <a:pt x="0" y="104254"/>
                  <a:pt x="2902" y="107201"/>
                  <a:pt x="6519" y="107201"/>
                </a:cubicBezTo>
                <a:lnTo>
                  <a:pt x="22101" y="107201"/>
                </a:lnTo>
                <a:cubicBezTo>
                  <a:pt x="25673" y="107201"/>
                  <a:pt x="28620" y="104299"/>
                  <a:pt x="28620" y="100682"/>
                </a:cubicBezTo>
                <a:cubicBezTo>
                  <a:pt x="28620" y="100236"/>
                  <a:pt x="28575" y="99834"/>
                  <a:pt x="28486" y="99387"/>
                </a:cubicBezTo>
                <a:lnTo>
                  <a:pt x="21431" y="64294"/>
                </a:lnTo>
                <a:lnTo>
                  <a:pt x="21431" y="34513"/>
                </a:lnTo>
                <a:lnTo>
                  <a:pt x="42863" y="38799"/>
                </a:lnTo>
                <a:lnTo>
                  <a:pt x="42863" y="64294"/>
                </a:lnTo>
                <a:cubicBezTo>
                  <a:pt x="42863" y="95860"/>
                  <a:pt x="68446" y="121444"/>
                  <a:pt x="100013" y="121444"/>
                </a:cubicBezTo>
                <a:cubicBezTo>
                  <a:pt x="131579" y="121444"/>
                  <a:pt x="157163" y="95860"/>
                  <a:pt x="157163" y="64294"/>
                </a:cubicBezTo>
                <a:lnTo>
                  <a:pt x="157163" y="38799"/>
                </a:lnTo>
                <a:lnTo>
                  <a:pt x="191408" y="31968"/>
                </a:lnTo>
                <a:cubicBezTo>
                  <a:pt x="196408" y="30941"/>
                  <a:pt x="200025" y="26521"/>
                  <a:pt x="200025" y="21431"/>
                </a:cubicBezTo>
                <a:cubicBezTo>
                  <a:pt x="200025" y="16341"/>
                  <a:pt x="196408" y="11921"/>
                  <a:pt x="191408" y="10939"/>
                </a:cubicBezTo>
                <a:lnTo>
                  <a:pt x="107737" y="-5804"/>
                </a:lnTo>
                <a:close/>
                <a:moveTo>
                  <a:pt x="100013" y="100013"/>
                </a:moveTo>
                <a:cubicBezTo>
                  <a:pt x="80278" y="100013"/>
                  <a:pt x="64294" y="84028"/>
                  <a:pt x="64294" y="64294"/>
                </a:cubicBezTo>
                <a:lnTo>
                  <a:pt x="135731" y="64294"/>
                </a:lnTo>
                <a:cubicBezTo>
                  <a:pt x="135731" y="84028"/>
                  <a:pt x="119747" y="100013"/>
                  <a:pt x="100013" y="100013"/>
                </a:cubicBezTo>
                <a:close/>
                <a:moveTo>
                  <a:pt x="53623" y="142920"/>
                </a:moveTo>
                <a:cubicBezTo>
                  <a:pt x="26209" y="155511"/>
                  <a:pt x="7144" y="183193"/>
                  <a:pt x="7144" y="215339"/>
                </a:cubicBezTo>
                <a:cubicBezTo>
                  <a:pt x="7144" y="222662"/>
                  <a:pt x="13082" y="228600"/>
                  <a:pt x="20404" y="228600"/>
                </a:cubicBezTo>
                <a:lnTo>
                  <a:pt x="89297" y="228600"/>
                </a:lnTo>
                <a:lnTo>
                  <a:pt x="89297" y="163413"/>
                </a:lnTo>
                <a:lnTo>
                  <a:pt x="63669" y="144214"/>
                </a:lnTo>
                <a:cubicBezTo>
                  <a:pt x="60767" y="142027"/>
                  <a:pt x="56882" y="141446"/>
                  <a:pt x="53578" y="142964"/>
                </a:cubicBezTo>
                <a:close/>
                <a:moveTo>
                  <a:pt x="110728" y="228600"/>
                </a:moveTo>
                <a:lnTo>
                  <a:pt x="179621" y="228600"/>
                </a:lnTo>
                <a:cubicBezTo>
                  <a:pt x="186943" y="228600"/>
                  <a:pt x="192881" y="222662"/>
                  <a:pt x="192881" y="215339"/>
                </a:cubicBezTo>
                <a:cubicBezTo>
                  <a:pt x="192881" y="183193"/>
                  <a:pt x="173816" y="155511"/>
                  <a:pt x="146402" y="142964"/>
                </a:cubicBezTo>
                <a:cubicBezTo>
                  <a:pt x="143098" y="141446"/>
                  <a:pt x="139214" y="142027"/>
                  <a:pt x="136312" y="144214"/>
                </a:cubicBezTo>
                <a:lnTo>
                  <a:pt x="110683" y="163413"/>
                </a:lnTo>
                <a:lnTo>
                  <a:pt x="110683" y="228600"/>
                </a:lnTo>
                <a:close/>
              </a:path>
            </a:pathLst>
          </a:custGeom>
          <a:solidFill>
            <a:srgbClr val="FFFFFF"/>
          </a:solidFill>
          <a:ln/>
        </p:spPr>
      </p:sp>
      <p:sp>
        <p:nvSpPr>
          <p:cNvPr id="26" name="Text 23"/>
          <p:cNvSpPr/>
          <p:nvPr/>
        </p:nvSpPr>
        <p:spPr>
          <a:xfrm>
            <a:off x="7077075" y="3581400"/>
            <a:ext cx="4648200" cy="304800"/>
          </a:xfrm>
          <a:prstGeom prst="rect">
            <a:avLst/>
          </a:prstGeom>
          <a:noFill/>
          <a:ln/>
        </p:spPr>
        <p:txBody>
          <a:bodyPr wrap="square" lIns="0" tIns="0" rIns="0" bIns="0" rtlCol="0" anchor="ctr"/>
          <a:lstStyle/>
          <a:p>
            <a:pPr>
              <a:lnSpc>
                <a:spcPct val="110000"/>
              </a:lnSpc>
            </a:pPr>
            <a:r>
              <a:rPr lang="en-US" sz="1800" b="1" dirty="0">
                <a:solidFill>
                  <a:srgbClr val="EDF2F4"/>
                </a:solidFill>
                <a:latin typeface="Liter" pitchFamily="34" charset="0"/>
                <a:ea typeface="Liter" pitchFamily="34" charset="-122"/>
                <a:cs typeface="Liter" pitchFamily="34" charset="-120"/>
              </a:rPr>
              <a:t>Knowledge is Power</a:t>
            </a:r>
            <a:endParaRPr lang="en-US" sz="1600" dirty="0"/>
          </a:p>
        </p:txBody>
      </p:sp>
      <p:sp>
        <p:nvSpPr>
          <p:cNvPr id="27" name="Text 24"/>
          <p:cNvSpPr/>
          <p:nvPr/>
        </p:nvSpPr>
        <p:spPr>
          <a:xfrm>
            <a:off x="7077075" y="3962400"/>
            <a:ext cx="4610100" cy="495300"/>
          </a:xfrm>
          <a:prstGeom prst="rect">
            <a:avLst/>
          </a:prstGeom>
          <a:noFill/>
          <a:ln/>
        </p:spPr>
        <p:txBody>
          <a:bodyPr wrap="square" lIns="0" tIns="0" rIns="0" bIns="0" rtlCol="0" anchor="ctr"/>
          <a:lstStyle/>
          <a:p>
            <a:pPr>
              <a:lnSpc>
                <a:spcPct val="140000"/>
              </a:lnSpc>
            </a:pPr>
            <a:r>
              <a:rPr lang="en-US" sz="1200" dirty="0">
                <a:solidFill>
                  <a:srgbClr val="EDF2F4">
                    <a:alpha val="90000"/>
                  </a:srgbClr>
                </a:solidFill>
                <a:latin typeface="Quattrocento Sans" pitchFamily="34" charset="0"/>
                <a:ea typeface="Quattrocento Sans" pitchFamily="34" charset="-122"/>
                <a:cs typeface="Quattrocento Sans" pitchFamily="34" charset="-120"/>
              </a:rPr>
              <a:t>Understanding banking empowers you to make informed financial decisions and build a secure future.</a:t>
            </a:r>
            <a:endParaRPr lang="en-US" sz="1600" dirty="0"/>
          </a:p>
        </p:txBody>
      </p:sp>
      <p:sp>
        <p:nvSpPr>
          <p:cNvPr id="28" name="Shape 25"/>
          <p:cNvSpPr/>
          <p:nvPr/>
        </p:nvSpPr>
        <p:spPr>
          <a:xfrm>
            <a:off x="390525" y="4895850"/>
            <a:ext cx="11410950" cy="1019175"/>
          </a:xfrm>
          <a:custGeom>
            <a:avLst/>
            <a:gdLst/>
            <a:ahLst/>
            <a:cxnLst/>
            <a:rect l="l" t="t" r="r" b="b"/>
            <a:pathLst>
              <a:path w="11410950" h="1019175">
                <a:moveTo>
                  <a:pt x="114300" y="0"/>
                </a:moveTo>
                <a:lnTo>
                  <a:pt x="11296650" y="0"/>
                </a:lnTo>
                <a:cubicBezTo>
                  <a:pt x="11359776" y="0"/>
                  <a:pt x="11410950" y="51174"/>
                  <a:pt x="11410950" y="114300"/>
                </a:cubicBezTo>
                <a:lnTo>
                  <a:pt x="11410950" y="904875"/>
                </a:lnTo>
                <a:cubicBezTo>
                  <a:pt x="11410950" y="968001"/>
                  <a:pt x="11359776" y="1019175"/>
                  <a:pt x="11296650" y="1019175"/>
                </a:cubicBezTo>
                <a:lnTo>
                  <a:pt x="114300" y="1019175"/>
                </a:lnTo>
                <a:cubicBezTo>
                  <a:pt x="51174" y="1019175"/>
                  <a:pt x="0" y="968001"/>
                  <a:pt x="0" y="904875"/>
                </a:cubicBezTo>
                <a:lnTo>
                  <a:pt x="0" y="114300"/>
                </a:lnTo>
                <a:cubicBezTo>
                  <a:pt x="0" y="51216"/>
                  <a:pt x="51216" y="0"/>
                  <a:pt x="114300" y="0"/>
                </a:cubicBezTo>
                <a:close/>
              </a:path>
            </a:pathLst>
          </a:custGeom>
          <a:solidFill>
            <a:srgbClr val="2A9D8F">
              <a:alpha val="20000"/>
            </a:srgbClr>
          </a:solidFill>
          <a:ln w="25400">
            <a:solidFill>
              <a:srgbClr val="2A9D8F">
                <a:alpha val="40000"/>
              </a:srgbClr>
            </a:solidFill>
            <a:prstDash val="solid"/>
          </a:ln>
        </p:spPr>
      </p:sp>
      <p:sp>
        <p:nvSpPr>
          <p:cNvPr id="29" name="Text 26"/>
          <p:cNvSpPr/>
          <p:nvPr/>
        </p:nvSpPr>
        <p:spPr>
          <a:xfrm>
            <a:off x="542925" y="5095875"/>
            <a:ext cx="11106150" cy="619125"/>
          </a:xfrm>
          <a:prstGeom prst="rect">
            <a:avLst/>
          </a:prstGeom>
          <a:noFill/>
          <a:ln/>
        </p:spPr>
        <p:txBody>
          <a:bodyPr wrap="square" lIns="0" tIns="0" rIns="0" bIns="0" rtlCol="0" anchor="ctr"/>
          <a:lstStyle/>
          <a:p>
            <a:pPr algn="ctr">
              <a:lnSpc>
                <a:spcPct val="140000"/>
              </a:lnSpc>
            </a:pPr>
            <a:r>
              <a:rPr lang="en-US" sz="1500" dirty="0">
                <a:solidFill>
                  <a:srgbClr val="EDF2F4"/>
                </a:solidFill>
                <a:latin typeface="Liter" pitchFamily="34" charset="0"/>
                <a:ea typeface="Liter" pitchFamily="34" charset="-122"/>
                <a:cs typeface="Liter" pitchFamily="34" charset="-120"/>
              </a:rPr>
              <a:t>"Banking is not just about money—it's about </a:t>
            </a:r>
            <a:pPr algn="ctr">
              <a:lnSpc>
                <a:spcPct val="140000"/>
              </a:lnSpc>
            </a:pPr>
            <a:r>
              <a:rPr lang="en-US" sz="1500" b="1" dirty="0">
                <a:solidFill>
                  <a:srgbClr val="EDF2F4"/>
                </a:solidFill>
                <a:highlight>
                  <a:srgbClr val="2A9D8F">
                    <a:alpha val="40000"/>
                  </a:srgbClr>
                </a:highlight>
                <a:latin typeface="Liter" pitchFamily="34" charset="0"/>
                <a:ea typeface="Liter" pitchFamily="34" charset="-122"/>
                <a:cs typeface="Liter" pitchFamily="34" charset="-120"/>
              </a:rPr>
              <a:t>opportunities, security, and progress </a:t>
            </a:r>
            <a:pPr algn="ctr">
              <a:lnSpc>
                <a:spcPct val="140000"/>
              </a:lnSpc>
            </a:pPr>
            <a:r>
              <a:rPr lang="en-US" sz="1500" dirty="0">
                <a:solidFill>
                  <a:srgbClr val="EDF2F4"/>
                </a:solidFill>
                <a:latin typeface="Liter" pitchFamily="34" charset="0"/>
                <a:ea typeface="Liter" pitchFamily="34" charset="-122"/>
                <a:cs typeface="Liter" pitchFamily="34" charset="-120"/>
              </a:rPr>
              <a:t>. Understanding banking is understanding how the modern world works."</a:t>
            </a:r>
            <a:endParaRPr lang="en-US" sz="1600" dirty="0"/>
          </a:p>
        </p:txBody>
      </p:sp>
      <p:sp>
        <p:nvSpPr>
          <p:cNvPr id="30" name="Text 27"/>
          <p:cNvSpPr/>
          <p:nvPr/>
        </p:nvSpPr>
        <p:spPr>
          <a:xfrm>
            <a:off x="323850" y="6153150"/>
            <a:ext cx="11544300" cy="304800"/>
          </a:xfrm>
          <a:prstGeom prst="rect">
            <a:avLst/>
          </a:prstGeom>
          <a:noFill/>
          <a:ln/>
        </p:spPr>
        <p:txBody>
          <a:bodyPr wrap="square" lIns="0" tIns="0" rIns="0" bIns="0" rtlCol="0" anchor="ctr"/>
          <a:lstStyle/>
          <a:p>
            <a:pPr algn="ctr">
              <a:lnSpc>
                <a:spcPct val="110000"/>
              </a:lnSpc>
            </a:pPr>
            <a:r>
              <a:rPr lang="en-US" sz="1800" dirty="0">
                <a:solidFill>
                  <a:srgbClr val="EDF2F4">
                    <a:alpha val="80000"/>
                  </a:srgbClr>
                </a:solidFill>
                <a:latin typeface="Liter" pitchFamily="34" charset="0"/>
                <a:ea typeface="Liter" pitchFamily="34" charset="-122"/>
                <a:cs typeface="Liter" pitchFamily="34" charset="-120"/>
              </a:rPr>
              <a:t>Thank You!</a:t>
            </a:r>
            <a:endParaRPr lang="en-US" sz="1600" dirty="0"/>
          </a:p>
        </p:txBody>
      </p:sp>
      <p:sp>
        <p:nvSpPr>
          <p:cNvPr id="31" name="Text 28"/>
          <p:cNvSpPr/>
          <p:nvPr/>
        </p:nvSpPr>
        <p:spPr>
          <a:xfrm>
            <a:off x="338138" y="6572250"/>
            <a:ext cx="11515725" cy="266700"/>
          </a:xfrm>
          <a:prstGeom prst="rect">
            <a:avLst/>
          </a:prstGeom>
          <a:noFill/>
          <a:ln/>
        </p:spPr>
        <p:txBody>
          <a:bodyPr wrap="square" lIns="0" tIns="0" rIns="0" bIns="0" rtlCol="0" anchor="ctr"/>
          <a:lstStyle/>
          <a:p>
            <a:pPr algn="ctr">
              <a:lnSpc>
                <a:spcPct val="130000"/>
              </a:lnSpc>
            </a:pPr>
            <a:r>
              <a:rPr lang="en-US" sz="1350" dirty="0">
                <a:solidFill>
                  <a:srgbClr val="EDF2F4">
                    <a:alpha val="60000"/>
                  </a:srgbClr>
                </a:solidFill>
                <a:latin typeface="Quattrocento Sans" pitchFamily="34" charset="0"/>
                <a:ea typeface="Quattrocento Sans" pitchFamily="34" charset="-122"/>
                <a:cs typeface="Quattrocento Sans" pitchFamily="34" charset="-120"/>
              </a:rPr>
              <a:t>Questions &amp; Discussion</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Banking: The Foundation of Modern Finance</dc:title>
  <dc:subject>Banking: The Foundation of Modern Finance</dc:subject>
  <dc:creator>Kimi</dc:creator>
  <cp:lastModifiedBy>Kimi</cp:lastModifiedBy>
  <cp:revision>1</cp:revision>
  <dcterms:created xsi:type="dcterms:W3CDTF">2026-04-11T17:56:53Z</dcterms:created>
  <dcterms:modified xsi:type="dcterms:W3CDTF">2026-04-11T17:56:53Z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{"Label":"Banking: The Foundation of Modern Finance","ContentProducer":"001191110108MACG2KBH8F10000","ProduceID":"19d7da53-ea92-8db1-8000-000061a01f20","ReservedCode1":"","ContentPropagator":"001191110108MACG2KBH8F20000","PropagateID":"19d7da53-ea92-8db1-8000-000061a01f20","ReservedCode2":""}</vt:lpwstr>
  </property>
</Properties>
</file>